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B46"/>
                </a:solidFill>
                <a:latin typeface="Yu Gothic"/>
              </a:defRPr>
            </a:pPr>
            <a:r>
              <a:rPr sz="1400" b="0" i="0" u="none" strike="noStrike">
                <a:solidFill>
                  <a:srgbClr val="102B46"/>
                </a:solidFill>
                <a:latin typeface="Yu Gothic"/>
              </a:rPr>
              <a:t>速度のずれと報酬 r の関係</a:t>
            </a:r>
          </a:p>
        </c:rich>
      </c:tx>
      <c:layout/>
      <c:overlay val="0"/>
    </c:title>
    <c:autoTitleDeleted val="0"/>
    <c:plotArea>
      <c:layout/>
      <c:lineChart>
        <c:varyColors val="0"/>
        <c:ser>
          <c:idx val="0"/>
          <c:order val="0"/>
          <c:tx>
            <c:strRef>
              <c:f>Sheet1!$B$1</c:f>
              <c:strCache>
                <c:ptCount val="1"/>
                <c:pt idx="0">
                  <c:v>σ = 0.5（初期設定）</c:v>
                </c:pt>
              </c:strCache>
            </c:strRef>
          </c:tx>
          <c:spPr>
            <a:solidFill>
              <a:srgbClr val="B7C7D1"/>
            </a:solidFill>
            <a:ln w="38100" cap="flat">
              <a:solidFill>
                <a:srgbClr val="B7C7D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7C7D1"/>
              </a:solidFill>
              <a:ln w="9525" cap="flat">
                <a:solidFill>
                  <a:srgbClr val="B7C7D1"/>
                </a:solidFill>
                <a:prstDash val="solid"/>
                <a:round/>
              </a:ln>
              <a:effectLst/>
            </c:spPr>
          </c:marker>
          <c:cat>
            <c:multiLvlStrRef>
              <c:f>Sheet1!$A$2:$A$18</c:f>
              <c:multiLvlStrCache>
                <c:ptCount val="17"/>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lvl>
              </c:multiLvlStrCache>
            </c:multiLvlStrRef>
          </c:cat>
          <c:val>
            <c:numRef>
              <c:f>Sheet1!$B$2:$B$18</c:f>
              <c:numCache>
                <c:formatCode>General</c:formatCode>
                <c:ptCount val="17"/>
                <c:pt idx="0">
                  <c:v>1</c:v>
                </c:pt>
                <c:pt idx="1">
                  <c:v>0.99</c:v>
                </c:pt>
                <c:pt idx="2">
                  <c:v>0.961</c:v>
                </c:pt>
                <c:pt idx="3">
                  <c:v>0.914</c:v>
                </c:pt>
                <c:pt idx="4">
                  <c:v>0.852</c:v>
                </c:pt>
                <c:pt idx="5">
                  <c:v>0.779</c:v>
                </c:pt>
                <c:pt idx="6">
                  <c:v>0.698</c:v>
                </c:pt>
                <c:pt idx="7">
                  <c:v>0.613</c:v>
                </c:pt>
                <c:pt idx="8">
                  <c:v>0.527</c:v>
                </c:pt>
                <c:pt idx="9">
                  <c:v>0.445</c:v>
                </c:pt>
                <c:pt idx="10">
                  <c:v>0.368</c:v>
                </c:pt>
                <c:pt idx="11">
                  <c:v>0.298</c:v>
                </c:pt>
                <c:pt idx="12">
                  <c:v>0.237</c:v>
                </c:pt>
                <c:pt idx="13">
                  <c:v>0.185</c:v>
                </c:pt>
                <c:pt idx="14">
                  <c:v>0.141</c:v>
                </c:pt>
                <c:pt idx="15">
                  <c:v>0.105</c:v>
                </c:pt>
                <c:pt idx="16">
                  <c:v>0.077</c:v>
                </c:pt>
              </c:numCache>
            </c:numRef>
          </c:val>
          <c:smooth val="0"/>
        </c:ser>
        <c:ser>
          <c:idx val="1"/>
          <c:order val="1"/>
          <c:tx>
            <c:strRef>
              <c:f>Sheet1!$C$1</c:f>
              <c:strCache>
                <c:ptCount val="1"/>
                <c:pt idx="0">
                  <c:v>σ = 0.35（採用）</c:v>
                </c:pt>
              </c:strCache>
            </c:strRef>
          </c:tx>
          <c:spPr>
            <a:solidFill>
              <a:srgbClr val="E8783F"/>
            </a:solidFill>
            <a:ln w="38100" cap="flat">
              <a:solidFill>
                <a:srgbClr val="E8783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83F"/>
              </a:solidFill>
              <a:ln w="9525" cap="flat">
                <a:solidFill>
                  <a:srgbClr val="E8783F"/>
                </a:solidFill>
                <a:prstDash val="solid"/>
                <a:round/>
              </a:ln>
              <a:effectLst/>
            </c:spPr>
          </c:marker>
          <c:cat>
            <c:multiLvlStrRef>
              <c:f>Sheet1!$A$2:$A$18</c:f>
              <c:multiLvlStrCache>
                <c:ptCount val="17"/>
                <c:lvl>
                  <c:pt idx="0">
                    <c:v>0.00</c:v>
                  </c:pt>
                  <c:pt idx="1">
                    <c:v>0.05</c:v>
                  </c:pt>
                  <c:pt idx="2">
                    <c:v>0.10</c:v>
                  </c:pt>
                  <c:pt idx="3">
                    <c:v>0.15</c:v>
                  </c:pt>
                  <c:pt idx="4">
                    <c:v>0.20</c:v>
                  </c:pt>
                  <c:pt idx="5">
                    <c:v>0.25</c:v>
                  </c:pt>
                  <c:pt idx="6">
                    <c:v>0.30</c:v>
                  </c:pt>
                  <c:pt idx="7">
                    <c:v>0.35</c:v>
                  </c:pt>
                  <c:pt idx="8">
                    <c:v>0.40</c:v>
                  </c:pt>
                  <c:pt idx="9">
                    <c:v>0.45</c:v>
                  </c:pt>
                  <c:pt idx="10">
                    <c:v>0.50</c:v>
                  </c:pt>
                  <c:pt idx="11">
                    <c:v>0.55</c:v>
                  </c:pt>
                  <c:pt idx="12">
                    <c:v>0.60</c:v>
                  </c:pt>
                  <c:pt idx="13">
                    <c:v>0.65</c:v>
                  </c:pt>
                  <c:pt idx="14">
                    <c:v>0.70</c:v>
                  </c:pt>
                  <c:pt idx="15">
                    <c:v>0.75</c:v>
                  </c:pt>
                  <c:pt idx="16">
                    <c:v>0.80</c:v>
                  </c:pt>
                </c:lvl>
              </c:multiLvlStrCache>
            </c:multiLvlStrRef>
          </c:cat>
          <c:val>
            <c:numRef>
              <c:f>Sheet1!$C$2:$C$18</c:f>
              <c:numCache>
                <c:formatCode>General</c:formatCode>
                <c:ptCount val="17"/>
                <c:pt idx="0">
                  <c:v>1</c:v>
                </c:pt>
                <c:pt idx="1">
                  <c:v>0.98</c:v>
                </c:pt>
                <c:pt idx="2">
                  <c:v>0.922</c:v>
                </c:pt>
                <c:pt idx="3">
                  <c:v>0.832</c:v>
                </c:pt>
                <c:pt idx="4">
                  <c:v>0.721</c:v>
                </c:pt>
                <c:pt idx="5">
                  <c:v>0.6</c:v>
                </c:pt>
                <c:pt idx="6">
                  <c:v>0.48</c:v>
                </c:pt>
                <c:pt idx="7">
                  <c:v>0.368</c:v>
                </c:pt>
                <c:pt idx="8">
                  <c:v>0.271</c:v>
                </c:pt>
                <c:pt idx="9">
                  <c:v>0.191</c:v>
                </c:pt>
                <c:pt idx="10">
                  <c:v>0.13</c:v>
                </c:pt>
                <c:pt idx="11">
                  <c:v>0.085</c:v>
                </c:pt>
                <c:pt idx="12">
                  <c:v>0.053</c:v>
                </c:pt>
                <c:pt idx="13">
                  <c:v>0.032</c:v>
                </c:pt>
                <c:pt idx="14">
                  <c:v>0.018</c:v>
                </c:pt>
                <c:pt idx="15">
                  <c:v>0.01</c:v>
                </c:pt>
                <c:pt idx="16">
                  <c:v>0.005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速度のずれ ‖v* − v‖ [m/s]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A73"/>
                </a:solidFill>
                <a:latin typeface="Arial"/>
              </a:defRPr>
            </a:pPr>
            <a:endParaRPr lang="en-US"/>
          </a:p>
        </c:txPr>
        <c:crossAx val="2094734552"/>
        <c:crosses val="autoZero"/>
        <c:auto val="1"/>
        <c:lblAlgn val="ctr"/>
        <c:noMultiLvlLbl val="1"/>
        <c:tickLblSkip val="2"/>
      </c:catAx>
      <c:valAx>
        <c:axId val="2094734552"/>
        <c:scaling>
          <c:orientation val="minMax"/>
          <c:max val="1"/>
          <c:min val="0"/>
        </c:scaling>
        <c:delete val="0"/>
        <c:axPos val="l"/>
        <c:majorGridlines>
          <c:spPr>
            <a:ln w="6350" cap="flat">
              <a:solidFill>
                <a:srgbClr val="E5E9EC"/>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報酬 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A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Yu Gothic"/>
              <a:cs typeface="Yu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B46"/>
                </a:solidFill>
                <a:latin typeface="Yu Gothic"/>
              </a:defRPr>
            </a:pPr>
            <a:r>
              <a:rPr sz="1400" b="0" i="0" u="none" strike="noStrike">
                <a:solidFill>
                  <a:srgbClr val="102B46"/>
                </a:solidFill>
                <a:latin typeface="Yu Gothic"/>
              </a:rPr>
              <a:t>前進指令 0.5 m/s に対する実際の前進速度 [m/s]</a:t>
            </a:r>
          </a:p>
        </c:rich>
      </c:tx>
      <c:layout/>
      <c:overlay val="0"/>
    </c:title>
    <c:autoTitleDeleted val="0"/>
    <c:plotArea>
      <c:layout/>
      <c:barChart>
        <c:barDir val="col"/>
        <c:grouping val="clustered"/>
        <c:varyColors val="0"/>
        <c:ser>
          <c:idx val="0"/>
          <c:order val="0"/>
          <c:tx>
            <c:strRef>
              <c:f>Sheet1!$B$1</c:f>
              <c:strCache>
                <c:ptCount val="1"/>
                <c:pt idx="0">
                  <c:v>前進速度</c:v>
                </c:pt>
              </c:strCache>
            </c:strRef>
          </c:tx>
          <c:spPr>
            <a:solidFill>
              <a:srgbClr val="B7C7D1"/>
            </a:solidFill>
            <a:effectLst/>
          </c:spPr>
          <c:invertIfNegative val="0"/>
          <c:dLbls>
            <c:numFmt formatCode="0.00" sourceLinked="0"/>
            <c:txPr>
              <a:bodyPr/>
              <a:lstStyle/>
              <a:p>
                <a:pPr>
                  <a:defRPr b="0" i="0" strike="noStrike" sz="1600" u="none">
                    <a:solidFill>
                      <a:srgbClr val="102B46"/>
                    </a:solidFill>
                    <a:latin typeface="Arial"/>
                  </a:defRPr>
                </a:pPr>
              </a:p>
            </c:txPr>
            <c:showLegendKey val="0"/>
            <c:showVal val="1"/>
            <c:showCatName val="0"/>
            <c:showSerName val="0"/>
            <c:showPercent val="0"/>
            <c:showBubbleSize val="0"/>
            <c:showLeaderLines val="0"/>
          </c:dLbls>
          <c:dPt>
            <c:idx val="0"/>
            <c:invertIfNegative val="0"/>
            <c:bubble3D val="0"/>
            <c:spPr>
              <a:solidFill>
                <a:srgbClr val="B7C7D1"/>
              </a:solidFill>
              <a:effectLst/>
            </c:spPr>
          </c:dPt>
          <c:dPt>
            <c:idx val="1"/>
            <c:invertIfNegative val="0"/>
            <c:bubble3D val="0"/>
            <c:spPr>
              <a:solidFill>
                <a:srgbClr val="32A5B5"/>
              </a:solidFill>
              <a:effectLst/>
            </c:spPr>
          </c:dPt>
          <c:cat>
            <c:multiLvlStrRef>
              <c:f>Sheet1!$A$2:$A$3</c:f>
              <c:multiLvlStrCache>
                <c:ptCount val="2"/>
                <c:lvl>
                  <c:pt idx="0">
                    <c:v>見本の設定</c:v>
                  </c:pt>
                  <c:pt idx="1">
                    <c:v>報酬を修正</c:v>
                  </c:pt>
                </c:lvl>
              </c:multiLvlStrCache>
            </c:multiLvlStrRef>
          </c:cat>
          <c:val>
            <c:numRef>
              <c:f>Sheet1!$B$2:$B$3</c:f>
              <c:numCache>
                <c:formatCode>General</c:formatCode>
                <c:ptCount val="2"/>
                <c:pt idx="0">
                  <c:v>0</c:v>
                </c:pt>
                <c:pt idx="1">
                  <c:v>0.434</c:v>
                </c:pt>
              </c:numCache>
            </c:numRef>
          </c:val>
        </c:ser>
        <c:dLbls>
          <c:numFmt formatCode="0.00" sourceLinked="0"/>
          <c:txPr>
            <a:bodyPr/>
            <a:lstStyle/>
            <a:p>
              <a:pPr>
                <a:defRPr b="0" i="0" strike="noStrike" sz="1600" u="none">
                  <a:solidFill>
                    <a:srgbClr val="102B46"/>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7212B"/>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5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A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B46"/>
                </a:solidFill>
                <a:latin typeface="Yu Gothic"/>
              </a:defRPr>
            </a:pPr>
            <a:r>
              <a:rPr sz="1300" b="0" i="0" u="none" strike="noStrike">
                <a:solidFill>
                  <a:srgbClr val="102B46"/>
                </a:solidFill>
                <a:latin typeface="Yu Gothic"/>
              </a:rPr>
              <a:t>各関節が自重を支えるのに必要な電流 [A]</a:t>
            </a:r>
          </a:p>
        </c:rich>
      </c:tx>
      <c:layout/>
      <c:overlay val="0"/>
    </c:title>
    <c:autoTitleDeleted val="0"/>
    <c:plotArea>
      <c:layout/>
      <c:barChart>
        <c:barDir val="col"/>
        <c:grouping val="clustered"/>
        <c:varyColors val="0"/>
        <c:ser>
          <c:idx val="0"/>
          <c:order val="0"/>
          <c:tx>
            <c:strRef>
              <c:f>Sheet1!$B$1</c:f>
              <c:strCache>
                <c:ptCount val="1"/>
                <c:pt idx="0">
                  <c:v>自重を支えるのに必要な電流（姿勢によって最大）</c:v>
                </c:pt>
              </c:strCache>
            </c:strRef>
          </c:tx>
          <c:spPr>
            <a:solidFill>
              <a:srgbClr val="1C5A85"/>
            </a:solidFill>
            <a:effectLst/>
          </c:spPr>
          <c:invertIfNegative val="0"/>
          <c:dLbls>
            <c:numFmt formatCode="0.00" sourceLinked="0"/>
            <c:txPr>
              <a:bodyPr/>
              <a:lstStyle/>
              <a:p>
                <a:pPr>
                  <a:defRPr b="0" i="0" strike="noStrike" sz="1300" u="none">
                    <a:solidFill>
                      <a:srgbClr val="102B46"/>
                    </a:solidFill>
                    <a:latin typeface="Arial"/>
                  </a:defRPr>
                </a:pPr>
              </a:p>
            </c:txPr>
            <c:dLblPos val="outEnd"/>
            <c:showLegendKey val="0"/>
            <c:showVal val="1"/>
            <c:showCatName val="0"/>
            <c:showSerName val="0"/>
            <c:showPercent val="0"/>
            <c:showBubbleSize val="0"/>
            <c:showLeaderLines val="0"/>
          </c:dLbls>
          <c:cat>
            <c:multiLvlStrRef>
              <c:f>Sheet1!$A$2:$A$6</c:f>
              <c:multiLvlStrCache>
                <c:ptCount val="5"/>
                <c:lvl>
                  <c:pt idx="0">
                    <c:v>HR</c:v>
                  </c:pt>
                  <c:pt idx="1">
                    <c:v>HAA</c:v>
                  </c:pt>
                  <c:pt idx="2">
                    <c:v>HFE</c:v>
                  </c:pt>
                  <c:pt idx="3">
                    <c:v>KFE</c:v>
                  </c:pt>
                  <c:pt idx="4">
                    <c:v>FFE</c:v>
                  </c:pt>
                </c:lvl>
              </c:multiLvlStrCache>
            </c:multiLvlStrRef>
          </c:cat>
          <c:val>
            <c:numRef>
              <c:f>Sheet1!$B$2:$B$6</c:f>
              <c:numCache>
                <c:formatCode>General</c:formatCode>
                <c:ptCount val="5"/>
                <c:pt idx="0">
                  <c:v>1.95</c:v>
                </c:pt>
                <c:pt idx="1">
                  <c:v>3.78</c:v>
                </c:pt>
                <c:pt idx="2">
                  <c:v>7.36</c:v>
                </c:pt>
                <c:pt idx="3">
                  <c:v>0.93</c:v>
                </c:pt>
                <c:pt idx="4">
                  <c:v>0.2</c:v>
                </c:pt>
              </c:numCache>
            </c:numRef>
          </c:val>
        </c:ser>
        <c:dLbls>
          <c:numFmt formatCode="0.00" sourceLinked="0"/>
          <c:txPr>
            <a:bodyPr/>
            <a:lstStyle/>
            <a:p>
              <a:pPr>
                <a:defRPr b="0" i="0" strike="noStrike" sz="1300" u="none">
                  <a:solidFill>
                    <a:srgbClr val="102B46"/>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安全停止のしきい値 1.0 A</c:v>
                </c:pt>
              </c:strCache>
            </c:strRef>
          </c:tx>
          <c:spPr>
            <a:solidFill>
              <a:srgbClr val="C8553D"/>
            </a:solidFill>
            <a:ln w="38100" cap="flat">
              <a:solidFill>
                <a:srgbClr val="C8553D"/>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53D"/>
              </a:solidFill>
              <a:ln w="9525" cap="flat">
                <a:solidFill>
                  <a:srgbClr val="C8553D"/>
                </a:solidFill>
                <a:prstDash val="solid"/>
                <a:round/>
              </a:ln>
              <a:effectLst/>
            </c:spPr>
          </c:marker>
          <c:cat>
            <c:multiLvlStrRef>
              <c:f>Sheet1!$A$2:$A$6</c:f>
              <c:multiLvlStrCache>
                <c:ptCount val="5"/>
                <c:lvl>
                  <c:pt idx="0">
                    <c:v>HR</c:v>
                  </c:pt>
                  <c:pt idx="1">
                    <c:v>HAA</c:v>
                  </c:pt>
                  <c:pt idx="2">
                    <c:v>HFE</c:v>
                  </c:pt>
                  <c:pt idx="3">
                    <c:v>KFE</c:v>
                  </c:pt>
                  <c:pt idx="4">
                    <c:v>FFE</c:v>
                  </c:pt>
                </c:lvl>
              </c:multiLvlStrCache>
            </c:multiLvlStrRef>
          </c:cat>
          <c:val>
            <c:numRef>
              <c:f>Sheet1!$C$2:$C$6</c:f>
              <c:numCache>
                <c:formatCode>General</c:formatCode>
                <c:ptCount val="5"/>
                <c:pt idx="0">
                  <c:v>1</c:v>
                </c:pt>
                <c:pt idx="1">
                  <c:v>1</c:v>
                </c:pt>
                <c:pt idx="2">
                  <c:v>1</c:v>
                </c:pt>
                <c:pt idx="3">
                  <c:v>1</c:v>
                </c:pt>
                <c:pt idx="4">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7212B"/>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6350" cap="flat">
              <a:solidFill>
                <a:srgbClr val="E5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A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Yu Gothic"/>
              <a:cs typeface="Yu Gothic"/>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2B46"/>
                </a:solidFill>
                <a:latin typeface="Yu Gothic"/>
              </a:defRPr>
            </a:pPr>
            <a:r>
              <a:rPr sz="1300" b="0" i="0" u="none" strike="noStrike">
                <a:solidFill>
                  <a:srgbClr val="102B46"/>
                </a:solidFill>
                <a:latin typeface="Yu Gothic"/>
              </a:rPr>
              <a:t>関節の摩擦 [N·m]（動き出しの電流から換算）</a:t>
            </a:r>
          </a:p>
        </c:rich>
      </c:tx>
      <c:layout/>
      <c:overlay val="0"/>
    </c:title>
    <c:autoTitleDeleted val="0"/>
    <c:plotArea>
      <c:layout/>
      <c:barChart>
        <c:barDir val="col"/>
        <c:grouping val="clustered"/>
        <c:varyColors val="0"/>
        <c:ser>
          <c:idx val="0"/>
          <c:order val="0"/>
          <c:tx>
            <c:strRef>
              <c:f>Sheet1!$B$1</c:f>
              <c:strCache>
                <c:ptCount val="1"/>
                <c:pt idx="0">
                  <c:v>シミュレーションの設定</c:v>
                </c:pt>
              </c:strCache>
            </c:strRef>
          </c:tx>
          <c:spPr>
            <a:solidFill>
              <a:srgbClr val="B7C7D1"/>
            </a:solidFill>
            <a:effectLst/>
          </c:spPr>
          <c:invertIfNegative val="0"/>
          <c:dLbls>
            <c:numFmt formatCode="0.00" sourceLinked="0"/>
            <c:txPr>
              <a:bodyPr/>
              <a:lstStyle/>
              <a:p>
                <a:pPr>
                  <a:defRPr b="0" i="0" strike="noStrike" sz="1200" u="none">
                    <a:solidFill>
                      <a:srgbClr val="102B46"/>
                    </a:solidFill>
                    <a:latin typeface="Arial"/>
                  </a:defRPr>
                </a:pPr>
              </a:p>
            </c:txPr>
            <c:showLegendKey val="0"/>
            <c:showVal val="1"/>
            <c:showCatName val="0"/>
            <c:showSerName val="0"/>
            <c:showPercent val="0"/>
            <c:showBubbleSize val="0"/>
            <c:showLeaderLines val="0"/>
          </c:dLbls>
          <c:cat>
            <c:multiLvlStrRef>
              <c:f>Sheet1!$A$2:$A$4</c:f>
              <c:multiLvlStrCache>
                <c:ptCount val="3"/>
                <c:lvl>
                  <c:pt idx="0">
                    <c:v>左股HR</c:v>
                  </c:pt>
                  <c:pt idx="1">
                    <c:v>右股HR</c:v>
                  </c:pt>
                  <c:pt idx="2">
                    <c:v>左足首FFE</c:v>
                  </c:pt>
                </c:lvl>
              </c:multiLvlStrCache>
            </c:multiLvlStrRef>
          </c:cat>
          <c:val>
            <c:numRef>
              <c:f>Sheet1!$B$2:$B$4</c:f>
              <c:numCache>
                <c:formatCode>General</c:formatCode>
                <c:ptCount val="3"/>
                <c:pt idx="0">
                  <c:v>0.37</c:v>
                </c:pt>
                <c:pt idx="1">
                  <c:v>0.37</c:v>
                </c:pt>
                <c:pt idx="2">
                  <c:v>0.22</c:v>
                </c:pt>
              </c:numCache>
            </c:numRef>
          </c:val>
        </c:ser>
        <c:ser>
          <c:idx val="1"/>
          <c:order val="1"/>
          <c:tx>
            <c:strRef>
              <c:f>Sheet1!$C$1</c:f>
              <c:strCache>
                <c:ptCount val="1"/>
                <c:pt idx="0">
                  <c:v>実機で測った値</c:v>
                </c:pt>
              </c:strCache>
            </c:strRef>
          </c:tx>
          <c:spPr>
            <a:solidFill>
              <a:srgbClr val="E8783F"/>
            </a:solidFill>
            <a:effectLst/>
          </c:spPr>
          <c:invertIfNegative val="0"/>
          <c:dLbls>
            <c:numFmt formatCode="0.00" sourceLinked="0"/>
            <c:txPr>
              <a:bodyPr/>
              <a:lstStyle/>
              <a:p>
                <a:pPr>
                  <a:defRPr b="0" i="0" strike="noStrike" sz="1200" u="none">
                    <a:solidFill>
                      <a:srgbClr val="102B46"/>
                    </a:solidFill>
                    <a:latin typeface="Arial"/>
                  </a:defRPr>
                </a:pPr>
              </a:p>
            </c:txPr>
            <c:showLegendKey val="0"/>
            <c:showVal val="1"/>
            <c:showCatName val="0"/>
            <c:showSerName val="0"/>
            <c:showPercent val="0"/>
            <c:showBubbleSize val="0"/>
            <c:showLeaderLines val="0"/>
          </c:dLbls>
          <c:cat>
            <c:multiLvlStrRef>
              <c:f>Sheet1!$A$2:$A$4</c:f>
              <c:multiLvlStrCache>
                <c:ptCount val="3"/>
                <c:lvl>
                  <c:pt idx="0">
                    <c:v>左股HR</c:v>
                  </c:pt>
                  <c:pt idx="1">
                    <c:v>右股HR</c:v>
                  </c:pt>
                  <c:pt idx="2">
                    <c:v>左足首FFE</c:v>
                  </c:pt>
                </c:lvl>
              </c:multiLvlStrCache>
            </c:multiLvlStrRef>
          </c:cat>
          <c:val>
            <c:numRef>
              <c:f>Sheet1!$C$2:$C$4</c:f>
              <c:numCache>
                <c:formatCode>General</c:formatCode>
                <c:ptCount val="3"/>
                <c:pt idx="0">
                  <c:v>1.13</c:v>
                </c:pt>
                <c:pt idx="1">
                  <c:v>0.79</c:v>
                </c:pt>
                <c:pt idx="2">
                  <c:v>0.38</c:v>
                </c:pt>
              </c:numCache>
            </c:numRef>
          </c:val>
        </c:ser>
        <c:dLbls>
          <c:numFmt formatCode="0.00" sourceLinked="0"/>
          <c:txPr>
            <a:bodyPr/>
            <a:lstStyle/>
            <a:p>
              <a:pPr>
                <a:defRPr b="0" i="0" strike="noStrike" sz="1200" u="none">
                  <a:solidFill>
                    <a:srgbClr val="102B46"/>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7212B"/>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5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A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【差し替え案】既存の03枚目と同じ体裁で、制御カードの文言だけ実態（強化学習）に合わせたもの。設計・配線の文言は元のまま。
発表メモ：私たちの目標は二足歩行ロボットを作ることです。設計・配線・制御の3つに分かれて開発しました。制御は、歩き方を人が1つずつ設計するのではなく、シミュレーションの中で強化学習によって学ばせ、それを実機に載せる方針で進め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【差し替え案】元の04枚目は左から右へ流れるだけだったので、モーターからの戻り（フィードバック）と、体の動きをT265が測る戻りを追加した。詳しいループは制御パートで説明する前振り。
発表メモ：T265が胴体の傾きと速度を測り、Jetsonが方策と呼ぶニューラルネットで10個の関節の目標角を計算し、USB-CANを通してモーターへ送ります。モーターは今の角度などを返し、ロボットの体が動けばT265の値も変わります。この一周を20ミリ秒ごとに回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制御パートです。流れは、強化学習とシミュレーター、何を見て何を出すか（観測と行動）、何をほめて何を叱るか（報酬関数）、実機のセンサとモーター、そして全体の制御ループと実機での結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歩行ロボットの制御には、重心の軌道を計算して足の置き場所を決める従来の方法があります。ただし坂・段差・外乱などの条件が変わるたびに人が調整する必要があります。そこで私たちは強化学習を使いました。人が決めるのは『何が良い歩き方か』という報酬だけで、関節をどう動かすかはシミュレーションの中の試行錯誤でニューラルネットに学ばせます。最終目標の坂道も、地形を変えて学習し直すという同じ枠組みで扱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強化学習では、方策と呼ぶニューラルネットが今の状態（観測）を見て行動を出し、環境がその結果として次の状態と報酬を返します。これを何度もくり返し、報酬の合計が大きくなるように方策を少しずつ更新します。このロボットでは、観測は胴体の速度や傾き、関節の角度など42個の数、行動は10個の関節の目標角です。学習アルゴリズムはPPOで、一度に方策を大きく変えすぎないようにして安定して学習させる、歩行ロボットでよく使われる手法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制御の作業はCADから始まります。設計班がOnshapeで作った3DモデルをURDFという関節とリンクの記述形式に変換し、さらにIsaac Sim用のUSD形式に変換します。これをIsaac Labで学習し、評価してからONNXというどの計算機でも動く形式で書き出し、実機のJetsonで動かします。実機で見つかった差はシミュレーションに戻します。途中、CADから出したモデルの関節の向きが左右で逆だったり、名前が学習設定と合わなかったりして、1本ずつ確認して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Isaac LabはNVIDIAのIsaac Simというシミュレーターの上で強化学習をするためのフレームワークです。一番の特徴はGPUを使って何千体ものロボットを同時に計算できることで、これによって現実なら何か月もかかる試行錯誤を数時間で行えます。地形や外乱、センサのノイズも設定で入れられます。（右の画像を見せながら）これが私たちのロボットをシミュレーターに読み込んだ様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では4096体のロボットを同時に動かします。1回の更新で1体あたり24ステップ、つまり約10万ステップ分の経験を集め、それを3000回くり返します。合計で約2.9億ステップ、制御周期20ミリ秒で換算すると約68日分の歩行経験になりますが、GPUのおかげで数時間で終わります。（計算：4096×24×3000 = 294,912,000 ステップ × 0.02 s ≒ 5.9×10^6 s ≒ 68日）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ミュレーター上のロボットは片脚5関節、両脚で10関節です。股のひねりHR、股の横開きHAA、股の前後HFE、膝KFE、足首FFEの順に並んでいます。トルクが必要な股のひねり・横開き・膝には大きいAK10-9、股の前後と足首にはAK80-9を使っています。質量や慣性はCADの材質設定から計算した値を入れています。なお、CADから出したままだと前後と左右の軸が入れ替わっていたので、胴体の向きを回転させてIsaac Labの前提に合わせました。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から、学習を始めたばかり、途中、学習後の様子です。報酬の決め方もロボットも同じで、変わっているのはニューラルネットの重みだけです。最初はすぐ倒れますが、報酬を手がかりに、転ばないこと、足を出すこと、指令の方向へ進むことを順に覚え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方策の入力は42個の数です。胴体の速度・角速度・重力の向き（つまり傾き）がT265から、速度指令がコントローラーから、10関節の角度と角速度がモーターから来ます。さらに自分が1つ前に出した行動も入れています。出力は10個で、基準の立ち姿勢からどれだけずらすかを表します。0.5倍して基準姿勢に足したものが各関節の目標角になります。方策が決めるのは目標角までで、実際のトルクはモーター側のPD制御、つまり目標とのずれに比例した力とブレーキの力で決まります。これを20ミリ秒に1回計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関数は13個の項目の重み付き和です。大きく3種類に分かれます。1つ目は目的の達成で、指令された速度で進む、指令どおりに旋回する、片足ずつ地面から離すことをほめます。2つ目はきれいに歩くための罰で、胴体の上下の揺れ、傾き、足の滑りなどを叱ります。3つ目は壊さないための罰で、股が地面に当たる、関節の可動域を超えそうになるといった動きを叱ります。重みの大きさはそれぞれの項目の値の大きさがばらばらなので、単純に比べることはできません。胴体が地面に触れるか大きく傾いたら、その試行を打ち切ってやり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ほめる報酬は3つです。1つ目は速度追従で、指令速度と実際の速度の差を二乗してexpをとった形です。ぴったりなら1、ずれるほど0に近づきます。σはどれくらいのずれまで許すかの幅で、右のグラフのように、初期値0.5だと横に0.2 m/s流れても報酬が15%しか減らず、前に進みながら横に流れる『カニ歩き』を十分に叱れませんでした。そこで0.35に締めました。2つ目は同じ形の旋回追従です。3つ目は片足だけが地面に着いている時間に比例する報酬で、両足を交互に上げる歩き方を促します。止まれという指令のときは0にして、その場で足踏みしないよう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叱る報酬の一覧です。すべて『値が大きいほど悪い』量を作って、負の重みを掛けています。たとえば出力の急変は、前の行動と今の行動の差の二乗で、これを叱ることでガタガタした指令が出なくなり、実機のモーターにも優しくなります。股や太ももが地面に触れる罰は、膝をついて進むような『抜け道』を防ぐためのものです。強化学習は報酬の穴を見つけるのが得意なので、こうした罰が必要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設計で一番つまずいたのがここです。参考にしたロボットの設定のまま学習させると、3000回学習しても全員がその場で立ち止まりました。原因を調べると、見本の足上げ報酬は0.2秒以上足を浮かせて初めてプラスになり、それより短いとマイナスになる式でした。私たちのロボットが自然に出す滞空時間は0.07〜0.11秒なので、足を上げるほど損をする、つまり立っているのが一番得な設計になっていたのです。そこで足上げ報酬を片足で立っている時間をほめる形に置き換え、速度追従の幅も締め、まず平地だけで学習させました。その結果、前進速度が0.00から0.43 m/sまで上がりました。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ミュレーションで歩けても実機で歩けるとは限りません。この差を埋める方法は2つあります。1つは、床の摩擦や質量、外から押す力などをわざとばらつかせて学習させる方法で、どの条件でも歩ける方策を作ります。もう1つは、モーターの特性をなるべく実機に合わせる方法で、モーターの種類ごとに剛性やトルク上限、回転部の慣性や摩擦を設定しています。特にAK80-9はトルク上限を13.5 N·mに抑えて学習させた方策を実機用に選びました。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実機に載せる方策のシミュレーション評価です。前進0.5 m/sの指令に対して0.42 m/s、横に0.3 m/sの指令に対して0.33 m/sで動き、転倒はありませんでした。歩きながら左右に曲がることもできます。一方、その場で回ることはできません。調べると、学習中にその場で回れという指令がほとんど出ておらず、しかも足上げの報酬が前後左右の速度指令がないときは0になる式だったため、その場で足踏みして回る動きを学ぶ機会がなかったのが原因でした。これは別の方策で対策中ですが、まだ実機に載せられる品質になっていないので、今回はこの方策を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胴体の傾きと速度はIntel RealSense T265というセンサで測っています。中には白黒の魚眼カメラ2つと、BoschのBMI055というIMU、つまり加速度とジャイロのセンサが入っています。T265の中のプロセッサが、カメラで見た景色の動きとIMUの値を融合して、位置・姿勢・速度・角速度を1秒に200回USBで出してくれます。IMUだけで速度を出そうとすると積分の誤差がたまってしまうので、カメラで補正できるT265を選びました。実際、速度を使わない方策も学習してみましたが、前進が遅く、モーターが少し柔らかいだけで全部転倒したので、速度を測れるセンサが必要だと判断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265の座標は右がX、上がY、後ろがZですが、ロボットの胴体は前がx、左がy、上がzです。また、T265の計測の中心とロボットの胴体の原点も離れています。そこで、回転行列でT265の向きを胴体の向きに直し、速度については取り付け位置のずれによる分を補正しています。重力の向きは、T265が推定した姿勢を使って、世界の下向きのベクトルを胴体から見た向きに直したものです。取り付け位置はCADの寸法から出しました。実際にT265を手で持って、水平に置く、前を下げる、左を下げる、回す、前に動かす、の5つの動きをして、符号がすべて合うことを確認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ーターはCubeMarsのAK10-9とAK80-9で、CANという通信で指令を送ります。MITモードという使い方をしていて、目標角とゲインKp・Kdを送ると、モーターの中でPD制御を計算してトルクを出してくれます。1回送ると、今の角度・角速度・電流などが1回返ってきます。CANは左脚と右脚で2系統に分け、それぞれ5台がつながっています。注意したのはゲインの単位で、シミュレーションの剛性をそのまま送ると機種ごとに効き方が違ったので、実測した係数で割って換算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制御ループの全体です。まずT265が胴体の姿勢と速度をUSBでJetsonに1秒200回送ります。Jetsonはその最新の値と、コントローラーからの速度指令、モーターから返ってきた関節の角度と角速度を集めて42個の観測を作り、方策をGPUで計算して10関節の目標角を出します。目標角はUSB-CANを通してCANで各モーターに送られ、モーターは中でPD制御をしてトルクを出します。関節が回ると、モーターは新しい角度などを返し、胴体が動けばT265の値も変わります。これが次の周期の観測になり、この一周を20ミリ秒ごと、1秒に50回まわしています。なお、現在の吊り試験では同じプログラムをノートPCで動かしていて、Jetsonでは実機をつながない状態での動作確認まで済んで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周期の中身です。センサとモーターの最新の値を受け取り、値が古くないか、エラーがないかを確かめ、座標や原点の補正をしてから方策を計算し、CANで10台に送ります。すべての値はCSVに記録して、後で解析します。T265の値が途切れた、モーターがエラーを返した、電流が上限を超えたなどの場合は、ゼロ指令を送って止めます。ただし最終的な非常停止は人が主電源を切ることにしています。また、実機に載せる前に、学習環境で記録した入力を実機用のプログラムに入れて、同じ出力が出ることを確認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機ではいきなり床で歩かせず、小さく確かめてから全身に進めています。1台ずつMITモードで動くか確認し、10台のIDと回転方向、ゼロ姿勢の対応表を作り、PC上ですべてを1つのプログラムに統合しました。現在はロボットをひもで吊った状態で全身に指令を送る段階です。各段階で止める条件を先に決め、結果は必ず記録したデータで判定するよう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制御の結果です。シミュレーションでは、報酬を見直すことで平地を指令どおりに歩く方策が得られました。実機では、T265の受信、10台のモーターの受信、50 Hzの制御ループを1つのプログラムで動かすところまでできました。ただし吊った状態の試験では、5回とも方策に切り替える前の準備段階で安全停止が働いて止まりました。調べたところ、原因は方策やモーターの故障ではなく、安全停止のしきい値の決め方でした。次のスライドで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課題は3つです。1つ目が吊り試験で止まった原因で、安全停止の電流しきい値1.0 Aは、モーター1台だけを試したときの値でした。全身を吊ると、グラフのように関節によっては自重を支えるだけで1 Aを超える電流が必要で、特に股の横開きはゼロ姿勢でも1.7 A必要でした。つまり指令を出す前から止まる条件を満たしていたわけです。2つ目は、実機のモーターは動き出しに必要な力が大きく、シミュレーションの想定の2〜3倍の摩擦があることです。3つ目は、AK80-9は電源を切ると原点を覚えていないので、毎回同じ姿勢で合わせ直す必要があり、手で支えて合わせると20〜30度ずれてしまった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考察です。シミュレーションと実機のずれは、方策そのものよりもモーターまわりに集中していました。グラフは関節の摩擦で、実機はシミュレーションの設定の2〜3倍でした。ここから3つのことが言えます。1つ目、安全停止の条件は、試験の内容に合わせて関節ごとに決めるべきで、次は吊ったまま姿勢を保持させて必要な電流を実測してから決めます。2つ目、摩擦が歩き方を壊すかどうかは、実機を使わずにシミュレーションで先に確かめられます。3つ目、原点合わせは手ではなく治具で同じ姿勢を作るべ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は、まず吊ったまま姿勢を保持させて関節ごとの必要電流を測り、安全停止の値を決め直します。並行して原点合わせの治具を作り、シミュレーションで摩擦を実機並みにしても歩けるか確認します。そのうえで平地で歩かせ、最後に最終目標である坂道の学習に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【差し替え案】元のまとめの制御の行を実態に合わせ、次の段階の文言を更新したもの。設計・配線の行は元のまま。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参考文献。CubeMarsのマニュアルは実際に参照した版（版数・URL）に合わせて書き換えること。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開発目標・開発計画</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03</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619250"/>
            <a:ext cx="10934700" cy="666750"/>
          </a:xfrm>
          <a:prstGeom prst="rect">
            <a:avLst/>
          </a:prstGeom>
          <a:noFill/>
          <a:ln/>
        </p:spPr>
        <p:txBody>
          <a:bodyPr wrap="square" lIns="0" tIns="0" rIns="0" bIns="0" rtlCol="0" anchor="ctr"/>
          <a:lstStyle/>
          <a:p>
            <a:pPr algn="ctr" indent="0" marL="0">
              <a:buNone/>
            </a:pPr>
            <a:r>
              <a:rPr lang="en-US" sz="3600" b="1" dirty="0">
                <a:solidFill>
                  <a:srgbClr val="102B46"/>
                </a:solidFill>
                <a:latin typeface="Yu Gothic" pitchFamily="34" charset="0"/>
                <a:ea typeface="Yu Gothic" pitchFamily="34" charset="-122"/>
                <a:cs typeface="Yu Gothic" pitchFamily="34" charset="-120"/>
              </a:rPr>
              <a:t>二足歩行ロボットの作成を目標とする</a:t>
            </a:r>
            <a:endParaRPr lang="en-US" sz="3600" dirty="0"/>
          </a:p>
        </p:txBody>
      </p:sp>
      <p:sp>
        <p:nvSpPr>
          <p:cNvPr id="7" name="Shape 5"/>
          <p:cNvSpPr/>
          <p:nvPr/>
        </p:nvSpPr>
        <p:spPr>
          <a:xfrm>
            <a:off x="990600" y="3143250"/>
            <a:ext cx="3181350" cy="2476500"/>
          </a:xfrm>
          <a:prstGeom prst="rect">
            <a:avLst/>
          </a:prstGeom>
          <a:solidFill>
            <a:srgbClr val="F3EEE6"/>
          </a:solidFill>
          <a:ln w="12700">
            <a:solidFill>
              <a:srgbClr val="B7C7D1"/>
            </a:solidFill>
            <a:prstDash val="solid"/>
          </a:ln>
        </p:spPr>
      </p:sp>
      <p:sp>
        <p:nvSpPr>
          <p:cNvPr id="8" name="Text 6"/>
          <p:cNvSpPr txBox="1"/>
          <p:nvPr/>
        </p:nvSpPr>
        <p:spPr>
          <a:xfrm>
            <a:off x="1257300" y="3429000"/>
            <a:ext cx="2667000" cy="381000"/>
          </a:xfrm>
          <a:prstGeom prst="rect">
            <a:avLst/>
          </a:prstGeom>
          <a:noFill/>
          <a:ln/>
        </p:spPr>
        <p:txBody>
          <a:bodyPr wrap="square" lIns="0" tIns="0" rIns="0" bIns="0" rtlCol="0" anchor="ctr"/>
          <a:lstStyle/>
          <a:p>
            <a:pPr algn="l" indent="0" marL="0">
              <a:buNone/>
            </a:pPr>
            <a:r>
              <a:rPr lang="en-US" sz="2600" b="1" dirty="0">
                <a:solidFill>
                  <a:srgbClr val="E8783F"/>
                </a:solidFill>
                <a:latin typeface="Yu Gothic" pitchFamily="34" charset="0"/>
                <a:ea typeface="Yu Gothic" pitchFamily="34" charset="-122"/>
                <a:cs typeface="Yu Gothic" pitchFamily="34" charset="-120"/>
              </a:rPr>
              <a:t>設計</a:t>
            </a:r>
            <a:endParaRPr lang="en-US" sz="2600" dirty="0"/>
          </a:p>
        </p:txBody>
      </p:sp>
      <p:sp>
        <p:nvSpPr>
          <p:cNvPr id="9" name="Shape 7"/>
          <p:cNvSpPr/>
          <p:nvPr/>
        </p:nvSpPr>
        <p:spPr>
          <a:xfrm>
            <a:off x="1257300" y="3924300"/>
            <a:ext cx="2571750" cy="0"/>
          </a:xfrm>
          <a:prstGeom prst="line">
            <a:avLst/>
          </a:prstGeom>
          <a:noFill/>
          <a:ln w="31750">
            <a:solidFill>
              <a:srgbClr val="E8783F"/>
            </a:solidFill>
            <a:prstDash val="solid"/>
          </a:ln>
        </p:spPr>
      </p:sp>
      <p:sp>
        <p:nvSpPr>
          <p:cNvPr id="10" name="Text 8"/>
          <p:cNvSpPr txBox="1"/>
          <p:nvPr/>
        </p:nvSpPr>
        <p:spPr>
          <a:xfrm>
            <a:off x="1257300" y="4114800"/>
            <a:ext cx="2667000" cy="1238250"/>
          </a:xfrm>
          <a:prstGeom prst="rect">
            <a:avLst/>
          </a:prstGeom>
          <a:noFill/>
          <a:ln/>
        </p:spPr>
        <p:txBody>
          <a:bodyPr wrap="square" lIns="0" tIns="0" rIns="0" bIns="0" rtlCol="0" anchor="t"/>
          <a:lstStyle/>
          <a:p>
            <a:pPr algn="l" indent="0" marL="0">
              <a:lnSpc>
                <a:spcPct val="115000"/>
              </a:lnSpc>
              <a:buNone/>
            </a:pPr>
            <a:r>
              <a:rPr lang="en-US" sz="1700" dirty="0">
                <a:solidFill>
                  <a:srgbClr val="17212B"/>
                </a:solidFill>
                <a:latin typeface="Yu Gothic" pitchFamily="34" charset="0"/>
                <a:ea typeface="Yu Gothic" pitchFamily="34" charset="-122"/>
                <a:cs typeface="Yu Gothic" pitchFamily="34" charset="-120"/>
              </a:rPr>
              <a:t>脚長・関節配置を決め、部品を組み立てる</a:t>
            </a:r>
            <a:endParaRPr lang="en-US" sz="1700" dirty="0"/>
          </a:p>
        </p:txBody>
      </p:sp>
      <p:sp>
        <p:nvSpPr>
          <p:cNvPr id="11" name="Shape 9"/>
          <p:cNvSpPr/>
          <p:nvPr/>
        </p:nvSpPr>
        <p:spPr>
          <a:xfrm>
            <a:off x="4657725" y="3143250"/>
            <a:ext cx="3181350" cy="2476500"/>
          </a:xfrm>
          <a:prstGeom prst="rect">
            <a:avLst/>
          </a:prstGeom>
          <a:solidFill>
            <a:srgbClr val="F3EEE6"/>
          </a:solidFill>
          <a:ln w="12700">
            <a:solidFill>
              <a:srgbClr val="B7C7D1"/>
            </a:solidFill>
            <a:prstDash val="solid"/>
          </a:ln>
        </p:spPr>
      </p:sp>
      <p:sp>
        <p:nvSpPr>
          <p:cNvPr id="12" name="Text 10"/>
          <p:cNvSpPr txBox="1"/>
          <p:nvPr/>
        </p:nvSpPr>
        <p:spPr>
          <a:xfrm>
            <a:off x="4924425" y="3429000"/>
            <a:ext cx="2667000" cy="381000"/>
          </a:xfrm>
          <a:prstGeom prst="rect">
            <a:avLst/>
          </a:prstGeom>
          <a:noFill/>
          <a:ln/>
        </p:spPr>
        <p:txBody>
          <a:bodyPr wrap="square" lIns="0" tIns="0" rIns="0" bIns="0" rtlCol="0" anchor="ctr"/>
          <a:lstStyle/>
          <a:p>
            <a:pPr algn="l" indent="0" marL="0">
              <a:buNone/>
            </a:pPr>
            <a:r>
              <a:rPr lang="en-US" sz="2600" b="1" dirty="0">
                <a:solidFill>
                  <a:srgbClr val="1C5A85"/>
                </a:solidFill>
                <a:latin typeface="Yu Gothic" pitchFamily="34" charset="0"/>
                <a:ea typeface="Yu Gothic" pitchFamily="34" charset="-122"/>
                <a:cs typeface="Yu Gothic" pitchFamily="34" charset="-120"/>
              </a:rPr>
              <a:t>配線</a:t>
            </a:r>
            <a:endParaRPr lang="en-US" sz="2600" dirty="0"/>
          </a:p>
        </p:txBody>
      </p:sp>
      <p:sp>
        <p:nvSpPr>
          <p:cNvPr id="13" name="Shape 11"/>
          <p:cNvSpPr/>
          <p:nvPr/>
        </p:nvSpPr>
        <p:spPr>
          <a:xfrm>
            <a:off x="4924425" y="3924300"/>
            <a:ext cx="2571750" cy="0"/>
          </a:xfrm>
          <a:prstGeom prst="line">
            <a:avLst/>
          </a:prstGeom>
          <a:noFill/>
          <a:ln w="31750">
            <a:solidFill>
              <a:srgbClr val="1C5A85"/>
            </a:solidFill>
            <a:prstDash val="solid"/>
          </a:ln>
        </p:spPr>
      </p:sp>
      <p:sp>
        <p:nvSpPr>
          <p:cNvPr id="14" name="Text 12"/>
          <p:cNvSpPr txBox="1"/>
          <p:nvPr/>
        </p:nvSpPr>
        <p:spPr>
          <a:xfrm>
            <a:off x="4924425" y="4114800"/>
            <a:ext cx="2667000" cy="1238250"/>
          </a:xfrm>
          <a:prstGeom prst="rect">
            <a:avLst/>
          </a:prstGeom>
          <a:noFill/>
          <a:ln/>
        </p:spPr>
        <p:txBody>
          <a:bodyPr wrap="square" lIns="0" tIns="0" rIns="0" bIns="0" rtlCol="0" anchor="t"/>
          <a:lstStyle/>
          <a:p>
            <a:pPr algn="l" indent="0" marL="0">
              <a:lnSpc>
                <a:spcPct val="115000"/>
              </a:lnSpc>
              <a:buNone/>
            </a:pPr>
            <a:r>
              <a:rPr lang="en-US" sz="1700" dirty="0">
                <a:solidFill>
                  <a:srgbClr val="17212B"/>
                </a:solidFill>
                <a:latin typeface="Yu Gothic" pitchFamily="34" charset="0"/>
                <a:ea typeface="Yu Gothic" pitchFamily="34" charset="-122"/>
                <a:cs typeface="Yu Gothic" pitchFamily="34" charset="-120"/>
              </a:rPr>
              <a:t>電源とCAN通信を整理し、保守しやすい配線にする</a:t>
            </a:r>
            <a:endParaRPr lang="en-US" sz="1700" dirty="0"/>
          </a:p>
        </p:txBody>
      </p:sp>
      <p:sp>
        <p:nvSpPr>
          <p:cNvPr id="15" name="Shape 13"/>
          <p:cNvSpPr/>
          <p:nvPr/>
        </p:nvSpPr>
        <p:spPr>
          <a:xfrm>
            <a:off x="8324850" y="3143250"/>
            <a:ext cx="3181350" cy="2476500"/>
          </a:xfrm>
          <a:prstGeom prst="rect">
            <a:avLst/>
          </a:prstGeom>
          <a:solidFill>
            <a:srgbClr val="F3EEE6"/>
          </a:solidFill>
          <a:ln w="12700">
            <a:solidFill>
              <a:srgbClr val="B7C7D1"/>
            </a:solidFill>
            <a:prstDash val="solid"/>
          </a:ln>
        </p:spPr>
      </p:sp>
      <p:sp>
        <p:nvSpPr>
          <p:cNvPr id="16" name="Text 14"/>
          <p:cNvSpPr txBox="1"/>
          <p:nvPr/>
        </p:nvSpPr>
        <p:spPr>
          <a:xfrm>
            <a:off x="8591550" y="3429000"/>
            <a:ext cx="2667000" cy="381000"/>
          </a:xfrm>
          <a:prstGeom prst="rect">
            <a:avLst/>
          </a:prstGeom>
          <a:noFill/>
          <a:ln/>
        </p:spPr>
        <p:txBody>
          <a:bodyPr wrap="square" lIns="0" tIns="0" rIns="0" bIns="0" rtlCol="0" anchor="ctr"/>
          <a:lstStyle/>
          <a:p>
            <a:pPr algn="l" indent="0" marL="0">
              <a:buNone/>
            </a:pPr>
            <a:r>
              <a:rPr lang="en-US" sz="2600" b="1" dirty="0">
                <a:solidFill>
                  <a:srgbClr val="32A5B5"/>
                </a:solidFill>
                <a:latin typeface="Yu Gothic" pitchFamily="34" charset="0"/>
                <a:ea typeface="Yu Gothic" pitchFamily="34" charset="-122"/>
                <a:cs typeface="Yu Gothic" pitchFamily="34" charset="-120"/>
              </a:rPr>
              <a:t>制御</a:t>
            </a:r>
            <a:endParaRPr lang="en-US" sz="2600" dirty="0"/>
          </a:p>
        </p:txBody>
      </p:sp>
      <p:sp>
        <p:nvSpPr>
          <p:cNvPr id="17" name="Shape 15"/>
          <p:cNvSpPr/>
          <p:nvPr/>
        </p:nvSpPr>
        <p:spPr>
          <a:xfrm>
            <a:off x="8591550" y="3924300"/>
            <a:ext cx="2571750" cy="0"/>
          </a:xfrm>
          <a:prstGeom prst="line">
            <a:avLst/>
          </a:prstGeom>
          <a:noFill/>
          <a:ln w="31750">
            <a:solidFill>
              <a:srgbClr val="32A5B5"/>
            </a:solidFill>
            <a:prstDash val="solid"/>
          </a:ln>
        </p:spPr>
      </p:sp>
      <p:sp>
        <p:nvSpPr>
          <p:cNvPr id="18" name="Text 16"/>
          <p:cNvSpPr txBox="1"/>
          <p:nvPr/>
        </p:nvSpPr>
        <p:spPr>
          <a:xfrm>
            <a:off x="8591550" y="4114800"/>
            <a:ext cx="2667000" cy="1238250"/>
          </a:xfrm>
          <a:prstGeom prst="rect">
            <a:avLst/>
          </a:prstGeom>
          <a:noFill/>
          <a:ln/>
        </p:spPr>
        <p:txBody>
          <a:bodyPr wrap="square" lIns="0" tIns="0" rIns="0" bIns="0" rtlCol="0" anchor="t"/>
          <a:lstStyle/>
          <a:p>
            <a:pPr algn="l" indent="0" marL="0">
              <a:lnSpc>
                <a:spcPct val="115000"/>
              </a:lnSpc>
              <a:buNone/>
            </a:pPr>
            <a:r>
              <a:rPr lang="en-US" sz="1700" dirty="0">
                <a:solidFill>
                  <a:srgbClr val="17212B"/>
                </a:solidFill>
                <a:latin typeface="Yu Gothic" pitchFamily="34" charset="0"/>
                <a:ea typeface="Yu Gothic" pitchFamily="34" charset="-122"/>
                <a:cs typeface="Yu Gothic" pitchFamily="34" charset="-120"/>
              </a:rPr>
              <a:t>シミュレーション上の強化学習で歩き方を学習させ、センサとモーターをつないで実機で動かす</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ロボット全体の構成</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04</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センサ → 計算機 → モーター と流れた情報が、フィードバックでまた戻ってくる</a:t>
            </a:r>
            <a:endParaRPr lang="en-US" sz="2200" dirty="0"/>
          </a:p>
        </p:txBody>
      </p:sp>
      <p:sp>
        <p:nvSpPr>
          <p:cNvPr id="7" name="Shape 5"/>
          <p:cNvSpPr/>
          <p:nvPr/>
        </p:nvSpPr>
        <p:spPr>
          <a:xfrm>
            <a:off x="666750" y="2190750"/>
            <a:ext cx="2286000" cy="1428750"/>
          </a:xfrm>
          <a:prstGeom prst="rect">
            <a:avLst/>
          </a:prstGeom>
          <a:solidFill>
            <a:srgbClr val="F3EEE6"/>
          </a:solidFill>
          <a:ln w="25400">
            <a:solidFill>
              <a:srgbClr val="32A5B5"/>
            </a:solidFill>
            <a:prstDash val="solid"/>
          </a:ln>
        </p:spPr>
      </p:sp>
      <p:sp>
        <p:nvSpPr>
          <p:cNvPr id="8" name="Text 6"/>
          <p:cNvSpPr txBox="1"/>
          <p:nvPr/>
        </p:nvSpPr>
        <p:spPr>
          <a:xfrm>
            <a:off x="819150" y="2343150"/>
            <a:ext cx="1981200" cy="285750"/>
          </a:xfrm>
          <a:prstGeom prst="rect">
            <a:avLst/>
          </a:prstGeom>
          <a:noFill/>
          <a:ln/>
        </p:spPr>
        <p:txBody>
          <a:bodyPr wrap="square" lIns="0" tIns="0" rIns="0" bIns="0" rtlCol="0" anchor="ctr"/>
          <a:lstStyle/>
          <a:p>
            <a:pPr algn="ctr" indent="0" marL="0">
              <a:buNone/>
            </a:pPr>
            <a:r>
              <a:rPr lang="en-US" sz="1800" b="1" dirty="0">
                <a:solidFill>
                  <a:srgbClr val="32A5B5"/>
                </a:solidFill>
                <a:latin typeface="Yu Gothic" pitchFamily="34" charset="0"/>
                <a:ea typeface="Yu Gothic" pitchFamily="34" charset="-122"/>
                <a:cs typeface="Yu Gothic" pitchFamily="34" charset="-120"/>
              </a:rPr>
              <a:t>姿勢・速度</a:t>
            </a:r>
            <a:endParaRPr lang="en-US" sz="1800" dirty="0"/>
          </a:p>
        </p:txBody>
      </p:sp>
      <p:sp>
        <p:nvSpPr>
          <p:cNvPr id="9" name="Text 7"/>
          <p:cNvSpPr txBox="1"/>
          <p:nvPr/>
        </p:nvSpPr>
        <p:spPr>
          <a:xfrm>
            <a:off x="819150" y="2705100"/>
            <a:ext cx="1981200" cy="762000"/>
          </a:xfrm>
          <a:prstGeom prst="rect">
            <a:avLst/>
          </a:prstGeom>
          <a:noFill/>
          <a:ln/>
        </p:spPr>
        <p:txBody>
          <a:bodyPr wrap="square" lIns="0" tIns="0" rIns="0" bIns="0" rtlCol="0" anchor="ctr"/>
          <a:lstStyle/>
          <a:p>
            <a:pPr algn="ctr" indent="0" marL="0">
              <a:buNone/>
            </a:pPr>
            <a:r>
              <a:rPr lang="en-US" sz="1600" dirty="0">
                <a:solidFill>
                  <a:srgbClr val="17212B"/>
                </a:solidFill>
                <a:latin typeface="Yu Gothic" pitchFamily="34" charset="0"/>
                <a:ea typeface="Yu Gothic" pitchFamily="34" charset="-122"/>
                <a:cs typeface="Yu Gothic" pitchFamily="34" charset="-120"/>
              </a:rPr>
              <a:t>RealSense T265</a:t>
            </a:r>
            <a:endParaRPr lang="en-US" sz="1600" dirty="0"/>
          </a:p>
          <a:p>
            <a:pPr algn="ctr" indent="0" marL="0">
              <a:buNone/>
            </a:pPr>
            <a:r>
              <a:rPr lang="en-US" sz="1600" dirty="0">
                <a:solidFill>
                  <a:srgbClr val="17212B"/>
                </a:solidFill>
                <a:latin typeface="Yu Gothic" pitchFamily="34" charset="0"/>
                <a:ea typeface="Yu Gothic" pitchFamily="34" charset="-122"/>
                <a:cs typeface="Yu Gothic" pitchFamily="34" charset="-120"/>
              </a:rPr>
              <a:t>胴体の傾き・速度</a:t>
            </a:r>
            <a:endParaRPr lang="en-US" sz="1600" dirty="0"/>
          </a:p>
        </p:txBody>
      </p:sp>
      <p:sp>
        <p:nvSpPr>
          <p:cNvPr id="10" name="Shape 8"/>
          <p:cNvSpPr/>
          <p:nvPr/>
        </p:nvSpPr>
        <p:spPr>
          <a:xfrm>
            <a:off x="2990850" y="2762250"/>
            <a:ext cx="476250" cy="95"/>
          </a:xfrm>
          <a:prstGeom prst="line">
            <a:avLst/>
          </a:prstGeom>
          <a:noFill/>
          <a:ln w="31750">
            <a:solidFill>
              <a:srgbClr val="1C5A85"/>
            </a:solidFill>
            <a:prstDash val="solid"/>
            <a:tailEnd type="triangle"/>
          </a:ln>
        </p:spPr>
      </p:sp>
      <p:sp>
        <p:nvSpPr>
          <p:cNvPr id="11" name="Shape 9"/>
          <p:cNvSpPr/>
          <p:nvPr/>
        </p:nvSpPr>
        <p:spPr>
          <a:xfrm>
            <a:off x="3524250" y="2190750"/>
            <a:ext cx="2286000" cy="1428750"/>
          </a:xfrm>
          <a:prstGeom prst="rect">
            <a:avLst/>
          </a:prstGeom>
          <a:solidFill>
            <a:srgbClr val="F3EEE6"/>
          </a:solidFill>
          <a:ln w="25400">
            <a:solidFill>
              <a:srgbClr val="1C5A85"/>
            </a:solidFill>
            <a:prstDash val="solid"/>
          </a:ln>
        </p:spPr>
      </p:sp>
      <p:sp>
        <p:nvSpPr>
          <p:cNvPr id="12" name="Text 10"/>
          <p:cNvSpPr txBox="1"/>
          <p:nvPr/>
        </p:nvSpPr>
        <p:spPr>
          <a:xfrm>
            <a:off x="3676650" y="2343150"/>
            <a:ext cx="1981200" cy="285750"/>
          </a:xfrm>
          <a:prstGeom prst="rect">
            <a:avLst/>
          </a:prstGeom>
          <a:noFill/>
          <a:ln/>
        </p:spPr>
        <p:txBody>
          <a:bodyPr wrap="square" lIns="0" tIns="0" rIns="0" bIns="0" rtlCol="0" anchor="ctr"/>
          <a:lstStyle/>
          <a:p>
            <a:pPr algn="ctr" indent="0" marL="0">
              <a:buNone/>
            </a:pPr>
            <a:r>
              <a:rPr lang="en-US" sz="1800" b="1" dirty="0">
                <a:solidFill>
                  <a:srgbClr val="1C5A85"/>
                </a:solidFill>
                <a:latin typeface="Yu Gothic" pitchFamily="34" charset="0"/>
                <a:ea typeface="Yu Gothic" pitchFamily="34" charset="-122"/>
                <a:cs typeface="Yu Gothic" pitchFamily="34" charset="-120"/>
              </a:rPr>
              <a:t>計算機</a:t>
            </a:r>
            <a:endParaRPr lang="en-US" sz="1800" dirty="0"/>
          </a:p>
        </p:txBody>
      </p:sp>
      <p:sp>
        <p:nvSpPr>
          <p:cNvPr id="13" name="Text 11"/>
          <p:cNvSpPr txBox="1"/>
          <p:nvPr/>
        </p:nvSpPr>
        <p:spPr>
          <a:xfrm>
            <a:off x="3676650" y="2705100"/>
            <a:ext cx="1981200" cy="762000"/>
          </a:xfrm>
          <a:prstGeom prst="rect">
            <a:avLst/>
          </a:prstGeom>
          <a:noFill/>
          <a:ln/>
        </p:spPr>
        <p:txBody>
          <a:bodyPr wrap="square" lIns="0" tIns="0" rIns="0" bIns="0" rtlCol="0" anchor="ctr"/>
          <a:lstStyle/>
          <a:p>
            <a:pPr algn="ctr" indent="0" marL="0">
              <a:buNone/>
            </a:pPr>
            <a:r>
              <a:rPr lang="en-US" sz="1600" dirty="0">
                <a:solidFill>
                  <a:srgbClr val="17212B"/>
                </a:solidFill>
                <a:latin typeface="Yu Gothic" pitchFamily="34" charset="0"/>
                <a:ea typeface="Yu Gothic" pitchFamily="34" charset="-122"/>
                <a:cs typeface="Yu Gothic" pitchFamily="34" charset="-120"/>
              </a:rPr>
              <a:t>Jetson Orin Nano</a:t>
            </a:r>
            <a:endParaRPr lang="en-US" sz="1600" dirty="0"/>
          </a:p>
          <a:p>
            <a:pPr algn="ctr" indent="0" marL="0">
              <a:buNone/>
            </a:pPr>
            <a:r>
              <a:rPr lang="en-US" sz="1600" dirty="0">
                <a:solidFill>
                  <a:srgbClr val="17212B"/>
                </a:solidFill>
                <a:latin typeface="Yu Gothic" pitchFamily="34" charset="0"/>
                <a:ea typeface="Yu Gothic" pitchFamily="34" charset="-122"/>
                <a:cs typeface="Yu Gothic" pitchFamily="34" charset="-120"/>
              </a:rPr>
              <a:t>方策（NN）の計算</a:t>
            </a:r>
            <a:endParaRPr lang="en-US" sz="1600" dirty="0"/>
          </a:p>
        </p:txBody>
      </p:sp>
      <p:sp>
        <p:nvSpPr>
          <p:cNvPr id="14" name="Shape 12"/>
          <p:cNvSpPr/>
          <p:nvPr/>
        </p:nvSpPr>
        <p:spPr>
          <a:xfrm>
            <a:off x="5848350" y="2762250"/>
            <a:ext cx="476250" cy="95"/>
          </a:xfrm>
          <a:prstGeom prst="line">
            <a:avLst/>
          </a:prstGeom>
          <a:noFill/>
          <a:ln w="31750">
            <a:solidFill>
              <a:srgbClr val="1C5A85"/>
            </a:solidFill>
            <a:prstDash val="solid"/>
            <a:tailEnd type="triangle"/>
          </a:ln>
        </p:spPr>
      </p:sp>
      <p:sp>
        <p:nvSpPr>
          <p:cNvPr id="15" name="Shape 13"/>
          <p:cNvSpPr/>
          <p:nvPr/>
        </p:nvSpPr>
        <p:spPr>
          <a:xfrm>
            <a:off x="6381750" y="2190750"/>
            <a:ext cx="2286000" cy="1428750"/>
          </a:xfrm>
          <a:prstGeom prst="rect">
            <a:avLst/>
          </a:prstGeom>
          <a:solidFill>
            <a:srgbClr val="F3EEE6"/>
          </a:solidFill>
          <a:ln w="25400">
            <a:solidFill>
              <a:srgbClr val="E8783F"/>
            </a:solidFill>
            <a:prstDash val="solid"/>
          </a:ln>
        </p:spPr>
      </p:sp>
      <p:sp>
        <p:nvSpPr>
          <p:cNvPr id="16" name="Text 14"/>
          <p:cNvSpPr txBox="1"/>
          <p:nvPr/>
        </p:nvSpPr>
        <p:spPr>
          <a:xfrm>
            <a:off x="6534150" y="2343150"/>
            <a:ext cx="1981200" cy="285750"/>
          </a:xfrm>
          <a:prstGeom prst="rect">
            <a:avLst/>
          </a:prstGeom>
          <a:noFill/>
          <a:ln/>
        </p:spPr>
        <p:txBody>
          <a:bodyPr wrap="square" lIns="0" tIns="0" rIns="0" bIns="0" rtlCol="0" anchor="ctr"/>
          <a:lstStyle/>
          <a:p>
            <a:pPr algn="ctr" indent="0" marL="0">
              <a:buNone/>
            </a:pPr>
            <a:r>
              <a:rPr lang="en-US" sz="1800" b="1" dirty="0">
                <a:solidFill>
                  <a:srgbClr val="E8783F"/>
                </a:solidFill>
                <a:latin typeface="Yu Gothic" pitchFamily="34" charset="0"/>
                <a:ea typeface="Yu Gothic" pitchFamily="34" charset="-122"/>
                <a:cs typeface="Yu Gothic" pitchFamily="34" charset="-120"/>
              </a:rPr>
              <a:t>通信</a:t>
            </a:r>
            <a:endParaRPr lang="en-US" sz="1800" dirty="0"/>
          </a:p>
        </p:txBody>
      </p:sp>
      <p:sp>
        <p:nvSpPr>
          <p:cNvPr id="17" name="Text 15"/>
          <p:cNvSpPr txBox="1"/>
          <p:nvPr/>
        </p:nvSpPr>
        <p:spPr>
          <a:xfrm>
            <a:off x="6534150" y="2705100"/>
            <a:ext cx="1981200" cy="762000"/>
          </a:xfrm>
          <a:prstGeom prst="rect">
            <a:avLst/>
          </a:prstGeom>
          <a:noFill/>
          <a:ln/>
        </p:spPr>
        <p:txBody>
          <a:bodyPr wrap="square" lIns="0" tIns="0" rIns="0" bIns="0" rtlCol="0" anchor="ctr"/>
          <a:lstStyle/>
          <a:p>
            <a:pPr algn="ctr" indent="0" marL="0">
              <a:buNone/>
            </a:pPr>
            <a:r>
              <a:rPr lang="en-US" sz="1600" dirty="0">
                <a:solidFill>
                  <a:srgbClr val="17212B"/>
                </a:solidFill>
                <a:latin typeface="Yu Gothic" pitchFamily="34" charset="0"/>
                <a:ea typeface="Yu Gothic" pitchFamily="34" charset="-122"/>
                <a:cs typeface="Yu Gothic" pitchFamily="34" charset="-120"/>
              </a:rPr>
              <a:t>USB-CAN</a:t>
            </a:r>
            <a:endParaRPr lang="en-US" sz="1600" dirty="0"/>
          </a:p>
          <a:p>
            <a:pPr algn="ctr" indent="0" marL="0">
              <a:buNone/>
            </a:pPr>
            <a:r>
              <a:rPr lang="en-US" sz="1600" dirty="0">
                <a:solidFill>
                  <a:srgbClr val="17212B"/>
                </a:solidFill>
                <a:latin typeface="Yu Gothic" pitchFamily="34" charset="0"/>
                <a:ea typeface="Yu Gothic" pitchFamily="34" charset="-122"/>
                <a:cs typeface="Yu Gothic" pitchFamily="34" charset="-120"/>
              </a:rPr>
              <a:t>CANバス 2系統</a:t>
            </a:r>
            <a:endParaRPr lang="en-US" sz="1600" dirty="0"/>
          </a:p>
        </p:txBody>
      </p:sp>
      <p:sp>
        <p:nvSpPr>
          <p:cNvPr id="18" name="Shape 16"/>
          <p:cNvSpPr/>
          <p:nvPr/>
        </p:nvSpPr>
        <p:spPr>
          <a:xfrm>
            <a:off x="8705850" y="2762250"/>
            <a:ext cx="476250" cy="95"/>
          </a:xfrm>
          <a:prstGeom prst="line">
            <a:avLst/>
          </a:prstGeom>
          <a:noFill/>
          <a:ln w="31750">
            <a:solidFill>
              <a:srgbClr val="1C5A85"/>
            </a:solidFill>
            <a:prstDash val="solid"/>
            <a:tailEnd type="triangle"/>
          </a:ln>
        </p:spPr>
      </p:sp>
      <p:sp>
        <p:nvSpPr>
          <p:cNvPr id="19" name="Shape 17"/>
          <p:cNvSpPr/>
          <p:nvPr/>
        </p:nvSpPr>
        <p:spPr>
          <a:xfrm>
            <a:off x="9239250" y="2190750"/>
            <a:ext cx="2286000" cy="1428750"/>
          </a:xfrm>
          <a:prstGeom prst="rect">
            <a:avLst/>
          </a:prstGeom>
          <a:solidFill>
            <a:srgbClr val="F3EEE6"/>
          </a:solidFill>
          <a:ln w="25400">
            <a:solidFill>
              <a:srgbClr val="102B46"/>
            </a:solidFill>
            <a:prstDash val="solid"/>
          </a:ln>
        </p:spPr>
      </p:sp>
      <p:sp>
        <p:nvSpPr>
          <p:cNvPr id="20" name="Text 18"/>
          <p:cNvSpPr txBox="1"/>
          <p:nvPr/>
        </p:nvSpPr>
        <p:spPr>
          <a:xfrm>
            <a:off x="9391650" y="2343150"/>
            <a:ext cx="1981200" cy="285750"/>
          </a:xfrm>
          <a:prstGeom prst="rect">
            <a:avLst/>
          </a:prstGeom>
          <a:no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モーター</a:t>
            </a:r>
            <a:endParaRPr lang="en-US" sz="1800" dirty="0"/>
          </a:p>
        </p:txBody>
      </p:sp>
      <p:sp>
        <p:nvSpPr>
          <p:cNvPr id="21" name="Text 19"/>
          <p:cNvSpPr txBox="1"/>
          <p:nvPr/>
        </p:nvSpPr>
        <p:spPr>
          <a:xfrm>
            <a:off x="9391650" y="2705100"/>
            <a:ext cx="1981200" cy="762000"/>
          </a:xfrm>
          <a:prstGeom prst="rect">
            <a:avLst/>
          </a:prstGeom>
          <a:noFill/>
          <a:ln/>
        </p:spPr>
        <p:txBody>
          <a:bodyPr wrap="square" lIns="0" tIns="0" rIns="0" bIns="0" rtlCol="0" anchor="ctr"/>
          <a:lstStyle/>
          <a:p>
            <a:pPr algn="ctr" indent="0" marL="0">
              <a:buNone/>
            </a:pPr>
            <a:r>
              <a:rPr lang="en-US" sz="1600" dirty="0">
                <a:solidFill>
                  <a:srgbClr val="17212B"/>
                </a:solidFill>
                <a:latin typeface="Yu Gothic" pitchFamily="34" charset="0"/>
                <a:ea typeface="Yu Gothic" pitchFamily="34" charset="-122"/>
                <a:cs typeface="Yu Gothic" pitchFamily="34" charset="-120"/>
              </a:rPr>
              <a:t>AK10-9 ×6</a:t>
            </a:r>
            <a:endParaRPr lang="en-US" sz="1600" dirty="0"/>
          </a:p>
          <a:p>
            <a:pPr algn="ctr" indent="0" marL="0">
              <a:buNone/>
            </a:pPr>
            <a:r>
              <a:rPr lang="en-US" sz="1600" dirty="0">
                <a:solidFill>
                  <a:srgbClr val="17212B"/>
                </a:solidFill>
                <a:latin typeface="Yu Gothic" pitchFamily="34" charset="0"/>
                <a:ea typeface="Yu Gothic" pitchFamily="34" charset="-122"/>
                <a:cs typeface="Yu Gothic" pitchFamily="34" charset="-120"/>
              </a:rPr>
              <a:t>AK80-9 ×4</a:t>
            </a:r>
            <a:endParaRPr lang="en-US" sz="1600" dirty="0"/>
          </a:p>
        </p:txBody>
      </p:sp>
      <p:sp>
        <p:nvSpPr>
          <p:cNvPr id="22" name="Shape 20"/>
          <p:cNvSpPr/>
          <p:nvPr/>
        </p:nvSpPr>
        <p:spPr>
          <a:xfrm>
            <a:off x="10382250" y="3638550"/>
            <a:ext cx="95" cy="457200"/>
          </a:xfrm>
          <a:prstGeom prst="line">
            <a:avLst/>
          </a:prstGeom>
          <a:noFill/>
          <a:ln w="31750">
            <a:solidFill>
              <a:srgbClr val="E8783F"/>
            </a:solidFill>
            <a:prstDash val="solid"/>
          </a:ln>
        </p:spPr>
      </p:sp>
      <p:sp>
        <p:nvSpPr>
          <p:cNvPr id="23" name="Shape 21"/>
          <p:cNvSpPr/>
          <p:nvPr/>
        </p:nvSpPr>
        <p:spPr>
          <a:xfrm flipH="1">
            <a:off x="4667250" y="4095750"/>
            <a:ext cx="5715000" cy="95"/>
          </a:xfrm>
          <a:prstGeom prst="line">
            <a:avLst/>
          </a:prstGeom>
          <a:noFill/>
          <a:ln w="31750">
            <a:solidFill>
              <a:srgbClr val="E8783F"/>
            </a:solidFill>
            <a:prstDash val="solid"/>
          </a:ln>
        </p:spPr>
      </p:sp>
      <p:sp>
        <p:nvSpPr>
          <p:cNvPr id="24" name="Shape 22"/>
          <p:cNvSpPr/>
          <p:nvPr/>
        </p:nvSpPr>
        <p:spPr>
          <a:xfrm flipV="1">
            <a:off x="4667250" y="3657600"/>
            <a:ext cx="95" cy="438150"/>
          </a:xfrm>
          <a:prstGeom prst="line">
            <a:avLst/>
          </a:prstGeom>
          <a:noFill/>
          <a:ln w="31750">
            <a:solidFill>
              <a:srgbClr val="E8783F"/>
            </a:solidFill>
            <a:prstDash val="solid"/>
            <a:tailEnd type="triangle"/>
          </a:ln>
        </p:spPr>
      </p:sp>
      <p:sp>
        <p:nvSpPr>
          <p:cNvPr id="25" name="Text 23"/>
          <p:cNvSpPr txBox="1"/>
          <p:nvPr/>
        </p:nvSpPr>
        <p:spPr>
          <a:xfrm>
            <a:off x="4762500" y="4152900"/>
            <a:ext cx="5524500" cy="247650"/>
          </a:xfrm>
          <a:prstGeom prst="rect">
            <a:avLst/>
          </a:prstGeom>
          <a:noFill/>
          <a:ln/>
        </p:spPr>
        <p:txBody>
          <a:bodyPr wrap="square" lIns="0" tIns="0" rIns="0" bIns="0" rtlCol="0" anchor="ctr"/>
          <a:lstStyle/>
          <a:p>
            <a:pPr algn="ctr" indent="0" marL="0">
              <a:buNone/>
            </a:pPr>
            <a:r>
              <a:rPr lang="en-US" sz="1400" b="1" dirty="0">
                <a:solidFill>
                  <a:srgbClr val="E8783F"/>
                </a:solidFill>
                <a:latin typeface="Yu Gothic" pitchFamily="34" charset="0"/>
                <a:ea typeface="Yu Gothic" pitchFamily="34" charset="-122"/>
                <a:cs typeface="Yu Gothic" pitchFamily="34" charset="-120"/>
              </a:rPr>
              <a:t>関節の角度・角速度・電流をCANで返す（フィードバック）</a:t>
            </a:r>
            <a:endParaRPr lang="en-US" sz="1400" dirty="0"/>
          </a:p>
        </p:txBody>
      </p:sp>
      <p:sp>
        <p:nvSpPr>
          <p:cNvPr id="26" name="Shape 24"/>
          <p:cNvSpPr/>
          <p:nvPr/>
        </p:nvSpPr>
        <p:spPr>
          <a:xfrm>
            <a:off x="10477500" y="3638550"/>
            <a:ext cx="95" cy="838200"/>
          </a:xfrm>
          <a:prstGeom prst="line">
            <a:avLst/>
          </a:prstGeom>
          <a:noFill/>
          <a:ln w="25400">
            <a:solidFill>
              <a:srgbClr val="32A5B5"/>
            </a:solidFill>
            <a:prstDash val="dash"/>
          </a:ln>
        </p:spPr>
      </p:sp>
      <p:sp>
        <p:nvSpPr>
          <p:cNvPr id="27" name="Shape 25"/>
          <p:cNvSpPr/>
          <p:nvPr/>
        </p:nvSpPr>
        <p:spPr>
          <a:xfrm flipH="1">
            <a:off x="1809750" y="4476750"/>
            <a:ext cx="8667750" cy="95"/>
          </a:xfrm>
          <a:prstGeom prst="line">
            <a:avLst/>
          </a:prstGeom>
          <a:noFill/>
          <a:ln w="25400">
            <a:solidFill>
              <a:srgbClr val="32A5B5"/>
            </a:solidFill>
            <a:prstDash val="dash"/>
          </a:ln>
        </p:spPr>
      </p:sp>
      <p:sp>
        <p:nvSpPr>
          <p:cNvPr id="28" name="Shape 26"/>
          <p:cNvSpPr/>
          <p:nvPr/>
        </p:nvSpPr>
        <p:spPr>
          <a:xfrm flipV="1">
            <a:off x="1809750" y="3657600"/>
            <a:ext cx="95" cy="819150"/>
          </a:xfrm>
          <a:prstGeom prst="line">
            <a:avLst/>
          </a:prstGeom>
          <a:noFill/>
          <a:ln w="25400">
            <a:solidFill>
              <a:srgbClr val="32A5B5"/>
            </a:solidFill>
            <a:prstDash val="dash"/>
            <a:tailEnd type="triangle"/>
          </a:ln>
        </p:spPr>
      </p:sp>
      <p:sp>
        <p:nvSpPr>
          <p:cNvPr id="29" name="Text 27"/>
          <p:cNvSpPr txBox="1"/>
          <p:nvPr/>
        </p:nvSpPr>
        <p:spPr>
          <a:xfrm>
            <a:off x="3619500" y="4533900"/>
            <a:ext cx="4953000" cy="247650"/>
          </a:xfrm>
          <a:prstGeom prst="rect">
            <a:avLst/>
          </a:prstGeom>
          <a:noFill/>
          <a:ln/>
        </p:spPr>
        <p:txBody>
          <a:bodyPr wrap="square" lIns="0" tIns="0" rIns="0" bIns="0" rtlCol="0" anchor="ctr"/>
          <a:lstStyle/>
          <a:p>
            <a:pPr algn="ctr" indent="0" marL="0">
              <a:buNone/>
            </a:pPr>
            <a:r>
              <a:rPr lang="en-US" sz="1400" b="1" dirty="0">
                <a:solidFill>
                  <a:srgbClr val="32A5B5"/>
                </a:solidFill>
                <a:latin typeface="Yu Gothic" pitchFamily="34" charset="0"/>
                <a:ea typeface="Yu Gothic" pitchFamily="34" charset="-122"/>
                <a:cs typeface="Yu Gothic" pitchFamily="34" charset="-120"/>
              </a:rPr>
              <a:t>ロボットの体が動く → T265がその動きを測る</a:t>
            </a:r>
            <a:endParaRPr lang="en-US" sz="1400" dirty="0"/>
          </a:p>
        </p:txBody>
      </p:sp>
      <p:sp>
        <p:nvSpPr>
          <p:cNvPr id="30" name="Text 28"/>
          <p:cNvSpPr txBox="1"/>
          <p:nvPr/>
        </p:nvSpPr>
        <p:spPr>
          <a:xfrm>
            <a:off x="2381250" y="5334000"/>
            <a:ext cx="1714500" cy="514350"/>
          </a:xfrm>
          <a:prstGeom prst="rect">
            <a:avLst/>
          </a:prstGeom>
          <a:solidFill>
            <a:srgbClr val="102B46"/>
          </a:solidFill>
          <a:ln/>
        </p:spPr>
        <p:txBody>
          <a:bodyPr wrap="square" lIns="0" tIns="0" rIns="0" bIns="0" rtlCol="0" anchor="ctr"/>
          <a:lstStyle/>
          <a:p>
            <a:pPr algn="ctr" indent="0" marL="0">
              <a:buNone/>
            </a:pPr>
            <a:r>
              <a:rPr lang="en-US" sz="1900" b="1" dirty="0">
                <a:solidFill>
                  <a:srgbClr val="FFFFFF"/>
                </a:solidFill>
                <a:latin typeface="Yu Gothic" pitchFamily="34" charset="0"/>
                <a:ea typeface="Yu Gothic" pitchFamily="34" charset="-122"/>
                <a:cs typeface="Yu Gothic" pitchFamily="34" charset="-120"/>
              </a:rPr>
              <a:t>電源系</a:t>
            </a:r>
            <a:endParaRPr lang="en-US" sz="1900" dirty="0"/>
          </a:p>
        </p:txBody>
      </p:sp>
      <p:sp>
        <p:nvSpPr>
          <p:cNvPr id="31" name="Shape 29"/>
          <p:cNvSpPr/>
          <p:nvPr/>
        </p:nvSpPr>
        <p:spPr>
          <a:xfrm>
            <a:off x="4133850" y="5591175"/>
            <a:ext cx="1143000" cy="95"/>
          </a:xfrm>
          <a:prstGeom prst="line">
            <a:avLst/>
          </a:prstGeom>
          <a:noFill/>
          <a:ln w="31750">
            <a:solidFill>
              <a:srgbClr val="E8783F"/>
            </a:solidFill>
            <a:prstDash val="solid"/>
            <a:tailEnd type="triangle"/>
          </a:ln>
        </p:spPr>
      </p:sp>
      <p:sp>
        <p:nvSpPr>
          <p:cNvPr id="32" name="Text 30"/>
          <p:cNvSpPr txBox="1"/>
          <p:nvPr/>
        </p:nvSpPr>
        <p:spPr>
          <a:xfrm>
            <a:off x="5334000" y="5334000"/>
            <a:ext cx="1714500" cy="514350"/>
          </a:xfrm>
          <a:prstGeom prst="rect">
            <a:avLst/>
          </a:prstGeom>
          <a:solidFill>
            <a:srgbClr val="102B46"/>
          </a:solidFill>
          <a:ln/>
        </p:spPr>
        <p:txBody>
          <a:bodyPr wrap="square" lIns="0" tIns="0" rIns="0" bIns="0" rtlCol="0" anchor="ctr"/>
          <a:lstStyle/>
          <a:p>
            <a:pPr algn="ctr" indent="0" marL="0">
              <a:buNone/>
            </a:pPr>
            <a:r>
              <a:rPr lang="en-US" sz="1900" b="1" dirty="0">
                <a:solidFill>
                  <a:srgbClr val="FFFFFF"/>
                </a:solidFill>
                <a:latin typeface="Yu Gothic" pitchFamily="34" charset="0"/>
                <a:ea typeface="Yu Gothic" pitchFamily="34" charset="-122"/>
                <a:cs typeface="Yu Gothic" pitchFamily="34" charset="-120"/>
              </a:rPr>
              <a:t>電源分配</a:t>
            </a:r>
            <a:endParaRPr lang="en-US" sz="1900" dirty="0"/>
          </a:p>
        </p:txBody>
      </p:sp>
      <p:sp>
        <p:nvSpPr>
          <p:cNvPr id="33" name="Shape 31"/>
          <p:cNvSpPr/>
          <p:nvPr/>
        </p:nvSpPr>
        <p:spPr>
          <a:xfrm>
            <a:off x="7086600" y="5591175"/>
            <a:ext cx="1143000" cy="95"/>
          </a:xfrm>
          <a:prstGeom prst="line">
            <a:avLst/>
          </a:prstGeom>
          <a:noFill/>
          <a:ln w="31750">
            <a:solidFill>
              <a:srgbClr val="E8783F"/>
            </a:solidFill>
            <a:prstDash val="solid"/>
            <a:tailEnd type="triangle"/>
          </a:ln>
        </p:spPr>
      </p:sp>
      <p:sp>
        <p:nvSpPr>
          <p:cNvPr id="34" name="Text 32"/>
          <p:cNvSpPr txBox="1"/>
          <p:nvPr/>
        </p:nvSpPr>
        <p:spPr>
          <a:xfrm>
            <a:off x="8286750" y="5334000"/>
            <a:ext cx="1714500" cy="514350"/>
          </a:xfrm>
          <a:prstGeom prst="rect">
            <a:avLst/>
          </a:prstGeom>
          <a:solidFill>
            <a:srgbClr val="102B46"/>
          </a:solidFill>
          <a:ln/>
        </p:spPr>
        <p:txBody>
          <a:bodyPr wrap="square" lIns="0" tIns="0" rIns="0" bIns="0" rtlCol="0" anchor="ctr"/>
          <a:lstStyle/>
          <a:p>
            <a:pPr algn="ctr" indent="0" marL="0">
              <a:buNone/>
            </a:pPr>
            <a:r>
              <a:rPr lang="en-US" sz="1900" b="1" dirty="0">
                <a:solidFill>
                  <a:srgbClr val="FFFFFF"/>
                </a:solidFill>
                <a:latin typeface="Yu Gothic" pitchFamily="34" charset="0"/>
                <a:ea typeface="Yu Gothic" pitchFamily="34" charset="-122"/>
                <a:cs typeface="Yu Gothic" pitchFamily="34" charset="-120"/>
              </a:rPr>
              <a:t>各モーター</a:t>
            </a:r>
            <a:endParaRPr lang="en-US" sz="1900" dirty="0"/>
          </a:p>
        </p:txBody>
      </p:sp>
      <p:sp>
        <p:nvSpPr>
          <p:cNvPr id="35" name="Text 33"/>
          <p:cNvSpPr txBox="1"/>
          <p:nvPr/>
        </p:nvSpPr>
        <p:spPr>
          <a:xfrm>
            <a:off x="628650" y="6019800"/>
            <a:ext cx="10934700" cy="2857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この1周を 1秒間に50回（20 ms ごと）まわす</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B46"/>
        </a:solidFill>
      </p:bgPr>
    </p:bg>
    <p:spTree>
      <p:nvGrpSpPr>
        <p:cNvPr id="1" name=""/>
        <p:cNvGrpSpPr/>
        <p:nvPr/>
      </p:nvGrpSpPr>
      <p:grpSpPr>
        <a:xfrm>
          <a:off x="0" y="0"/>
          <a:ext cx="0" cy="0"/>
          <a:chOff x="0" y="0"/>
          <a:chExt cx="0" cy="0"/>
        </a:xfrm>
      </p:grpSpPr>
      <p:sp>
        <p:nvSpPr>
          <p:cNvPr id="2" name="Text 0"/>
          <p:cNvSpPr txBox="1"/>
          <p:nvPr/>
        </p:nvSpPr>
        <p:spPr>
          <a:xfrm>
            <a:off x="914400" y="1809750"/>
            <a:ext cx="6667500" cy="476250"/>
          </a:xfrm>
          <a:prstGeom prst="rect">
            <a:avLst/>
          </a:prstGeom>
          <a:noFill/>
          <a:ln/>
        </p:spPr>
        <p:txBody>
          <a:bodyPr wrap="square" lIns="0" tIns="0" rIns="0" bIns="0" rtlCol="0" anchor="ctr"/>
          <a:lstStyle/>
          <a:p>
            <a:pPr algn="l" indent="0" marL="0">
              <a:buNone/>
            </a:pPr>
            <a:r>
              <a:rPr lang="en-US" sz="2400" b="1" dirty="0">
                <a:solidFill>
                  <a:srgbClr val="9FC9D6"/>
                </a:solidFill>
                <a:latin typeface="Yu Gothic" pitchFamily="34" charset="0"/>
                <a:ea typeface="Yu Gothic" pitchFamily="34" charset="-122"/>
                <a:cs typeface="Yu Gothic" pitchFamily="34" charset="-120"/>
              </a:rPr>
              <a:t>制御パート</a:t>
            </a:r>
            <a:endParaRPr lang="en-US" sz="2400" dirty="0"/>
          </a:p>
        </p:txBody>
      </p:sp>
      <p:sp>
        <p:nvSpPr>
          <p:cNvPr id="3" name="Text 1"/>
          <p:cNvSpPr txBox="1"/>
          <p:nvPr/>
        </p:nvSpPr>
        <p:spPr>
          <a:xfrm>
            <a:off x="914400" y="2381250"/>
            <a:ext cx="9525000" cy="1619250"/>
          </a:xfrm>
          <a:prstGeom prst="rect">
            <a:avLst/>
          </a:prstGeom>
          <a:noFill/>
          <a:ln/>
        </p:spPr>
        <p:txBody>
          <a:bodyPr wrap="square" lIns="0" tIns="0" rIns="0" bIns="0" rtlCol="0" anchor="t"/>
          <a:lstStyle/>
          <a:p>
            <a:pPr algn="l" indent="0" marL="0">
              <a:lnSpc>
                <a:spcPct val="115000"/>
              </a:lnSpc>
              <a:buNone/>
            </a:pPr>
            <a:r>
              <a:rPr lang="en-US" sz="4200" b="1" dirty="0">
                <a:solidFill>
                  <a:srgbClr val="FFFFFF"/>
                </a:solidFill>
                <a:latin typeface="Yu Gothic" pitchFamily="34" charset="0"/>
                <a:ea typeface="Yu Gothic" pitchFamily="34" charset="-122"/>
                <a:cs typeface="Yu Gothic" pitchFamily="34" charset="-120"/>
              </a:rPr>
              <a:t>強化学習で「歩き方」を学ばせ、</a:t>
            </a:r>
            <a:endParaRPr lang="en-US" sz="4200" dirty="0"/>
          </a:p>
          <a:p>
            <a:pPr algn="l" indent="0" marL="0">
              <a:lnSpc>
                <a:spcPct val="115000"/>
              </a:lnSpc>
              <a:buNone/>
            </a:pPr>
            <a:r>
              <a:rPr lang="en-US" sz="4200" b="1" dirty="0">
                <a:solidFill>
                  <a:srgbClr val="FFFFFF"/>
                </a:solidFill>
                <a:latin typeface="Yu Gothic" pitchFamily="34" charset="0"/>
                <a:ea typeface="Yu Gothic" pitchFamily="34" charset="-122"/>
                <a:cs typeface="Yu Gothic" pitchFamily="34" charset="-120"/>
              </a:rPr>
              <a:t>実機のモーターへつなぐ</a:t>
            </a:r>
            <a:endParaRPr lang="en-US" sz="4200" dirty="0"/>
          </a:p>
        </p:txBody>
      </p:sp>
      <p:sp>
        <p:nvSpPr>
          <p:cNvPr id="4" name="Shape 2"/>
          <p:cNvSpPr/>
          <p:nvPr/>
        </p:nvSpPr>
        <p:spPr>
          <a:xfrm>
            <a:off x="952500" y="4286250"/>
            <a:ext cx="2571750" cy="0"/>
          </a:xfrm>
          <a:prstGeom prst="line">
            <a:avLst/>
          </a:prstGeom>
          <a:noFill/>
          <a:ln w="50800">
            <a:solidFill>
              <a:srgbClr val="E8783F"/>
            </a:solidFill>
            <a:prstDash val="solid"/>
          </a:ln>
        </p:spPr>
      </p:sp>
      <p:sp>
        <p:nvSpPr>
          <p:cNvPr id="5" name="Text 3"/>
          <p:cNvSpPr txBox="1"/>
          <p:nvPr/>
        </p:nvSpPr>
        <p:spPr>
          <a:xfrm>
            <a:off x="952500" y="4667250"/>
            <a:ext cx="4762500" cy="381000"/>
          </a:xfrm>
          <a:prstGeom prst="rect">
            <a:avLst/>
          </a:prstGeom>
          <a:noFill/>
          <a:ln/>
        </p:spPr>
        <p:txBody>
          <a:bodyPr wrap="square" lIns="0" tIns="0" rIns="0" bIns="0" rtlCol="0" anchor="ctr"/>
          <a:lstStyle/>
          <a:p>
            <a:pPr algn="l" indent="0" marL="0">
              <a:buNone/>
            </a:pPr>
            <a:r>
              <a:rPr lang="en-US" sz="2000" dirty="0">
                <a:solidFill>
                  <a:srgbClr val="D6E6EF"/>
                </a:solidFill>
                <a:latin typeface="Yu Gothic" pitchFamily="34" charset="0"/>
                <a:ea typeface="Yu Gothic" pitchFamily="34" charset="-122"/>
                <a:cs typeface="Yu Gothic" pitchFamily="34" charset="-120"/>
              </a:rPr>
              <a:t>① 強化学習とIsaac Lab</a:t>
            </a:r>
            <a:endParaRPr lang="en-US" sz="2000" dirty="0"/>
          </a:p>
        </p:txBody>
      </p:sp>
      <p:sp>
        <p:nvSpPr>
          <p:cNvPr id="6" name="Text 4"/>
          <p:cNvSpPr txBox="1"/>
          <p:nvPr/>
        </p:nvSpPr>
        <p:spPr>
          <a:xfrm>
            <a:off x="5905500" y="4667250"/>
            <a:ext cx="4762500" cy="381000"/>
          </a:xfrm>
          <a:prstGeom prst="rect">
            <a:avLst/>
          </a:prstGeom>
          <a:noFill/>
          <a:ln/>
        </p:spPr>
        <p:txBody>
          <a:bodyPr wrap="square" lIns="0" tIns="0" rIns="0" bIns="0" rtlCol="0" anchor="ctr"/>
          <a:lstStyle/>
          <a:p>
            <a:pPr algn="l" indent="0" marL="0">
              <a:buNone/>
            </a:pPr>
            <a:r>
              <a:rPr lang="en-US" sz="2000" dirty="0">
                <a:solidFill>
                  <a:srgbClr val="D6E6EF"/>
                </a:solidFill>
                <a:latin typeface="Yu Gothic" pitchFamily="34" charset="0"/>
                <a:ea typeface="Yu Gothic" pitchFamily="34" charset="-122"/>
                <a:cs typeface="Yu Gothic" pitchFamily="34" charset="-120"/>
              </a:rPr>
              <a:t>② 観測・行動・報酬関数の設計</a:t>
            </a:r>
            <a:endParaRPr lang="en-US" sz="2000" dirty="0"/>
          </a:p>
        </p:txBody>
      </p:sp>
      <p:sp>
        <p:nvSpPr>
          <p:cNvPr id="7" name="Text 5"/>
          <p:cNvSpPr txBox="1"/>
          <p:nvPr/>
        </p:nvSpPr>
        <p:spPr>
          <a:xfrm>
            <a:off x="952500" y="5143500"/>
            <a:ext cx="4762500" cy="381000"/>
          </a:xfrm>
          <a:prstGeom prst="rect">
            <a:avLst/>
          </a:prstGeom>
          <a:noFill/>
          <a:ln/>
        </p:spPr>
        <p:txBody>
          <a:bodyPr wrap="square" lIns="0" tIns="0" rIns="0" bIns="0" rtlCol="0" anchor="ctr"/>
          <a:lstStyle/>
          <a:p>
            <a:pPr algn="l" indent="0" marL="0">
              <a:buNone/>
            </a:pPr>
            <a:r>
              <a:rPr lang="en-US" sz="2000" dirty="0">
                <a:solidFill>
                  <a:srgbClr val="D6E6EF"/>
                </a:solidFill>
                <a:latin typeface="Yu Gothic" pitchFamily="34" charset="0"/>
                <a:ea typeface="Yu Gothic" pitchFamily="34" charset="-122"/>
                <a:cs typeface="Yu Gothic" pitchFamily="34" charset="-120"/>
              </a:rPr>
              <a:t>③ センサ（T265）とモーター（CAN）</a:t>
            </a:r>
            <a:endParaRPr lang="en-US" sz="2000" dirty="0"/>
          </a:p>
        </p:txBody>
      </p:sp>
      <p:sp>
        <p:nvSpPr>
          <p:cNvPr id="8" name="Text 6"/>
          <p:cNvSpPr txBox="1"/>
          <p:nvPr/>
        </p:nvSpPr>
        <p:spPr>
          <a:xfrm>
            <a:off x="5905500" y="5143500"/>
            <a:ext cx="4762500" cy="381000"/>
          </a:xfrm>
          <a:prstGeom prst="rect">
            <a:avLst/>
          </a:prstGeom>
          <a:noFill/>
          <a:ln/>
        </p:spPr>
        <p:txBody>
          <a:bodyPr wrap="square" lIns="0" tIns="0" rIns="0" bIns="0" rtlCol="0" anchor="ctr"/>
          <a:lstStyle/>
          <a:p>
            <a:pPr algn="l" indent="0" marL="0">
              <a:buNone/>
            </a:pPr>
            <a:r>
              <a:rPr lang="en-US" sz="2000" dirty="0">
                <a:solidFill>
                  <a:srgbClr val="D6E6EF"/>
                </a:solidFill>
                <a:latin typeface="Yu Gothic" pitchFamily="34" charset="0"/>
                <a:ea typeface="Yu Gothic" pitchFamily="34" charset="-122"/>
                <a:cs typeface="Yu Gothic" pitchFamily="34" charset="-120"/>
              </a:rPr>
              <a:t>④ 制御ループと実機での結果</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制御の方針：なぜ強化学習を使うのか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人が決めるのは「何が良い歩き方か」だけ。「どう関節を動かすか」は学習に任せる</a:t>
            </a:r>
            <a:endParaRPr lang="en-US" sz="2200" dirty="0"/>
          </a:p>
        </p:txBody>
      </p:sp>
      <p:sp>
        <p:nvSpPr>
          <p:cNvPr id="7" name="Shape 5"/>
          <p:cNvSpPr/>
          <p:nvPr/>
        </p:nvSpPr>
        <p:spPr>
          <a:xfrm>
            <a:off x="628650" y="1905000"/>
            <a:ext cx="5143500" cy="3619500"/>
          </a:xfrm>
          <a:prstGeom prst="rect">
            <a:avLst/>
          </a:prstGeom>
          <a:solidFill>
            <a:srgbClr val="E8F1F5"/>
          </a:solidFill>
          <a:ln w="12700">
            <a:solidFill>
              <a:srgbClr val="B7C7D1"/>
            </a:solidFill>
            <a:prstDash val="solid"/>
          </a:ln>
        </p:spPr>
      </p:sp>
      <p:sp>
        <p:nvSpPr>
          <p:cNvPr id="8" name="Text 6"/>
          <p:cNvSpPr txBox="1"/>
          <p:nvPr/>
        </p:nvSpPr>
        <p:spPr>
          <a:xfrm>
            <a:off x="857250" y="2076450"/>
            <a:ext cx="4762500" cy="323850"/>
          </a:xfrm>
          <a:prstGeom prst="rect">
            <a:avLst/>
          </a:prstGeom>
          <a:noFill/>
          <a:ln/>
        </p:spPr>
        <p:txBody>
          <a:bodyPr wrap="square" lIns="0" tIns="0" rIns="0" bIns="0" rtlCol="0" anchor="ctr"/>
          <a:lstStyle/>
          <a:p>
            <a:pPr algn="l" indent="0" marL="0">
              <a:buNone/>
            </a:pPr>
            <a:r>
              <a:rPr lang="en-US" sz="2000" b="1" dirty="0">
                <a:solidFill>
                  <a:srgbClr val="1C5A85"/>
                </a:solidFill>
                <a:latin typeface="Yu Gothic" pitchFamily="34" charset="0"/>
                <a:ea typeface="Yu Gothic" pitchFamily="34" charset="-122"/>
                <a:cs typeface="Yu Gothic" pitchFamily="34" charset="-120"/>
              </a:rPr>
              <a:t>従来の方法：歩行パターンを人が設計</a:t>
            </a:r>
            <a:endParaRPr lang="en-US" sz="2000" dirty="0"/>
          </a:p>
        </p:txBody>
      </p:sp>
      <p:sp>
        <p:nvSpPr>
          <p:cNvPr id="9" name="Text 7"/>
          <p:cNvSpPr txBox="1"/>
          <p:nvPr/>
        </p:nvSpPr>
        <p:spPr>
          <a:xfrm>
            <a:off x="857250" y="2533650"/>
            <a:ext cx="4762500" cy="2476500"/>
          </a:xfrm>
          <a:prstGeom prst="rect">
            <a:avLst/>
          </a:prstGeom>
          <a:noFill/>
          <a:ln/>
        </p:spPr>
        <p:txBody>
          <a:bodyPr wrap="square" lIns="0" tIns="0" rIns="0" bIns="0" rtlCol="0" anchor="t"/>
          <a:lstStyle/>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重心の軌道・足の着地位置を計算して決める（ZMP規範など）</a:t>
            </a:r>
            <a:endParaRPr lang="en-US" sz="1700" dirty="0"/>
          </a:p>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逆運動学で各関節の角度に変換する</a:t>
            </a:r>
            <a:endParaRPr lang="en-US" sz="1700" dirty="0"/>
          </a:p>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段差・外乱・摩擦の違いごとに条件分けと調整が必要</a:t>
            </a:r>
            <a:endParaRPr lang="en-US" sz="1700" dirty="0"/>
          </a:p>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モデル化していない誤差に弱い</a:t>
            </a:r>
            <a:endParaRPr lang="en-US" sz="1700" dirty="0"/>
          </a:p>
        </p:txBody>
      </p:sp>
      <p:sp>
        <p:nvSpPr>
          <p:cNvPr id="10" name="Shape 8"/>
          <p:cNvSpPr/>
          <p:nvPr/>
        </p:nvSpPr>
        <p:spPr>
          <a:xfrm>
            <a:off x="6419850" y="1905000"/>
            <a:ext cx="5143500" cy="3619500"/>
          </a:xfrm>
          <a:prstGeom prst="rect">
            <a:avLst/>
          </a:prstGeom>
          <a:solidFill>
            <a:srgbClr val="F3EEE6"/>
          </a:solidFill>
          <a:ln w="12700">
            <a:solidFill>
              <a:srgbClr val="E8783F"/>
            </a:solidFill>
            <a:prstDash val="solid"/>
          </a:ln>
        </p:spPr>
      </p:sp>
      <p:sp>
        <p:nvSpPr>
          <p:cNvPr id="11" name="Text 9"/>
          <p:cNvSpPr txBox="1"/>
          <p:nvPr/>
        </p:nvSpPr>
        <p:spPr>
          <a:xfrm>
            <a:off x="6648450" y="2076450"/>
            <a:ext cx="4762500" cy="323850"/>
          </a:xfrm>
          <a:prstGeom prst="rect">
            <a:avLst/>
          </a:prstGeom>
          <a:noFill/>
          <a:ln/>
        </p:spPr>
        <p:txBody>
          <a:bodyPr wrap="square" lIns="0" tIns="0" rIns="0" bIns="0" rtlCol="0" anchor="ctr"/>
          <a:lstStyle/>
          <a:p>
            <a:pPr algn="l" indent="0" marL="0">
              <a:buNone/>
            </a:pPr>
            <a:r>
              <a:rPr lang="en-US" sz="2000" b="1" dirty="0">
                <a:solidFill>
                  <a:srgbClr val="E8783F"/>
                </a:solidFill>
                <a:latin typeface="Yu Gothic" pitchFamily="34" charset="0"/>
                <a:ea typeface="Yu Gothic" pitchFamily="34" charset="-122"/>
                <a:cs typeface="Yu Gothic" pitchFamily="34" charset="-120"/>
              </a:rPr>
              <a:t>本プロジェクト：強化学習（RL）</a:t>
            </a:r>
            <a:endParaRPr lang="en-US" sz="2000" dirty="0"/>
          </a:p>
        </p:txBody>
      </p:sp>
      <p:sp>
        <p:nvSpPr>
          <p:cNvPr id="12" name="Text 10"/>
          <p:cNvSpPr txBox="1"/>
          <p:nvPr/>
        </p:nvSpPr>
        <p:spPr>
          <a:xfrm>
            <a:off x="6648450" y="2533650"/>
            <a:ext cx="4762500" cy="2762250"/>
          </a:xfrm>
          <a:prstGeom prst="rect">
            <a:avLst/>
          </a:prstGeom>
          <a:noFill/>
          <a:ln/>
        </p:spPr>
        <p:txBody>
          <a:bodyPr wrap="square" lIns="0" tIns="0" rIns="0" bIns="0" rtlCol="0" anchor="t"/>
          <a:lstStyle/>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「指令どおりの速度で歩けたら＋」「転びそうなら−」という報酬だけを人が決める</a:t>
            </a:r>
            <a:endParaRPr lang="en-US" sz="1700" dirty="0"/>
          </a:p>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シミュレーターの中で何千体ものロボットが試行錯誤し、関節指令を出すニューラルネット（方策）を学習</a:t>
            </a:r>
            <a:endParaRPr lang="en-US" sz="1700" dirty="0"/>
          </a:p>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床の摩擦・重さ・押される力をわざとばらつかせて学習できる</a:t>
            </a:r>
            <a:endParaRPr lang="en-US" sz="1700" dirty="0"/>
          </a:p>
          <a:p>
            <a:pPr algn="l" marL="342900" indent="-342900">
              <a:spcAft>
                <a:spcPts val="1000"/>
              </a:spcAft>
              <a:buSzPct val="100000"/>
              <a:buChar char="•"/>
            </a:pPr>
            <a:r>
              <a:rPr lang="en-US" sz="1700" dirty="0">
                <a:solidFill>
                  <a:srgbClr val="17212B"/>
                </a:solidFill>
                <a:latin typeface="Yu Gothic" pitchFamily="34" charset="0"/>
                <a:ea typeface="Yu Gothic" pitchFamily="34" charset="-122"/>
                <a:cs typeface="Yu Gothic" pitchFamily="34" charset="-120"/>
              </a:rPr>
              <a:t>坂道も「地形を変えて学習し直す」という同じ枠組みで扱える</a:t>
            </a:r>
            <a:endParaRPr lang="en-US" sz="1700" dirty="0"/>
          </a:p>
        </p:txBody>
      </p:sp>
      <p:sp>
        <p:nvSpPr>
          <p:cNvPr id="13" name="Shape 11"/>
          <p:cNvSpPr/>
          <p:nvPr/>
        </p:nvSpPr>
        <p:spPr>
          <a:xfrm>
            <a:off x="5829300" y="3714750"/>
            <a:ext cx="514350" cy="95"/>
          </a:xfrm>
          <a:prstGeom prst="line">
            <a:avLst/>
          </a:prstGeom>
          <a:noFill/>
          <a:ln w="38100">
            <a:solidFill>
              <a:srgbClr val="E8783F"/>
            </a:solidFill>
            <a:prstDash val="solid"/>
            <a:tailEnd type="triangle"/>
          </a:ln>
        </p:spPr>
      </p:sp>
      <p:sp>
        <p:nvSpPr>
          <p:cNvPr id="14" name="Text 12"/>
          <p:cNvSpPr txBox="1"/>
          <p:nvPr/>
        </p:nvSpPr>
        <p:spPr>
          <a:xfrm>
            <a:off x="628650" y="5753100"/>
            <a:ext cx="10934700" cy="4762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坂を登る二足歩行という最終目標に対して、条件ごとに歩き方を作り直さずに済む方法を選んだ</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強化学習のしくみ</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観測 → 行動 → 報酬 のくり返しで、報酬の合計が大きくなる行動のしかたを覚える</a:t>
            </a:r>
            <a:endParaRPr lang="en-US" sz="2200" dirty="0"/>
          </a:p>
        </p:txBody>
      </p:sp>
      <p:sp>
        <p:nvSpPr>
          <p:cNvPr id="7" name="Text 5"/>
          <p:cNvSpPr txBox="1"/>
          <p:nvPr/>
        </p:nvSpPr>
        <p:spPr>
          <a:xfrm>
            <a:off x="1047750" y="2095500"/>
            <a:ext cx="2476500" cy="1047750"/>
          </a:xfrm>
          <a:prstGeom prst="roundRect">
            <a:avLst>
              <a:gd name="adj" fmla="val 10473"/>
            </a:avLst>
          </a:prstGeom>
          <a:solidFill>
            <a:srgbClr val="1C5A85"/>
          </a:solidFill>
          <a:ln/>
        </p:spPr>
        <p:txBody>
          <a:bodyPr wrap="square" lIns="0" tIns="0" rIns="0" bIns="0" rtlCol="0" anchor="ctr"/>
          <a:lstStyle/>
          <a:p>
            <a:pPr algn="ctr" indent="0" marL="0">
              <a:buNone/>
            </a:pPr>
            <a:r>
              <a:rPr lang="en-US" sz="1900" b="1" dirty="0">
                <a:solidFill>
                  <a:srgbClr val="FFFFFF"/>
                </a:solidFill>
                <a:latin typeface="Yu Gothic" pitchFamily="34" charset="0"/>
                <a:ea typeface="Yu Gothic" pitchFamily="34" charset="-122"/>
                <a:cs typeface="Yu Gothic" pitchFamily="34" charset="-120"/>
              </a:rPr>
              <a:t>方策 π</a:t>
            </a:r>
            <a:endParaRPr lang="en-US" sz="1900" dirty="0"/>
          </a:p>
          <a:p>
            <a:pPr algn="ctr" indent="0" marL="0">
              <a:buNone/>
            </a:pPr>
            <a:r>
              <a:rPr lang="en-US" sz="1900" b="1" dirty="0">
                <a:solidFill>
                  <a:srgbClr val="FFFFFF"/>
                </a:solidFill>
                <a:latin typeface="Yu Gothic" pitchFamily="34" charset="0"/>
                <a:ea typeface="Yu Gothic" pitchFamily="34" charset="-122"/>
                <a:cs typeface="Yu Gothic" pitchFamily="34" charset="-120"/>
              </a:rPr>
              <a:t>ニューラルネット</a:t>
            </a:r>
            <a:endParaRPr lang="en-US" sz="1900" dirty="0"/>
          </a:p>
        </p:txBody>
      </p:sp>
      <p:sp>
        <p:nvSpPr>
          <p:cNvPr id="8" name="Text 6"/>
          <p:cNvSpPr txBox="1"/>
          <p:nvPr/>
        </p:nvSpPr>
        <p:spPr>
          <a:xfrm>
            <a:off x="1047750" y="4476750"/>
            <a:ext cx="2476500" cy="1047750"/>
          </a:xfrm>
          <a:prstGeom prst="roundRect">
            <a:avLst>
              <a:gd name="adj" fmla="val 10473"/>
            </a:avLst>
          </a:prstGeom>
          <a:solidFill>
            <a:srgbClr val="102B46"/>
          </a:solidFill>
          <a:ln/>
        </p:spPr>
        <p:txBody>
          <a:bodyPr wrap="square" lIns="0" tIns="0" rIns="0" bIns="0" rtlCol="0" anchor="ctr"/>
          <a:lstStyle/>
          <a:p>
            <a:pPr algn="ctr" indent="0" marL="0">
              <a:buNone/>
            </a:pPr>
            <a:r>
              <a:rPr lang="en-US" sz="1900" b="1" dirty="0">
                <a:solidFill>
                  <a:srgbClr val="FFFFFF"/>
                </a:solidFill>
                <a:latin typeface="Yu Gothic" pitchFamily="34" charset="0"/>
                <a:ea typeface="Yu Gothic" pitchFamily="34" charset="-122"/>
                <a:cs typeface="Yu Gothic" pitchFamily="34" charset="-120"/>
              </a:rPr>
              <a:t>環境</a:t>
            </a:r>
            <a:endParaRPr lang="en-US" sz="1900" dirty="0"/>
          </a:p>
          <a:p>
            <a:pPr algn="ctr" indent="0" marL="0">
              <a:buNone/>
            </a:pPr>
            <a:r>
              <a:rPr lang="en-US" sz="1900" b="1" dirty="0">
                <a:solidFill>
                  <a:srgbClr val="FFFFFF"/>
                </a:solidFill>
                <a:latin typeface="Yu Gothic" pitchFamily="34" charset="0"/>
                <a:ea typeface="Yu Gothic" pitchFamily="34" charset="-122"/>
                <a:cs typeface="Yu Gothic" pitchFamily="34" charset="-120"/>
              </a:rPr>
              <a:t>物理シミュレーション</a:t>
            </a:r>
            <a:endParaRPr lang="en-US" sz="1900" dirty="0"/>
          </a:p>
        </p:txBody>
      </p:sp>
      <p:sp>
        <p:nvSpPr>
          <p:cNvPr id="9" name="Shape 7"/>
          <p:cNvSpPr/>
          <p:nvPr/>
        </p:nvSpPr>
        <p:spPr>
          <a:xfrm>
            <a:off x="3619500" y="2619375"/>
            <a:ext cx="857250" cy="95"/>
          </a:xfrm>
          <a:prstGeom prst="line">
            <a:avLst/>
          </a:prstGeom>
          <a:noFill/>
          <a:ln w="31750">
            <a:solidFill>
              <a:srgbClr val="E8783F"/>
            </a:solidFill>
            <a:prstDash val="solid"/>
          </a:ln>
        </p:spPr>
      </p:sp>
      <p:sp>
        <p:nvSpPr>
          <p:cNvPr id="10" name="Shape 8"/>
          <p:cNvSpPr/>
          <p:nvPr/>
        </p:nvSpPr>
        <p:spPr>
          <a:xfrm>
            <a:off x="4476750" y="2619375"/>
            <a:ext cx="95" cy="2381250"/>
          </a:xfrm>
          <a:prstGeom prst="line">
            <a:avLst/>
          </a:prstGeom>
          <a:noFill/>
          <a:ln w="31750">
            <a:solidFill>
              <a:srgbClr val="E8783F"/>
            </a:solidFill>
            <a:prstDash val="solid"/>
          </a:ln>
        </p:spPr>
      </p:sp>
      <p:sp>
        <p:nvSpPr>
          <p:cNvPr id="11" name="Shape 9"/>
          <p:cNvSpPr/>
          <p:nvPr/>
        </p:nvSpPr>
        <p:spPr>
          <a:xfrm flipH="1">
            <a:off x="3600450" y="5000625"/>
            <a:ext cx="876300" cy="95"/>
          </a:xfrm>
          <a:prstGeom prst="line">
            <a:avLst/>
          </a:prstGeom>
          <a:noFill/>
          <a:ln w="31750">
            <a:solidFill>
              <a:srgbClr val="E8783F"/>
            </a:solidFill>
            <a:prstDash val="solid"/>
            <a:tailEnd type="triangle"/>
          </a:ln>
        </p:spPr>
      </p:sp>
      <p:sp>
        <p:nvSpPr>
          <p:cNvPr id="12" name="Text 10"/>
          <p:cNvSpPr txBox="1"/>
          <p:nvPr/>
        </p:nvSpPr>
        <p:spPr>
          <a:xfrm>
            <a:off x="4591050" y="3619500"/>
            <a:ext cx="1047750" cy="285750"/>
          </a:xfrm>
          <a:prstGeom prst="rect">
            <a:avLst/>
          </a:prstGeom>
          <a:noFill/>
          <a:ln/>
        </p:spPr>
        <p:txBody>
          <a:bodyPr wrap="square" lIns="0" tIns="0" rIns="0" bIns="0" rtlCol="0" anchor="ctr"/>
          <a:lstStyle/>
          <a:p>
            <a:pPr algn="l" indent="0" marL="0">
              <a:buNone/>
            </a:pPr>
            <a:r>
              <a:rPr lang="en-US" sz="1800" b="1" dirty="0">
                <a:solidFill>
                  <a:srgbClr val="E8783F"/>
                </a:solidFill>
                <a:latin typeface="Yu Gothic" pitchFamily="34" charset="0"/>
                <a:ea typeface="Yu Gothic" pitchFamily="34" charset="-122"/>
                <a:cs typeface="Yu Gothic" pitchFamily="34" charset="-120"/>
              </a:rPr>
              <a:t>行動 a</a:t>
            </a:r>
            <a:endParaRPr lang="en-US" sz="1800" dirty="0"/>
          </a:p>
        </p:txBody>
      </p:sp>
      <p:sp>
        <p:nvSpPr>
          <p:cNvPr id="13" name="Shape 11"/>
          <p:cNvSpPr/>
          <p:nvPr/>
        </p:nvSpPr>
        <p:spPr>
          <a:xfrm flipH="1">
            <a:off x="476250" y="5000625"/>
            <a:ext cx="495300" cy="95"/>
          </a:xfrm>
          <a:prstGeom prst="line">
            <a:avLst/>
          </a:prstGeom>
          <a:noFill/>
          <a:ln w="31750">
            <a:solidFill>
              <a:srgbClr val="32A5B5"/>
            </a:solidFill>
            <a:prstDash val="solid"/>
          </a:ln>
        </p:spPr>
      </p:sp>
      <p:sp>
        <p:nvSpPr>
          <p:cNvPr id="14" name="Shape 12"/>
          <p:cNvSpPr/>
          <p:nvPr/>
        </p:nvSpPr>
        <p:spPr>
          <a:xfrm flipV="1">
            <a:off x="476250" y="2619375"/>
            <a:ext cx="95" cy="2381250"/>
          </a:xfrm>
          <a:prstGeom prst="line">
            <a:avLst/>
          </a:prstGeom>
          <a:noFill/>
          <a:ln w="31750">
            <a:solidFill>
              <a:srgbClr val="32A5B5"/>
            </a:solidFill>
            <a:prstDash val="solid"/>
          </a:ln>
        </p:spPr>
      </p:sp>
      <p:sp>
        <p:nvSpPr>
          <p:cNvPr id="15" name="Shape 13"/>
          <p:cNvSpPr/>
          <p:nvPr/>
        </p:nvSpPr>
        <p:spPr>
          <a:xfrm>
            <a:off x="476250" y="2619375"/>
            <a:ext cx="495300" cy="95"/>
          </a:xfrm>
          <a:prstGeom prst="line">
            <a:avLst/>
          </a:prstGeom>
          <a:noFill/>
          <a:ln w="31750">
            <a:solidFill>
              <a:srgbClr val="32A5B5"/>
            </a:solidFill>
            <a:prstDash val="solid"/>
            <a:tailEnd type="triangle"/>
          </a:ln>
        </p:spPr>
      </p:sp>
      <p:sp>
        <p:nvSpPr>
          <p:cNvPr id="16" name="Text 14"/>
          <p:cNvSpPr txBox="1"/>
          <p:nvPr/>
        </p:nvSpPr>
        <p:spPr>
          <a:xfrm>
            <a:off x="552450" y="3524250"/>
            <a:ext cx="952500" cy="571500"/>
          </a:xfrm>
          <a:prstGeom prst="rect">
            <a:avLst/>
          </a:prstGeom>
          <a:noFill/>
          <a:ln/>
        </p:spPr>
        <p:txBody>
          <a:bodyPr wrap="square" lIns="0" tIns="0" rIns="0" bIns="0" rtlCol="0" anchor="ctr"/>
          <a:lstStyle/>
          <a:p>
            <a:pPr algn="l" indent="0" marL="0">
              <a:buNone/>
            </a:pPr>
            <a:r>
              <a:rPr lang="en-US" sz="1700" b="1" dirty="0">
                <a:solidFill>
                  <a:srgbClr val="32A5B5"/>
                </a:solidFill>
                <a:latin typeface="Yu Gothic" pitchFamily="34" charset="0"/>
                <a:ea typeface="Yu Gothic" pitchFamily="34" charset="-122"/>
                <a:cs typeface="Yu Gothic" pitchFamily="34" charset="-120"/>
              </a:rPr>
              <a:t>観測 s</a:t>
            </a:r>
            <a:endParaRPr lang="en-US" sz="1700" dirty="0"/>
          </a:p>
          <a:p>
            <a:pPr algn="l" indent="0" marL="0">
              <a:buNone/>
            </a:pPr>
            <a:r>
              <a:rPr lang="en-US" sz="1700" b="1" dirty="0">
                <a:solidFill>
                  <a:srgbClr val="32A5B5"/>
                </a:solidFill>
                <a:latin typeface="Yu Gothic" pitchFamily="34" charset="0"/>
                <a:ea typeface="Yu Gothic" pitchFamily="34" charset="-122"/>
                <a:cs typeface="Yu Gothic" pitchFamily="34" charset="-120"/>
              </a:rPr>
              <a:t>報酬 r</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96000" y="1905000"/>
          <a:ext cx="5467350" cy="914400"/>
        </p:xfrm>
        <a:graphic>
          <a:graphicData uri="http://schemas.openxmlformats.org/drawingml/2006/table">
            <a:tbl>
              <a:tblPr/>
              <a:tblGrid>
                <a:gridCol w="1143000"/>
                <a:gridCol w="4324350"/>
              </a:tblGrid>
              <a:tr h="419100">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用語</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このロボットでは</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r>
              <a:tr h="41910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環境</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Isaac Lab上のロボットと地面（物理演算）</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1910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方策 π</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観測から関節の目標角を出すニューラルネット</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1910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観測 s</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胴体の速度・傾き、関節角など 42個の数</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1910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行動 a</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10関節それぞれの目標角（のずれ）</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1910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報酬 r</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速度指令どおりに歩けたか、転びそうか 等</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6096000" y="4591050"/>
            <a:ext cx="5467350" cy="323850"/>
          </a:xfrm>
          <a:prstGeom prst="rect">
            <a:avLst/>
          </a:prstGeom>
          <a:noFill/>
          <a:ln/>
        </p:spPr>
        <p:txBody>
          <a:bodyPr wrap="square" lIns="0" tIns="0" rIns="0" bIns="0" rtlCol="0" anchor="ctr"/>
          <a:lstStyle/>
          <a:p>
            <a:pPr algn="l" indent="0" marL="0">
              <a:buNone/>
            </a:pPr>
            <a:r>
              <a:rPr lang="en-US" sz="1500" b="1" dirty="0">
                <a:solidFill>
                  <a:srgbClr val="102B46"/>
                </a:solidFill>
                <a:latin typeface="Yu Gothic" pitchFamily="34" charset="0"/>
                <a:ea typeface="Yu Gothic" pitchFamily="34" charset="-122"/>
                <a:cs typeface="Yu Gothic" pitchFamily="34" charset="-120"/>
              </a:rPr>
              <a:t>目的：</a:t>
            </a:r>
            <a:pPr algn="l" indent="0" marL="0">
              <a:buNone/>
            </a:pPr>
            <a:r>
              <a:rPr lang="en-US" sz="1500" dirty="0">
                <a:solidFill>
                  <a:srgbClr val="17212B"/>
                </a:solidFill>
                <a:latin typeface="Yu Gothic" pitchFamily="34" charset="0"/>
                <a:ea typeface="Yu Gothic" pitchFamily="34" charset="-122"/>
                <a:cs typeface="Yu Gothic" pitchFamily="34" charset="-120"/>
              </a:rPr>
              <a:t>報酬の合計 Σ γ</a:t>
            </a:r>
            <a:pPr algn="l" indent="0" marL="0">
              <a:buNone/>
            </a:pPr>
            <a:r>
              <a:rPr lang="en-US" sz="1500" baseline="30000" dirty="0">
                <a:solidFill>
                  <a:srgbClr val="17212B"/>
                </a:solidFill>
                <a:latin typeface="Yu Gothic" pitchFamily="34" charset="0"/>
                <a:ea typeface="Yu Gothic" pitchFamily="34" charset="-122"/>
                <a:cs typeface="Yu Gothic" pitchFamily="34" charset="-120"/>
              </a:rPr>
              <a:t>t</a:t>
            </a:r>
            <a:pPr algn="l" indent="0" marL="0">
              <a:buNone/>
            </a:pPr>
            <a:r>
              <a:rPr lang="en-US" sz="1500" dirty="0">
                <a:solidFill>
                  <a:srgbClr val="17212B"/>
                </a:solidFill>
                <a:latin typeface="Yu Gothic" pitchFamily="34" charset="0"/>
                <a:ea typeface="Yu Gothic" pitchFamily="34" charset="-122"/>
                <a:cs typeface="Yu Gothic" pitchFamily="34" charset="-120"/>
              </a:rPr>
              <a:t> r</a:t>
            </a:r>
            <a:pPr algn="l" indent="0" marL="0">
              <a:buNone/>
            </a:pPr>
            <a:r>
              <a:rPr lang="en-US" sz="1500" baseline="-40000" dirty="0">
                <a:solidFill>
                  <a:srgbClr val="17212B"/>
                </a:solidFill>
                <a:latin typeface="Yu Gothic" pitchFamily="34" charset="0"/>
                <a:ea typeface="Yu Gothic" pitchFamily="34" charset="-122"/>
                <a:cs typeface="Yu Gothic" pitchFamily="34" charset="-120"/>
              </a:rPr>
              <a:t>t</a:t>
            </a:r>
            <a:pPr algn="l" indent="0" marL="0">
              <a:buNone/>
            </a:pPr>
            <a:r>
              <a:rPr lang="en-US" sz="1500" dirty="0">
                <a:solidFill>
                  <a:srgbClr val="17212B"/>
                </a:solidFill>
                <a:latin typeface="Yu Gothic" pitchFamily="34" charset="0"/>
                <a:ea typeface="Yu Gothic" pitchFamily="34" charset="-122"/>
                <a:cs typeface="Yu Gothic" pitchFamily="34" charset="-120"/>
              </a:rPr>
              <a:t>  を最大にする（γ = 0.99）</a:t>
            </a:r>
            <a:endParaRPr lang="en-US" sz="1500" dirty="0"/>
          </a:p>
        </p:txBody>
      </p:sp>
      <p:sp>
        <p:nvSpPr>
          <p:cNvPr id="19" name="Text 16"/>
          <p:cNvSpPr txBox="1"/>
          <p:nvPr/>
        </p:nvSpPr>
        <p:spPr>
          <a:xfrm>
            <a:off x="6096000" y="5105400"/>
            <a:ext cx="5467350" cy="723900"/>
          </a:xfrm>
          <a:prstGeom prst="rect">
            <a:avLst/>
          </a:prstGeom>
          <a:noFill/>
          <a:ln/>
        </p:spPr>
        <p:txBody>
          <a:bodyPr wrap="square" lIns="0" tIns="0" rIns="0" bIns="0" rtlCol="0" anchor="t"/>
          <a:lstStyle/>
          <a:p>
            <a:pPr algn="l" indent="0" marL="0">
              <a:buNone/>
            </a:pPr>
            <a:r>
              <a:rPr lang="en-US" sz="1500" dirty="0">
                <a:solidFill>
                  <a:srgbClr val="5E6A73"/>
                </a:solidFill>
                <a:latin typeface="Yu Gothic" pitchFamily="34" charset="0"/>
                <a:ea typeface="Yu Gothic" pitchFamily="34" charset="-122"/>
                <a:cs typeface="Yu Gothic" pitchFamily="34" charset="-120"/>
              </a:rPr>
              <a:t>学習アルゴリズム：PPO（Proximal Policy Optimization）</a:t>
            </a:r>
            <a:endParaRPr lang="en-US" sz="1500" dirty="0"/>
          </a:p>
          <a:p>
            <a:pPr algn="l" indent="0" marL="0">
              <a:buNone/>
            </a:pPr>
            <a:r>
              <a:rPr lang="en-US" sz="1500" dirty="0">
                <a:solidFill>
                  <a:srgbClr val="5E6A73"/>
                </a:solidFill>
                <a:latin typeface="Yu Gothic" pitchFamily="34" charset="0"/>
                <a:ea typeface="Yu Gothic" pitchFamily="34" charset="-122"/>
                <a:cs typeface="Yu Gothic" pitchFamily="34" charset="-120"/>
              </a:rPr>
              <a:t>1回の更新で方策を変えすぎないようにして、学習を安定させる手法</a:t>
            </a:r>
            <a:endParaRPr lang="en-US" sz="1500" dirty="0"/>
          </a:p>
        </p:txBody>
      </p:sp>
      <p:sp>
        <p:nvSpPr>
          <p:cNvPr id="20" name="Text 17"/>
          <p:cNvSpPr txBox="1"/>
          <p:nvPr/>
        </p:nvSpPr>
        <p:spPr>
          <a:xfrm>
            <a:off x="628650" y="5962650"/>
            <a:ext cx="10934700" cy="323850"/>
          </a:xfrm>
          <a:prstGeom prst="rect">
            <a:avLst/>
          </a:prstGeom>
          <a:solidFill>
            <a:srgbClr val="F3EEE6"/>
          </a:solid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たとえるなら「犬のしつけ」：できたらおやつ、失敗したら叱る。何度もくり返すうちに正しい動きを覚える</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制御の開発の流れ：CADから実機まで</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設計班のCADをシミュレーターに取り込み、学習した方策を実機のJetsonで動かす</a:t>
            </a:r>
            <a:endParaRPr lang="en-US" sz="2200" dirty="0"/>
          </a:p>
        </p:txBody>
      </p:sp>
      <p:sp>
        <p:nvSpPr>
          <p:cNvPr id="7" name="Text 5"/>
          <p:cNvSpPr txBox="1"/>
          <p:nvPr/>
        </p:nvSpPr>
        <p:spPr>
          <a:xfrm>
            <a:off x="1257300" y="2019300"/>
            <a:ext cx="419100" cy="4191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8" name="Shape 6"/>
          <p:cNvSpPr/>
          <p:nvPr/>
        </p:nvSpPr>
        <p:spPr>
          <a:xfrm>
            <a:off x="628650" y="2590800"/>
            <a:ext cx="1600200" cy="1809750"/>
          </a:xfrm>
          <a:prstGeom prst="rect">
            <a:avLst/>
          </a:prstGeom>
          <a:solidFill>
            <a:srgbClr val="F3EEE6"/>
          </a:solidFill>
          <a:ln w="19050">
            <a:solidFill>
              <a:srgbClr val="E8783F"/>
            </a:solidFill>
            <a:prstDash val="solid"/>
          </a:ln>
        </p:spPr>
      </p:sp>
      <p:sp>
        <p:nvSpPr>
          <p:cNvPr id="9" name="Text 7"/>
          <p:cNvSpPr txBox="1"/>
          <p:nvPr/>
        </p:nvSpPr>
        <p:spPr>
          <a:xfrm>
            <a:off x="704850" y="2743200"/>
            <a:ext cx="1447800" cy="304800"/>
          </a:xfrm>
          <a:prstGeom prst="rect">
            <a:avLst/>
          </a:prstGeom>
          <a:noFill/>
          <a:ln/>
        </p:spPr>
        <p:txBody>
          <a:bodyPr wrap="square" lIns="0" tIns="0" rIns="0" bIns="0" rtlCol="0" anchor="ctr"/>
          <a:lstStyle/>
          <a:p>
            <a:pPr algn="ctr" indent="0" marL="0">
              <a:buNone/>
            </a:pPr>
            <a:r>
              <a:rPr lang="en-US" sz="1900" b="1" dirty="0">
                <a:solidFill>
                  <a:srgbClr val="E8783F"/>
                </a:solidFill>
                <a:latin typeface="Yu Gothic" pitchFamily="34" charset="0"/>
                <a:ea typeface="Yu Gothic" pitchFamily="34" charset="-122"/>
                <a:cs typeface="Yu Gothic" pitchFamily="34" charset="-120"/>
              </a:rPr>
              <a:t>CAD</a:t>
            </a:r>
            <a:endParaRPr lang="en-US" sz="1900" dirty="0"/>
          </a:p>
        </p:txBody>
      </p:sp>
      <p:sp>
        <p:nvSpPr>
          <p:cNvPr id="10" name="Text 8"/>
          <p:cNvSpPr txBox="1"/>
          <p:nvPr/>
        </p:nvSpPr>
        <p:spPr>
          <a:xfrm>
            <a:off x="685800" y="3143250"/>
            <a:ext cx="1485900" cy="1047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Onshape</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設計班の3Dモデル</a:t>
            </a:r>
            <a:endParaRPr lang="en-US" sz="1300" dirty="0"/>
          </a:p>
        </p:txBody>
      </p:sp>
      <p:sp>
        <p:nvSpPr>
          <p:cNvPr id="11" name="Shape 9"/>
          <p:cNvSpPr/>
          <p:nvPr/>
        </p:nvSpPr>
        <p:spPr>
          <a:xfrm>
            <a:off x="2247900" y="3495675"/>
            <a:ext cx="190500" cy="95"/>
          </a:xfrm>
          <a:prstGeom prst="line">
            <a:avLst/>
          </a:prstGeom>
          <a:noFill/>
          <a:ln w="31750">
            <a:solidFill>
              <a:srgbClr val="1C5A85"/>
            </a:solidFill>
            <a:prstDash val="solid"/>
            <a:tailEnd type="triangle"/>
          </a:ln>
        </p:spPr>
      </p:sp>
      <p:sp>
        <p:nvSpPr>
          <p:cNvPr id="12" name="Text 10"/>
          <p:cNvSpPr txBox="1"/>
          <p:nvPr/>
        </p:nvSpPr>
        <p:spPr>
          <a:xfrm>
            <a:off x="3086100" y="201930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Shape 11"/>
          <p:cNvSpPr/>
          <p:nvPr/>
        </p:nvSpPr>
        <p:spPr>
          <a:xfrm>
            <a:off x="2457450" y="2590800"/>
            <a:ext cx="1600200" cy="1809750"/>
          </a:xfrm>
          <a:prstGeom prst="rect">
            <a:avLst/>
          </a:prstGeom>
          <a:solidFill>
            <a:srgbClr val="F3EEE6"/>
          </a:solidFill>
          <a:ln w="19050">
            <a:solidFill>
              <a:srgbClr val="1C5A85"/>
            </a:solidFill>
            <a:prstDash val="solid"/>
          </a:ln>
        </p:spPr>
      </p:sp>
      <p:sp>
        <p:nvSpPr>
          <p:cNvPr id="14" name="Text 12"/>
          <p:cNvSpPr txBox="1"/>
          <p:nvPr/>
        </p:nvSpPr>
        <p:spPr>
          <a:xfrm>
            <a:off x="2533650" y="2743200"/>
            <a:ext cx="1447800" cy="304800"/>
          </a:xfrm>
          <a:prstGeom prst="rect">
            <a:avLst/>
          </a:prstGeom>
          <a:noFill/>
          <a:ln/>
        </p:spPr>
        <p:txBody>
          <a:bodyPr wrap="square" lIns="0" tIns="0" rIns="0" bIns="0" rtlCol="0" anchor="ctr"/>
          <a:lstStyle/>
          <a:p>
            <a:pPr algn="ctr" indent="0" marL="0">
              <a:buNone/>
            </a:pPr>
            <a:r>
              <a:rPr lang="en-US" sz="1900" b="1" dirty="0">
                <a:solidFill>
                  <a:srgbClr val="1C5A85"/>
                </a:solidFill>
                <a:latin typeface="Yu Gothic" pitchFamily="34" charset="0"/>
                <a:ea typeface="Yu Gothic" pitchFamily="34" charset="-122"/>
                <a:cs typeface="Yu Gothic" pitchFamily="34" charset="-120"/>
              </a:rPr>
              <a:t>URDF</a:t>
            </a:r>
            <a:endParaRPr lang="en-US" sz="1900" dirty="0"/>
          </a:p>
        </p:txBody>
      </p:sp>
      <p:sp>
        <p:nvSpPr>
          <p:cNvPr id="15" name="Text 13"/>
          <p:cNvSpPr txBox="1"/>
          <p:nvPr/>
        </p:nvSpPr>
        <p:spPr>
          <a:xfrm>
            <a:off x="2514600" y="3143250"/>
            <a:ext cx="1485900" cy="1047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リンク11・関節10</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質量・慣性つき</a:t>
            </a:r>
            <a:endParaRPr lang="en-US" sz="1300" dirty="0"/>
          </a:p>
        </p:txBody>
      </p:sp>
      <p:sp>
        <p:nvSpPr>
          <p:cNvPr id="16" name="Shape 14"/>
          <p:cNvSpPr/>
          <p:nvPr/>
        </p:nvSpPr>
        <p:spPr>
          <a:xfrm>
            <a:off x="4076700" y="3495675"/>
            <a:ext cx="190500" cy="95"/>
          </a:xfrm>
          <a:prstGeom prst="line">
            <a:avLst/>
          </a:prstGeom>
          <a:noFill/>
          <a:ln w="31750">
            <a:solidFill>
              <a:srgbClr val="1C5A85"/>
            </a:solidFill>
            <a:prstDash val="solid"/>
            <a:tailEnd type="triangle"/>
          </a:ln>
        </p:spPr>
      </p:sp>
      <p:sp>
        <p:nvSpPr>
          <p:cNvPr id="17" name="Text 15"/>
          <p:cNvSpPr txBox="1"/>
          <p:nvPr/>
        </p:nvSpPr>
        <p:spPr>
          <a:xfrm>
            <a:off x="4914900" y="201930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8" name="Shape 16"/>
          <p:cNvSpPr/>
          <p:nvPr/>
        </p:nvSpPr>
        <p:spPr>
          <a:xfrm>
            <a:off x="4286250" y="2590800"/>
            <a:ext cx="1600200" cy="1809750"/>
          </a:xfrm>
          <a:prstGeom prst="rect">
            <a:avLst/>
          </a:prstGeom>
          <a:solidFill>
            <a:srgbClr val="F3EEE6"/>
          </a:solidFill>
          <a:ln w="19050">
            <a:solidFill>
              <a:srgbClr val="1C5A85"/>
            </a:solidFill>
            <a:prstDash val="solid"/>
          </a:ln>
        </p:spPr>
      </p:sp>
      <p:sp>
        <p:nvSpPr>
          <p:cNvPr id="19" name="Text 17"/>
          <p:cNvSpPr txBox="1"/>
          <p:nvPr/>
        </p:nvSpPr>
        <p:spPr>
          <a:xfrm>
            <a:off x="4362450" y="2743200"/>
            <a:ext cx="1447800" cy="304800"/>
          </a:xfrm>
          <a:prstGeom prst="rect">
            <a:avLst/>
          </a:prstGeom>
          <a:noFill/>
          <a:ln/>
        </p:spPr>
        <p:txBody>
          <a:bodyPr wrap="square" lIns="0" tIns="0" rIns="0" bIns="0" rtlCol="0" anchor="ctr"/>
          <a:lstStyle/>
          <a:p>
            <a:pPr algn="ctr" indent="0" marL="0">
              <a:buNone/>
            </a:pPr>
            <a:r>
              <a:rPr lang="en-US" sz="1900" b="1" dirty="0">
                <a:solidFill>
                  <a:srgbClr val="1C5A85"/>
                </a:solidFill>
                <a:latin typeface="Yu Gothic" pitchFamily="34" charset="0"/>
                <a:ea typeface="Yu Gothic" pitchFamily="34" charset="-122"/>
                <a:cs typeface="Yu Gothic" pitchFamily="34" charset="-120"/>
              </a:rPr>
              <a:t>USD</a:t>
            </a:r>
            <a:endParaRPr lang="en-US" sz="1900" dirty="0"/>
          </a:p>
        </p:txBody>
      </p:sp>
      <p:sp>
        <p:nvSpPr>
          <p:cNvPr id="20" name="Text 18"/>
          <p:cNvSpPr txBox="1"/>
          <p:nvPr/>
        </p:nvSpPr>
        <p:spPr>
          <a:xfrm>
            <a:off x="4343400" y="3143250"/>
            <a:ext cx="1485900" cy="1047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Isaac Simの</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モデル形式</a:t>
            </a:r>
            <a:endParaRPr lang="en-US" sz="1300" dirty="0"/>
          </a:p>
        </p:txBody>
      </p:sp>
      <p:sp>
        <p:nvSpPr>
          <p:cNvPr id="21" name="Shape 19"/>
          <p:cNvSpPr/>
          <p:nvPr/>
        </p:nvSpPr>
        <p:spPr>
          <a:xfrm>
            <a:off x="5905500" y="3495675"/>
            <a:ext cx="190500" cy="95"/>
          </a:xfrm>
          <a:prstGeom prst="line">
            <a:avLst/>
          </a:prstGeom>
          <a:noFill/>
          <a:ln w="31750">
            <a:solidFill>
              <a:srgbClr val="1C5A85"/>
            </a:solidFill>
            <a:prstDash val="solid"/>
            <a:tailEnd type="triangle"/>
          </a:ln>
        </p:spPr>
      </p:sp>
      <p:sp>
        <p:nvSpPr>
          <p:cNvPr id="22" name="Text 20"/>
          <p:cNvSpPr txBox="1"/>
          <p:nvPr/>
        </p:nvSpPr>
        <p:spPr>
          <a:xfrm>
            <a:off x="6743700" y="2019300"/>
            <a:ext cx="419100" cy="419100"/>
          </a:xfrm>
          <a:prstGeom prst="ellipse">
            <a:avLst/>
          </a:prstGeom>
          <a:solidFill>
            <a:srgbClr val="32A5B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3" name="Shape 21"/>
          <p:cNvSpPr/>
          <p:nvPr/>
        </p:nvSpPr>
        <p:spPr>
          <a:xfrm>
            <a:off x="6115050" y="2590800"/>
            <a:ext cx="1600200" cy="1809750"/>
          </a:xfrm>
          <a:prstGeom prst="rect">
            <a:avLst/>
          </a:prstGeom>
          <a:solidFill>
            <a:srgbClr val="F3EEE6"/>
          </a:solidFill>
          <a:ln w="19050">
            <a:solidFill>
              <a:srgbClr val="32A5B5"/>
            </a:solidFill>
            <a:prstDash val="solid"/>
          </a:ln>
        </p:spPr>
      </p:sp>
      <p:sp>
        <p:nvSpPr>
          <p:cNvPr id="24" name="Text 22"/>
          <p:cNvSpPr txBox="1"/>
          <p:nvPr/>
        </p:nvSpPr>
        <p:spPr>
          <a:xfrm>
            <a:off x="6191250" y="2743200"/>
            <a:ext cx="1447800" cy="304800"/>
          </a:xfrm>
          <a:prstGeom prst="rect">
            <a:avLst/>
          </a:prstGeom>
          <a:noFill/>
          <a:ln/>
        </p:spPr>
        <p:txBody>
          <a:bodyPr wrap="square" lIns="0" tIns="0" rIns="0" bIns="0" rtlCol="0" anchor="ctr"/>
          <a:lstStyle/>
          <a:p>
            <a:pPr algn="ctr" indent="0" marL="0">
              <a:buNone/>
            </a:pPr>
            <a:r>
              <a:rPr lang="en-US" sz="1900" b="1" dirty="0">
                <a:solidFill>
                  <a:srgbClr val="32A5B5"/>
                </a:solidFill>
                <a:latin typeface="Yu Gothic" pitchFamily="34" charset="0"/>
                <a:ea typeface="Yu Gothic" pitchFamily="34" charset="-122"/>
                <a:cs typeface="Yu Gothic" pitchFamily="34" charset="-120"/>
              </a:rPr>
              <a:t>学習</a:t>
            </a:r>
            <a:endParaRPr lang="en-US" sz="1900" dirty="0"/>
          </a:p>
        </p:txBody>
      </p:sp>
      <p:sp>
        <p:nvSpPr>
          <p:cNvPr id="25" name="Text 23"/>
          <p:cNvSpPr txBox="1"/>
          <p:nvPr/>
        </p:nvSpPr>
        <p:spPr>
          <a:xfrm>
            <a:off x="6172200" y="3143250"/>
            <a:ext cx="1485900" cy="1047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Isaac Lab + PPO</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4096体を並列</a:t>
            </a:r>
            <a:endParaRPr lang="en-US" sz="1300" dirty="0"/>
          </a:p>
        </p:txBody>
      </p:sp>
      <p:sp>
        <p:nvSpPr>
          <p:cNvPr id="26" name="Shape 24"/>
          <p:cNvSpPr/>
          <p:nvPr/>
        </p:nvSpPr>
        <p:spPr>
          <a:xfrm>
            <a:off x="7734300" y="3495675"/>
            <a:ext cx="190500" cy="95"/>
          </a:xfrm>
          <a:prstGeom prst="line">
            <a:avLst/>
          </a:prstGeom>
          <a:noFill/>
          <a:ln w="31750">
            <a:solidFill>
              <a:srgbClr val="1C5A85"/>
            </a:solidFill>
            <a:prstDash val="solid"/>
            <a:tailEnd type="triangle"/>
          </a:ln>
        </p:spPr>
      </p:sp>
      <p:sp>
        <p:nvSpPr>
          <p:cNvPr id="27" name="Text 25"/>
          <p:cNvSpPr txBox="1"/>
          <p:nvPr/>
        </p:nvSpPr>
        <p:spPr>
          <a:xfrm>
            <a:off x="8572500" y="2019300"/>
            <a:ext cx="419100" cy="419100"/>
          </a:xfrm>
          <a:prstGeom prst="ellipse">
            <a:avLst/>
          </a:prstGeom>
          <a:solidFill>
            <a:srgbClr val="32A5B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8" name="Shape 26"/>
          <p:cNvSpPr/>
          <p:nvPr/>
        </p:nvSpPr>
        <p:spPr>
          <a:xfrm>
            <a:off x="7943850" y="2590800"/>
            <a:ext cx="1600200" cy="1809750"/>
          </a:xfrm>
          <a:prstGeom prst="rect">
            <a:avLst/>
          </a:prstGeom>
          <a:solidFill>
            <a:srgbClr val="F3EEE6"/>
          </a:solidFill>
          <a:ln w="19050">
            <a:solidFill>
              <a:srgbClr val="32A5B5"/>
            </a:solidFill>
            <a:prstDash val="solid"/>
          </a:ln>
        </p:spPr>
      </p:sp>
      <p:sp>
        <p:nvSpPr>
          <p:cNvPr id="29" name="Text 27"/>
          <p:cNvSpPr txBox="1"/>
          <p:nvPr/>
        </p:nvSpPr>
        <p:spPr>
          <a:xfrm>
            <a:off x="8020050" y="2743200"/>
            <a:ext cx="1447800" cy="304800"/>
          </a:xfrm>
          <a:prstGeom prst="rect">
            <a:avLst/>
          </a:prstGeom>
          <a:noFill/>
          <a:ln/>
        </p:spPr>
        <p:txBody>
          <a:bodyPr wrap="square" lIns="0" tIns="0" rIns="0" bIns="0" rtlCol="0" anchor="ctr"/>
          <a:lstStyle/>
          <a:p>
            <a:pPr algn="ctr" indent="0" marL="0">
              <a:buNone/>
            </a:pPr>
            <a:r>
              <a:rPr lang="en-US" sz="1900" b="1" dirty="0">
                <a:solidFill>
                  <a:srgbClr val="32A5B5"/>
                </a:solidFill>
                <a:latin typeface="Yu Gothic" pitchFamily="34" charset="0"/>
                <a:ea typeface="Yu Gothic" pitchFamily="34" charset="-122"/>
                <a:cs typeface="Yu Gothic" pitchFamily="34" charset="-120"/>
              </a:rPr>
              <a:t>評価・出力</a:t>
            </a:r>
            <a:endParaRPr lang="en-US" sz="1900" dirty="0"/>
          </a:p>
        </p:txBody>
      </p:sp>
      <p:sp>
        <p:nvSpPr>
          <p:cNvPr id="30" name="Text 28"/>
          <p:cNvSpPr txBox="1"/>
          <p:nvPr/>
        </p:nvSpPr>
        <p:spPr>
          <a:xfrm>
            <a:off x="8001000" y="3143250"/>
            <a:ext cx="1485900" cy="1047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指令ごとに評価</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ONNX形式で出力</a:t>
            </a:r>
            <a:endParaRPr lang="en-US" sz="1300" dirty="0"/>
          </a:p>
        </p:txBody>
      </p:sp>
      <p:sp>
        <p:nvSpPr>
          <p:cNvPr id="31" name="Shape 29"/>
          <p:cNvSpPr/>
          <p:nvPr/>
        </p:nvSpPr>
        <p:spPr>
          <a:xfrm>
            <a:off x="9563100" y="3495675"/>
            <a:ext cx="190500" cy="95"/>
          </a:xfrm>
          <a:prstGeom prst="line">
            <a:avLst/>
          </a:prstGeom>
          <a:noFill/>
          <a:ln w="31750">
            <a:solidFill>
              <a:srgbClr val="1C5A85"/>
            </a:solidFill>
            <a:prstDash val="solid"/>
            <a:tailEnd type="triangle"/>
          </a:ln>
        </p:spPr>
      </p:sp>
      <p:sp>
        <p:nvSpPr>
          <p:cNvPr id="32" name="Text 30"/>
          <p:cNvSpPr txBox="1"/>
          <p:nvPr/>
        </p:nvSpPr>
        <p:spPr>
          <a:xfrm>
            <a:off x="10401300" y="2019300"/>
            <a:ext cx="419100" cy="419100"/>
          </a:xfrm>
          <a:prstGeom prst="ellipse">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33" name="Shape 31"/>
          <p:cNvSpPr/>
          <p:nvPr/>
        </p:nvSpPr>
        <p:spPr>
          <a:xfrm>
            <a:off x="9772650" y="2590800"/>
            <a:ext cx="1600200" cy="1809750"/>
          </a:xfrm>
          <a:prstGeom prst="rect">
            <a:avLst/>
          </a:prstGeom>
          <a:solidFill>
            <a:srgbClr val="F3EEE6"/>
          </a:solidFill>
          <a:ln w="19050">
            <a:solidFill>
              <a:srgbClr val="102B46"/>
            </a:solidFill>
            <a:prstDash val="solid"/>
          </a:ln>
        </p:spPr>
      </p:sp>
      <p:sp>
        <p:nvSpPr>
          <p:cNvPr id="34" name="Text 32"/>
          <p:cNvSpPr txBox="1"/>
          <p:nvPr/>
        </p:nvSpPr>
        <p:spPr>
          <a:xfrm>
            <a:off x="9848850" y="2743200"/>
            <a:ext cx="1447800" cy="304800"/>
          </a:xfrm>
          <a:prstGeom prst="rect">
            <a:avLst/>
          </a:prstGeom>
          <a:noFill/>
          <a:ln/>
        </p:spPr>
        <p:txBody>
          <a:bodyPr wrap="square" lIns="0" tIns="0" rIns="0" bIns="0" rtlCol="0" anchor="ctr"/>
          <a:lstStyle/>
          <a:p>
            <a:pPr algn="ctr" indent="0" marL="0">
              <a:buNone/>
            </a:pPr>
            <a:r>
              <a:rPr lang="en-US" sz="1900" b="1" dirty="0">
                <a:solidFill>
                  <a:srgbClr val="102B46"/>
                </a:solidFill>
                <a:latin typeface="Yu Gothic" pitchFamily="34" charset="0"/>
                <a:ea typeface="Yu Gothic" pitchFamily="34" charset="-122"/>
                <a:cs typeface="Yu Gothic" pitchFamily="34" charset="-120"/>
              </a:rPr>
              <a:t>実機</a:t>
            </a:r>
            <a:endParaRPr lang="en-US" sz="1900" dirty="0"/>
          </a:p>
        </p:txBody>
      </p:sp>
      <p:sp>
        <p:nvSpPr>
          <p:cNvPr id="35" name="Text 33"/>
          <p:cNvSpPr txBox="1"/>
          <p:nvPr/>
        </p:nvSpPr>
        <p:spPr>
          <a:xfrm>
            <a:off x="9829800" y="3143250"/>
            <a:ext cx="1485900" cy="1047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Jetson + T265</a:t>
            </a:r>
            <a:endParaRPr lang="en-US" sz="1300" dirty="0"/>
          </a:p>
          <a:p>
            <a:pPr algn="ctr" indent="0" marL="0">
              <a:buNone/>
            </a:pPr>
            <a:r>
              <a:rPr lang="en-US" sz="1300" dirty="0">
                <a:solidFill>
                  <a:srgbClr val="17212B"/>
                </a:solidFill>
                <a:latin typeface="Yu Gothic" pitchFamily="34" charset="0"/>
                <a:ea typeface="Yu Gothic" pitchFamily="34" charset="-122"/>
                <a:cs typeface="Yu Gothic" pitchFamily="34" charset="-120"/>
              </a:rPr>
              <a:t>+ CAN + モーター</a:t>
            </a:r>
            <a:endParaRPr lang="en-US" sz="1300" dirty="0"/>
          </a:p>
        </p:txBody>
      </p:sp>
      <p:sp>
        <p:nvSpPr>
          <p:cNvPr id="36" name="Shape 34"/>
          <p:cNvSpPr/>
          <p:nvPr/>
        </p:nvSpPr>
        <p:spPr>
          <a:xfrm>
            <a:off x="10096500" y="4457700"/>
            <a:ext cx="95" cy="495300"/>
          </a:xfrm>
          <a:prstGeom prst="line">
            <a:avLst/>
          </a:prstGeom>
          <a:noFill/>
          <a:ln w="25400">
            <a:solidFill>
              <a:srgbClr val="E8783F"/>
            </a:solidFill>
            <a:prstDash val="dash"/>
          </a:ln>
        </p:spPr>
      </p:sp>
      <p:sp>
        <p:nvSpPr>
          <p:cNvPr id="37" name="Shape 35"/>
          <p:cNvSpPr/>
          <p:nvPr/>
        </p:nvSpPr>
        <p:spPr>
          <a:xfrm flipH="1">
            <a:off x="5086350" y="4953000"/>
            <a:ext cx="5010150" cy="95"/>
          </a:xfrm>
          <a:prstGeom prst="line">
            <a:avLst/>
          </a:prstGeom>
          <a:noFill/>
          <a:ln w="25400">
            <a:solidFill>
              <a:srgbClr val="E8783F"/>
            </a:solidFill>
            <a:prstDash val="dash"/>
          </a:ln>
        </p:spPr>
      </p:sp>
      <p:sp>
        <p:nvSpPr>
          <p:cNvPr id="38" name="Shape 36"/>
          <p:cNvSpPr/>
          <p:nvPr/>
        </p:nvSpPr>
        <p:spPr>
          <a:xfrm flipV="1">
            <a:off x="5086350" y="4457700"/>
            <a:ext cx="95" cy="495300"/>
          </a:xfrm>
          <a:prstGeom prst="line">
            <a:avLst/>
          </a:prstGeom>
          <a:noFill/>
          <a:ln w="25400">
            <a:solidFill>
              <a:srgbClr val="E8783F"/>
            </a:solidFill>
            <a:prstDash val="dash"/>
            <a:tailEnd type="triangle"/>
          </a:ln>
        </p:spPr>
      </p:sp>
      <p:sp>
        <p:nvSpPr>
          <p:cNvPr id="39" name="Text 37"/>
          <p:cNvSpPr txBox="1"/>
          <p:nvPr/>
        </p:nvSpPr>
        <p:spPr>
          <a:xfrm>
            <a:off x="3619500" y="5029200"/>
            <a:ext cx="8001000" cy="285750"/>
          </a:xfrm>
          <a:prstGeom prst="rect">
            <a:avLst/>
          </a:prstGeom>
          <a:noFill/>
          <a:ln/>
        </p:spPr>
        <p:txBody>
          <a:bodyPr wrap="square" lIns="0" tIns="0" rIns="0" bIns="0" rtlCol="0" anchor="ctr"/>
          <a:lstStyle/>
          <a:p>
            <a:pPr algn="ctr" indent="0" marL="0">
              <a:buNone/>
            </a:pPr>
            <a:r>
              <a:rPr lang="en-US" sz="1500" b="1" dirty="0">
                <a:solidFill>
                  <a:srgbClr val="E8783F"/>
                </a:solidFill>
                <a:latin typeface="Yu Gothic" pitchFamily="34" charset="0"/>
                <a:ea typeface="Yu Gothic" pitchFamily="34" charset="-122"/>
                <a:cs typeface="Yu Gothic" pitchFamily="34" charset="-120"/>
              </a:rPr>
              <a:t>実機で見つかった差（モーターの摩擦・重さなど）をシミュレーションへ戻して学習し直す</a:t>
            </a:r>
            <a:endParaRPr lang="en-US" sz="1500" dirty="0"/>
          </a:p>
        </p:txBody>
      </p:sp>
      <p:sp>
        <p:nvSpPr>
          <p:cNvPr id="40" name="Text 38"/>
          <p:cNvSpPr txBox="1"/>
          <p:nvPr/>
        </p:nvSpPr>
        <p:spPr>
          <a:xfrm>
            <a:off x="628650" y="5600700"/>
            <a:ext cx="10934700" cy="609600"/>
          </a:xfrm>
          <a:prstGeom prst="rect">
            <a:avLst/>
          </a:prstGeom>
          <a:solidFill>
            <a:srgbClr val="E8F1F5"/>
          </a:solidFill>
          <a:ln/>
        </p:spPr>
        <p:txBody>
          <a:bodyPr wrap="square" lIns="76200" tIns="127000" rIns="127000" bIns="76200" rtlCol="0" anchor="t"/>
          <a:lstStyle/>
          <a:p>
            <a:pPr algn="l" indent="0" marL="0">
              <a:buNone/>
            </a:pPr>
            <a:r>
              <a:rPr lang="en-US" sz="1500" b="1" dirty="0">
                <a:solidFill>
                  <a:srgbClr val="102B46"/>
                </a:solidFill>
                <a:latin typeface="Yu Gothic" pitchFamily="34" charset="0"/>
                <a:ea typeface="Yu Gothic" pitchFamily="34" charset="-122"/>
                <a:cs typeface="Yu Gothic" pitchFamily="34" charset="-120"/>
              </a:rPr>
              <a:t>つまずきやすい所：</a:t>
            </a:r>
            <a:pPr algn="l" indent="0" marL="0">
              <a:buNone/>
            </a:pPr>
            <a:r>
              <a:rPr lang="en-US" sz="1500" dirty="0">
                <a:solidFill>
                  <a:srgbClr val="17212B"/>
                </a:solidFill>
                <a:latin typeface="Yu Gothic" pitchFamily="34" charset="0"/>
                <a:ea typeface="Yu Gothic" pitchFamily="34" charset="-122"/>
                <a:cs typeface="Yu Gothic" pitchFamily="34" charset="-120"/>
              </a:rPr>
              <a:t>CADのリンク名・関節の向きがずれると、学習設定が関節を見つけられない／左右で逆に動く。左右5関節ずつの回転方向を1本ずつ確認して揃えた</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Isaac Labとは</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GPU物理シミュレーター（Isaac Sim）上でロボットの強化学習をする枠組み</a:t>
            </a:r>
            <a:endParaRPr lang="en-US" sz="2200" dirty="0"/>
          </a:p>
        </p:txBody>
      </p:sp>
      <p:sp>
        <p:nvSpPr>
          <p:cNvPr id="7" name="Text 5"/>
          <p:cNvSpPr txBox="1"/>
          <p:nvPr/>
        </p:nvSpPr>
        <p:spPr>
          <a:xfrm>
            <a:off x="628650" y="1905000"/>
            <a:ext cx="4476750" cy="285750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rgbClr val="17212B"/>
                </a:solidFill>
                <a:latin typeface="Yu Gothic" pitchFamily="34" charset="0"/>
                <a:ea typeface="Yu Gothic" pitchFamily="34" charset="-122"/>
                <a:cs typeface="Yu Gothic" pitchFamily="34" charset="-120"/>
              </a:rPr>
              <a:t>GPUで何千体ものロボットを同時に物理計算できる</a:t>
            </a:r>
            <a:endParaRPr lang="en-US" sz="1700" dirty="0"/>
          </a:p>
          <a:p>
            <a:pPr algn="l" marL="342900" indent="-342900">
              <a:spcAft>
                <a:spcPts val="1200"/>
              </a:spcAft>
              <a:buSzPct val="100000"/>
              <a:buChar char="•"/>
            </a:pPr>
            <a:r>
              <a:rPr lang="en-US" sz="1700" dirty="0">
                <a:solidFill>
                  <a:srgbClr val="17212B"/>
                </a:solidFill>
                <a:latin typeface="Yu Gothic" pitchFamily="34" charset="0"/>
                <a:ea typeface="Yu Gothic" pitchFamily="34" charset="-122"/>
                <a:cs typeface="Yu Gothic" pitchFamily="34" charset="-120"/>
              </a:rPr>
              <a:t>地形（平地・坂・段差）、外から押す力、センサのノイズを設定で追加できる</a:t>
            </a:r>
            <a:endParaRPr lang="en-US" sz="1700" dirty="0"/>
          </a:p>
          <a:p>
            <a:pPr algn="l" marL="342900" indent="-342900">
              <a:spcAft>
                <a:spcPts val="1200"/>
              </a:spcAft>
              <a:buSzPct val="100000"/>
              <a:buChar char="•"/>
            </a:pPr>
            <a:r>
              <a:rPr lang="en-US" sz="1700" dirty="0">
                <a:solidFill>
                  <a:srgbClr val="17212B"/>
                </a:solidFill>
                <a:latin typeface="Yu Gothic" pitchFamily="34" charset="0"/>
                <a:ea typeface="Yu Gothic" pitchFamily="34" charset="-122"/>
                <a:cs typeface="Yu Gothic" pitchFamily="34" charset="-120"/>
              </a:rPr>
              <a:t>観測・行動・報酬・終了条件を「部品」として組み合わせて学習環境を作る</a:t>
            </a:r>
            <a:endParaRPr lang="en-US" sz="1700" dirty="0"/>
          </a:p>
          <a:p>
            <a:pPr algn="l" marL="342900" indent="-342900">
              <a:spcAft>
                <a:spcPts val="1200"/>
              </a:spcAft>
              <a:buSzPct val="100000"/>
              <a:buChar char="•"/>
            </a:pPr>
            <a:r>
              <a:rPr lang="en-US" sz="1700" dirty="0">
                <a:solidFill>
                  <a:srgbClr val="17212B"/>
                </a:solidFill>
                <a:latin typeface="Yu Gothic" pitchFamily="34" charset="0"/>
                <a:ea typeface="Yu Gothic" pitchFamily="34" charset="-122"/>
                <a:cs typeface="Yu Gothic" pitchFamily="34" charset="-120"/>
              </a:rPr>
              <a:t>学習ライブラリ RSL-RL（PPO）と組み合わせて使う</a:t>
            </a:r>
            <a:endParaRPr lang="en-US" sz="1700" dirty="0"/>
          </a:p>
        </p:txBody>
      </p:sp>
      <p:sp>
        <p:nvSpPr>
          <p:cNvPr id="8" name="Text 6"/>
          <p:cNvSpPr txBox="1"/>
          <p:nvPr/>
        </p:nvSpPr>
        <p:spPr>
          <a:xfrm>
            <a:off x="628650" y="4953000"/>
            <a:ext cx="4476750" cy="285750"/>
          </a:xfrm>
          <a:prstGeom prst="rect">
            <a:avLst/>
          </a:prstGeom>
          <a:noFill/>
          <a:ln/>
        </p:spPr>
        <p:txBody>
          <a:bodyPr wrap="square" lIns="0" tIns="0" rIns="0" bIns="0" rtlCol="0" anchor="ctr"/>
          <a:lstStyle/>
          <a:p>
            <a:pPr algn="l" indent="0" marL="0">
              <a:buNone/>
            </a:pPr>
            <a:r>
              <a:rPr lang="en-US" sz="1400" dirty="0">
                <a:solidFill>
                  <a:srgbClr val="5E6A73"/>
                </a:solidFill>
                <a:latin typeface="Yu Gothic" pitchFamily="34" charset="0"/>
                <a:ea typeface="Yu Gothic" pitchFamily="34" charset="-122"/>
                <a:cs typeface="Yu Gothic" pitchFamily="34" charset="-120"/>
              </a:rPr>
              <a:t>使用環境：学習用PC（RTX 3090 Ti）／ Isaac Sim 5.1</a:t>
            </a:r>
            <a:endParaRPr lang="en-US" sz="1400" dirty="0"/>
          </a:p>
        </p:txBody>
      </p:sp>
      <p:sp>
        <p:nvSpPr>
          <p:cNvPr id="9" name="Shape 7"/>
          <p:cNvSpPr/>
          <p:nvPr/>
        </p:nvSpPr>
        <p:spPr>
          <a:xfrm>
            <a:off x="5429250" y="1809750"/>
            <a:ext cx="6134100" cy="4476750"/>
          </a:xfrm>
          <a:prstGeom prst="rect">
            <a:avLst/>
          </a:prstGeom>
          <a:solidFill>
            <a:srgbClr val="FBF7F3"/>
          </a:solidFill>
          <a:ln w="22225">
            <a:solidFill>
              <a:srgbClr val="E8783F"/>
            </a:solidFill>
            <a:prstDash val="dash"/>
          </a:ln>
        </p:spPr>
      </p:sp>
      <p:sp>
        <p:nvSpPr>
          <p:cNvPr id="10" name="Text 8"/>
          <p:cNvSpPr txBox="1"/>
          <p:nvPr/>
        </p:nvSpPr>
        <p:spPr>
          <a:xfrm>
            <a:off x="5562600" y="1924050"/>
            <a:ext cx="58674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11" name="Text 9"/>
          <p:cNvSpPr txBox="1"/>
          <p:nvPr/>
        </p:nvSpPr>
        <p:spPr>
          <a:xfrm>
            <a:off x="5562600" y="2209800"/>
            <a:ext cx="5867400" cy="39624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Isaac Simの画面に自分たちのロボットが1体立っているスクリーンショット（GUI全体が映っているもの）。</a:t>
            </a:r>
            <a:endParaRPr lang="en-US" sz="1300" dirty="0"/>
          </a:p>
          <a:p>
            <a:pPr algn="l" indent="0" marL="0">
              <a:lnSpc>
                <a:spcPct val="110000"/>
              </a:lnSpc>
              <a:buNone/>
            </a:pP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動画があればこの枠を動画に置き換えてもよい（ロボットをマウスで回して見せる、数秒の動画）。</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Isaac Lab：4096体を同時に学習させる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6667500" cy="5048250"/>
          </a:xfrm>
          <a:prstGeom prst="rect">
            <a:avLst/>
          </a:prstGeom>
          <a:solidFill>
            <a:srgbClr val="FBF7F3"/>
          </a:solidFill>
          <a:ln w="22225">
            <a:solidFill>
              <a:srgbClr val="E8783F"/>
            </a:solidFill>
            <a:prstDash val="dash"/>
          </a:ln>
        </p:spPr>
      </p:sp>
      <p:sp>
        <p:nvSpPr>
          <p:cNvPr id="7" name="Text 5"/>
          <p:cNvSpPr txBox="1"/>
          <p:nvPr/>
        </p:nvSpPr>
        <p:spPr>
          <a:xfrm>
            <a:off x="762000" y="1352550"/>
            <a:ext cx="64008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8" name="Text 6"/>
          <p:cNvSpPr txBox="1"/>
          <p:nvPr/>
        </p:nvSpPr>
        <p:spPr>
          <a:xfrm>
            <a:off x="762000" y="1638300"/>
            <a:ext cx="6400800" cy="4533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学習中の画面の動画（引きの画）。4096体のロボットが格子状に並んで一斉に歩こうとしている様子が分かるもの。10〜20秒程度。</a:t>
            </a:r>
            <a:endParaRPr lang="en-US" sz="1300" dirty="0"/>
          </a:p>
          <a:p>
            <a:pPr algn="l" indent="0" marL="0">
              <a:lnSpc>
                <a:spcPct val="110000"/>
              </a:lnSpc>
              <a:buNone/>
            </a:pP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（撮影例：学習コマンドをheadlessなしで起動し、少ない体数でもよいのでカメラを引いて録画）</a:t>
            </a:r>
            <a:endParaRPr lang="en-US" sz="1300" dirty="0"/>
          </a:p>
        </p:txBody>
      </p:sp>
      <p:sp>
        <p:nvSpPr>
          <p:cNvPr id="9" name="Shape 7"/>
          <p:cNvSpPr/>
          <p:nvPr/>
        </p:nvSpPr>
        <p:spPr>
          <a:xfrm>
            <a:off x="7620000" y="1238250"/>
            <a:ext cx="3943350" cy="1066800"/>
          </a:xfrm>
          <a:prstGeom prst="rect">
            <a:avLst/>
          </a:prstGeom>
          <a:solidFill>
            <a:srgbClr val="E8F1F5"/>
          </a:solidFill>
          <a:ln w="12700">
            <a:solidFill>
              <a:srgbClr val="B7C7D1"/>
            </a:solidFill>
            <a:prstDash val="solid"/>
          </a:ln>
        </p:spPr>
      </p:sp>
      <p:sp>
        <p:nvSpPr>
          <p:cNvPr id="10" name="Text 8"/>
          <p:cNvSpPr txBox="1"/>
          <p:nvPr/>
        </p:nvSpPr>
        <p:spPr>
          <a:xfrm>
            <a:off x="7829550" y="1333500"/>
            <a:ext cx="3619500" cy="533400"/>
          </a:xfrm>
          <a:prstGeom prst="rect">
            <a:avLst/>
          </a:prstGeom>
          <a:noFill/>
          <a:ln/>
        </p:spPr>
        <p:txBody>
          <a:bodyPr wrap="square" lIns="0" tIns="0" rIns="0" bIns="0" rtlCol="0" anchor="ctr"/>
          <a:lstStyle/>
          <a:p>
            <a:pPr algn="l" indent="0" marL="0">
              <a:buNone/>
            </a:pPr>
            <a:r>
              <a:rPr lang="en-US" sz="3800" b="1" dirty="0">
                <a:solidFill>
                  <a:srgbClr val="102B46"/>
                </a:solidFill>
                <a:latin typeface="Yu Gothic" pitchFamily="34" charset="0"/>
                <a:ea typeface="Yu Gothic" pitchFamily="34" charset="-122"/>
                <a:cs typeface="Yu Gothic" pitchFamily="34" charset="-120"/>
              </a:rPr>
              <a:t>4,096</a:t>
            </a:r>
            <a:pPr algn="l" indent="0" marL="0">
              <a:buNone/>
            </a:pPr>
            <a:r>
              <a:rPr lang="en-US" sz="1800" b="1" dirty="0">
                <a:solidFill>
                  <a:srgbClr val="102B46"/>
                </a:solidFill>
                <a:latin typeface="Yu Gothic" pitchFamily="34" charset="0"/>
                <a:ea typeface="Yu Gothic" pitchFamily="34" charset="-122"/>
                <a:cs typeface="Yu Gothic" pitchFamily="34" charset="-120"/>
              </a:rPr>
              <a:t> 体</a:t>
            </a:r>
            <a:endParaRPr lang="en-US" sz="1800" dirty="0"/>
          </a:p>
        </p:txBody>
      </p:sp>
      <p:sp>
        <p:nvSpPr>
          <p:cNvPr id="11" name="Text 9"/>
          <p:cNvSpPr txBox="1"/>
          <p:nvPr/>
        </p:nvSpPr>
        <p:spPr>
          <a:xfrm>
            <a:off x="7829550" y="1885950"/>
            <a:ext cx="3619500" cy="285750"/>
          </a:xfrm>
          <a:prstGeom prst="rect">
            <a:avLst/>
          </a:prstGeom>
          <a:noFill/>
          <a:ln/>
        </p:spPr>
        <p:txBody>
          <a:bodyPr wrap="square" lIns="0" tIns="0" rIns="0" bIns="0" rtlCol="0" anchor="ctr"/>
          <a:lstStyle/>
          <a:p>
            <a:pPr algn="l" indent="0" marL="0">
              <a:buNone/>
            </a:pPr>
            <a:r>
              <a:rPr lang="en-US" sz="1500" dirty="0">
                <a:solidFill>
                  <a:srgbClr val="5E6A73"/>
                </a:solidFill>
                <a:latin typeface="Yu Gothic" pitchFamily="34" charset="0"/>
                <a:ea typeface="Yu Gothic" pitchFamily="34" charset="-122"/>
                <a:cs typeface="Yu Gothic" pitchFamily="34" charset="-120"/>
              </a:rPr>
              <a:t>同時にシミュレーション</a:t>
            </a:r>
            <a:endParaRPr lang="en-US" sz="1500" dirty="0"/>
          </a:p>
        </p:txBody>
      </p:sp>
      <p:sp>
        <p:nvSpPr>
          <p:cNvPr id="12" name="Shape 10"/>
          <p:cNvSpPr/>
          <p:nvPr/>
        </p:nvSpPr>
        <p:spPr>
          <a:xfrm>
            <a:off x="7620000" y="2457450"/>
            <a:ext cx="3943350" cy="1066800"/>
          </a:xfrm>
          <a:prstGeom prst="rect">
            <a:avLst/>
          </a:prstGeom>
          <a:solidFill>
            <a:srgbClr val="F3EEE6"/>
          </a:solidFill>
          <a:ln w="12700">
            <a:solidFill>
              <a:srgbClr val="B7C7D1"/>
            </a:solidFill>
            <a:prstDash val="solid"/>
          </a:ln>
        </p:spPr>
      </p:sp>
      <p:sp>
        <p:nvSpPr>
          <p:cNvPr id="13" name="Text 11"/>
          <p:cNvSpPr txBox="1"/>
          <p:nvPr/>
        </p:nvSpPr>
        <p:spPr>
          <a:xfrm>
            <a:off x="7829550" y="2552700"/>
            <a:ext cx="3619500" cy="533400"/>
          </a:xfrm>
          <a:prstGeom prst="rect">
            <a:avLst/>
          </a:prstGeom>
          <a:noFill/>
          <a:ln/>
        </p:spPr>
        <p:txBody>
          <a:bodyPr wrap="square" lIns="0" tIns="0" rIns="0" bIns="0" rtlCol="0" anchor="ctr"/>
          <a:lstStyle/>
          <a:p>
            <a:pPr algn="l" indent="0" marL="0">
              <a:buNone/>
            </a:pPr>
            <a:r>
              <a:rPr lang="en-US" sz="3800" b="1" dirty="0">
                <a:solidFill>
                  <a:srgbClr val="102B46"/>
                </a:solidFill>
                <a:latin typeface="Yu Gothic" pitchFamily="34" charset="0"/>
                <a:ea typeface="Yu Gothic" pitchFamily="34" charset="-122"/>
                <a:cs typeface="Yu Gothic" pitchFamily="34" charset="-120"/>
              </a:rPr>
              <a:t>3,000</a:t>
            </a:r>
            <a:pPr algn="l" indent="0" marL="0">
              <a:buNone/>
            </a:pPr>
            <a:r>
              <a:rPr lang="en-US" sz="1800" b="1" dirty="0">
                <a:solidFill>
                  <a:srgbClr val="102B46"/>
                </a:solidFill>
                <a:latin typeface="Yu Gothic" pitchFamily="34" charset="0"/>
                <a:ea typeface="Yu Gothic" pitchFamily="34" charset="-122"/>
                <a:cs typeface="Yu Gothic" pitchFamily="34" charset="-120"/>
              </a:rPr>
              <a:t> 回</a:t>
            </a:r>
            <a:endParaRPr lang="en-US" sz="1800" dirty="0"/>
          </a:p>
        </p:txBody>
      </p:sp>
      <p:sp>
        <p:nvSpPr>
          <p:cNvPr id="14" name="Text 12"/>
          <p:cNvSpPr txBox="1"/>
          <p:nvPr/>
        </p:nvSpPr>
        <p:spPr>
          <a:xfrm>
            <a:off x="7829550" y="3105150"/>
            <a:ext cx="3619500" cy="285750"/>
          </a:xfrm>
          <a:prstGeom prst="rect">
            <a:avLst/>
          </a:prstGeom>
          <a:noFill/>
          <a:ln/>
        </p:spPr>
        <p:txBody>
          <a:bodyPr wrap="square" lIns="0" tIns="0" rIns="0" bIns="0" rtlCol="0" anchor="ctr"/>
          <a:lstStyle/>
          <a:p>
            <a:pPr algn="l" indent="0" marL="0">
              <a:buNone/>
            </a:pPr>
            <a:r>
              <a:rPr lang="en-US" sz="1500" dirty="0">
                <a:solidFill>
                  <a:srgbClr val="5E6A73"/>
                </a:solidFill>
                <a:latin typeface="Yu Gothic" pitchFamily="34" charset="0"/>
                <a:ea typeface="Yu Gothic" pitchFamily="34" charset="-122"/>
                <a:cs typeface="Yu Gothic" pitchFamily="34" charset="-120"/>
              </a:rPr>
              <a:t>方策の更新（iteration）</a:t>
            </a:r>
            <a:endParaRPr lang="en-US" sz="1500" dirty="0"/>
          </a:p>
        </p:txBody>
      </p:sp>
      <p:sp>
        <p:nvSpPr>
          <p:cNvPr id="15" name="Shape 13"/>
          <p:cNvSpPr/>
          <p:nvPr/>
        </p:nvSpPr>
        <p:spPr>
          <a:xfrm>
            <a:off x="7620000" y="3676650"/>
            <a:ext cx="3943350" cy="1066800"/>
          </a:xfrm>
          <a:prstGeom prst="rect">
            <a:avLst/>
          </a:prstGeom>
          <a:solidFill>
            <a:srgbClr val="E8F1F5"/>
          </a:solidFill>
          <a:ln w="12700">
            <a:solidFill>
              <a:srgbClr val="B7C7D1"/>
            </a:solidFill>
            <a:prstDash val="solid"/>
          </a:ln>
        </p:spPr>
      </p:sp>
      <p:sp>
        <p:nvSpPr>
          <p:cNvPr id="16" name="Text 14"/>
          <p:cNvSpPr txBox="1"/>
          <p:nvPr/>
        </p:nvSpPr>
        <p:spPr>
          <a:xfrm>
            <a:off x="7829550" y="3771900"/>
            <a:ext cx="3619500" cy="533400"/>
          </a:xfrm>
          <a:prstGeom prst="rect">
            <a:avLst/>
          </a:prstGeom>
          <a:noFill/>
          <a:ln/>
        </p:spPr>
        <p:txBody>
          <a:bodyPr wrap="square" lIns="0" tIns="0" rIns="0" bIns="0" rtlCol="0" anchor="ctr"/>
          <a:lstStyle/>
          <a:p>
            <a:pPr algn="l" indent="0" marL="0">
              <a:buNone/>
            </a:pPr>
            <a:r>
              <a:rPr lang="en-US" sz="3800" b="1" dirty="0">
                <a:solidFill>
                  <a:srgbClr val="102B46"/>
                </a:solidFill>
                <a:latin typeface="Yu Gothic" pitchFamily="34" charset="0"/>
                <a:ea typeface="Yu Gothic" pitchFamily="34" charset="-122"/>
                <a:cs typeface="Yu Gothic" pitchFamily="34" charset="-120"/>
              </a:rPr>
              <a:t>約2.9億</a:t>
            </a:r>
            <a:pPr algn="l" indent="0" marL="0">
              <a:buNone/>
            </a:pPr>
            <a:r>
              <a:rPr lang="en-US" sz="1800" b="1" dirty="0">
                <a:solidFill>
                  <a:srgbClr val="102B46"/>
                </a:solidFill>
                <a:latin typeface="Yu Gothic" pitchFamily="34" charset="0"/>
                <a:ea typeface="Yu Gothic" pitchFamily="34" charset="-122"/>
                <a:cs typeface="Yu Gothic" pitchFamily="34" charset="-120"/>
              </a:rPr>
              <a:t> ステップ</a:t>
            </a:r>
            <a:endParaRPr lang="en-US" sz="1800" dirty="0"/>
          </a:p>
        </p:txBody>
      </p:sp>
      <p:sp>
        <p:nvSpPr>
          <p:cNvPr id="17" name="Text 15"/>
          <p:cNvSpPr txBox="1"/>
          <p:nvPr/>
        </p:nvSpPr>
        <p:spPr>
          <a:xfrm>
            <a:off x="7829550" y="4324350"/>
            <a:ext cx="3619500" cy="285750"/>
          </a:xfrm>
          <a:prstGeom prst="rect">
            <a:avLst/>
          </a:prstGeom>
          <a:noFill/>
          <a:ln/>
        </p:spPr>
        <p:txBody>
          <a:bodyPr wrap="square" lIns="0" tIns="0" rIns="0" bIns="0" rtlCol="0" anchor="ctr"/>
          <a:lstStyle/>
          <a:p>
            <a:pPr algn="l" indent="0" marL="0">
              <a:buNone/>
            </a:pPr>
            <a:r>
              <a:rPr lang="en-US" sz="1500" dirty="0">
                <a:solidFill>
                  <a:srgbClr val="5E6A73"/>
                </a:solidFill>
                <a:latin typeface="Yu Gothic" pitchFamily="34" charset="0"/>
                <a:ea typeface="Yu Gothic" pitchFamily="34" charset="-122"/>
                <a:cs typeface="Yu Gothic" pitchFamily="34" charset="-120"/>
              </a:rPr>
              <a:t>1回の学習で試す動作の数</a:t>
            </a:r>
            <a:endParaRPr lang="en-US" sz="1500" dirty="0"/>
          </a:p>
        </p:txBody>
      </p:sp>
      <p:sp>
        <p:nvSpPr>
          <p:cNvPr id="18" name="Shape 16"/>
          <p:cNvSpPr/>
          <p:nvPr/>
        </p:nvSpPr>
        <p:spPr>
          <a:xfrm>
            <a:off x="7620000" y="4895850"/>
            <a:ext cx="3943350" cy="1066800"/>
          </a:xfrm>
          <a:prstGeom prst="rect">
            <a:avLst/>
          </a:prstGeom>
          <a:solidFill>
            <a:srgbClr val="F3EEE6"/>
          </a:solidFill>
          <a:ln w="12700">
            <a:solidFill>
              <a:srgbClr val="B7C7D1"/>
            </a:solidFill>
            <a:prstDash val="solid"/>
          </a:ln>
        </p:spPr>
      </p:sp>
      <p:sp>
        <p:nvSpPr>
          <p:cNvPr id="19" name="Text 17"/>
          <p:cNvSpPr txBox="1"/>
          <p:nvPr/>
        </p:nvSpPr>
        <p:spPr>
          <a:xfrm>
            <a:off x="7829550" y="4991100"/>
            <a:ext cx="3619500" cy="533400"/>
          </a:xfrm>
          <a:prstGeom prst="rect">
            <a:avLst/>
          </a:prstGeom>
          <a:noFill/>
          <a:ln/>
        </p:spPr>
        <p:txBody>
          <a:bodyPr wrap="square" lIns="0" tIns="0" rIns="0" bIns="0" rtlCol="0" anchor="ctr"/>
          <a:lstStyle/>
          <a:p>
            <a:pPr algn="l" indent="0" marL="0">
              <a:buNone/>
            </a:pPr>
            <a:r>
              <a:rPr lang="en-US" sz="3800" b="1" dirty="0">
                <a:solidFill>
                  <a:srgbClr val="102B46"/>
                </a:solidFill>
                <a:latin typeface="Yu Gothic" pitchFamily="34" charset="0"/>
                <a:ea typeface="Yu Gothic" pitchFamily="34" charset="-122"/>
                <a:cs typeface="Yu Gothic" pitchFamily="34" charset="-120"/>
              </a:rPr>
              <a:t>約68</a:t>
            </a:r>
            <a:pPr algn="l" indent="0" marL="0">
              <a:buNone/>
            </a:pPr>
            <a:r>
              <a:rPr lang="en-US" sz="1800" b="1" dirty="0">
                <a:solidFill>
                  <a:srgbClr val="102B46"/>
                </a:solidFill>
                <a:latin typeface="Yu Gothic" pitchFamily="34" charset="0"/>
                <a:ea typeface="Yu Gothic" pitchFamily="34" charset="-122"/>
                <a:cs typeface="Yu Gothic" pitchFamily="34" charset="-120"/>
              </a:rPr>
              <a:t> 日分</a:t>
            </a:r>
            <a:endParaRPr lang="en-US" sz="1800" dirty="0"/>
          </a:p>
        </p:txBody>
      </p:sp>
      <p:sp>
        <p:nvSpPr>
          <p:cNvPr id="20" name="Text 18"/>
          <p:cNvSpPr txBox="1"/>
          <p:nvPr/>
        </p:nvSpPr>
        <p:spPr>
          <a:xfrm>
            <a:off x="7829550" y="5543550"/>
            <a:ext cx="3619500" cy="285750"/>
          </a:xfrm>
          <a:prstGeom prst="rect">
            <a:avLst/>
          </a:prstGeom>
          <a:noFill/>
          <a:ln/>
        </p:spPr>
        <p:txBody>
          <a:bodyPr wrap="square" lIns="0" tIns="0" rIns="0" bIns="0" rtlCol="0" anchor="ctr"/>
          <a:lstStyle/>
          <a:p>
            <a:pPr algn="l" indent="0" marL="0">
              <a:buNone/>
            </a:pPr>
            <a:r>
              <a:rPr lang="en-US" sz="1500" dirty="0">
                <a:solidFill>
                  <a:srgbClr val="5E6A73"/>
                </a:solidFill>
                <a:latin typeface="Yu Gothic" pitchFamily="34" charset="0"/>
                <a:ea typeface="Yu Gothic" pitchFamily="34" charset="-122"/>
                <a:cs typeface="Yu Gothic" pitchFamily="34" charset="-120"/>
              </a:rPr>
              <a:t>現実の時間に換算した経験</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シミュレーター上のロボット：片脚5関節 × 2</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4476750" cy="5048250"/>
          </a:xfrm>
          <a:prstGeom prst="rect">
            <a:avLst/>
          </a:prstGeom>
          <a:solidFill>
            <a:srgbClr val="FBF7F3"/>
          </a:solidFill>
          <a:ln w="22225">
            <a:solidFill>
              <a:srgbClr val="E8783F"/>
            </a:solidFill>
            <a:prstDash val="dash"/>
          </a:ln>
        </p:spPr>
      </p:sp>
      <p:sp>
        <p:nvSpPr>
          <p:cNvPr id="7" name="Text 5"/>
          <p:cNvSpPr txBox="1"/>
          <p:nvPr/>
        </p:nvSpPr>
        <p:spPr>
          <a:xfrm>
            <a:off x="762000" y="1352550"/>
            <a:ext cx="421005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8" name="Text 6"/>
          <p:cNvSpPr txBox="1"/>
          <p:nvPr/>
        </p:nvSpPr>
        <p:spPr>
          <a:xfrm>
            <a:off x="762000" y="1638300"/>
            <a:ext cx="4210050" cy="4533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Isaac Sim上のロボットモデルの正面図（または斜め図）。可能なら各関節の位置に HR / HAA / HFE / KFE / FFE のラベルを付ける。</a:t>
            </a:r>
            <a:endParaRPr lang="en-US" sz="1300" dirty="0"/>
          </a:p>
          <a:p>
            <a:pPr algn="l" indent="0" marL="0">
              <a:lnSpc>
                <a:spcPct val="110000"/>
              </a:lnSpc>
              <a:buNone/>
            </a:pP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関節の回転軸（座標軸表示）が見えるとなお良い。</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29250" y="1333500"/>
          <a:ext cx="6134100" cy="914400"/>
        </p:xfrm>
        <a:graphic>
          <a:graphicData uri="http://schemas.openxmlformats.org/drawingml/2006/table">
            <a:tbl>
              <a:tblPr/>
              <a:tblGrid>
                <a:gridCol w="952500"/>
                <a:gridCol w="3657600"/>
                <a:gridCol w="1524000"/>
              </a:tblGrid>
              <a:tr h="438150">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関節</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動き</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indent="0" marL="0">
                        <a:buNone/>
                      </a:pPr>
                      <a:r>
                        <a:rPr lang="en-US" sz="1500" b="1" dirty="0">
                          <a:solidFill>
                            <a:srgbClr val="FFFFFF"/>
                          </a:solidFill>
                          <a:latin typeface="Yu Gothic" pitchFamily="34" charset="0"/>
                          <a:ea typeface="Yu Gothic" pitchFamily="34" charset="-122"/>
                          <a:cs typeface="Yu Gothic" pitchFamily="34" charset="-120"/>
                        </a:rPr>
                        <a:t>モーター</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r>
              <a:tr h="43815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HR</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股のひねり（鉛直軸まわり）</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AK10-9</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3815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HAA</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股を横に開く（前後軸まわり）</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AK10-9</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3815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HFE</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股を前後に振る（左右軸まわり）</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AK80-9</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3815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KFE</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膝の曲げ伸ばし</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AK10-9</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38150">
                <a:tc>
                  <a:txBody>
                    <a:bodyPr/>
                    <a:lstStyle/>
                    <a:p>
                      <a:pPr indent="0" marL="0">
                        <a:buNone/>
                      </a:pPr>
                      <a:r>
                        <a:rPr lang="en-US" sz="1500" b="1" dirty="0">
                          <a:solidFill>
                            <a:srgbClr val="102B46"/>
                          </a:solidFill>
                          <a:latin typeface="Yu Gothic" pitchFamily="34" charset="0"/>
                          <a:ea typeface="Yu Gothic" pitchFamily="34" charset="-122"/>
                          <a:cs typeface="Yu Gothic" pitchFamily="34" charset="-120"/>
                        </a:rPr>
                        <a:t>FFE</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足首の曲げ伸ばし</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indent="0" marL="0">
                        <a:buNone/>
                      </a:pPr>
                      <a:r>
                        <a:rPr lang="en-US" sz="1500" dirty="0">
                          <a:solidFill>
                            <a:srgbClr val="17212B"/>
                          </a:solidFill>
                          <a:latin typeface="Yu Gothic" pitchFamily="34" charset="0"/>
                          <a:ea typeface="Yu Gothic" pitchFamily="34" charset="-122"/>
                          <a:cs typeface="Yu Gothic" pitchFamily="34" charset="-120"/>
                        </a:rPr>
                        <a:t>AK80-9</a:t>
                      </a:r>
                      <a:endParaRPr lang="en-US" sz="1500" dirty="0">
                        <a:latin typeface="Yu Gothic" charset="0"/>
                        <a:ea typeface="Yu Gothic" charset="0"/>
                        <a:cs typeface="Yu Gothic" charset="0"/>
                      </a:endParaRPr>
                    </a:p>
                  </a:txBody>
                  <a:tcPr marL="101600" marR="1016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bl>
          </a:graphicData>
        </a:graphic>
      </p:graphicFrame>
      <p:sp>
        <p:nvSpPr>
          <p:cNvPr id="10" name="Shape 7"/>
          <p:cNvSpPr/>
          <p:nvPr/>
        </p:nvSpPr>
        <p:spPr>
          <a:xfrm>
            <a:off x="5429250" y="4191000"/>
            <a:ext cx="1962150" cy="1047750"/>
          </a:xfrm>
          <a:prstGeom prst="rect">
            <a:avLst/>
          </a:prstGeom>
          <a:solidFill>
            <a:srgbClr val="F3EEE6"/>
          </a:solidFill>
          <a:ln w="12700">
            <a:solidFill>
              <a:srgbClr val="B7C7D1"/>
            </a:solidFill>
            <a:prstDash val="solid"/>
          </a:ln>
        </p:spPr>
      </p:sp>
      <p:sp>
        <p:nvSpPr>
          <p:cNvPr id="11" name="Text 8"/>
          <p:cNvSpPr txBox="1"/>
          <p:nvPr/>
        </p:nvSpPr>
        <p:spPr>
          <a:xfrm>
            <a:off x="5543550" y="4305300"/>
            <a:ext cx="1752600" cy="476250"/>
          </a:xfrm>
          <a:prstGeom prst="rect">
            <a:avLst/>
          </a:prstGeom>
          <a:noFill/>
          <a:ln/>
        </p:spPr>
        <p:txBody>
          <a:bodyPr wrap="square" lIns="0" tIns="0" rIns="0" bIns="0" rtlCol="0" anchor="ctr"/>
          <a:lstStyle/>
          <a:p>
            <a:pPr algn="ctr" indent="0" marL="0">
              <a:buNone/>
            </a:pPr>
            <a:r>
              <a:rPr lang="en-US" sz="2800" b="1" dirty="0">
                <a:solidFill>
                  <a:srgbClr val="E8783F"/>
                </a:solidFill>
                <a:latin typeface="Yu Gothic" pitchFamily="34" charset="0"/>
                <a:ea typeface="Yu Gothic" pitchFamily="34" charset="-122"/>
                <a:cs typeface="Yu Gothic" pitchFamily="34" charset="-120"/>
              </a:rPr>
              <a:t>10</a:t>
            </a:r>
            <a:endParaRPr lang="en-US" sz="2800" dirty="0"/>
          </a:p>
        </p:txBody>
      </p:sp>
      <p:sp>
        <p:nvSpPr>
          <p:cNvPr id="12" name="Text 9"/>
          <p:cNvSpPr txBox="1"/>
          <p:nvPr/>
        </p:nvSpPr>
        <p:spPr>
          <a:xfrm>
            <a:off x="5543550" y="4800600"/>
            <a:ext cx="1752600" cy="3429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関節（左右5つずつ）</a:t>
            </a:r>
            <a:endParaRPr lang="en-US" sz="1300" dirty="0"/>
          </a:p>
        </p:txBody>
      </p:sp>
      <p:sp>
        <p:nvSpPr>
          <p:cNvPr id="13" name="Shape 10"/>
          <p:cNvSpPr/>
          <p:nvPr/>
        </p:nvSpPr>
        <p:spPr>
          <a:xfrm>
            <a:off x="7505700" y="4191000"/>
            <a:ext cx="1962150" cy="1047750"/>
          </a:xfrm>
          <a:prstGeom prst="rect">
            <a:avLst/>
          </a:prstGeom>
          <a:solidFill>
            <a:srgbClr val="F3EEE6"/>
          </a:solidFill>
          <a:ln w="12700">
            <a:solidFill>
              <a:srgbClr val="B7C7D1"/>
            </a:solidFill>
            <a:prstDash val="solid"/>
          </a:ln>
        </p:spPr>
      </p:sp>
      <p:sp>
        <p:nvSpPr>
          <p:cNvPr id="14" name="Text 11"/>
          <p:cNvSpPr txBox="1"/>
          <p:nvPr/>
        </p:nvSpPr>
        <p:spPr>
          <a:xfrm>
            <a:off x="7620000" y="4305300"/>
            <a:ext cx="1752600" cy="476250"/>
          </a:xfrm>
          <a:prstGeom prst="rect">
            <a:avLst/>
          </a:prstGeom>
          <a:noFill/>
          <a:ln/>
        </p:spPr>
        <p:txBody>
          <a:bodyPr wrap="square" lIns="0" tIns="0" rIns="0" bIns="0" rtlCol="0" anchor="ctr"/>
          <a:lstStyle/>
          <a:p>
            <a:pPr algn="ctr" indent="0" marL="0">
              <a:buNone/>
            </a:pPr>
            <a:r>
              <a:rPr lang="en-US" sz="2800" b="1" dirty="0">
                <a:solidFill>
                  <a:srgbClr val="E8783F"/>
                </a:solidFill>
                <a:latin typeface="Yu Gothic" pitchFamily="34" charset="0"/>
                <a:ea typeface="Yu Gothic" pitchFamily="34" charset="-122"/>
                <a:cs typeface="Yu Gothic" pitchFamily="34" charset="-120"/>
              </a:rPr>
              <a:t>11</a:t>
            </a:r>
            <a:endParaRPr lang="en-US" sz="2800" dirty="0"/>
          </a:p>
        </p:txBody>
      </p:sp>
      <p:sp>
        <p:nvSpPr>
          <p:cNvPr id="15" name="Text 12"/>
          <p:cNvSpPr txBox="1"/>
          <p:nvPr/>
        </p:nvSpPr>
        <p:spPr>
          <a:xfrm>
            <a:off x="7620000" y="4800600"/>
            <a:ext cx="1752600" cy="3429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リンク（胴体＋脚の部品）</a:t>
            </a:r>
            <a:endParaRPr lang="en-US" sz="1300" dirty="0"/>
          </a:p>
        </p:txBody>
      </p:sp>
      <p:sp>
        <p:nvSpPr>
          <p:cNvPr id="16" name="Shape 13"/>
          <p:cNvSpPr/>
          <p:nvPr/>
        </p:nvSpPr>
        <p:spPr>
          <a:xfrm>
            <a:off x="9582150" y="4191000"/>
            <a:ext cx="1962150" cy="1047750"/>
          </a:xfrm>
          <a:prstGeom prst="rect">
            <a:avLst/>
          </a:prstGeom>
          <a:solidFill>
            <a:srgbClr val="F3EEE6"/>
          </a:solidFill>
          <a:ln w="12700">
            <a:solidFill>
              <a:srgbClr val="B7C7D1"/>
            </a:solidFill>
            <a:prstDash val="solid"/>
          </a:ln>
        </p:spPr>
      </p:sp>
      <p:sp>
        <p:nvSpPr>
          <p:cNvPr id="17" name="Text 14"/>
          <p:cNvSpPr txBox="1"/>
          <p:nvPr/>
        </p:nvSpPr>
        <p:spPr>
          <a:xfrm>
            <a:off x="9696450" y="4305300"/>
            <a:ext cx="1752600" cy="476250"/>
          </a:xfrm>
          <a:prstGeom prst="rect">
            <a:avLst/>
          </a:prstGeom>
          <a:noFill/>
          <a:ln/>
        </p:spPr>
        <p:txBody>
          <a:bodyPr wrap="square" lIns="0" tIns="0" rIns="0" bIns="0" rtlCol="0" anchor="ctr"/>
          <a:lstStyle/>
          <a:p>
            <a:pPr algn="ctr" indent="0" marL="0">
              <a:buNone/>
            </a:pPr>
            <a:r>
              <a:rPr lang="en-US" sz="2800" b="1" dirty="0">
                <a:solidFill>
                  <a:srgbClr val="E8783F"/>
                </a:solidFill>
                <a:latin typeface="Yu Gothic" pitchFamily="34" charset="0"/>
                <a:ea typeface="Yu Gothic" pitchFamily="34" charset="-122"/>
                <a:cs typeface="Yu Gothic" pitchFamily="34" charset="-120"/>
              </a:rPr>
              <a:t>10.1 kg</a:t>
            </a:r>
            <a:endParaRPr lang="en-US" sz="2800" dirty="0"/>
          </a:p>
        </p:txBody>
      </p:sp>
      <p:sp>
        <p:nvSpPr>
          <p:cNvPr id="18" name="Text 15"/>
          <p:cNvSpPr txBox="1"/>
          <p:nvPr/>
        </p:nvSpPr>
        <p:spPr>
          <a:xfrm>
            <a:off x="9696450" y="4800600"/>
            <a:ext cx="1752600" cy="3429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総質量（CADの材質から計算）</a:t>
            </a:r>
            <a:endParaRPr lang="en-US" sz="1300" dirty="0"/>
          </a:p>
        </p:txBody>
      </p:sp>
      <p:sp>
        <p:nvSpPr>
          <p:cNvPr id="19" name="Text 16"/>
          <p:cNvSpPr txBox="1"/>
          <p:nvPr/>
        </p:nvSpPr>
        <p:spPr>
          <a:xfrm>
            <a:off x="5429250" y="5467350"/>
            <a:ext cx="6134100" cy="5715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座標の約束：胴体の前 = +x、左 = +y、上 = +z（Isaac Labの前提に合わせてCADの出力を回転）</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学習が進むと歩き方が変わる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報酬もロボットも同じ。変わったのはニューラルネットの重みだけ</a:t>
            </a:r>
            <a:endParaRPr lang="en-US" sz="2200" dirty="0"/>
          </a:p>
        </p:txBody>
      </p:sp>
      <p:sp>
        <p:nvSpPr>
          <p:cNvPr id="7" name="Shape 5"/>
          <p:cNvSpPr/>
          <p:nvPr/>
        </p:nvSpPr>
        <p:spPr>
          <a:xfrm>
            <a:off x="628650" y="1905000"/>
            <a:ext cx="3505200" cy="3143250"/>
          </a:xfrm>
          <a:prstGeom prst="rect">
            <a:avLst/>
          </a:prstGeom>
          <a:solidFill>
            <a:srgbClr val="FBF7F3"/>
          </a:solidFill>
          <a:ln w="22225">
            <a:solidFill>
              <a:srgbClr val="E8783F"/>
            </a:solidFill>
            <a:prstDash val="dash"/>
          </a:ln>
        </p:spPr>
      </p:sp>
      <p:sp>
        <p:nvSpPr>
          <p:cNvPr id="8" name="Text 6"/>
          <p:cNvSpPr txBox="1"/>
          <p:nvPr/>
        </p:nvSpPr>
        <p:spPr>
          <a:xfrm>
            <a:off x="762000" y="2019300"/>
            <a:ext cx="32385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9" name="Text 7"/>
          <p:cNvSpPr txBox="1"/>
          <p:nvPr/>
        </p:nvSpPr>
        <p:spPr>
          <a:xfrm>
            <a:off x="762000" y="2305050"/>
            <a:ext cx="3238500" cy="2628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学習初期（〜数十回）の動画。</a:t>
            </a: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立っていられずにすぐ倒れる様子。</a:t>
            </a:r>
            <a:endParaRPr lang="en-US" sz="1300" dirty="0"/>
          </a:p>
          <a:p>
            <a:pPr algn="l" indent="0" marL="0">
              <a:lnSpc>
                <a:spcPct val="110000"/>
              </a:lnSpc>
              <a:buNone/>
            </a:pP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（同じカメラ位置・同じ指令で撮ると比較しやすい。play用スクリプトで各チェックポイントを再生して録画）</a:t>
            </a:r>
            <a:endParaRPr lang="en-US" sz="1300" dirty="0"/>
          </a:p>
        </p:txBody>
      </p:sp>
      <p:sp>
        <p:nvSpPr>
          <p:cNvPr id="10" name="Text 8"/>
          <p:cNvSpPr txBox="1"/>
          <p:nvPr/>
        </p:nvSpPr>
        <p:spPr>
          <a:xfrm>
            <a:off x="628650" y="5219700"/>
            <a:ext cx="381000" cy="3810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1" name="Text 9"/>
          <p:cNvSpPr txBox="1"/>
          <p:nvPr/>
        </p:nvSpPr>
        <p:spPr>
          <a:xfrm>
            <a:off x="1123950" y="5219700"/>
            <a:ext cx="3009900" cy="381000"/>
          </a:xfrm>
          <a:prstGeom prst="rect">
            <a:avLst/>
          </a:prstGeom>
          <a:noFill/>
          <a:ln/>
        </p:spPr>
        <p:txBody>
          <a:bodyPr wrap="square" lIns="0" tIns="0" rIns="0" bIns="0" rtlCol="0" anchor="ctr"/>
          <a:lstStyle/>
          <a:p>
            <a:pPr algn="l" indent="0" marL="0">
              <a:buNone/>
            </a:pPr>
            <a:r>
              <a:rPr lang="en-US" sz="1800" b="1" dirty="0">
                <a:solidFill>
                  <a:srgbClr val="102B46"/>
                </a:solidFill>
                <a:latin typeface="Yu Gothic" pitchFamily="34" charset="0"/>
                <a:ea typeface="Yu Gothic" pitchFamily="34" charset="-122"/>
                <a:cs typeface="Yu Gothic" pitchFamily="34" charset="-120"/>
              </a:rPr>
              <a:t>学習初期（〜数十回）</a:t>
            </a:r>
            <a:endParaRPr lang="en-US" sz="1800" dirty="0"/>
          </a:p>
        </p:txBody>
      </p:sp>
      <p:sp>
        <p:nvSpPr>
          <p:cNvPr id="12" name="Shape 10"/>
          <p:cNvSpPr/>
          <p:nvPr/>
        </p:nvSpPr>
        <p:spPr>
          <a:xfrm>
            <a:off x="4343400" y="1905000"/>
            <a:ext cx="3505200" cy="3143250"/>
          </a:xfrm>
          <a:prstGeom prst="rect">
            <a:avLst/>
          </a:prstGeom>
          <a:solidFill>
            <a:srgbClr val="FBF7F3"/>
          </a:solidFill>
          <a:ln w="22225">
            <a:solidFill>
              <a:srgbClr val="E8783F"/>
            </a:solidFill>
            <a:prstDash val="dash"/>
          </a:ln>
        </p:spPr>
      </p:sp>
      <p:sp>
        <p:nvSpPr>
          <p:cNvPr id="13" name="Text 11"/>
          <p:cNvSpPr txBox="1"/>
          <p:nvPr/>
        </p:nvSpPr>
        <p:spPr>
          <a:xfrm>
            <a:off x="4476750" y="2019300"/>
            <a:ext cx="32385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4" name="Text 12"/>
          <p:cNvSpPr txBox="1"/>
          <p:nvPr/>
        </p:nvSpPr>
        <p:spPr>
          <a:xfrm>
            <a:off x="4476750" y="2305050"/>
            <a:ext cx="3238500" cy="2628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学習途中（〜1000回前後）の動画。</a:t>
            </a: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足を出し始めるが、よろける・横に流れる様子。</a:t>
            </a:r>
            <a:endParaRPr lang="en-US" sz="1300" dirty="0"/>
          </a:p>
          <a:p>
            <a:pPr algn="l" indent="0" marL="0">
              <a:lnSpc>
                <a:spcPct val="110000"/>
              </a:lnSpc>
              <a:buNone/>
            </a:pP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（同じカメラ位置・同じ指令で撮ると比較しやすい。play用スクリプトで各チェックポイントを再生して録画）</a:t>
            </a:r>
            <a:endParaRPr lang="en-US" sz="1300" dirty="0"/>
          </a:p>
        </p:txBody>
      </p:sp>
      <p:sp>
        <p:nvSpPr>
          <p:cNvPr id="15" name="Text 13"/>
          <p:cNvSpPr txBox="1"/>
          <p:nvPr/>
        </p:nvSpPr>
        <p:spPr>
          <a:xfrm>
            <a:off x="4343400" y="5219700"/>
            <a:ext cx="381000" cy="3810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6" name="Text 14"/>
          <p:cNvSpPr txBox="1"/>
          <p:nvPr/>
        </p:nvSpPr>
        <p:spPr>
          <a:xfrm>
            <a:off x="4838700" y="5219700"/>
            <a:ext cx="3009900" cy="381000"/>
          </a:xfrm>
          <a:prstGeom prst="rect">
            <a:avLst/>
          </a:prstGeom>
          <a:noFill/>
          <a:ln/>
        </p:spPr>
        <p:txBody>
          <a:bodyPr wrap="square" lIns="0" tIns="0" rIns="0" bIns="0" rtlCol="0" anchor="ctr"/>
          <a:lstStyle/>
          <a:p>
            <a:pPr algn="l" indent="0" marL="0">
              <a:buNone/>
            </a:pPr>
            <a:r>
              <a:rPr lang="en-US" sz="1800" b="1" dirty="0">
                <a:solidFill>
                  <a:srgbClr val="102B46"/>
                </a:solidFill>
                <a:latin typeface="Yu Gothic" pitchFamily="34" charset="0"/>
                <a:ea typeface="Yu Gothic" pitchFamily="34" charset="-122"/>
                <a:cs typeface="Yu Gothic" pitchFamily="34" charset="-120"/>
              </a:rPr>
              <a:t>学習途中（〜1000回前後）</a:t>
            </a:r>
            <a:endParaRPr lang="en-US" sz="1800" dirty="0"/>
          </a:p>
        </p:txBody>
      </p:sp>
      <p:sp>
        <p:nvSpPr>
          <p:cNvPr id="17" name="Shape 15"/>
          <p:cNvSpPr/>
          <p:nvPr/>
        </p:nvSpPr>
        <p:spPr>
          <a:xfrm>
            <a:off x="8058150" y="1905000"/>
            <a:ext cx="3505200" cy="3143250"/>
          </a:xfrm>
          <a:prstGeom prst="rect">
            <a:avLst/>
          </a:prstGeom>
          <a:solidFill>
            <a:srgbClr val="FBF7F3"/>
          </a:solidFill>
          <a:ln w="22225">
            <a:solidFill>
              <a:srgbClr val="E8783F"/>
            </a:solidFill>
            <a:prstDash val="dash"/>
          </a:ln>
        </p:spPr>
      </p:sp>
      <p:sp>
        <p:nvSpPr>
          <p:cNvPr id="18" name="Text 16"/>
          <p:cNvSpPr txBox="1"/>
          <p:nvPr/>
        </p:nvSpPr>
        <p:spPr>
          <a:xfrm>
            <a:off x="8191500" y="2019300"/>
            <a:ext cx="32385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9" name="Text 17"/>
          <p:cNvSpPr txBox="1"/>
          <p:nvPr/>
        </p:nvSpPr>
        <p:spPr>
          <a:xfrm>
            <a:off x="8191500" y="2305050"/>
            <a:ext cx="3238500" cy="2628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学習後（3000回）の動画。</a:t>
            </a: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速度指令どおりに前へ歩く様子。</a:t>
            </a:r>
            <a:endParaRPr lang="en-US" sz="1300" dirty="0"/>
          </a:p>
          <a:p>
            <a:pPr algn="l" indent="0" marL="0">
              <a:lnSpc>
                <a:spcPct val="110000"/>
              </a:lnSpc>
              <a:buNone/>
            </a:pP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（同じカメラ位置・同じ指令で撮ると比較しやすい。play用スクリプトで各チェックポイントを再生して録画）</a:t>
            </a:r>
            <a:endParaRPr lang="en-US" sz="1300" dirty="0"/>
          </a:p>
        </p:txBody>
      </p:sp>
      <p:sp>
        <p:nvSpPr>
          <p:cNvPr id="20" name="Text 18"/>
          <p:cNvSpPr txBox="1"/>
          <p:nvPr/>
        </p:nvSpPr>
        <p:spPr>
          <a:xfrm>
            <a:off x="8058150" y="5219700"/>
            <a:ext cx="381000" cy="381000"/>
          </a:xfrm>
          <a:prstGeom prst="ellipse">
            <a:avLst/>
          </a:prstGeom>
          <a:solidFill>
            <a:srgbClr val="32A5B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1" name="Text 19"/>
          <p:cNvSpPr txBox="1"/>
          <p:nvPr/>
        </p:nvSpPr>
        <p:spPr>
          <a:xfrm>
            <a:off x="8553450" y="5219700"/>
            <a:ext cx="3009900" cy="381000"/>
          </a:xfrm>
          <a:prstGeom prst="rect">
            <a:avLst/>
          </a:prstGeom>
          <a:noFill/>
          <a:ln/>
        </p:spPr>
        <p:txBody>
          <a:bodyPr wrap="square" lIns="0" tIns="0" rIns="0" bIns="0" rtlCol="0" anchor="ctr"/>
          <a:lstStyle/>
          <a:p>
            <a:pPr algn="l" indent="0" marL="0">
              <a:buNone/>
            </a:pPr>
            <a:r>
              <a:rPr lang="en-US" sz="1800" b="1" dirty="0">
                <a:solidFill>
                  <a:srgbClr val="102B46"/>
                </a:solidFill>
                <a:latin typeface="Yu Gothic" pitchFamily="34" charset="0"/>
                <a:ea typeface="Yu Gothic" pitchFamily="34" charset="-122"/>
                <a:cs typeface="Yu Gothic" pitchFamily="34" charset="-120"/>
              </a:rPr>
              <a:t>学習後（3000回）</a:t>
            </a:r>
            <a:endParaRPr lang="en-US" sz="1800" dirty="0"/>
          </a:p>
        </p:txBody>
      </p:sp>
      <p:sp>
        <p:nvSpPr>
          <p:cNvPr id="22" name="Text 20"/>
          <p:cNvSpPr txBox="1"/>
          <p:nvPr/>
        </p:nvSpPr>
        <p:spPr>
          <a:xfrm>
            <a:off x="628650" y="5829300"/>
            <a:ext cx="10934700" cy="285750"/>
          </a:xfrm>
          <a:prstGeom prst="rect">
            <a:avLst/>
          </a:prstGeom>
          <a:noFill/>
          <a:ln/>
        </p:spPr>
        <p:txBody>
          <a:bodyPr wrap="square" lIns="0" tIns="0" rIns="0" bIns="0" rtlCol="0" anchor="ctr"/>
          <a:lstStyle/>
          <a:p>
            <a:pPr algn="ctr" indent="0" marL="0">
              <a:buNone/>
            </a:pPr>
            <a:r>
              <a:rPr lang="en-US" sz="1500" dirty="0">
                <a:solidFill>
                  <a:srgbClr val="5E6A73"/>
                </a:solidFill>
                <a:latin typeface="Yu Gothic" pitchFamily="34" charset="0"/>
                <a:ea typeface="Yu Gothic" pitchFamily="34" charset="-122"/>
                <a:cs typeface="Yu Gothic" pitchFamily="34" charset="-120"/>
              </a:rPr>
              <a:t>チェックポイントは200回ごとに保存しているので、途中の方策も再生できる</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方策の入力（観測42個）と出力（行動10個）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19200"/>
            <a:ext cx="4381500" cy="285750"/>
          </a:xfrm>
          <a:prstGeom prst="rect">
            <a:avLst/>
          </a:prstGeom>
          <a:noFill/>
          <a:ln/>
        </p:spPr>
        <p:txBody>
          <a:bodyPr wrap="square" lIns="0" tIns="0" rIns="0" bIns="0" rtlCol="0" anchor="ctr"/>
          <a:lstStyle/>
          <a:p>
            <a:pPr algn="l" indent="0" marL="0">
              <a:buNone/>
            </a:pPr>
            <a:r>
              <a:rPr lang="en-US" sz="1800" b="1" dirty="0">
                <a:solidFill>
                  <a:srgbClr val="32A5B5"/>
                </a:solidFill>
                <a:latin typeface="Yu Gothic" pitchFamily="34" charset="0"/>
                <a:ea typeface="Yu Gothic" pitchFamily="34" charset="-122"/>
                <a:cs typeface="Yu Gothic" pitchFamily="34" charset="-120"/>
              </a:rPr>
              <a:t>観測（入力）</a:t>
            </a:r>
            <a:endParaRPr lang="en-US" sz="1800" dirty="0"/>
          </a:p>
        </p:txBody>
      </p:sp>
      <p:sp>
        <p:nvSpPr>
          <p:cNvPr id="7" name="Shape 5"/>
          <p:cNvSpPr/>
          <p:nvPr/>
        </p:nvSpPr>
        <p:spPr>
          <a:xfrm>
            <a:off x="628650" y="1562100"/>
            <a:ext cx="4381500" cy="476250"/>
          </a:xfrm>
          <a:prstGeom prst="rect">
            <a:avLst/>
          </a:prstGeom>
          <a:solidFill>
            <a:srgbClr val="FFFFFF"/>
          </a:solidFill>
          <a:ln w="12700">
            <a:solidFill>
              <a:srgbClr val="B7C7D1"/>
            </a:solidFill>
            <a:prstDash val="solid"/>
          </a:ln>
        </p:spPr>
      </p:sp>
      <p:sp>
        <p:nvSpPr>
          <p:cNvPr id="8" name="Shape 6"/>
          <p:cNvSpPr/>
          <p:nvPr/>
        </p:nvSpPr>
        <p:spPr>
          <a:xfrm>
            <a:off x="628650" y="1562100"/>
            <a:ext cx="76200" cy="476250"/>
          </a:xfrm>
          <a:prstGeom prst="rect">
            <a:avLst/>
          </a:prstGeom>
          <a:solidFill>
            <a:srgbClr val="32A5B5"/>
          </a:solidFill>
          <a:ln/>
        </p:spPr>
      </p:sp>
      <p:sp>
        <p:nvSpPr>
          <p:cNvPr id="9" name="Text 7"/>
          <p:cNvSpPr txBox="1"/>
          <p:nvPr/>
        </p:nvSpPr>
        <p:spPr>
          <a:xfrm>
            <a:off x="819150" y="15621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胴体の速度（前後・左右・上下）</a:t>
            </a:r>
            <a:endParaRPr lang="en-US" sz="1300" dirty="0"/>
          </a:p>
        </p:txBody>
      </p:sp>
      <p:sp>
        <p:nvSpPr>
          <p:cNvPr id="10" name="Text 8"/>
          <p:cNvSpPr txBox="1"/>
          <p:nvPr/>
        </p:nvSpPr>
        <p:spPr>
          <a:xfrm>
            <a:off x="3676650" y="15621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3</a:t>
            </a:r>
            <a:endParaRPr lang="en-US" sz="2000" dirty="0"/>
          </a:p>
        </p:txBody>
      </p:sp>
      <p:sp>
        <p:nvSpPr>
          <p:cNvPr id="11" name="Text 9"/>
          <p:cNvSpPr txBox="1"/>
          <p:nvPr/>
        </p:nvSpPr>
        <p:spPr>
          <a:xfrm>
            <a:off x="4171950" y="1562100"/>
            <a:ext cx="800100" cy="476250"/>
          </a:xfrm>
          <a:prstGeom prst="rect">
            <a:avLst/>
          </a:prstGeom>
          <a:noFill/>
          <a:ln/>
        </p:spPr>
        <p:txBody>
          <a:bodyPr wrap="square" lIns="0" tIns="0" rIns="0" bIns="0" rtlCol="0" anchor="ctr"/>
          <a:lstStyle/>
          <a:p>
            <a:pPr algn="ctr" indent="0" marL="0">
              <a:buNone/>
            </a:pPr>
            <a:r>
              <a:rPr lang="en-US" sz="1200" b="1" dirty="0">
                <a:solidFill>
                  <a:srgbClr val="32A5B5"/>
                </a:solidFill>
                <a:latin typeface="Yu Gothic" pitchFamily="34" charset="0"/>
                <a:ea typeface="Yu Gothic" pitchFamily="34" charset="-122"/>
                <a:cs typeface="Yu Gothic" pitchFamily="34" charset="-120"/>
              </a:rPr>
              <a:t>T265</a:t>
            </a:r>
            <a:endParaRPr lang="en-US" sz="1200" dirty="0"/>
          </a:p>
        </p:txBody>
      </p:sp>
      <p:sp>
        <p:nvSpPr>
          <p:cNvPr id="12" name="Shape 10"/>
          <p:cNvSpPr/>
          <p:nvPr/>
        </p:nvSpPr>
        <p:spPr>
          <a:xfrm>
            <a:off x="628650" y="2133600"/>
            <a:ext cx="4381500" cy="476250"/>
          </a:xfrm>
          <a:prstGeom prst="rect">
            <a:avLst/>
          </a:prstGeom>
          <a:solidFill>
            <a:srgbClr val="FFFFFF"/>
          </a:solidFill>
          <a:ln w="12700">
            <a:solidFill>
              <a:srgbClr val="B7C7D1"/>
            </a:solidFill>
            <a:prstDash val="solid"/>
          </a:ln>
        </p:spPr>
      </p:sp>
      <p:sp>
        <p:nvSpPr>
          <p:cNvPr id="13" name="Shape 11"/>
          <p:cNvSpPr/>
          <p:nvPr/>
        </p:nvSpPr>
        <p:spPr>
          <a:xfrm>
            <a:off x="628650" y="2133600"/>
            <a:ext cx="76200" cy="476250"/>
          </a:xfrm>
          <a:prstGeom prst="rect">
            <a:avLst/>
          </a:prstGeom>
          <a:solidFill>
            <a:srgbClr val="32A5B5"/>
          </a:solidFill>
          <a:ln/>
        </p:spPr>
      </p:sp>
      <p:sp>
        <p:nvSpPr>
          <p:cNvPr id="14" name="Text 12"/>
          <p:cNvSpPr txBox="1"/>
          <p:nvPr/>
        </p:nvSpPr>
        <p:spPr>
          <a:xfrm>
            <a:off x="819150" y="21336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胴体の角速度</a:t>
            </a:r>
            <a:endParaRPr lang="en-US" sz="1300" dirty="0"/>
          </a:p>
        </p:txBody>
      </p:sp>
      <p:sp>
        <p:nvSpPr>
          <p:cNvPr id="15" name="Text 13"/>
          <p:cNvSpPr txBox="1"/>
          <p:nvPr/>
        </p:nvSpPr>
        <p:spPr>
          <a:xfrm>
            <a:off x="3676650" y="21336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3</a:t>
            </a:r>
            <a:endParaRPr lang="en-US" sz="2000" dirty="0"/>
          </a:p>
        </p:txBody>
      </p:sp>
      <p:sp>
        <p:nvSpPr>
          <p:cNvPr id="16" name="Text 14"/>
          <p:cNvSpPr txBox="1"/>
          <p:nvPr/>
        </p:nvSpPr>
        <p:spPr>
          <a:xfrm>
            <a:off x="4171950" y="2133600"/>
            <a:ext cx="800100" cy="476250"/>
          </a:xfrm>
          <a:prstGeom prst="rect">
            <a:avLst/>
          </a:prstGeom>
          <a:noFill/>
          <a:ln/>
        </p:spPr>
        <p:txBody>
          <a:bodyPr wrap="square" lIns="0" tIns="0" rIns="0" bIns="0" rtlCol="0" anchor="ctr"/>
          <a:lstStyle/>
          <a:p>
            <a:pPr algn="ctr" indent="0" marL="0">
              <a:buNone/>
            </a:pPr>
            <a:r>
              <a:rPr lang="en-US" sz="1200" b="1" dirty="0">
                <a:solidFill>
                  <a:srgbClr val="32A5B5"/>
                </a:solidFill>
                <a:latin typeface="Yu Gothic" pitchFamily="34" charset="0"/>
                <a:ea typeface="Yu Gothic" pitchFamily="34" charset="-122"/>
                <a:cs typeface="Yu Gothic" pitchFamily="34" charset="-120"/>
              </a:rPr>
              <a:t>T265</a:t>
            </a:r>
            <a:endParaRPr lang="en-US" sz="1200" dirty="0"/>
          </a:p>
        </p:txBody>
      </p:sp>
      <p:sp>
        <p:nvSpPr>
          <p:cNvPr id="17" name="Shape 15"/>
          <p:cNvSpPr/>
          <p:nvPr/>
        </p:nvSpPr>
        <p:spPr>
          <a:xfrm>
            <a:off x="628650" y="2705100"/>
            <a:ext cx="4381500" cy="476250"/>
          </a:xfrm>
          <a:prstGeom prst="rect">
            <a:avLst/>
          </a:prstGeom>
          <a:solidFill>
            <a:srgbClr val="FFFFFF"/>
          </a:solidFill>
          <a:ln w="12700">
            <a:solidFill>
              <a:srgbClr val="B7C7D1"/>
            </a:solidFill>
            <a:prstDash val="solid"/>
          </a:ln>
        </p:spPr>
      </p:sp>
      <p:sp>
        <p:nvSpPr>
          <p:cNvPr id="18" name="Shape 16"/>
          <p:cNvSpPr/>
          <p:nvPr/>
        </p:nvSpPr>
        <p:spPr>
          <a:xfrm>
            <a:off x="628650" y="2705100"/>
            <a:ext cx="76200" cy="476250"/>
          </a:xfrm>
          <a:prstGeom prst="rect">
            <a:avLst/>
          </a:prstGeom>
          <a:solidFill>
            <a:srgbClr val="32A5B5"/>
          </a:solidFill>
          <a:ln/>
        </p:spPr>
      </p:sp>
      <p:sp>
        <p:nvSpPr>
          <p:cNvPr id="19" name="Text 17"/>
          <p:cNvSpPr txBox="1"/>
          <p:nvPr/>
        </p:nvSpPr>
        <p:spPr>
          <a:xfrm>
            <a:off x="819150" y="27051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重力の向き（胴体から見た傾き）</a:t>
            </a:r>
            <a:endParaRPr lang="en-US" sz="1300" dirty="0"/>
          </a:p>
        </p:txBody>
      </p:sp>
      <p:sp>
        <p:nvSpPr>
          <p:cNvPr id="20" name="Text 18"/>
          <p:cNvSpPr txBox="1"/>
          <p:nvPr/>
        </p:nvSpPr>
        <p:spPr>
          <a:xfrm>
            <a:off x="3676650" y="27051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3</a:t>
            </a:r>
            <a:endParaRPr lang="en-US" sz="2000" dirty="0"/>
          </a:p>
        </p:txBody>
      </p:sp>
      <p:sp>
        <p:nvSpPr>
          <p:cNvPr id="21" name="Text 19"/>
          <p:cNvSpPr txBox="1"/>
          <p:nvPr/>
        </p:nvSpPr>
        <p:spPr>
          <a:xfrm>
            <a:off x="4171950" y="2705100"/>
            <a:ext cx="800100" cy="476250"/>
          </a:xfrm>
          <a:prstGeom prst="rect">
            <a:avLst/>
          </a:prstGeom>
          <a:noFill/>
          <a:ln/>
        </p:spPr>
        <p:txBody>
          <a:bodyPr wrap="square" lIns="0" tIns="0" rIns="0" bIns="0" rtlCol="0" anchor="ctr"/>
          <a:lstStyle/>
          <a:p>
            <a:pPr algn="ctr" indent="0" marL="0">
              <a:buNone/>
            </a:pPr>
            <a:r>
              <a:rPr lang="en-US" sz="1200" b="1" dirty="0">
                <a:solidFill>
                  <a:srgbClr val="32A5B5"/>
                </a:solidFill>
                <a:latin typeface="Yu Gothic" pitchFamily="34" charset="0"/>
                <a:ea typeface="Yu Gothic" pitchFamily="34" charset="-122"/>
                <a:cs typeface="Yu Gothic" pitchFamily="34" charset="-120"/>
              </a:rPr>
              <a:t>T265</a:t>
            </a:r>
            <a:endParaRPr lang="en-US" sz="1200" dirty="0"/>
          </a:p>
        </p:txBody>
      </p:sp>
      <p:sp>
        <p:nvSpPr>
          <p:cNvPr id="22" name="Shape 20"/>
          <p:cNvSpPr/>
          <p:nvPr/>
        </p:nvSpPr>
        <p:spPr>
          <a:xfrm>
            <a:off x="628650" y="3276600"/>
            <a:ext cx="4381500" cy="476250"/>
          </a:xfrm>
          <a:prstGeom prst="rect">
            <a:avLst/>
          </a:prstGeom>
          <a:solidFill>
            <a:srgbClr val="FFFFFF"/>
          </a:solidFill>
          <a:ln w="12700">
            <a:solidFill>
              <a:srgbClr val="B7C7D1"/>
            </a:solidFill>
            <a:prstDash val="solid"/>
          </a:ln>
        </p:spPr>
      </p:sp>
      <p:sp>
        <p:nvSpPr>
          <p:cNvPr id="23" name="Shape 21"/>
          <p:cNvSpPr/>
          <p:nvPr/>
        </p:nvSpPr>
        <p:spPr>
          <a:xfrm>
            <a:off x="628650" y="3276600"/>
            <a:ext cx="76200" cy="476250"/>
          </a:xfrm>
          <a:prstGeom prst="rect">
            <a:avLst/>
          </a:prstGeom>
          <a:solidFill>
            <a:srgbClr val="1C5A85"/>
          </a:solidFill>
          <a:ln/>
        </p:spPr>
      </p:sp>
      <p:sp>
        <p:nvSpPr>
          <p:cNvPr id="24" name="Text 22"/>
          <p:cNvSpPr txBox="1"/>
          <p:nvPr/>
        </p:nvSpPr>
        <p:spPr>
          <a:xfrm>
            <a:off x="819150" y="32766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速度指令（前後・左右・旋回）</a:t>
            </a:r>
            <a:endParaRPr lang="en-US" sz="1300" dirty="0"/>
          </a:p>
        </p:txBody>
      </p:sp>
      <p:sp>
        <p:nvSpPr>
          <p:cNvPr id="25" name="Text 23"/>
          <p:cNvSpPr txBox="1"/>
          <p:nvPr/>
        </p:nvSpPr>
        <p:spPr>
          <a:xfrm>
            <a:off x="3676650" y="32766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3</a:t>
            </a:r>
            <a:endParaRPr lang="en-US" sz="2000" dirty="0"/>
          </a:p>
        </p:txBody>
      </p:sp>
      <p:sp>
        <p:nvSpPr>
          <p:cNvPr id="26" name="Text 24"/>
          <p:cNvSpPr txBox="1"/>
          <p:nvPr/>
        </p:nvSpPr>
        <p:spPr>
          <a:xfrm>
            <a:off x="4171950" y="3276600"/>
            <a:ext cx="800100" cy="476250"/>
          </a:xfrm>
          <a:prstGeom prst="rect">
            <a:avLst/>
          </a:prstGeom>
          <a:noFill/>
          <a:ln/>
        </p:spPr>
        <p:txBody>
          <a:bodyPr wrap="square" lIns="0" tIns="0" rIns="0" bIns="0" rtlCol="0" anchor="ctr"/>
          <a:lstStyle/>
          <a:p>
            <a:pPr algn="ctr" indent="0" marL="0">
              <a:buNone/>
            </a:pPr>
            <a:r>
              <a:rPr lang="en-US" sz="1200" b="1" dirty="0">
                <a:solidFill>
                  <a:srgbClr val="1C5A85"/>
                </a:solidFill>
                <a:latin typeface="Yu Gothic" pitchFamily="34" charset="0"/>
                <a:ea typeface="Yu Gothic" pitchFamily="34" charset="-122"/>
                <a:cs typeface="Yu Gothic" pitchFamily="34" charset="-120"/>
              </a:rPr>
              <a:t>指令</a:t>
            </a:r>
            <a:endParaRPr lang="en-US" sz="1200" dirty="0"/>
          </a:p>
        </p:txBody>
      </p:sp>
      <p:sp>
        <p:nvSpPr>
          <p:cNvPr id="27" name="Shape 25"/>
          <p:cNvSpPr/>
          <p:nvPr/>
        </p:nvSpPr>
        <p:spPr>
          <a:xfrm>
            <a:off x="628650" y="3848100"/>
            <a:ext cx="4381500" cy="476250"/>
          </a:xfrm>
          <a:prstGeom prst="rect">
            <a:avLst/>
          </a:prstGeom>
          <a:solidFill>
            <a:srgbClr val="FFFFFF"/>
          </a:solidFill>
          <a:ln w="12700">
            <a:solidFill>
              <a:srgbClr val="B7C7D1"/>
            </a:solidFill>
            <a:prstDash val="solid"/>
          </a:ln>
        </p:spPr>
      </p:sp>
      <p:sp>
        <p:nvSpPr>
          <p:cNvPr id="28" name="Shape 26"/>
          <p:cNvSpPr/>
          <p:nvPr/>
        </p:nvSpPr>
        <p:spPr>
          <a:xfrm>
            <a:off x="628650" y="3848100"/>
            <a:ext cx="76200" cy="476250"/>
          </a:xfrm>
          <a:prstGeom prst="rect">
            <a:avLst/>
          </a:prstGeom>
          <a:solidFill>
            <a:srgbClr val="E8783F"/>
          </a:solidFill>
          <a:ln/>
        </p:spPr>
      </p:sp>
      <p:sp>
        <p:nvSpPr>
          <p:cNvPr id="29" name="Text 27"/>
          <p:cNvSpPr txBox="1"/>
          <p:nvPr/>
        </p:nvSpPr>
        <p:spPr>
          <a:xfrm>
            <a:off x="819150" y="38481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10関節の角度（基準姿勢からのずれ）</a:t>
            </a:r>
            <a:endParaRPr lang="en-US" sz="1300" dirty="0"/>
          </a:p>
        </p:txBody>
      </p:sp>
      <p:sp>
        <p:nvSpPr>
          <p:cNvPr id="30" name="Text 28"/>
          <p:cNvSpPr txBox="1"/>
          <p:nvPr/>
        </p:nvSpPr>
        <p:spPr>
          <a:xfrm>
            <a:off x="3676650" y="38481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10</a:t>
            </a:r>
            <a:endParaRPr lang="en-US" sz="2000" dirty="0"/>
          </a:p>
        </p:txBody>
      </p:sp>
      <p:sp>
        <p:nvSpPr>
          <p:cNvPr id="31" name="Text 29"/>
          <p:cNvSpPr txBox="1"/>
          <p:nvPr/>
        </p:nvSpPr>
        <p:spPr>
          <a:xfrm>
            <a:off x="4171950" y="3848100"/>
            <a:ext cx="800100" cy="476250"/>
          </a:xfrm>
          <a:prstGeom prst="rect">
            <a:avLst/>
          </a:prstGeom>
          <a:noFill/>
          <a:ln/>
        </p:spPr>
        <p:txBody>
          <a:bodyPr wrap="square" lIns="0" tIns="0" rIns="0" bIns="0" rtlCol="0" anchor="ctr"/>
          <a:lstStyle/>
          <a:p>
            <a:pPr algn="ctr" indent="0" marL="0">
              <a:buNone/>
            </a:pPr>
            <a:r>
              <a:rPr lang="en-US" sz="1200" b="1" dirty="0">
                <a:solidFill>
                  <a:srgbClr val="E8783F"/>
                </a:solidFill>
                <a:latin typeface="Yu Gothic" pitchFamily="34" charset="0"/>
                <a:ea typeface="Yu Gothic" pitchFamily="34" charset="-122"/>
                <a:cs typeface="Yu Gothic" pitchFamily="34" charset="-120"/>
              </a:rPr>
              <a:t>モーター</a:t>
            </a:r>
            <a:endParaRPr lang="en-US" sz="1200" dirty="0"/>
          </a:p>
        </p:txBody>
      </p:sp>
      <p:sp>
        <p:nvSpPr>
          <p:cNvPr id="32" name="Shape 30"/>
          <p:cNvSpPr/>
          <p:nvPr/>
        </p:nvSpPr>
        <p:spPr>
          <a:xfrm>
            <a:off x="628650" y="4419600"/>
            <a:ext cx="4381500" cy="476250"/>
          </a:xfrm>
          <a:prstGeom prst="rect">
            <a:avLst/>
          </a:prstGeom>
          <a:solidFill>
            <a:srgbClr val="FFFFFF"/>
          </a:solidFill>
          <a:ln w="12700">
            <a:solidFill>
              <a:srgbClr val="B7C7D1"/>
            </a:solidFill>
            <a:prstDash val="solid"/>
          </a:ln>
        </p:spPr>
      </p:sp>
      <p:sp>
        <p:nvSpPr>
          <p:cNvPr id="33" name="Shape 31"/>
          <p:cNvSpPr/>
          <p:nvPr/>
        </p:nvSpPr>
        <p:spPr>
          <a:xfrm>
            <a:off x="628650" y="4419600"/>
            <a:ext cx="76200" cy="476250"/>
          </a:xfrm>
          <a:prstGeom prst="rect">
            <a:avLst/>
          </a:prstGeom>
          <a:solidFill>
            <a:srgbClr val="E8783F"/>
          </a:solidFill>
          <a:ln/>
        </p:spPr>
      </p:sp>
      <p:sp>
        <p:nvSpPr>
          <p:cNvPr id="34" name="Text 32"/>
          <p:cNvSpPr txBox="1"/>
          <p:nvPr/>
        </p:nvSpPr>
        <p:spPr>
          <a:xfrm>
            <a:off x="819150" y="44196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10関節の角速度</a:t>
            </a:r>
            <a:endParaRPr lang="en-US" sz="1300" dirty="0"/>
          </a:p>
        </p:txBody>
      </p:sp>
      <p:sp>
        <p:nvSpPr>
          <p:cNvPr id="35" name="Text 33"/>
          <p:cNvSpPr txBox="1"/>
          <p:nvPr/>
        </p:nvSpPr>
        <p:spPr>
          <a:xfrm>
            <a:off x="3676650" y="44196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10</a:t>
            </a:r>
            <a:endParaRPr lang="en-US" sz="2000" dirty="0"/>
          </a:p>
        </p:txBody>
      </p:sp>
      <p:sp>
        <p:nvSpPr>
          <p:cNvPr id="36" name="Text 34"/>
          <p:cNvSpPr txBox="1"/>
          <p:nvPr/>
        </p:nvSpPr>
        <p:spPr>
          <a:xfrm>
            <a:off x="4171950" y="4419600"/>
            <a:ext cx="800100" cy="476250"/>
          </a:xfrm>
          <a:prstGeom prst="rect">
            <a:avLst/>
          </a:prstGeom>
          <a:noFill/>
          <a:ln/>
        </p:spPr>
        <p:txBody>
          <a:bodyPr wrap="square" lIns="0" tIns="0" rIns="0" bIns="0" rtlCol="0" anchor="ctr"/>
          <a:lstStyle/>
          <a:p>
            <a:pPr algn="ctr" indent="0" marL="0">
              <a:buNone/>
            </a:pPr>
            <a:r>
              <a:rPr lang="en-US" sz="1200" b="1" dirty="0">
                <a:solidFill>
                  <a:srgbClr val="E8783F"/>
                </a:solidFill>
                <a:latin typeface="Yu Gothic" pitchFamily="34" charset="0"/>
                <a:ea typeface="Yu Gothic" pitchFamily="34" charset="-122"/>
                <a:cs typeface="Yu Gothic" pitchFamily="34" charset="-120"/>
              </a:rPr>
              <a:t>モーター</a:t>
            </a:r>
            <a:endParaRPr lang="en-US" sz="1200" dirty="0"/>
          </a:p>
        </p:txBody>
      </p:sp>
      <p:sp>
        <p:nvSpPr>
          <p:cNvPr id="37" name="Shape 35"/>
          <p:cNvSpPr/>
          <p:nvPr/>
        </p:nvSpPr>
        <p:spPr>
          <a:xfrm>
            <a:off x="628650" y="4991100"/>
            <a:ext cx="4381500" cy="476250"/>
          </a:xfrm>
          <a:prstGeom prst="rect">
            <a:avLst/>
          </a:prstGeom>
          <a:solidFill>
            <a:srgbClr val="FFFFFF"/>
          </a:solidFill>
          <a:ln w="12700">
            <a:solidFill>
              <a:srgbClr val="B7C7D1"/>
            </a:solidFill>
            <a:prstDash val="solid"/>
          </a:ln>
        </p:spPr>
      </p:sp>
      <p:sp>
        <p:nvSpPr>
          <p:cNvPr id="38" name="Shape 36"/>
          <p:cNvSpPr/>
          <p:nvPr/>
        </p:nvSpPr>
        <p:spPr>
          <a:xfrm>
            <a:off x="628650" y="4991100"/>
            <a:ext cx="76200" cy="476250"/>
          </a:xfrm>
          <a:prstGeom prst="rect">
            <a:avLst/>
          </a:prstGeom>
          <a:solidFill>
            <a:srgbClr val="5E6A73"/>
          </a:solidFill>
          <a:ln/>
        </p:spPr>
      </p:sp>
      <p:sp>
        <p:nvSpPr>
          <p:cNvPr id="39" name="Text 37"/>
          <p:cNvSpPr txBox="1"/>
          <p:nvPr/>
        </p:nvSpPr>
        <p:spPr>
          <a:xfrm>
            <a:off x="819150" y="4991100"/>
            <a:ext cx="2857500" cy="476250"/>
          </a:xfrm>
          <a:prstGeom prst="rect">
            <a:avLst/>
          </a:prstGeom>
          <a:noFill/>
          <a:ln/>
        </p:spPr>
        <p:txBody>
          <a:bodyPr wrap="square" lIns="0" tIns="0" rIns="0" bIns="0" rtlCol="0" anchor="ctr"/>
          <a:lstStyle/>
          <a:p>
            <a:pPr algn="l" indent="0" marL="0">
              <a:buNone/>
            </a:pPr>
            <a:r>
              <a:rPr lang="en-US" sz="1300" dirty="0">
                <a:solidFill>
                  <a:srgbClr val="17212B"/>
                </a:solidFill>
                <a:latin typeface="Yu Gothic" pitchFamily="34" charset="0"/>
                <a:ea typeface="Yu Gothic" pitchFamily="34" charset="-122"/>
                <a:cs typeface="Yu Gothic" pitchFamily="34" charset="-120"/>
              </a:rPr>
              <a:t>1つ前に出した行動</a:t>
            </a:r>
            <a:endParaRPr lang="en-US" sz="1300" dirty="0"/>
          </a:p>
        </p:txBody>
      </p:sp>
      <p:sp>
        <p:nvSpPr>
          <p:cNvPr id="40" name="Text 38"/>
          <p:cNvSpPr txBox="1"/>
          <p:nvPr/>
        </p:nvSpPr>
        <p:spPr>
          <a:xfrm>
            <a:off x="3676650" y="4991100"/>
            <a:ext cx="419100" cy="476250"/>
          </a:xfrm>
          <a:prstGeom prst="rect">
            <a:avLst/>
          </a:prstGeom>
          <a:noFill/>
          <a:ln/>
        </p:spPr>
        <p:txBody>
          <a:bodyPr wrap="square" lIns="0" tIns="0" rIns="0" bIns="0" rtlCol="0" anchor="ctr"/>
          <a:lstStyle/>
          <a:p>
            <a:pPr algn="r" indent="0" marL="0">
              <a:buNone/>
            </a:pPr>
            <a:r>
              <a:rPr lang="en-US" sz="2000" b="1" dirty="0">
                <a:solidFill>
                  <a:srgbClr val="102B46"/>
                </a:solidFill>
                <a:latin typeface="Yu Gothic" pitchFamily="34" charset="0"/>
                <a:ea typeface="Yu Gothic" pitchFamily="34" charset="-122"/>
                <a:cs typeface="Yu Gothic" pitchFamily="34" charset="-120"/>
              </a:rPr>
              <a:t>10</a:t>
            </a:r>
            <a:endParaRPr lang="en-US" sz="2000" dirty="0"/>
          </a:p>
        </p:txBody>
      </p:sp>
      <p:sp>
        <p:nvSpPr>
          <p:cNvPr id="41" name="Text 39"/>
          <p:cNvSpPr txBox="1"/>
          <p:nvPr/>
        </p:nvSpPr>
        <p:spPr>
          <a:xfrm>
            <a:off x="4171950" y="4991100"/>
            <a:ext cx="800100" cy="476250"/>
          </a:xfrm>
          <a:prstGeom prst="rect">
            <a:avLst/>
          </a:prstGeom>
          <a:noFill/>
          <a:ln/>
        </p:spPr>
        <p:txBody>
          <a:bodyPr wrap="square" lIns="0" tIns="0" rIns="0" bIns="0" rtlCol="0" anchor="ctr"/>
          <a:lstStyle/>
          <a:p>
            <a:pPr algn="ctr" indent="0" marL="0">
              <a:buNone/>
            </a:pPr>
            <a:r>
              <a:rPr lang="en-US" sz="1200" b="1" dirty="0">
                <a:solidFill>
                  <a:srgbClr val="5E6A73"/>
                </a:solidFill>
                <a:latin typeface="Yu Gothic" pitchFamily="34" charset="0"/>
                <a:ea typeface="Yu Gothic" pitchFamily="34" charset="-122"/>
                <a:cs typeface="Yu Gothic" pitchFamily="34" charset="-120"/>
              </a:rPr>
              <a:t>自分の出力</a:t>
            </a:r>
            <a:endParaRPr lang="en-US" sz="1200" dirty="0"/>
          </a:p>
        </p:txBody>
      </p:sp>
      <p:sp>
        <p:nvSpPr>
          <p:cNvPr id="42" name="Text 40"/>
          <p:cNvSpPr txBox="1"/>
          <p:nvPr/>
        </p:nvSpPr>
        <p:spPr>
          <a:xfrm>
            <a:off x="628650" y="5619750"/>
            <a:ext cx="4381500" cy="285750"/>
          </a:xfrm>
          <a:prstGeom prst="rect">
            <a:avLst/>
          </a:prstGeom>
          <a:noFill/>
          <a:ln/>
        </p:spPr>
        <p:txBody>
          <a:bodyPr wrap="square" lIns="0" tIns="0" rIns="0" bIns="0" rtlCol="0" anchor="ctr"/>
          <a:lstStyle/>
          <a:p>
            <a:pPr algn="r" indent="0" marL="0">
              <a:buNone/>
            </a:pPr>
            <a:r>
              <a:rPr lang="en-US" sz="1800" b="1" dirty="0">
                <a:solidFill>
                  <a:srgbClr val="102B46"/>
                </a:solidFill>
                <a:latin typeface="Yu Gothic" pitchFamily="34" charset="0"/>
                <a:ea typeface="Yu Gothic" pitchFamily="34" charset="-122"/>
                <a:cs typeface="Yu Gothic" pitchFamily="34" charset="-120"/>
              </a:rPr>
              <a:t>合計 42</a:t>
            </a:r>
            <a:endParaRPr lang="en-US" sz="1800" dirty="0"/>
          </a:p>
        </p:txBody>
      </p:sp>
      <p:sp>
        <p:nvSpPr>
          <p:cNvPr id="43" name="Shape 41"/>
          <p:cNvSpPr/>
          <p:nvPr/>
        </p:nvSpPr>
        <p:spPr>
          <a:xfrm>
            <a:off x="5086350" y="3619500"/>
            <a:ext cx="628650" cy="95"/>
          </a:xfrm>
          <a:prstGeom prst="line">
            <a:avLst/>
          </a:prstGeom>
          <a:noFill/>
          <a:ln w="38100">
            <a:solidFill>
              <a:srgbClr val="1C5A85"/>
            </a:solidFill>
            <a:prstDash val="solid"/>
            <a:tailEnd type="triangle"/>
          </a:ln>
        </p:spPr>
      </p:sp>
      <p:sp>
        <p:nvSpPr>
          <p:cNvPr id="44" name="Shape 42"/>
          <p:cNvSpPr/>
          <p:nvPr/>
        </p:nvSpPr>
        <p:spPr>
          <a:xfrm>
            <a:off x="5772150" y="2190750"/>
            <a:ext cx="2381250" cy="2857500"/>
          </a:xfrm>
          <a:prstGeom prst="roundRect">
            <a:avLst>
              <a:gd name="adj" fmla="val 3840"/>
            </a:avLst>
          </a:prstGeom>
          <a:solidFill>
            <a:srgbClr val="1C5A85"/>
          </a:solidFill>
          <a:ln/>
        </p:spPr>
      </p:sp>
      <p:sp>
        <p:nvSpPr>
          <p:cNvPr id="45" name="Text 43"/>
          <p:cNvSpPr txBox="1"/>
          <p:nvPr/>
        </p:nvSpPr>
        <p:spPr>
          <a:xfrm>
            <a:off x="5772150" y="2343150"/>
            <a:ext cx="2381250" cy="323850"/>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方策（NN）</a:t>
            </a:r>
            <a:endParaRPr lang="en-US" sz="2000" dirty="0"/>
          </a:p>
        </p:txBody>
      </p:sp>
      <p:sp>
        <p:nvSpPr>
          <p:cNvPr id="46" name="Text 44"/>
          <p:cNvSpPr txBox="1"/>
          <p:nvPr/>
        </p:nvSpPr>
        <p:spPr>
          <a:xfrm>
            <a:off x="5962650" y="2781300"/>
            <a:ext cx="2000250" cy="323850"/>
          </a:xfrm>
          <a:prstGeom prst="rect">
            <a:avLst/>
          </a:prstGeom>
          <a:solidFill>
            <a:srgbClr val="2D6E9C"/>
          </a:solidFill>
          <a:ln/>
        </p:spPr>
        <p:txBody>
          <a:bodyPr wrap="square" lIns="0" tIns="0" rIns="0" bIns="0" rtlCol="0" anchor="ctr"/>
          <a:lstStyle/>
          <a:p>
            <a:pPr algn="ctr" indent="0" marL="0">
              <a:buNone/>
            </a:pPr>
            <a:r>
              <a:rPr lang="en-US" sz="1400" dirty="0">
                <a:solidFill>
                  <a:srgbClr val="FFFFFF"/>
                </a:solidFill>
                <a:latin typeface="Yu Gothic" pitchFamily="34" charset="0"/>
                <a:ea typeface="Yu Gothic" pitchFamily="34" charset="-122"/>
                <a:cs typeface="Yu Gothic" pitchFamily="34" charset="-120"/>
              </a:rPr>
              <a:t>42  入力</a:t>
            </a:r>
            <a:endParaRPr lang="en-US" sz="1400" dirty="0"/>
          </a:p>
        </p:txBody>
      </p:sp>
      <p:sp>
        <p:nvSpPr>
          <p:cNvPr id="47" name="Text 45"/>
          <p:cNvSpPr txBox="1"/>
          <p:nvPr/>
        </p:nvSpPr>
        <p:spPr>
          <a:xfrm>
            <a:off x="5962650" y="3219450"/>
            <a:ext cx="2000250" cy="323850"/>
          </a:xfrm>
          <a:prstGeom prst="rect">
            <a:avLst/>
          </a:prstGeom>
          <a:solidFill>
            <a:srgbClr val="235F8A"/>
          </a:solidFill>
          <a:ln/>
        </p:spPr>
        <p:txBody>
          <a:bodyPr wrap="square" lIns="0" tIns="0" rIns="0" bIns="0" rtlCol="0" anchor="ctr"/>
          <a:lstStyle/>
          <a:p>
            <a:pPr algn="ctr" indent="0" marL="0">
              <a:buNone/>
            </a:pPr>
            <a:r>
              <a:rPr lang="en-US" sz="1400" dirty="0">
                <a:solidFill>
                  <a:srgbClr val="FFFFFF"/>
                </a:solidFill>
                <a:latin typeface="Yu Gothic" pitchFamily="34" charset="0"/>
                <a:ea typeface="Yu Gothic" pitchFamily="34" charset="-122"/>
                <a:cs typeface="Yu Gothic" pitchFamily="34" charset="-120"/>
              </a:rPr>
              <a:t>512  ニューロン</a:t>
            </a:r>
            <a:endParaRPr lang="en-US" sz="1400" dirty="0"/>
          </a:p>
        </p:txBody>
      </p:sp>
      <p:sp>
        <p:nvSpPr>
          <p:cNvPr id="48" name="Text 46"/>
          <p:cNvSpPr txBox="1"/>
          <p:nvPr/>
        </p:nvSpPr>
        <p:spPr>
          <a:xfrm>
            <a:off x="5962650" y="3657600"/>
            <a:ext cx="2000250" cy="323850"/>
          </a:xfrm>
          <a:prstGeom prst="rect">
            <a:avLst/>
          </a:prstGeom>
          <a:solidFill>
            <a:srgbClr val="235F8A"/>
          </a:solidFill>
          <a:ln/>
        </p:spPr>
        <p:txBody>
          <a:bodyPr wrap="square" lIns="0" tIns="0" rIns="0" bIns="0" rtlCol="0" anchor="ctr"/>
          <a:lstStyle/>
          <a:p>
            <a:pPr algn="ctr" indent="0" marL="0">
              <a:buNone/>
            </a:pPr>
            <a:r>
              <a:rPr lang="en-US" sz="1400" dirty="0">
                <a:solidFill>
                  <a:srgbClr val="FFFFFF"/>
                </a:solidFill>
                <a:latin typeface="Yu Gothic" pitchFamily="34" charset="0"/>
                <a:ea typeface="Yu Gothic" pitchFamily="34" charset="-122"/>
                <a:cs typeface="Yu Gothic" pitchFamily="34" charset="-120"/>
              </a:rPr>
              <a:t>256  ニューロン</a:t>
            </a:r>
            <a:endParaRPr lang="en-US" sz="1400" dirty="0"/>
          </a:p>
        </p:txBody>
      </p:sp>
      <p:sp>
        <p:nvSpPr>
          <p:cNvPr id="49" name="Text 47"/>
          <p:cNvSpPr txBox="1"/>
          <p:nvPr/>
        </p:nvSpPr>
        <p:spPr>
          <a:xfrm>
            <a:off x="5962650" y="4095750"/>
            <a:ext cx="2000250" cy="323850"/>
          </a:xfrm>
          <a:prstGeom prst="rect">
            <a:avLst/>
          </a:prstGeom>
          <a:solidFill>
            <a:srgbClr val="235F8A"/>
          </a:solidFill>
          <a:ln/>
        </p:spPr>
        <p:txBody>
          <a:bodyPr wrap="square" lIns="0" tIns="0" rIns="0" bIns="0" rtlCol="0" anchor="ctr"/>
          <a:lstStyle/>
          <a:p>
            <a:pPr algn="ctr" indent="0" marL="0">
              <a:buNone/>
            </a:pPr>
            <a:r>
              <a:rPr lang="en-US" sz="1400" dirty="0">
                <a:solidFill>
                  <a:srgbClr val="FFFFFF"/>
                </a:solidFill>
                <a:latin typeface="Yu Gothic" pitchFamily="34" charset="0"/>
                <a:ea typeface="Yu Gothic" pitchFamily="34" charset="-122"/>
                <a:cs typeface="Yu Gothic" pitchFamily="34" charset="-120"/>
              </a:rPr>
              <a:t>128  ニューロン</a:t>
            </a:r>
            <a:endParaRPr lang="en-US" sz="1400" dirty="0"/>
          </a:p>
        </p:txBody>
      </p:sp>
      <p:sp>
        <p:nvSpPr>
          <p:cNvPr id="50" name="Text 48"/>
          <p:cNvSpPr txBox="1"/>
          <p:nvPr/>
        </p:nvSpPr>
        <p:spPr>
          <a:xfrm>
            <a:off x="5962650" y="4533900"/>
            <a:ext cx="2000250" cy="323850"/>
          </a:xfrm>
          <a:prstGeom prst="rect">
            <a:avLst/>
          </a:prstGeom>
          <a:solidFill>
            <a:srgbClr val="2D6E9C"/>
          </a:solidFill>
          <a:ln/>
        </p:spPr>
        <p:txBody>
          <a:bodyPr wrap="square" lIns="0" tIns="0" rIns="0" bIns="0" rtlCol="0" anchor="ctr"/>
          <a:lstStyle/>
          <a:p>
            <a:pPr algn="ctr" indent="0" marL="0">
              <a:buNone/>
            </a:pPr>
            <a:r>
              <a:rPr lang="en-US" sz="1400" dirty="0">
                <a:solidFill>
                  <a:srgbClr val="FFFFFF"/>
                </a:solidFill>
                <a:latin typeface="Yu Gothic" pitchFamily="34" charset="0"/>
                <a:ea typeface="Yu Gothic" pitchFamily="34" charset="-122"/>
                <a:cs typeface="Yu Gothic" pitchFamily="34" charset="-120"/>
              </a:rPr>
              <a:t>10  出力</a:t>
            </a:r>
            <a:endParaRPr lang="en-US" sz="1400" dirty="0"/>
          </a:p>
        </p:txBody>
      </p:sp>
      <p:sp>
        <p:nvSpPr>
          <p:cNvPr id="51" name="Text 49"/>
          <p:cNvSpPr txBox="1"/>
          <p:nvPr/>
        </p:nvSpPr>
        <p:spPr>
          <a:xfrm>
            <a:off x="5772150" y="5143500"/>
            <a:ext cx="2381250" cy="247650"/>
          </a:xfrm>
          <a:prstGeom prst="rect">
            <a:avLst/>
          </a:prstGeom>
          <a:noFill/>
          <a:ln/>
        </p:spPr>
        <p:txBody>
          <a:bodyPr wrap="square" lIns="0" tIns="0" rIns="0" bIns="0" rtlCol="0" anchor="ctr"/>
          <a:lstStyle/>
          <a:p>
            <a:pPr algn="ctr" indent="0" marL="0">
              <a:buNone/>
            </a:pPr>
            <a:r>
              <a:rPr lang="en-US" sz="1200" dirty="0">
                <a:solidFill>
                  <a:srgbClr val="5E6A73"/>
                </a:solidFill>
                <a:latin typeface="Yu Gothic" pitchFamily="34" charset="0"/>
                <a:ea typeface="Yu Gothic" pitchFamily="34" charset="-122"/>
                <a:cs typeface="Yu Gothic" pitchFamily="34" charset="-120"/>
              </a:rPr>
              <a:t>全結合 3層・活性化関数 ELU</a:t>
            </a:r>
            <a:endParaRPr lang="en-US" sz="1200" dirty="0"/>
          </a:p>
        </p:txBody>
      </p:sp>
      <p:sp>
        <p:nvSpPr>
          <p:cNvPr id="52" name="Shape 50"/>
          <p:cNvSpPr/>
          <p:nvPr/>
        </p:nvSpPr>
        <p:spPr>
          <a:xfrm>
            <a:off x="8210550" y="3619500"/>
            <a:ext cx="571500" cy="95"/>
          </a:xfrm>
          <a:prstGeom prst="line">
            <a:avLst/>
          </a:prstGeom>
          <a:noFill/>
          <a:ln w="38100">
            <a:solidFill>
              <a:srgbClr val="1C5A85"/>
            </a:solidFill>
            <a:prstDash val="solid"/>
            <a:tailEnd type="triangle"/>
          </a:ln>
        </p:spPr>
      </p:sp>
      <p:sp>
        <p:nvSpPr>
          <p:cNvPr id="53" name="Text 51"/>
          <p:cNvSpPr txBox="1"/>
          <p:nvPr/>
        </p:nvSpPr>
        <p:spPr>
          <a:xfrm>
            <a:off x="8858250" y="1219200"/>
            <a:ext cx="2705100" cy="285750"/>
          </a:xfrm>
          <a:prstGeom prst="rect">
            <a:avLst/>
          </a:prstGeom>
          <a:noFill/>
          <a:ln/>
        </p:spPr>
        <p:txBody>
          <a:bodyPr wrap="square" lIns="0" tIns="0" rIns="0" bIns="0" rtlCol="0" anchor="ctr"/>
          <a:lstStyle/>
          <a:p>
            <a:pPr algn="l" indent="0" marL="0">
              <a:buNone/>
            </a:pPr>
            <a:r>
              <a:rPr lang="en-US" sz="1800" b="1" dirty="0">
                <a:solidFill>
                  <a:srgbClr val="E8783F"/>
                </a:solidFill>
                <a:latin typeface="Yu Gothic" pitchFamily="34" charset="0"/>
                <a:ea typeface="Yu Gothic" pitchFamily="34" charset="-122"/>
                <a:cs typeface="Yu Gothic" pitchFamily="34" charset="-120"/>
              </a:rPr>
              <a:t>行動（出力）</a:t>
            </a:r>
            <a:endParaRPr lang="en-US" sz="1800" dirty="0"/>
          </a:p>
        </p:txBody>
      </p:sp>
      <p:sp>
        <p:nvSpPr>
          <p:cNvPr id="54" name="Shape 52"/>
          <p:cNvSpPr/>
          <p:nvPr/>
        </p:nvSpPr>
        <p:spPr>
          <a:xfrm>
            <a:off x="8858250" y="1562100"/>
            <a:ext cx="2705100" cy="1619250"/>
          </a:xfrm>
          <a:prstGeom prst="rect">
            <a:avLst/>
          </a:prstGeom>
          <a:solidFill>
            <a:srgbClr val="F3EEE6"/>
          </a:solidFill>
          <a:ln w="12700">
            <a:solidFill>
              <a:srgbClr val="E8783F"/>
            </a:solidFill>
            <a:prstDash val="solid"/>
          </a:ln>
        </p:spPr>
      </p:sp>
      <p:sp>
        <p:nvSpPr>
          <p:cNvPr id="55" name="Text 53"/>
          <p:cNvSpPr txBox="1"/>
          <p:nvPr/>
        </p:nvSpPr>
        <p:spPr>
          <a:xfrm>
            <a:off x="9010650" y="1676400"/>
            <a:ext cx="2400300" cy="285750"/>
          </a:xfrm>
          <a:prstGeom prst="rect">
            <a:avLst/>
          </a:prstGeom>
          <a:noFill/>
          <a:ln/>
        </p:spPr>
        <p:txBody>
          <a:bodyPr wrap="square" lIns="0" tIns="0" rIns="0" bIns="0" rtlCol="0" anchor="ctr"/>
          <a:lstStyle/>
          <a:p>
            <a:pPr algn="l" indent="0" marL="0">
              <a:buNone/>
            </a:pPr>
            <a:r>
              <a:rPr lang="en-US" sz="1800" b="1" dirty="0">
                <a:solidFill>
                  <a:srgbClr val="102B46"/>
                </a:solidFill>
                <a:latin typeface="Yu Gothic" pitchFamily="34" charset="0"/>
                <a:ea typeface="Yu Gothic" pitchFamily="34" charset="-122"/>
                <a:cs typeface="Yu Gothic" pitchFamily="34" charset="-120"/>
              </a:rPr>
              <a:t>10関節の目標角</a:t>
            </a:r>
            <a:endParaRPr lang="en-US" sz="1800" dirty="0"/>
          </a:p>
        </p:txBody>
      </p:sp>
      <p:sp>
        <p:nvSpPr>
          <p:cNvPr id="56" name="Text 54"/>
          <p:cNvSpPr txBox="1"/>
          <p:nvPr/>
        </p:nvSpPr>
        <p:spPr>
          <a:xfrm>
            <a:off x="9010650" y="2019300"/>
            <a:ext cx="2400300" cy="381000"/>
          </a:xfrm>
          <a:prstGeom prst="rect">
            <a:avLst/>
          </a:prstGeom>
          <a:noFill/>
          <a:ln/>
        </p:spPr>
        <p:txBody>
          <a:bodyPr wrap="square" lIns="0" tIns="0" rIns="0" bIns="0" rtlCol="0" anchor="ctr"/>
          <a:lstStyle/>
          <a:p>
            <a:pPr algn="l" indent="0" marL="0">
              <a:buNone/>
            </a:pPr>
            <a:r>
              <a:rPr lang="en-US" sz="1600" b="1" dirty="0">
                <a:solidFill>
                  <a:srgbClr val="17212B"/>
                </a:solidFill>
                <a:latin typeface="Yu Gothic" pitchFamily="34" charset="0"/>
                <a:ea typeface="Yu Gothic" pitchFamily="34" charset="-122"/>
                <a:cs typeface="Yu Gothic" pitchFamily="34" charset="-120"/>
              </a:rPr>
              <a:t>θ</a:t>
            </a:r>
            <a:pPr algn="l" indent="0" marL="0">
              <a:buNone/>
            </a:pPr>
            <a:r>
              <a:rPr lang="en-US" sz="1600" b="1" baseline="-40000" dirty="0">
                <a:solidFill>
                  <a:srgbClr val="17212B"/>
                </a:solidFill>
                <a:latin typeface="Yu Gothic" pitchFamily="34" charset="0"/>
                <a:ea typeface="Yu Gothic" pitchFamily="34" charset="-122"/>
                <a:cs typeface="Yu Gothic" pitchFamily="34" charset="-120"/>
              </a:rPr>
              <a:t>目標</a:t>
            </a:r>
            <a:pPr algn="l" indent="0" marL="0">
              <a:buNone/>
            </a:pPr>
            <a:r>
              <a:rPr lang="en-US" sz="1600" b="1" dirty="0">
                <a:solidFill>
                  <a:srgbClr val="17212B"/>
                </a:solidFill>
                <a:latin typeface="Yu Gothic" pitchFamily="34" charset="0"/>
                <a:ea typeface="Yu Gothic" pitchFamily="34" charset="-122"/>
                <a:cs typeface="Yu Gothic" pitchFamily="34" charset="-120"/>
              </a:rPr>
              <a:t> = θ</a:t>
            </a:r>
            <a:pPr algn="l" indent="0" marL="0">
              <a:buNone/>
            </a:pPr>
            <a:r>
              <a:rPr lang="en-US" sz="1600" b="1" baseline="-40000" dirty="0">
                <a:solidFill>
                  <a:srgbClr val="17212B"/>
                </a:solidFill>
                <a:latin typeface="Yu Gothic" pitchFamily="34" charset="0"/>
                <a:ea typeface="Yu Gothic" pitchFamily="34" charset="-122"/>
                <a:cs typeface="Yu Gothic" pitchFamily="34" charset="-120"/>
              </a:rPr>
              <a:t>基準</a:t>
            </a:r>
            <a:pPr algn="l" indent="0" marL="0">
              <a:buNone/>
            </a:pPr>
            <a:r>
              <a:rPr lang="en-US" sz="1600" b="1" dirty="0">
                <a:solidFill>
                  <a:srgbClr val="17212B"/>
                </a:solidFill>
                <a:latin typeface="Yu Gothic" pitchFamily="34" charset="0"/>
                <a:ea typeface="Yu Gothic" pitchFamily="34" charset="-122"/>
                <a:cs typeface="Yu Gothic" pitchFamily="34" charset="-120"/>
              </a:rPr>
              <a:t> + 0.5 × a</a:t>
            </a:r>
            <a:endParaRPr lang="en-US" sz="1600" dirty="0"/>
          </a:p>
        </p:txBody>
      </p:sp>
      <p:sp>
        <p:nvSpPr>
          <p:cNvPr id="57" name="Text 55"/>
          <p:cNvSpPr txBox="1"/>
          <p:nvPr/>
        </p:nvSpPr>
        <p:spPr>
          <a:xfrm>
            <a:off x="9010650" y="2476500"/>
            <a:ext cx="2400300" cy="571500"/>
          </a:xfrm>
          <a:prstGeom prst="rect">
            <a:avLst/>
          </a:prstGeom>
          <a:noFill/>
          <a:ln/>
        </p:spPr>
        <p:txBody>
          <a:bodyPr wrap="square" lIns="0" tIns="0" rIns="0" bIns="0" rtlCol="0" anchor="t"/>
          <a:lstStyle/>
          <a:p>
            <a:pPr algn="l" indent="0" marL="0">
              <a:buNone/>
            </a:pPr>
            <a:r>
              <a:rPr lang="en-US" sz="1300" dirty="0">
                <a:solidFill>
                  <a:srgbClr val="5E6A73"/>
                </a:solidFill>
                <a:latin typeface="Yu Gothic" pitchFamily="34" charset="0"/>
                <a:ea typeface="Yu Gothic" pitchFamily="34" charset="-122"/>
                <a:cs typeface="Yu Gothic" pitchFamily="34" charset="-120"/>
              </a:rPr>
              <a:t>a：NNの出力（10個）</a:t>
            </a:r>
            <a:endParaRPr lang="en-US" sz="1300" dirty="0"/>
          </a:p>
          <a:p>
            <a:pPr algn="l" indent="0" marL="0">
              <a:buNone/>
            </a:pPr>
            <a:r>
              <a:rPr lang="en-US" sz="1300" dirty="0">
                <a:solidFill>
                  <a:srgbClr val="5E6A73"/>
                </a:solidFill>
                <a:latin typeface="Yu Gothic" pitchFamily="34" charset="0"/>
                <a:ea typeface="Yu Gothic" pitchFamily="34" charset="-122"/>
                <a:cs typeface="Yu Gothic" pitchFamily="34" charset="-120"/>
              </a:rPr>
              <a:t>θ基準：少し膝を曲げた立ち姿勢</a:t>
            </a:r>
            <a:endParaRPr lang="en-US" sz="1300" dirty="0"/>
          </a:p>
        </p:txBody>
      </p:sp>
      <p:sp>
        <p:nvSpPr>
          <p:cNvPr id="58" name="Shape 56"/>
          <p:cNvSpPr/>
          <p:nvPr/>
        </p:nvSpPr>
        <p:spPr>
          <a:xfrm>
            <a:off x="8858250" y="3333750"/>
            <a:ext cx="2705100" cy="2286000"/>
          </a:xfrm>
          <a:prstGeom prst="rect">
            <a:avLst/>
          </a:prstGeom>
          <a:solidFill>
            <a:srgbClr val="E8F1F5"/>
          </a:solidFill>
          <a:ln w="12700">
            <a:solidFill>
              <a:srgbClr val="B7C7D1"/>
            </a:solidFill>
            <a:prstDash val="solid"/>
          </a:ln>
        </p:spPr>
      </p:sp>
      <p:sp>
        <p:nvSpPr>
          <p:cNvPr id="59" name="Text 57"/>
          <p:cNvSpPr txBox="1"/>
          <p:nvPr/>
        </p:nvSpPr>
        <p:spPr>
          <a:xfrm>
            <a:off x="9010650" y="3429000"/>
            <a:ext cx="2400300" cy="285750"/>
          </a:xfrm>
          <a:prstGeom prst="rect">
            <a:avLst/>
          </a:prstGeom>
          <a:noFill/>
          <a:ln/>
        </p:spPr>
        <p:txBody>
          <a:bodyPr wrap="square" lIns="0" tIns="0" rIns="0" bIns="0" rtlCol="0" anchor="ctr"/>
          <a:lstStyle/>
          <a:p>
            <a:pPr algn="l" indent="0" marL="0">
              <a:buNone/>
            </a:pPr>
            <a:r>
              <a:rPr lang="en-US" sz="1600" b="1" dirty="0">
                <a:solidFill>
                  <a:srgbClr val="102B46"/>
                </a:solidFill>
                <a:latin typeface="Yu Gothic" pitchFamily="34" charset="0"/>
                <a:ea typeface="Yu Gothic" pitchFamily="34" charset="-122"/>
                <a:cs typeface="Yu Gothic" pitchFamily="34" charset="-120"/>
              </a:rPr>
              <a:t>PD制御でトルクへ</a:t>
            </a:r>
            <a:endParaRPr lang="en-US" sz="1600" dirty="0"/>
          </a:p>
        </p:txBody>
      </p:sp>
      <p:sp>
        <p:nvSpPr>
          <p:cNvPr id="60" name="Text 58"/>
          <p:cNvSpPr txBox="1"/>
          <p:nvPr/>
        </p:nvSpPr>
        <p:spPr>
          <a:xfrm>
            <a:off x="9010650" y="3771900"/>
            <a:ext cx="2400300" cy="342900"/>
          </a:xfrm>
          <a:prstGeom prst="rect">
            <a:avLst/>
          </a:prstGeom>
          <a:noFill/>
          <a:ln/>
        </p:spPr>
        <p:txBody>
          <a:bodyPr wrap="square" lIns="0" tIns="0" rIns="0" bIns="0" rtlCol="0" anchor="ctr"/>
          <a:lstStyle/>
          <a:p>
            <a:pPr algn="l" indent="0" marL="0">
              <a:buNone/>
            </a:pPr>
            <a:r>
              <a:rPr lang="en-US" sz="1600" b="1" dirty="0">
                <a:solidFill>
                  <a:srgbClr val="17212B"/>
                </a:solidFill>
                <a:latin typeface="Yu Gothic" pitchFamily="34" charset="0"/>
                <a:ea typeface="Yu Gothic" pitchFamily="34" charset="-122"/>
                <a:cs typeface="Yu Gothic" pitchFamily="34" charset="-120"/>
              </a:rPr>
              <a:t>τ = K</a:t>
            </a:r>
            <a:pPr algn="l" indent="0" marL="0">
              <a:buNone/>
            </a:pPr>
            <a:r>
              <a:rPr lang="en-US" sz="1600" b="1" baseline="-40000" dirty="0">
                <a:solidFill>
                  <a:srgbClr val="17212B"/>
                </a:solidFill>
                <a:latin typeface="Yu Gothic" pitchFamily="34" charset="0"/>
                <a:ea typeface="Yu Gothic" pitchFamily="34" charset="-122"/>
                <a:cs typeface="Yu Gothic" pitchFamily="34" charset="-120"/>
              </a:rPr>
              <a:t>p</a:t>
            </a:r>
            <a:pPr algn="l" indent="0" marL="0">
              <a:buNone/>
            </a:pPr>
            <a:r>
              <a:rPr lang="en-US" sz="1600" b="1" dirty="0">
                <a:solidFill>
                  <a:srgbClr val="17212B"/>
                </a:solidFill>
                <a:latin typeface="Yu Gothic" pitchFamily="34" charset="0"/>
                <a:ea typeface="Yu Gothic" pitchFamily="34" charset="-122"/>
                <a:cs typeface="Yu Gothic" pitchFamily="34" charset="-120"/>
              </a:rPr>
              <a:t>(θ</a:t>
            </a:r>
            <a:pPr algn="l" indent="0" marL="0">
              <a:buNone/>
            </a:pPr>
            <a:r>
              <a:rPr lang="en-US" sz="1600" b="1" baseline="-40000" dirty="0">
                <a:solidFill>
                  <a:srgbClr val="17212B"/>
                </a:solidFill>
                <a:latin typeface="Yu Gothic" pitchFamily="34" charset="0"/>
                <a:ea typeface="Yu Gothic" pitchFamily="34" charset="-122"/>
                <a:cs typeface="Yu Gothic" pitchFamily="34" charset="-120"/>
              </a:rPr>
              <a:t>目標</a:t>
            </a:r>
            <a:pPr algn="l" indent="0" marL="0">
              <a:buNone/>
            </a:pPr>
            <a:r>
              <a:rPr lang="en-US" sz="1600" b="1" dirty="0">
                <a:solidFill>
                  <a:srgbClr val="17212B"/>
                </a:solidFill>
                <a:latin typeface="Yu Gothic" pitchFamily="34" charset="0"/>
                <a:ea typeface="Yu Gothic" pitchFamily="34" charset="-122"/>
                <a:cs typeface="Yu Gothic" pitchFamily="34" charset="-120"/>
              </a:rPr>
              <a:t> − θ) − K</a:t>
            </a:r>
            <a:pPr algn="l" indent="0" marL="0">
              <a:buNone/>
            </a:pPr>
            <a:r>
              <a:rPr lang="en-US" sz="1600" b="1" baseline="-40000" dirty="0">
                <a:solidFill>
                  <a:srgbClr val="17212B"/>
                </a:solidFill>
                <a:latin typeface="Yu Gothic" pitchFamily="34" charset="0"/>
                <a:ea typeface="Yu Gothic" pitchFamily="34" charset="-122"/>
                <a:cs typeface="Yu Gothic" pitchFamily="34" charset="-120"/>
              </a:rPr>
              <a:t>d</a:t>
            </a:r>
            <a:pPr algn="l" indent="0" marL="0">
              <a:buNone/>
            </a:pPr>
            <a:r>
              <a:rPr lang="en-US" sz="1600" b="1" dirty="0">
                <a:solidFill>
                  <a:srgbClr val="17212B"/>
                </a:solidFill>
                <a:latin typeface="Yu Gothic" pitchFamily="34" charset="0"/>
                <a:ea typeface="Yu Gothic" pitchFamily="34" charset="-122"/>
                <a:cs typeface="Yu Gothic" pitchFamily="34" charset="-120"/>
              </a:rPr>
              <a:t> ω</a:t>
            </a:r>
            <a:endParaRPr lang="en-US" sz="1600" dirty="0"/>
          </a:p>
        </p:txBody>
      </p:sp>
      <p:sp>
        <p:nvSpPr>
          <p:cNvPr id="61" name="Text 59"/>
          <p:cNvSpPr txBox="1"/>
          <p:nvPr/>
        </p:nvSpPr>
        <p:spPr>
          <a:xfrm>
            <a:off x="9010650" y="4191000"/>
            <a:ext cx="2400300" cy="1333500"/>
          </a:xfrm>
          <a:prstGeom prst="rect">
            <a:avLst/>
          </a:prstGeom>
          <a:noFill/>
          <a:ln/>
        </p:spPr>
        <p:txBody>
          <a:bodyPr wrap="square" lIns="0" tIns="0" rIns="0" bIns="0" rtlCol="0" anchor="t"/>
          <a:lstStyle/>
          <a:p>
            <a:pPr algn="l" indent="0" marL="0">
              <a:buNone/>
            </a:pPr>
            <a:r>
              <a:rPr lang="en-US" sz="1300" dirty="0">
                <a:solidFill>
                  <a:srgbClr val="17212B"/>
                </a:solidFill>
                <a:latin typeface="Yu Gothic" pitchFamily="34" charset="0"/>
                <a:ea typeface="Yu Gothic" pitchFamily="34" charset="-122"/>
                <a:cs typeface="Yu Gothic" pitchFamily="34" charset="-120"/>
              </a:rPr>
              <a:t>ω：関節の角速度</a:t>
            </a:r>
            <a:endParaRPr lang="en-US" sz="1300" dirty="0"/>
          </a:p>
          <a:p>
            <a:pPr algn="l" indent="0" marL="0">
              <a:buNone/>
            </a:pPr>
            <a:r>
              <a:rPr lang="en-US" sz="1300" dirty="0">
                <a:solidFill>
                  <a:srgbClr val="17212B"/>
                </a:solidFill>
                <a:latin typeface="Yu Gothic" pitchFamily="34" charset="0"/>
                <a:ea typeface="Yu Gothic" pitchFamily="34" charset="-122"/>
                <a:cs typeface="Yu Gothic" pitchFamily="34" charset="-120"/>
              </a:rPr>
              <a:t>Kp = 10〜15 N·m/rad、Kd = 1.5</a:t>
            </a:r>
            <a:endParaRPr lang="en-US" sz="1300" dirty="0"/>
          </a:p>
          <a:p>
            <a:pPr algn="l" indent="0" marL="0">
              <a:buNone/>
            </a:pPr>
            <a:r>
              <a:rPr lang="en-US" sz="1300" dirty="0">
                <a:solidFill>
                  <a:srgbClr val="17212B"/>
                </a:solidFill>
                <a:latin typeface="Yu Gothic" pitchFamily="34" charset="0"/>
                <a:ea typeface="Yu Gothic" pitchFamily="34" charset="-122"/>
                <a:cs typeface="Yu Gothic" pitchFamily="34" charset="-120"/>
              </a:rPr>
              <a:t>方策は「どこへ向かうか」だけを決め、力の出し方はモーター側のPD制御が担う</a:t>
            </a:r>
            <a:endParaRPr lang="en-US" sz="1300" dirty="0"/>
          </a:p>
        </p:txBody>
      </p:sp>
      <p:sp>
        <p:nvSpPr>
          <p:cNvPr id="62" name="Text 60"/>
          <p:cNvSpPr txBox="1"/>
          <p:nvPr/>
        </p:nvSpPr>
        <p:spPr>
          <a:xfrm>
            <a:off x="5772150" y="5619750"/>
            <a:ext cx="2381250" cy="285750"/>
          </a:xfrm>
          <a:prstGeom prst="rect">
            <a:avLst/>
          </a:prstGeom>
          <a:noFill/>
          <a:ln/>
        </p:spPr>
        <p:txBody>
          <a:bodyPr wrap="square" lIns="0" tIns="0" rIns="0" bIns="0" rtlCol="0" anchor="ctr"/>
          <a:lstStyle/>
          <a:p>
            <a:pPr algn="ctr" indent="0" marL="0">
              <a:buNone/>
            </a:pPr>
            <a:r>
              <a:rPr lang="en-US" sz="1500" b="1" dirty="0">
                <a:solidFill>
                  <a:srgbClr val="E8783F"/>
                </a:solidFill>
                <a:latin typeface="Yu Gothic" pitchFamily="34" charset="0"/>
                <a:ea typeface="Yu Gothic" pitchFamily="34" charset="-122"/>
                <a:cs typeface="Yu Gothic" pitchFamily="34" charset="-120"/>
              </a:rPr>
              <a:t>50 Hzで計算</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報酬関数（1）全体像</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192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毎ステップの報酬  r = Σ w</a:t>
            </a:r>
            <a:pPr algn="l" indent="0" marL="0">
              <a:buNone/>
            </a:pPr>
            <a:r>
              <a:rPr lang="en-US" sz="2200" b="1" baseline="-40000" dirty="0">
                <a:solidFill>
                  <a:srgbClr val="102B46"/>
                </a:solidFill>
                <a:latin typeface="Yu Gothic" pitchFamily="34" charset="0"/>
                <a:ea typeface="Yu Gothic" pitchFamily="34" charset="-122"/>
                <a:cs typeface="Yu Gothic" pitchFamily="34" charset="-120"/>
              </a:rPr>
              <a:t>i</a:t>
            </a:r>
            <a:pPr algn="l" indent="0" marL="0">
              <a:buNone/>
            </a:pPr>
            <a:r>
              <a:rPr lang="en-US" sz="2200" b="1" dirty="0">
                <a:solidFill>
                  <a:srgbClr val="102B46"/>
                </a:solidFill>
                <a:latin typeface="Yu Gothic" pitchFamily="34" charset="0"/>
                <a:ea typeface="Yu Gothic" pitchFamily="34" charset="-122"/>
                <a:cs typeface="Yu Gothic" pitchFamily="34" charset="-120"/>
              </a:rPr>
              <a:t> × r</a:t>
            </a:r>
            <a:pPr algn="l" indent="0" marL="0">
              <a:buNone/>
            </a:pPr>
            <a:r>
              <a:rPr lang="en-US" sz="2200" b="1" baseline="-40000" dirty="0">
                <a:solidFill>
                  <a:srgbClr val="102B46"/>
                </a:solidFill>
                <a:latin typeface="Yu Gothic" pitchFamily="34" charset="0"/>
                <a:ea typeface="Yu Gothic" pitchFamily="34" charset="-122"/>
                <a:cs typeface="Yu Gothic" pitchFamily="34" charset="-120"/>
              </a:rPr>
              <a:t>i</a:t>
            </a:r>
            <a:pPr algn="l" indent="0" marL="0">
              <a:buNone/>
            </a:pPr>
            <a:r>
              <a:rPr lang="en-US" sz="1600" b="1" dirty="0">
                <a:solidFill>
                  <a:srgbClr val="5E6A73"/>
                </a:solidFill>
                <a:latin typeface="Yu Gothic" pitchFamily="34" charset="0"/>
                <a:ea typeface="Yu Gothic" pitchFamily="34" charset="-122"/>
                <a:cs typeface="Yu Gothic" pitchFamily="34" charset="-120"/>
              </a:rPr>
              <a:t>   （13項目の重み付き和。重み w が正ならほめる、負なら叱る）</a:t>
            </a:r>
            <a:endParaRPr lang="en-US" sz="2200" dirty="0"/>
          </a:p>
        </p:txBody>
      </p:sp>
      <p:sp>
        <p:nvSpPr>
          <p:cNvPr id="7" name="Shape 5"/>
          <p:cNvSpPr/>
          <p:nvPr/>
        </p:nvSpPr>
        <p:spPr>
          <a:xfrm>
            <a:off x="628650" y="1809750"/>
            <a:ext cx="3505200" cy="3810000"/>
          </a:xfrm>
          <a:prstGeom prst="rect">
            <a:avLst/>
          </a:prstGeom>
          <a:solidFill>
            <a:srgbClr val="E8F1F5"/>
          </a:solidFill>
          <a:ln w="19050">
            <a:solidFill>
              <a:srgbClr val="32A5B5"/>
            </a:solidFill>
            <a:prstDash val="solid"/>
          </a:ln>
        </p:spPr>
      </p:sp>
      <p:sp>
        <p:nvSpPr>
          <p:cNvPr id="8" name="Text 6"/>
          <p:cNvSpPr txBox="1"/>
          <p:nvPr/>
        </p:nvSpPr>
        <p:spPr>
          <a:xfrm>
            <a:off x="800100" y="1943100"/>
            <a:ext cx="2286000" cy="304800"/>
          </a:xfrm>
          <a:prstGeom prst="rect">
            <a:avLst/>
          </a:prstGeom>
          <a:noFill/>
          <a:ln/>
        </p:spPr>
        <p:txBody>
          <a:bodyPr wrap="square" lIns="0" tIns="0" rIns="0" bIns="0" rtlCol="0" anchor="ctr"/>
          <a:lstStyle/>
          <a:p>
            <a:pPr algn="l" indent="0" marL="0">
              <a:buNone/>
            </a:pPr>
            <a:r>
              <a:rPr lang="en-US" sz="1900" b="1" dirty="0">
                <a:solidFill>
                  <a:srgbClr val="32A5B5"/>
                </a:solidFill>
                <a:latin typeface="Yu Gothic" pitchFamily="34" charset="0"/>
                <a:ea typeface="Yu Gothic" pitchFamily="34" charset="-122"/>
                <a:cs typeface="Yu Gothic" pitchFamily="34" charset="-120"/>
              </a:rPr>
              <a:t>目的を達成する</a:t>
            </a:r>
            <a:endParaRPr lang="en-US" sz="1900" dirty="0"/>
          </a:p>
        </p:txBody>
      </p:sp>
      <p:sp>
        <p:nvSpPr>
          <p:cNvPr id="9" name="Text 7"/>
          <p:cNvSpPr txBox="1"/>
          <p:nvPr/>
        </p:nvSpPr>
        <p:spPr>
          <a:xfrm>
            <a:off x="2876550" y="1962150"/>
            <a:ext cx="1104900" cy="266700"/>
          </a:xfrm>
          <a:prstGeom prst="rect">
            <a:avLst/>
          </a:prstGeom>
          <a:solidFill>
            <a:srgbClr val="32A5B5"/>
          </a:solid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ほめる（＋）</a:t>
            </a:r>
            <a:endParaRPr lang="en-US" sz="1200" dirty="0"/>
          </a:p>
        </p:txBody>
      </p:sp>
      <p:sp>
        <p:nvSpPr>
          <p:cNvPr id="10" name="Text 8"/>
          <p:cNvSpPr txBox="1"/>
          <p:nvPr/>
        </p:nvSpPr>
        <p:spPr>
          <a:xfrm>
            <a:off x="800100" y="23812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速度指令どおりに進む</a:t>
            </a:r>
            <a:endParaRPr lang="en-US" sz="1400" dirty="0"/>
          </a:p>
        </p:txBody>
      </p:sp>
      <p:sp>
        <p:nvSpPr>
          <p:cNvPr id="11" name="Text 9"/>
          <p:cNvSpPr txBox="1"/>
          <p:nvPr/>
        </p:nvSpPr>
        <p:spPr>
          <a:xfrm>
            <a:off x="3124200" y="2381250"/>
            <a:ext cx="8382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+1.0</a:t>
            </a:r>
            <a:endParaRPr lang="en-US" sz="1600" dirty="0"/>
          </a:p>
        </p:txBody>
      </p:sp>
      <p:sp>
        <p:nvSpPr>
          <p:cNvPr id="12" name="Shape 10"/>
          <p:cNvSpPr/>
          <p:nvPr/>
        </p:nvSpPr>
        <p:spPr>
          <a:xfrm>
            <a:off x="800100" y="2838450"/>
            <a:ext cx="3162300" cy="0"/>
          </a:xfrm>
          <a:prstGeom prst="line">
            <a:avLst/>
          </a:prstGeom>
          <a:noFill/>
          <a:ln w="9525">
            <a:solidFill>
              <a:srgbClr val="B7C7D1"/>
            </a:solidFill>
            <a:prstDash val="solid"/>
          </a:ln>
        </p:spPr>
      </p:sp>
      <p:sp>
        <p:nvSpPr>
          <p:cNvPr id="13" name="Text 11"/>
          <p:cNvSpPr txBox="1"/>
          <p:nvPr/>
        </p:nvSpPr>
        <p:spPr>
          <a:xfrm>
            <a:off x="800100" y="289560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指令どおりに旋回する</a:t>
            </a:r>
            <a:endParaRPr lang="en-US" sz="1400" dirty="0"/>
          </a:p>
        </p:txBody>
      </p:sp>
      <p:sp>
        <p:nvSpPr>
          <p:cNvPr id="14" name="Text 12"/>
          <p:cNvSpPr txBox="1"/>
          <p:nvPr/>
        </p:nvSpPr>
        <p:spPr>
          <a:xfrm>
            <a:off x="3124200" y="2895600"/>
            <a:ext cx="8382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+0.5</a:t>
            </a:r>
            <a:endParaRPr lang="en-US" sz="1600" dirty="0"/>
          </a:p>
        </p:txBody>
      </p:sp>
      <p:sp>
        <p:nvSpPr>
          <p:cNvPr id="15" name="Shape 13"/>
          <p:cNvSpPr/>
          <p:nvPr/>
        </p:nvSpPr>
        <p:spPr>
          <a:xfrm>
            <a:off x="800100" y="3352800"/>
            <a:ext cx="3162300" cy="0"/>
          </a:xfrm>
          <a:prstGeom prst="line">
            <a:avLst/>
          </a:prstGeom>
          <a:noFill/>
          <a:ln w="9525">
            <a:solidFill>
              <a:srgbClr val="B7C7D1"/>
            </a:solidFill>
            <a:prstDash val="solid"/>
          </a:ln>
        </p:spPr>
      </p:sp>
      <p:sp>
        <p:nvSpPr>
          <p:cNvPr id="16" name="Text 14"/>
          <p:cNvSpPr txBox="1"/>
          <p:nvPr/>
        </p:nvSpPr>
        <p:spPr>
          <a:xfrm>
            <a:off x="800100" y="34099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片足ずつ交互に地面から離す</a:t>
            </a:r>
            <a:endParaRPr lang="en-US" sz="1400" dirty="0"/>
          </a:p>
        </p:txBody>
      </p:sp>
      <p:sp>
        <p:nvSpPr>
          <p:cNvPr id="17" name="Text 15"/>
          <p:cNvSpPr txBox="1"/>
          <p:nvPr/>
        </p:nvSpPr>
        <p:spPr>
          <a:xfrm>
            <a:off x="3124200" y="3409950"/>
            <a:ext cx="838200" cy="419100"/>
          </a:xfrm>
          <a:prstGeom prst="rect">
            <a:avLst/>
          </a:prstGeom>
          <a:noFill/>
          <a:ln/>
        </p:spPr>
        <p:txBody>
          <a:bodyPr wrap="square" lIns="0" tIns="0" rIns="0" bIns="0" rtlCol="0" anchor="ctr"/>
          <a:lstStyle/>
          <a:p>
            <a:pPr algn="r" indent="0" marL="0">
              <a:buNone/>
            </a:pPr>
            <a:r>
              <a:rPr lang="en-US" sz="1600" b="1" dirty="0">
                <a:solidFill>
                  <a:srgbClr val="32A5B5"/>
                </a:solidFill>
                <a:latin typeface="Yu Gothic" pitchFamily="34" charset="0"/>
                <a:ea typeface="Yu Gothic" pitchFamily="34" charset="-122"/>
                <a:cs typeface="Yu Gothic" pitchFamily="34" charset="-120"/>
              </a:rPr>
              <a:t>+0.25</a:t>
            </a:r>
            <a:endParaRPr lang="en-US" sz="1600" dirty="0"/>
          </a:p>
        </p:txBody>
      </p:sp>
      <p:sp>
        <p:nvSpPr>
          <p:cNvPr id="18" name="Shape 16"/>
          <p:cNvSpPr/>
          <p:nvPr/>
        </p:nvSpPr>
        <p:spPr>
          <a:xfrm>
            <a:off x="4343400" y="1809750"/>
            <a:ext cx="3505200" cy="3810000"/>
          </a:xfrm>
          <a:prstGeom prst="rect">
            <a:avLst/>
          </a:prstGeom>
          <a:solidFill>
            <a:srgbClr val="F3EEE6"/>
          </a:solidFill>
          <a:ln w="19050">
            <a:solidFill>
              <a:srgbClr val="E8783F"/>
            </a:solidFill>
            <a:prstDash val="solid"/>
          </a:ln>
        </p:spPr>
      </p:sp>
      <p:sp>
        <p:nvSpPr>
          <p:cNvPr id="19" name="Text 17"/>
          <p:cNvSpPr txBox="1"/>
          <p:nvPr/>
        </p:nvSpPr>
        <p:spPr>
          <a:xfrm>
            <a:off x="4514850" y="1943100"/>
            <a:ext cx="2286000" cy="304800"/>
          </a:xfrm>
          <a:prstGeom prst="rect">
            <a:avLst/>
          </a:prstGeom>
          <a:noFill/>
          <a:ln/>
        </p:spPr>
        <p:txBody>
          <a:bodyPr wrap="square" lIns="0" tIns="0" rIns="0" bIns="0" rtlCol="0" anchor="ctr"/>
          <a:lstStyle/>
          <a:p>
            <a:pPr algn="l" indent="0" marL="0">
              <a:buNone/>
            </a:pPr>
            <a:r>
              <a:rPr lang="en-US" sz="1900" b="1" dirty="0">
                <a:solidFill>
                  <a:srgbClr val="E8783F"/>
                </a:solidFill>
                <a:latin typeface="Yu Gothic" pitchFamily="34" charset="0"/>
                <a:ea typeface="Yu Gothic" pitchFamily="34" charset="-122"/>
                <a:cs typeface="Yu Gothic" pitchFamily="34" charset="-120"/>
              </a:rPr>
              <a:t>きれいに歩く</a:t>
            </a:r>
            <a:endParaRPr lang="en-US" sz="1900" dirty="0"/>
          </a:p>
        </p:txBody>
      </p:sp>
      <p:sp>
        <p:nvSpPr>
          <p:cNvPr id="20" name="Text 18"/>
          <p:cNvSpPr txBox="1"/>
          <p:nvPr/>
        </p:nvSpPr>
        <p:spPr>
          <a:xfrm>
            <a:off x="6591300" y="1962150"/>
            <a:ext cx="1104900" cy="266700"/>
          </a:xfrm>
          <a:prstGeom prst="rect">
            <a:avLst/>
          </a:prstGeom>
          <a:solidFill>
            <a:srgbClr val="E8783F"/>
          </a:solid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叱る（−）</a:t>
            </a:r>
            <a:endParaRPr lang="en-US" sz="1200" dirty="0"/>
          </a:p>
        </p:txBody>
      </p:sp>
      <p:sp>
        <p:nvSpPr>
          <p:cNvPr id="21" name="Text 19"/>
          <p:cNvSpPr txBox="1"/>
          <p:nvPr/>
        </p:nvSpPr>
        <p:spPr>
          <a:xfrm>
            <a:off x="4514850" y="23812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胴体が上下に揺れる</a:t>
            </a:r>
            <a:endParaRPr lang="en-US" sz="1400" dirty="0"/>
          </a:p>
        </p:txBody>
      </p:sp>
      <p:sp>
        <p:nvSpPr>
          <p:cNvPr id="22" name="Text 20"/>
          <p:cNvSpPr txBox="1"/>
          <p:nvPr/>
        </p:nvSpPr>
        <p:spPr>
          <a:xfrm>
            <a:off x="6838950" y="2381250"/>
            <a:ext cx="838200" cy="419100"/>
          </a:xfrm>
          <a:prstGeom prst="rect">
            <a:avLst/>
          </a:prstGeom>
          <a:noFill/>
          <a:ln/>
        </p:spPr>
        <p:txBody>
          <a:bodyPr wrap="square" lIns="0" tIns="0" rIns="0" bIns="0" rtlCol="0" anchor="ctr"/>
          <a:lstStyle/>
          <a:p>
            <a:pPr algn="r" indent="0" marL="0">
              <a:buNone/>
            </a:pPr>
            <a:r>
              <a:rPr lang="en-US" sz="1600" b="1" dirty="0">
                <a:solidFill>
                  <a:srgbClr val="E8783F"/>
                </a:solidFill>
                <a:latin typeface="Yu Gothic" pitchFamily="34" charset="0"/>
                <a:ea typeface="Yu Gothic" pitchFamily="34" charset="-122"/>
                <a:cs typeface="Yu Gothic" pitchFamily="34" charset="-120"/>
              </a:rPr>
              <a:t>−2.0</a:t>
            </a:r>
            <a:endParaRPr lang="en-US" sz="1600" dirty="0"/>
          </a:p>
        </p:txBody>
      </p:sp>
      <p:sp>
        <p:nvSpPr>
          <p:cNvPr id="23" name="Shape 21"/>
          <p:cNvSpPr/>
          <p:nvPr/>
        </p:nvSpPr>
        <p:spPr>
          <a:xfrm>
            <a:off x="4514850" y="2838450"/>
            <a:ext cx="3162300" cy="0"/>
          </a:xfrm>
          <a:prstGeom prst="line">
            <a:avLst/>
          </a:prstGeom>
          <a:noFill/>
          <a:ln w="9525">
            <a:solidFill>
              <a:srgbClr val="B7C7D1"/>
            </a:solidFill>
            <a:prstDash val="solid"/>
          </a:ln>
        </p:spPr>
      </p:sp>
      <p:sp>
        <p:nvSpPr>
          <p:cNvPr id="24" name="Text 22"/>
          <p:cNvSpPr txBox="1"/>
          <p:nvPr/>
        </p:nvSpPr>
        <p:spPr>
          <a:xfrm>
            <a:off x="4514850" y="289560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胴体が左右・前後に揺れる</a:t>
            </a:r>
            <a:endParaRPr lang="en-US" sz="1400" dirty="0"/>
          </a:p>
        </p:txBody>
      </p:sp>
      <p:sp>
        <p:nvSpPr>
          <p:cNvPr id="25" name="Text 23"/>
          <p:cNvSpPr txBox="1"/>
          <p:nvPr/>
        </p:nvSpPr>
        <p:spPr>
          <a:xfrm>
            <a:off x="6838950" y="2895600"/>
            <a:ext cx="838200" cy="419100"/>
          </a:xfrm>
          <a:prstGeom prst="rect">
            <a:avLst/>
          </a:prstGeom>
          <a:noFill/>
          <a:ln/>
        </p:spPr>
        <p:txBody>
          <a:bodyPr wrap="square" lIns="0" tIns="0" rIns="0" bIns="0" rtlCol="0" anchor="ctr"/>
          <a:lstStyle/>
          <a:p>
            <a:pPr algn="r" indent="0" marL="0">
              <a:buNone/>
            </a:pPr>
            <a:r>
              <a:rPr lang="en-US" sz="1600" b="1" dirty="0">
                <a:solidFill>
                  <a:srgbClr val="E8783F"/>
                </a:solidFill>
                <a:latin typeface="Yu Gothic" pitchFamily="34" charset="0"/>
                <a:ea typeface="Yu Gothic" pitchFamily="34" charset="-122"/>
                <a:cs typeface="Yu Gothic" pitchFamily="34" charset="-120"/>
              </a:rPr>
              <a:t>−0.05</a:t>
            </a:r>
            <a:endParaRPr lang="en-US" sz="1600" dirty="0"/>
          </a:p>
        </p:txBody>
      </p:sp>
      <p:sp>
        <p:nvSpPr>
          <p:cNvPr id="26" name="Shape 24"/>
          <p:cNvSpPr/>
          <p:nvPr/>
        </p:nvSpPr>
        <p:spPr>
          <a:xfrm>
            <a:off x="4514850" y="3352800"/>
            <a:ext cx="3162300" cy="0"/>
          </a:xfrm>
          <a:prstGeom prst="line">
            <a:avLst/>
          </a:prstGeom>
          <a:noFill/>
          <a:ln w="9525">
            <a:solidFill>
              <a:srgbClr val="B7C7D1"/>
            </a:solidFill>
            <a:prstDash val="solid"/>
          </a:ln>
        </p:spPr>
      </p:sp>
      <p:sp>
        <p:nvSpPr>
          <p:cNvPr id="27" name="Text 25"/>
          <p:cNvSpPr txBox="1"/>
          <p:nvPr/>
        </p:nvSpPr>
        <p:spPr>
          <a:xfrm>
            <a:off x="4514850" y="34099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胴体が傾く</a:t>
            </a:r>
            <a:endParaRPr lang="en-US" sz="1400" dirty="0"/>
          </a:p>
        </p:txBody>
      </p:sp>
      <p:sp>
        <p:nvSpPr>
          <p:cNvPr id="28" name="Text 26"/>
          <p:cNvSpPr txBox="1"/>
          <p:nvPr/>
        </p:nvSpPr>
        <p:spPr>
          <a:xfrm>
            <a:off x="6838950" y="3409950"/>
            <a:ext cx="838200" cy="419100"/>
          </a:xfrm>
          <a:prstGeom prst="rect">
            <a:avLst/>
          </a:prstGeom>
          <a:noFill/>
          <a:ln/>
        </p:spPr>
        <p:txBody>
          <a:bodyPr wrap="square" lIns="0" tIns="0" rIns="0" bIns="0" rtlCol="0" anchor="ctr"/>
          <a:lstStyle/>
          <a:p>
            <a:pPr algn="r" indent="0" marL="0">
              <a:buNone/>
            </a:pPr>
            <a:r>
              <a:rPr lang="en-US" sz="1600" b="1" dirty="0">
                <a:solidFill>
                  <a:srgbClr val="E8783F"/>
                </a:solidFill>
                <a:latin typeface="Yu Gothic" pitchFamily="34" charset="0"/>
                <a:ea typeface="Yu Gothic" pitchFamily="34" charset="-122"/>
                <a:cs typeface="Yu Gothic" pitchFamily="34" charset="-120"/>
              </a:rPr>
              <a:t>−0.5</a:t>
            </a:r>
            <a:endParaRPr lang="en-US" sz="1600" dirty="0"/>
          </a:p>
        </p:txBody>
      </p:sp>
      <p:sp>
        <p:nvSpPr>
          <p:cNvPr id="29" name="Shape 27"/>
          <p:cNvSpPr/>
          <p:nvPr/>
        </p:nvSpPr>
        <p:spPr>
          <a:xfrm>
            <a:off x="4514850" y="3867150"/>
            <a:ext cx="3162300" cy="0"/>
          </a:xfrm>
          <a:prstGeom prst="line">
            <a:avLst/>
          </a:prstGeom>
          <a:noFill/>
          <a:ln w="9525">
            <a:solidFill>
              <a:srgbClr val="B7C7D1"/>
            </a:solidFill>
            <a:prstDash val="solid"/>
          </a:ln>
        </p:spPr>
      </p:sp>
      <p:sp>
        <p:nvSpPr>
          <p:cNvPr id="30" name="Text 28"/>
          <p:cNvSpPr txBox="1"/>
          <p:nvPr/>
        </p:nvSpPr>
        <p:spPr>
          <a:xfrm>
            <a:off x="4514850" y="392430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足が地面を滑る</a:t>
            </a:r>
            <a:endParaRPr lang="en-US" sz="1400" dirty="0"/>
          </a:p>
        </p:txBody>
      </p:sp>
      <p:sp>
        <p:nvSpPr>
          <p:cNvPr id="31" name="Text 29"/>
          <p:cNvSpPr txBox="1"/>
          <p:nvPr/>
        </p:nvSpPr>
        <p:spPr>
          <a:xfrm>
            <a:off x="6838950" y="3924300"/>
            <a:ext cx="838200" cy="419100"/>
          </a:xfrm>
          <a:prstGeom prst="rect">
            <a:avLst/>
          </a:prstGeom>
          <a:noFill/>
          <a:ln/>
        </p:spPr>
        <p:txBody>
          <a:bodyPr wrap="square" lIns="0" tIns="0" rIns="0" bIns="0" rtlCol="0" anchor="ctr"/>
          <a:lstStyle/>
          <a:p>
            <a:pPr algn="r" indent="0" marL="0">
              <a:buNone/>
            </a:pPr>
            <a:r>
              <a:rPr lang="en-US" sz="1600" b="1" dirty="0">
                <a:solidFill>
                  <a:srgbClr val="E8783F"/>
                </a:solidFill>
                <a:latin typeface="Yu Gothic" pitchFamily="34" charset="0"/>
                <a:ea typeface="Yu Gothic" pitchFamily="34" charset="-122"/>
                <a:cs typeface="Yu Gothic" pitchFamily="34" charset="-120"/>
              </a:rPr>
              <a:t>−0.25</a:t>
            </a:r>
            <a:endParaRPr lang="en-US" sz="1600" dirty="0"/>
          </a:p>
        </p:txBody>
      </p:sp>
      <p:sp>
        <p:nvSpPr>
          <p:cNvPr id="32" name="Shape 30"/>
          <p:cNvSpPr/>
          <p:nvPr/>
        </p:nvSpPr>
        <p:spPr>
          <a:xfrm>
            <a:off x="4514850" y="4381500"/>
            <a:ext cx="3162300" cy="0"/>
          </a:xfrm>
          <a:prstGeom prst="line">
            <a:avLst/>
          </a:prstGeom>
          <a:noFill/>
          <a:ln w="9525">
            <a:solidFill>
              <a:srgbClr val="B7C7D1"/>
            </a:solidFill>
            <a:prstDash val="solid"/>
          </a:ln>
        </p:spPr>
      </p:sp>
      <p:sp>
        <p:nvSpPr>
          <p:cNvPr id="33" name="Text 31"/>
          <p:cNvSpPr txBox="1"/>
          <p:nvPr/>
        </p:nvSpPr>
        <p:spPr>
          <a:xfrm>
            <a:off x="4514850" y="44386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出力を急に変える</a:t>
            </a:r>
            <a:endParaRPr lang="en-US" sz="1400" dirty="0"/>
          </a:p>
        </p:txBody>
      </p:sp>
      <p:sp>
        <p:nvSpPr>
          <p:cNvPr id="34" name="Text 32"/>
          <p:cNvSpPr txBox="1"/>
          <p:nvPr/>
        </p:nvSpPr>
        <p:spPr>
          <a:xfrm>
            <a:off x="6838950" y="4438650"/>
            <a:ext cx="838200" cy="419100"/>
          </a:xfrm>
          <a:prstGeom prst="rect">
            <a:avLst/>
          </a:prstGeom>
          <a:noFill/>
          <a:ln/>
        </p:spPr>
        <p:txBody>
          <a:bodyPr wrap="square" lIns="0" tIns="0" rIns="0" bIns="0" rtlCol="0" anchor="ctr"/>
          <a:lstStyle/>
          <a:p>
            <a:pPr algn="r" indent="0" marL="0">
              <a:buNone/>
            </a:pPr>
            <a:r>
              <a:rPr lang="en-US" sz="1600" b="1" dirty="0">
                <a:solidFill>
                  <a:srgbClr val="E8783F"/>
                </a:solidFill>
                <a:latin typeface="Yu Gothic" pitchFamily="34" charset="0"/>
                <a:ea typeface="Yu Gothic" pitchFamily="34" charset="-122"/>
                <a:cs typeface="Yu Gothic" pitchFamily="34" charset="-120"/>
              </a:rPr>
              <a:t>−0.01</a:t>
            </a:r>
            <a:endParaRPr lang="en-US" sz="1600" dirty="0"/>
          </a:p>
        </p:txBody>
      </p:sp>
      <p:sp>
        <p:nvSpPr>
          <p:cNvPr id="35" name="Shape 33"/>
          <p:cNvSpPr/>
          <p:nvPr/>
        </p:nvSpPr>
        <p:spPr>
          <a:xfrm>
            <a:off x="4514850" y="4895850"/>
            <a:ext cx="3162300" cy="0"/>
          </a:xfrm>
          <a:prstGeom prst="line">
            <a:avLst/>
          </a:prstGeom>
          <a:noFill/>
          <a:ln w="9525">
            <a:solidFill>
              <a:srgbClr val="B7C7D1"/>
            </a:solidFill>
            <a:prstDash val="solid"/>
          </a:ln>
        </p:spPr>
      </p:sp>
      <p:sp>
        <p:nvSpPr>
          <p:cNvPr id="36" name="Text 34"/>
          <p:cNvSpPr txBox="1"/>
          <p:nvPr/>
        </p:nvSpPr>
        <p:spPr>
          <a:xfrm>
            <a:off x="4514850" y="495300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トルクを使いすぎる</a:t>
            </a:r>
            <a:endParaRPr lang="en-US" sz="1400" dirty="0"/>
          </a:p>
        </p:txBody>
      </p:sp>
      <p:sp>
        <p:nvSpPr>
          <p:cNvPr id="37" name="Text 35"/>
          <p:cNvSpPr txBox="1"/>
          <p:nvPr/>
        </p:nvSpPr>
        <p:spPr>
          <a:xfrm>
            <a:off x="6838950" y="4953000"/>
            <a:ext cx="838200" cy="419100"/>
          </a:xfrm>
          <a:prstGeom prst="rect">
            <a:avLst/>
          </a:prstGeom>
          <a:noFill/>
          <a:ln/>
        </p:spPr>
        <p:txBody>
          <a:bodyPr wrap="square" lIns="0" tIns="0" rIns="0" bIns="0" rtlCol="0" anchor="ctr"/>
          <a:lstStyle/>
          <a:p>
            <a:pPr algn="r" indent="0" marL="0">
              <a:buNone/>
            </a:pPr>
            <a:r>
              <a:rPr lang="en-US" sz="1600" b="1" dirty="0">
                <a:solidFill>
                  <a:srgbClr val="E8783F"/>
                </a:solidFill>
                <a:latin typeface="Yu Gothic" pitchFamily="34" charset="0"/>
                <a:ea typeface="Yu Gothic" pitchFamily="34" charset="-122"/>
                <a:cs typeface="Yu Gothic" pitchFamily="34" charset="-120"/>
              </a:rPr>
              <a:t>−10⁻⁵</a:t>
            </a:r>
            <a:endParaRPr lang="en-US" sz="1600" dirty="0"/>
          </a:p>
        </p:txBody>
      </p:sp>
      <p:sp>
        <p:nvSpPr>
          <p:cNvPr id="38" name="Shape 36"/>
          <p:cNvSpPr/>
          <p:nvPr/>
        </p:nvSpPr>
        <p:spPr>
          <a:xfrm>
            <a:off x="8058150" y="1809750"/>
            <a:ext cx="3505200" cy="3810000"/>
          </a:xfrm>
          <a:prstGeom prst="rect">
            <a:avLst/>
          </a:prstGeom>
          <a:solidFill>
            <a:srgbClr val="F3EEE6"/>
          </a:solidFill>
          <a:ln w="19050">
            <a:solidFill>
              <a:srgbClr val="102B46"/>
            </a:solidFill>
            <a:prstDash val="solid"/>
          </a:ln>
        </p:spPr>
      </p:sp>
      <p:sp>
        <p:nvSpPr>
          <p:cNvPr id="39" name="Text 37"/>
          <p:cNvSpPr txBox="1"/>
          <p:nvPr/>
        </p:nvSpPr>
        <p:spPr>
          <a:xfrm>
            <a:off x="8229600" y="1943100"/>
            <a:ext cx="2286000" cy="3048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安全に動く</a:t>
            </a:r>
            <a:endParaRPr lang="en-US" sz="1900" dirty="0"/>
          </a:p>
        </p:txBody>
      </p:sp>
      <p:sp>
        <p:nvSpPr>
          <p:cNvPr id="40" name="Text 38"/>
          <p:cNvSpPr txBox="1"/>
          <p:nvPr/>
        </p:nvSpPr>
        <p:spPr>
          <a:xfrm>
            <a:off x="10306050" y="1962150"/>
            <a:ext cx="1104900" cy="266700"/>
          </a:xfrm>
          <a:prstGeom prst="rect">
            <a:avLst/>
          </a:prstGeom>
          <a:solidFill>
            <a:srgbClr val="102B46"/>
          </a:solid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叱る（−）</a:t>
            </a:r>
            <a:endParaRPr lang="en-US" sz="1200" dirty="0"/>
          </a:p>
        </p:txBody>
      </p:sp>
      <p:sp>
        <p:nvSpPr>
          <p:cNvPr id="41" name="Text 39"/>
          <p:cNvSpPr txBox="1"/>
          <p:nvPr/>
        </p:nvSpPr>
        <p:spPr>
          <a:xfrm>
            <a:off x="8229600" y="23812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股・太ももが地面に当たる</a:t>
            </a:r>
            <a:endParaRPr lang="en-US" sz="1400" dirty="0"/>
          </a:p>
        </p:txBody>
      </p:sp>
      <p:sp>
        <p:nvSpPr>
          <p:cNvPr id="42" name="Text 40"/>
          <p:cNvSpPr txBox="1"/>
          <p:nvPr/>
        </p:nvSpPr>
        <p:spPr>
          <a:xfrm>
            <a:off x="10553700" y="2381250"/>
            <a:ext cx="838200" cy="419100"/>
          </a:xfrm>
          <a:prstGeom prst="rect">
            <a:avLst/>
          </a:prstGeom>
          <a:noFill/>
          <a:ln/>
        </p:spPr>
        <p:txBody>
          <a:bodyPr wrap="square" lIns="0" tIns="0" rIns="0" bIns="0" rtlCol="0" anchor="ctr"/>
          <a:lstStyle/>
          <a:p>
            <a:pPr algn="r" indent="0" marL="0">
              <a:buNone/>
            </a:pPr>
            <a:r>
              <a:rPr lang="en-US" sz="1600" b="1" dirty="0">
                <a:solidFill>
                  <a:srgbClr val="102B46"/>
                </a:solidFill>
                <a:latin typeface="Yu Gothic" pitchFamily="34" charset="0"/>
                <a:ea typeface="Yu Gothic" pitchFamily="34" charset="-122"/>
                <a:cs typeface="Yu Gothic" pitchFamily="34" charset="-120"/>
              </a:rPr>
              <a:t>−1.0</a:t>
            </a:r>
            <a:endParaRPr lang="en-US" sz="1600" dirty="0"/>
          </a:p>
        </p:txBody>
      </p:sp>
      <p:sp>
        <p:nvSpPr>
          <p:cNvPr id="43" name="Shape 41"/>
          <p:cNvSpPr/>
          <p:nvPr/>
        </p:nvSpPr>
        <p:spPr>
          <a:xfrm>
            <a:off x="8229600" y="2838450"/>
            <a:ext cx="3162300" cy="0"/>
          </a:xfrm>
          <a:prstGeom prst="line">
            <a:avLst/>
          </a:prstGeom>
          <a:noFill/>
          <a:ln w="9525">
            <a:solidFill>
              <a:srgbClr val="B7C7D1"/>
            </a:solidFill>
            <a:prstDash val="solid"/>
          </a:ln>
        </p:spPr>
      </p:sp>
      <p:sp>
        <p:nvSpPr>
          <p:cNvPr id="44" name="Text 42"/>
          <p:cNvSpPr txBox="1"/>
          <p:nvPr/>
        </p:nvSpPr>
        <p:spPr>
          <a:xfrm>
            <a:off x="8229600" y="289560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可動域の限界に近づく</a:t>
            </a:r>
            <a:endParaRPr lang="en-US" sz="1400" dirty="0"/>
          </a:p>
        </p:txBody>
      </p:sp>
      <p:sp>
        <p:nvSpPr>
          <p:cNvPr id="45" name="Text 43"/>
          <p:cNvSpPr txBox="1"/>
          <p:nvPr/>
        </p:nvSpPr>
        <p:spPr>
          <a:xfrm>
            <a:off x="10553700" y="2895600"/>
            <a:ext cx="838200" cy="419100"/>
          </a:xfrm>
          <a:prstGeom prst="rect">
            <a:avLst/>
          </a:prstGeom>
          <a:noFill/>
          <a:ln/>
        </p:spPr>
        <p:txBody>
          <a:bodyPr wrap="square" lIns="0" tIns="0" rIns="0" bIns="0" rtlCol="0" anchor="ctr"/>
          <a:lstStyle/>
          <a:p>
            <a:pPr algn="r" indent="0" marL="0">
              <a:buNone/>
            </a:pPr>
            <a:r>
              <a:rPr lang="en-US" sz="1600" b="1" dirty="0">
                <a:solidFill>
                  <a:srgbClr val="102B46"/>
                </a:solidFill>
                <a:latin typeface="Yu Gothic" pitchFamily="34" charset="0"/>
                <a:ea typeface="Yu Gothic" pitchFamily="34" charset="-122"/>
                <a:cs typeface="Yu Gothic" pitchFamily="34" charset="-120"/>
              </a:rPr>
              <a:t>−1.0</a:t>
            </a:r>
            <a:endParaRPr lang="en-US" sz="1600" dirty="0"/>
          </a:p>
        </p:txBody>
      </p:sp>
      <p:sp>
        <p:nvSpPr>
          <p:cNvPr id="46" name="Shape 44"/>
          <p:cNvSpPr/>
          <p:nvPr/>
        </p:nvSpPr>
        <p:spPr>
          <a:xfrm>
            <a:off x="8229600" y="3352800"/>
            <a:ext cx="3162300" cy="0"/>
          </a:xfrm>
          <a:prstGeom prst="line">
            <a:avLst/>
          </a:prstGeom>
          <a:noFill/>
          <a:ln w="9525">
            <a:solidFill>
              <a:srgbClr val="B7C7D1"/>
            </a:solidFill>
            <a:prstDash val="solid"/>
          </a:ln>
        </p:spPr>
      </p:sp>
      <p:sp>
        <p:nvSpPr>
          <p:cNvPr id="47" name="Text 45"/>
          <p:cNvSpPr txBox="1"/>
          <p:nvPr/>
        </p:nvSpPr>
        <p:spPr>
          <a:xfrm>
            <a:off x="8229600" y="340995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股が基準姿勢からずれる</a:t>
            </a:r>
            <a:endParaRPr lang="en-US" sz="1400" dirty="0"/>
          </a:p>
        </p:txBody>
      </p:sp>
      <p:sp>
        <p:nvSpPr>
          <p:cNvPr id="48" name="Text 46"/>
          <p:cNvSpPr txBox="1"/>
          <p:nvPr/>
        </p:nvSpPr>
        <p:spPr>
          <a:xfrm>
            <a:off x="10553700" y="3409950"/>
            <a:ext cx="838200" cy="419100"/>
          </a:xfrm>
          <a:prstGeom prst="rect">
            <a:avLst/>
          </a:prstGeom>
          <a:noFill/>
          <a:ln/>
        </p:spPr>
        <p:txBody>
          <a:bodyPr wrap="square" lIns="0" tIns="0" rIns="0" bIns="0" rtlCol="0" anchor="ctr"/>
          <a:lstStyle/>
          <a:p>
            <a:pPr algn="r" indent="0" marL="0">
              <a:buNone/>
            </a:pPr>
            <a:r>
              <a:rPr lang="en-US" sz="1600" b="1" dirty="0">
                <a:solidFill>
                  <a:srgbClr val="102B46"/>
                </a:solidFill>
                <a:latin typeface="Yu Gothic" pitchFamily="34" charset="0"/>
                <a:ea typeface="Yu Gothic" pitchFamily="34" charset="-122"/>
                <a:cs typeface="Yu Gothic" pitchFamily="34" charset="-120"/>
              </a:rPr>
              <a:t>−0.1</a:t>
            </a:r>
            <a:endParaRPr lang="en-US" sz="1600" dirty="0"/>
          </a:p>
        </p:txBody>
      </p:sp>
      <p:sp>
        <p:nvSpPr>
          <p:cNvPr id="49" name="Shape 47"/>
          <p:cNvSpPr/>
          <p:nvPr/>
        </p:nvSpPr>
        <p:spPr>
          <a:xfrm>
            <a:off x="8229600" y="3867150"/>
            <a:ext cx="3162300" cy="0"/>
          </a:xfrm>
          <a:prstGeom prst="line">
            <a:avLst/>
          </a:prstGeom>
          <a:noFill/>
          <a:ln w="9525">
            <a:solidFill>
              <a:srgbClr val="B7C7D1"/>
            </a:solidFill>
            <a:prstDash val="solid"/>
          </a:ln>
        </p:spPr>
      </p:sp>
      <p:sp>
        <p:nvSpPr>
          <p:cNvPr id="50" name="Text 48"/>
          <p:cNvSpPr txBox="1"/>
          <p:nvPr/>
        </p:nvSpPr>
        <p:spPr>
          <a:xfrm>
            <a:off x="8229600" y="3924300"/>
            <a:ext cx="2381250" cy="419100"/>
          </a:xfrm>
          <a:prstGeom prst="rect">
            <a:avLst/>
          </a:prstGeom>
          <a:noFill/>
          <a:ln/>
        </p:spPr>
        <p:txBody>
          <a:bodyPr wrap="square" lIns="0" tIns="0" rIns="0" bIns="0" rtlCol="0" anchor="ctr"/>
          <a:lstStyle/>
          <a:p>
            <a:pPr algn="l" indent="0" marL="0">
              <a:buNone/>
            </a:pPr>
            <a:r>
              <a:rPr lang="en-US" sz="1400" dirty="0">
                <a:solidFill>
                  <a:srgbClr val="17212B"/>
                </a:solidFill>
                <a:latin typeface="Yu Gothic" pitchFamily="34" charset="0"/>
                <a:ea typeface="Yu Gothic" pitchFamily="34" charset="-122"/>
                <a:cs typeface="Yu Gothic" pitchFamily="34" charset="-120"/>
              </a:rPr>
              <a:t>膝が基準姿勢からずれる</a:t>
            </a:r>
            <a:endParaRPr lang="en-US" sz="1400" dirty="0"/>
          </a:p>
        </p:txBody>
      </p:sp>
      <p:sp>
        <p:nvSpPr>
          <p:cNvPr id="51" name="Text 49"/>
          <p:cNvSpPr txBox="1"/>
          <p:nvPr/>
        </p:nvSpPr>
        <p:spPr>
          <a:xfrm>
            <a:off x="10553700" y="3924300"/>
            <a:ext cx="838200" cy="419100"/>
          </a:xfrm>
          <a:prstGeom prst="rect">
            <a:avLst/>
          </a:prstGeom>
          <a:noFill/>
          <a:ln/>
        </p:spPr>
        <p:txBody>
          <a:bodyPr wrap="square" lIns="0" tIns="0" rIns="0" bIns="0" rtlCol="0" anchor="ctr"/>
          <a:lstStyle/>
          <a:p>
            <a:pPr algn="r" indent="0" marL="0">
              <a:buNone/>
            </a:pPr>
            <a:r>
              <a:rPr lang="en-US" sz="1600" b="1" dirty="0">
                <a:solidFill>
                  <a:srgbClr val="102B46"/>
                </a:solidFill>
                <a:latin typeface="Yu Gothic" pitchFamily="34" charset="0"/>
                <a:ea typeface="Yu Gothic" pitchFamily="34" charset="-122"/>
                <a:cs typeface="Yu Gothic" pitchFamily="34" charset="-120"/>
              </a:rPr>
              <a:t>−0.01</a:t>
            </a:r>
            <a:endParaRPr lang="en-US" sz="1600" dirty="0"/>
          </a:p>
        </p:txBody>
      </p:sp>
      <p:sp>
        <p:nvSpPr>
          <p:cNvPr id="52" name="Text 50"/>
          <p:cNvSpPr txBox="1"/>
          <p:nvPr/>
        </p:nvSpPr>
        <p:spPr>
          <a:xfrm>
            <a:off x="628650" y="5810250"/>
            <a:ext cx="10934700" cy="381000"/>
          </a:xfrm>
          <a:prstGeom prst="rect">
            <a:avLst/>
          </a:prstGeom>
          <a:solidFill>
            <a:srgbClr val="E8F1F5"/>
          </a:solidFill>
          <a:ln/>
        </p:spPr>
        <p:txBody>
          <a:bodyPr wrap="square" lIns="0" tIns="0" rIns="0" bIns="0" rtlCol="0" anchor="ctr"/>
          <a:lstStyle/>
          <a:p>
            <a:pPr algn="ctr" indent="0" marL="0">
              <a:buNone/>
            </a:pPr>
            <a:r>
              <a:rPr lang="en-US" sz="1500" b="1" dirty="0">
                <a:solidFill>
                  <a:srgbClr val="102B46"/>
                </a:solidFill>
                <a:latin typeface="Yu Gothic" pitchFamily="34" charset="0"/>
                <a:ea typeface="Yu Gothic" pitchFamily="34" charset="-122"/>
                <a:cs typeface="Yu Gothic" pitchFamily="34" charset="-120"/>
              </a:rPr>
              <a:t>終了条件（エピソードを打ち切ってやり直す）：胴体が地面に触れる／胴体が約74°（1.3 rad）以上傾く／20秒経過</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報酬関数（2）ほめる報酬：速度追従と足上げ</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5715000" cy="1352550"/>
          </a:xfrm>
          <a:prstGeom prst="rect">
            <a:avLst/>
          </a:prstGeom>
          <a:solidFill>
            <a:srgbClr val="FFFFFF"/>
          </a:solidFill>
          <a:ln w="12700">
            <a:solidFill>
              <a:srgbClr val="B7C7D1"/>
            </a:solidFill>
            <a:prstDash val="solid"/>
          </a:ln>
        </p:spPr>
      </p:sp>
      <p:sp>
        <p:nvSpPr>
          <p:cNvPr id="7" name="Text 5"/>
          <p:cNvSpPr txBox="1"/>
          <p:nvPr/>
        </p:nvSpPr>
        <p:spPr>
          <a:xfrm>
            <a:off x="819150" y="1333500"/>
            <a:ext cx="4000500" cy="266700"/>
          </a:xfrm>
          <a:prstGeom prst="rect">
            <a:avLst/>
          </a:prstGeom>
          <a:noFill/>
          <a:ln/>
        </p:spPr>
        <p:txBody>
          <a:bodyPr wrap="square" lIns="0" tIns="0" rIns="0" bIns="0" rtlCol="0" anchor="ctr"/>
          <a:lstStyle/>
          <a:p>
            <a:pPr algn="l" indent="0" marL="0">
              <a:buNone/>
            </a:pPr>
            <a:r>
              <a:rPr lang="en-US" sz="1700" b="1" dirty="0">
                <a:solidFill>
                  <a:srgbClr val="32A5B5"/>
                </a:solidFill>
                <a:latin typeface="Yu Gothic" pitchFamily="34" charset="0"/>
                <a:ea typeface="Yu Gothic" pitchFamily="34" charset="-122"/>
                <a:cs typeface="Yu Gothic" pitchFamily="34" charset="-120"/>
              </a:rPr>
              <a:t>① 速度追従（前後・左右）</a:t>
            </a:r>
            <a:endParaRPr lang="en-US" sz="1700" dirty="0"/>
          </a:p>
        </p:txBody>
      </p:sp>
      <p:sp>
        <p:nvSpPr>
          <p:cNvPr id="8" name="Text 6"/>
          <p:cNvSpPr txBox="1"/>
          <p:nvPr/>
        </p:nvSpPr>
        <p:spPr>
          <a:xfrm>
            <a:off x="4953000" y="1333500"/>
            <a:ext cx="1238250" cy="2667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w = 1.0</a:t>
            </a:r>
            <a:endParaRPr lang="en-US" sz="1700" dirty="0"/>
          </a:p>
        </p:txBody>
      </p:sp>
      <p:sp>
        <p:nvSpPr>
          <p:cNvPr id="9" name="Text 7"/>
          <p:cNvSpPr txBox="1"/>
          <p:nvPr/>
        </p:nvSpPr>
        <p:spPr>
          <a:xfrm>
            <a:off x="819150" y="1657350"/>
            <a:ext cx="5334000" cy="3810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r = exp( −‖v*</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xy</a:t>
            </a:r>
            <a:pPr algn="l" indent="0" marL="0">
              <a:buNone/>
            </a:pPr>
            <a:r>
              <a:rPr lang="en-US" sz="1900" b="1" dirty="0">
                <a:solidFill>
                  <a:srgbClr val="17212B"/>
                </a:solidFill>
                <a:latin typeface="Yu Gothic" pitchFamily="34" charset="0"/>
                <a:ea typeface="Yu Gothic" pitchFamily="34" charset="-122"/>
                <a:cs typeface="Yu Gothic" pitchFamily="34" charset="-120"/>
              </a:rPr>
              <a:t> − v</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xy</a:t>
            </a:r>
            <a:pPr algn="l" indent="0" marL="0">
              <a:buNone/>
            </a:pPr>
            <a:r>
              <a:rPr lang="en-US" sz="1900" b="1" dirty="0">
                <a:solidFill>
                  <a:srgbClr val="17212B"/>
                </a:solidFill>
                <a:latin typeface="Yu Gothic" pitchFamily="34" charset="0"/>
                <a:ea typeface="Yu Gothic" pitchFamily="34" charset="-122"/>
                <a:cs typeface="Yu Gothic" pitchFamily="34" charset="-120"/>
              </a:rPr>
              <a:t>‖² / σ² ),  σ = 0.35</a:t>
            </a:r>
            <a:endParaRPr lang="en-US" sz="1900" dirty="0"/>
          </a:p>
        </p:txBody>
      </p:sp>
      <p:sp>
        <p:nvSpPr>
          <p:cNvPr id="10" name="Text 8"/>
          <p:cNvSpPr txBox="1"/>
          <p:nvPr/>
        </p:nvSpPr>
        <p:spPr>
          <a:xfrm>
            <a:off x="819150" y="2076450"/>
            <a:ext cx="5334000" cy="457200"/>
          </a:xfrm>
          <a:prstGeom prst="rect">
            <a:avLst/>
          </a:prstGeom>
          <a:noFill/>
          <a:ln/>
        </p:spPr>
        <p:txBody>
          <a:bodyPr wrap="square" lIns="0" tIns="0" rIns="0" bIns="0" rtlCol="0" anchor="t"/>
          <a:lstStyle/>
          <a:p>
            <a:pPr algn="l" indent="0" marL="0">
              <a:buNone/>
            </a:pPr>
            <a:r>
              <a:rPr lang="en-US" sz="1300" dirty="0">
                <a:solidFill>
                  <a:srgbClr val="5E6A73"/>
                </a:solidFill>
                <a:latin typeface="Yu Gothic" pitchFamily="34" charset="0"/>
                <a:ea typeface="Yu Gothic" pitchFamily="34" charset="-122"/>
                <a:cs typeface="Yu Gothic" pitchFamily="34" charset="-120"/>
              </a:rPr>
              <a:t>v*：コントローラーの速度指令、v：胴体の実際の速度。ぴったり一致で1、ずれるほど0に近づく</a:t>
            </a:r>
            <a:endParaRPr lang="en-US" sz="1300" dirty="0"/>
          </a:p>
        </p:txBody>
      </p:sp>
      <p:sp>
        <p:nvSpPr>
          <p:cNvPr id="11" name="Shape 9"/>
          <p:cNvSpPr/>
          <p:nvPr/>
        </p:nvSpPr>
        <p:spPr>
          <a:xfrm>
            <a:off x="628650" y="2724150"/>
            <a:ext cx="5715000" cy="1352550"/>
          </a:xfrm>
          <a:prstGeom prst="rect">
            <a:avLst/>
          </a:prstGeom>
          <a:solidFill>
            <a:srgbClr val="FFFFFF"/>
          </a:solidFill>
          <a:ln w="12700">
            <a:solidFill>
              <a:srgbClr val="B7C7D1"/>
            </a:solidFill>
            <a:prstDash val="solid"/>
          </a:ln>
        </p:spPr>
      </p:sp>
      <p:sp>
        <p:nvSpPr>
          <p:cNvPr id="12" name="Text 10"/>
          <p:cNvSpPr txBox="1"/>
          <p:nvPr/>
        </p:nvSpPr>
        <p:spPr>
          <a:xfrm>
            <a:off x="819150" y="2819400"/>
            <a:ext cx="4000500" cy="266700"/>
          </a:xfrm>
          <a:prstGeom prst="rect">
            <a:avLst/>
          </a:prstGeom>
          <a:noFill/>
          <a:ln/>
        </p:spPr>
        <p:txBody>
          <a:bodyPr wrap="square" lIns="0" tIns="0" rIns="0" bIns="0" rtlCol="0" anchor="ctr"/>
          <a:lstStyle/>
          <a:p>
            <a:pPr algn="l" indent="0" marL="0">
              <a:buNone/>
            </a:pPr>
            <a:r>
              <a:rPr lang="en-US" sz="1700" b="1" dirty="0">
                <a:solidFill>
                  <a:srgbClr val="32A5B5"/>
                </a:solidFill>
                <a:latin typeface="Yu Gothic" pitchFamily="34" charset="0"/>
                <a:ea typeface="Yu Gothic" pitchFamily="34" charset="-122"/>
                <a:cs typeface="Yu Gothic" pitchFamily="34" charset="-120"/>
              </a:rPr>
              <a:t>② 旋回追従</a:t>
            </a:r>
            <a:endParaRPr lang="en-US" sz="1700" dirty="0"/>
          </a:p>
        </p:txBody>
      </p:sp>
      <p:sp>
        <p:nvSpPr>
          <p:cNvPr id="13" name="Text 11"/>
          <p:cNvSpPr txBox="1"/>
          <p:nvPr/>
        </p:nvSpPr>
        <p:spPr>
          <a:xfrm>
            <a:off x="4953000" y="2819400"/>
            <a:ext cx="1238250" cy="2667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w = 0.5</a:t>
            </a:r>
            <a:endParaRPr lang="en-US" sz="1700" dirty="0"/>
          </a:p>
        </p:txBody>
      </p:sp>
      <p:sp>
        <p:nvSpPr>
          <p:cNvPr id="14" name="Text 12"/>
          <p:cNvSpPr txBox="1"/>
          <p:nvPr/>
        </p:nvSpPr>
        <p:spPr>
          <a:xfrm>
            <a:off x="819150" y="3143250"/>
            <a:ext cx="5334000" cy="3810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r = exp( −(ω*</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z</a:t>
            </a:r>
            <a:pPr algn="l" indent="0" marL="0">
              <a:buNone/>
            </a:pPr>
            <a:r>
              <a:rPr lang="en-US" sz="1900" b="1" dirty="0">
                <a:solidFill>
                  <a:srgbClr val="17212B"/>
                </a:solidFill>
                <a:latin typeface="Yu Gothic" pitchFamily="34" charset="0"/>
                <a:ea typeface="Yu Gothic" pitchFamily="34" charset="-122"/>
                <a:cs typeface="Yu Gothic" pitchFamily="34" charset="-120"/>
              </a:rPr>
              <a:t> − ω</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z</a:t>
            </a:r>
            <a:pPr algn="l" indent="0" marL="0">
              <a:buNone/>
            </a:pPr>
            <a:r>
              <a:rPr lang="en-US" sz="1900" b="1" dirty="0">
                <a:solidFill>
                  <a:srgbClr val="17212B"/>
                </a:solidFill>
                <a:latin typeface="Yu Gothic" pitchFamily="34" charset="0"/>
                <a:ea typeface="Yu Gothic" pitchFamily="34" charset="-122"/>
                <a:cs typeface="Yu Gothic" pitchFamily="34" charset="-120"/>
              </a:rPr>
              <a:t>)² / σ² ),  σ = 0.5</a:t>
            </a:r>
            <a:endParaRPr lang="en-US" sz="1900" dirty="0"/>
          </a:p>
        </p:txBody>
      </p:sp>
      <p:sp>
        <p:nvSpPr>
          <p:cNvPr id="15" name="Text 13"/>
          <p:cNvSpPr txBox="1"/>
          <p:nvPr/>
        </p:nvSpPr>
        <p:spPr>
          <a:xfrm>
            <a:off x="819150" y="3562350"/>
            <a:ext cx="5334000" cy="457200"/>
          </a:xfrm>
          <a:prstGeom prst="rect">
            <a:avLst/>
          </a:prstGeom>
          <a:noFill/>
          <a:ln/>
        </p:spPr>
        <p:txBody>
          <a:bodyPr wrap="square" lIns="0" tIns="0" rIns="0" bIns="0" rtlCol="0" anchor="t"/>
          <a:lstStyle/>
          <a:p>
            <a:pPr algn="l" indent="0" marL="0">
              <a:buNone/>
            </a:pPr>
            <a:r>
              <a:rPr lang="en-US" sz="1300" dirty="0">
                <a:solidFill>
                  <a:srgbClr val="5E6A73"/>
                </a:solidFill>
                <a:latin typeface="Yu Gothic" pitchFamily="34" charset="0"/>
                <a:ea typeface="Yu Gothic" pitchFamily="34" charset="-122"/>
                <a:cs typeface="Yu Gothic" pitchFamily="34" charset="-120"/>
              </a:rPr>
              <a:t>ω*：旋回（ヨー）速度の指令、ω：実際の旋回速度</a:t>
            </a:r>
            <a:endParaRPr lang="en-US" sz="1300" dirty="0"/>
          </a:p>
        </p:txBody>
      </p:sp>
      <p:sp>
        <p:nvSpPr>
          <p:cNvPr id="16" name="Shape 14"/>
          <p:cNvSpPr/>
          <p:nvPr/>
        </p:nvSpPr>
        <p:spPr>
          <a:xfrm>
            <a:off x="628650" y="4210050"/>
            <a:ext cx="5715000" cy="1352550"/>
          </a:xfrm>
          <a:prstGeom prst="rect">
            <a:avLst/>
          </a:prstGeom>
          <a:solidFill>
            <a:srgbClr val="FFFFFF"/>
          </a:solidFill>
          <a:ln w="12700">
            <a:solidFill>
              <a:srgbClr val="B7C7D1"/>
            </a:solidFill>
            <a:prstDash val="solid"/>
          </a:ln>
        </p:spPr>
      </p:sp>
      <p:sp>
        <p:nvSpPr>
          <p:cNvPr id="17" name="Text 15"/>
          <p:cNvSpPr txBox="1"/>
          <p:nvPr/>
        </p:nvSpPr>
        <p:spPr>
          <a:xfrm>
            <a:off x="819150" y="4305300"/>
            <a:ext cx="4000500" cy="266700"/>
          </a:xfrm>
          <a:prstGeom prst="rect">
            <a:avLst/>
          </a:prstGeom>
          <a:noFill/>
          <a:ln/>
        </p:spPr>
        <p:txBody>
          <a:bodyPr wrap="square" lIns="0" tIns="0" rIns="0" bIns="0" rtlCol="0" anchor="ctr"/>
          <a:lstStyle/>
          <a:p>
            <a:pPr algn="l" indent="0" marL="0">
              <a:buNone/>
            </a:pPr>
            <a:r>
              <a:rPr lang="en-US" sz="1700" b="1" dirty="0">
                <a:solidFill>
                  <a:srgbClr val="32A5B5"/>
                </a:solidFill>
                <a:latin typeface="Yu Gothic" pitchFamily="34" charset="0"/>
                <a:ea typeface="Yu Gothic" pitchFamily="34" charset="-122"/>
                <a:cs typeface="Yu Gothic" pitchFamily="34" charset="-120"/>
              </a:rPr>
              <a:t>③ 片足ずつ地面から離す</a:t>
            </a:r>
            <a:endParaRPr lang="en-US" sz="1700" dirty="0"/>
          </a:p>
        </p:txBody>
      </p:sp>
      <p:sp>
        <p:nvSpPr>
          <p:cNvPr id="18" name="Text 16"/>
          <p:cNvSpPr txBox="1"/>
          <p:nvPr/>
        </p:nvSpPr>
        <p:spPr>
          <a:xfrm>
            <a:off x="4953000" y="4305300"/>
            <a:ext cx="1238250" cy="266700"/>
          </a:xfrm>
          <a:prstGeom prst="rect">
            <a:avLst/>
          </a:prstGeom>
          <a:noFill/>
          <a:ln/>
        </p:spPr>
        <p:txBody>
          <a:bodyPr wrap="square" lIns="0" tIns="0" rIns="0" bIns="0" rtlCol="0" anchor="ctr"/>
          <a:lstStyle/>
          <a:p>
            <a:pPr algn="r" indent="0" marL="0">
              <a:buNone/>
            </a:pPr>
            <a:r>
              <a:rPr lang="en-US" sz="1700" b="1" dirty="0">
                <a:solidFill>
                  <a:srgbClr val="32A5B5"/>
                </a:solidFill>
                <a:latin typeface="Yu Gothic" pitchFamily="34" charset="0"/>
                <a:ea typeface="Yu Gothic" pitchFamily="34" charset="-122"/>
                <a:cs typeface="Yu Gothic" pitchFamily="34" charset="-120"/>
              </a:rPr>
              <a:t>w = 0.25</a:t>
            </a:r>
            <a:endParaRPr lang="en-US" sz="1700" dirty="0"/>
          </a:p>
        </p:txBody>
      </p:sp>
      <p:sp>
        <p:nvSpPr>
          <p:cNvPr id="19" name="Text 17"/>
          <p:cNvSpPr txBox="1"/>
          <p:nvPr/>
        </p:nvSpPr>
        <p:spPr>
          <a:xfrm>
            <a:off x="819150" y="4629150"/>
            <a:ext cx="5334000" cy="3810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r = min( 片足だけ接地している時間, 0.4 s )</a:t>
            </a:r>
            <a:endParaRPr lang="en-US" sz="1900" dirty="0"/>
          </a:p>
        </p:txBody>
      </p:sp>
      <p:sp>
        <p:nvSpPr>
          <p:cNvPr id="20" name="Text 18"/>
          <p:cNvSpPr txBox="1"/>
          <p:nvPr/>
        </p:nvSpPr>
        <p:spPr>
          <a:xfrm>
            <a:off x="819150" y="5048250"/>
            <a:ext cx="5334000" cy="457200"/>
          </a:xfrm>
          <a:prstGeom prst="rect">
            <a:avLst/>
          </a:prstGeom>
          <a:noFill/>
          <a:ln/>
        </p:spPr>
        <p:txBody>
          <a:bodyPr wrap="square" lIns="0" tIns="0" rIns="0" bIns="0" rtlCol="0" anchor="t"/>
          <a:lstStyle/>
          <a:p>
            <a:pPr algn="l" indent="0" marL="0">
              <a:buNone/>
            </a:pPr>
            <a:r>
              <a:rPr lang="en-US" sz="1300" dirty="0">
                <a:solidFill>
                  <a:srgbClr val="5E6A73"/>
                </a:solidFill>
                <a:latin typeface="Yu Gothic" pitchFamily="34" charset="0"/>
                <a:ea typeface="Yu Gothic" pitchFamily="34" charset="-122"/>
                <a:cs typeface="Yu Gothic" pitchFamily="34" charset="-120"/>
              </a:rPr>
              <a:t>両足が同時に着いている／同時に浮いているときは0。速度指令がほぼ0（|v*| ≤ 0.1 m/s）のときも0＝止まる指令では足踏みさせない</a:t>
            </a:r>
            <a:endParaRPr lang="en-US" sz="1300" dirty="0"/>
          </a:p>
        </p:txBody>
      </p:sp>
      <p:graphicFrame>
        <p:nvGraphicFramePr>
          <p:cNvPr id="21" name="Chart 0" descr=""/>
          <p:cNvGraphicFramePr/>
          <p:nvPr/>
        </p:nvGraphicFramePr>
        <p:xfrm>
          <a:off x="6667500" y="1238250"/>
          <a:ext cx="4895850" cy="361950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txBox="1"/>
          <p:nvPr/>
        </p:nvSpPr>
        <p:spPr>
          <a:xfrm>
            <a:off x="6667500" y="4953000"/>
            <a:ext cx="4895850" cy="762000"/>
          </a:xfrm>
          <a:prstGeom prst="rect">
            <a:avLst/>
          </a:prstGeom>
          <a:solidFill>
            <a:srgbClr val="F3EEE6"/>
          </a:solidFill>
          <a:ln/>
        </p:spPr>
        <p:txBody>
          <a:bodyPr wrap="square" lIns="76200" tIns="127000" rIns="127000" bIns="76200" rtlCol="0" anchor="t"/>
          <a:lstStyle/>
          <a:p>
            <a:pPr algn="l" indent="0" marL="0">
              <a:buNone/>
            </a:pPr>
            <a:r>
              <a:rPr lang="en-US" sz="1400" b="1" dirty="0">
                <a:solidFill>
                  <a:srgbClr val="102B46"/>
                </a:solidFill>
                <a:latin typeface="Yu Gothic" pitchFamily="34" charset="0"/>
                <a:ea typeface="Yu Gothic" pitchFamily="34" charset="-122"/>
                <a:cs typeface="Yu Gothic" pitchFamily="34" charset="-120"/>
              </a:rPr>
              <a:t>横に 0.2 m/s 流れたとき：σ=0.5 だと報酬は 15% しか減らないが、σ=0.35 だと 28% 減る → 横に流れる「カニ歩き」を強く叱れる</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報酬関数（3）叱る報酬：式とねらい</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8650" y="1238250"/>
          <a:ext cx="10934700" cy="914400"/>
        </p:xfrm>
        <a:graphic>
          <a:graphicData uri="http://schemas.openxmlformats.org/drawingml/2006/table">
            <a:tbl>
              <a:tblPr/>
              <a:tblGrid>
                <a:gridCol w="1714500"/>
                <a:gridCol w="4000500"/>
                <a:gridCol w="1047750"/>
                <a:gridCol w="4171950"/>
              </a:tblGrid>
              <a:tr h="428625">
                <a:tc>
                  <a:txBody>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項目</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式（記号の意味）</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重み</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ねらい</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上下の揺れ</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v_z²（胴体の上下速度）</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−2.0</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跳ねる・沈み込む歩き方を防ぐ</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左右・前後の揺れ</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ω_x² + ω_y²（胴体の回転速度）</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−0.05</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胴体をふらつかせない</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胴体の傾き</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g_x² + g_y²（胴体から見た重力の横成分）</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−0.5</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胴体を水平に保つ</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足の滑り</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接地中の足の水平速度の大きさ</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−0.25</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床をこすらず、踏んでから進む</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出力の急変</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Σ (a_t − a_{t−1})²</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−0.01</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ガタガタした指令を出さない（実機のモーターを守る）</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トルク</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Σ τ²</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−1×10⁻⁵</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無駄な力を使わない</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股・太ももの接地</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足以外のリンクが1 N以上で地面に触れた数</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−1.0</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膝をついて進むなどの抜け道を防ぐ</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可動域の超過</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関節角が可動範囲を超えた量</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−1.0</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機械的に無理な姿勢を防ぐ</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股のずれ</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Σ |θ − θ基準|（HR・HAA）</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−0.1</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股をひねったまま・開いたまま歩かない</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428625">
                <a:tc>
                  <a:txBody>
                    <a:bodyPr/>
                    <a:lstStyle/>
                    <a:p>
                      <a:pPr algn="l" indent="0" marL="0">
                        <a:buNone/>
                      </a:pPr>
                      <a:r>
                        <a:rPr lang="en-US" sz="1300" b="1" dirty="0">
                          <a:solidFill>
                            <a:srgbClr val="102B46"/>
                          </a:solidFill>
                          <a:latin typeface="Yu Gothic" pitchFamily="34" charset="0"/>
                          <a:ea typeface="Yu Gothic" pitchFamily="34" charset="-122"/>
                          <a:cs typeface="Yu Gothic" pitchFamily="34" charset="-120"/>
                        </a:rPr>
                        <a:t>膝のずれ</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Σ |θ − θ基準|（KFE）</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300" b="1" dirty="0">
                          <a:solidFill>
                            <a:srgbClr val="E8783F"/>
                          </a:solidFill>
                          <a:latin typeface="Yu Gothic" pitchFamily="34" charset="0"/>
                          <a:ea typeface="Yu Gothic" pitchFamily="34" charset="-122"/>
                          <a:cs typeface="Yu Gothic" pitchFamily="34" charset="-120"/>
                        </a:rPr>
                        <a:t>−0.01</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l" indent="0" marL="0">
                        <a:buNone/>
                      </a:pPr>
                      <a:r>
                        <a:rPr lang="en-US" sz="1300" dirty="0">
                          <a:solidFill>
                            <a:srgbClr val="17212B"/>
                          </a:solidFill>
                          <a:latin typeface="Yu Gothic" pitchFamily="34" charset="0"/>
                          <a:ea typeface="Yu Gothic" pitchFamily="34" charset="-122"/>
                          <a:cs typeface="Yu Gothic" pitchFamily="34" charset="-120"/>
                        </a:rPr>
                        <a:t>極端な膝の曲げ方をしない</a:t>
                      </a:r>
                      <a:endParaRPr lang="en-US" sz="13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bl>
          </a:graphicData>
        </a:graphic>
      </p:graphicFrame>
      <p:sp>
        <p:nvSpPr>
          <p:cNvPr id="7" name="Text 4"/>
          <p:cNvSpPr txBox="1"/>
          <p:nvPr/>
        </p:nvSpPr>
        <p:spPr>
          <a:xfrm>
            <a:off x="628650" y="6096000"/>
            <a:ext cx="10934700" cy="285750"/>
          </a:xfrm>
          <a:prstGeom prst="rect">
            <a:avLst/>
          </a:prstGeom>
          <a:noFill/>
          <a:ln/>
        </p:spPr>
        <p:txBody>
          <a:bodyPr wrap="square" lIns="0" tIns="0" rIns="0" bIns="0" rtlCol="0" anchor="ctr"/>
          <a:lstStyle/>
          <a:p>
            <a:pPr algn="ctr" indent="0" marL="0">
              <a:buNone/>
            </a:pPr>
            <a:r>
              <a:rPr lang="en-US" sz="1500" b="1" dirty="0">
                <a:solidFill>
                  <a:srgbClr val="102B46"/>
                </a:solidFill>
                <a:latin typeface="Yu Gothic" pitchFamily="34" charset="0"/>
                <a:ea typeface="Yu Gothic" pitchFamily="34" charset="-122"/>
                <a:cs typeface="Yu Gothic" pitchFamily="34" charset="-120"/>
              </a:rPr>
              <a:t>罰の項目はすべて「値が大きいほど悪い」量にして、負の重みを掛けて足し合わせる</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報酬設計でつまずいた点：最初は1歩も歩かなかった</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5334000" cy="285750"/>
          </a:xfrm>
          <a:prstGeom prst="rect">
            <a:avLst/>
          </a:prstGeom>
          <a:noFill/>
          <a:ln/>
        </p:spPr>
        <p:txBody>
          <a:bodyPr wrap="square" lIns="0" tIns="0" rIns="0" bIns="0" rtlCol="0" anchor="ctr"/>
          <a:lstStyle/>
          <a:p>
            <a:pPr algn="l" indent="0" marL="0">
              <a:buNone/>
            </a:pPr>
            <a:r>
              <a:rPr lang="en-US" sz="1800" b="1" dirty="0">
                <a:solidFill>
                  <a:srgbClr val="C8553D"/>
                </a:solidFill>
                <a:latin typeface="Yu Gothic" pitchFamily="34" charset="0"/>
                <a:ea typeface="Yu Gothic" pitchFamily="34" charset="-122"/>
                <a:cs typeface="Yu Gothic" pitchFamily="34" charset="-120"/>
              </a:rPr>
              <a:t>問題</a:t>
            </a:r>
            <a:endParaRPr lang="en-US" sz="1800" dirty="0"/>
          </a:p>
        </p:txBody>
      </p:sp>
      <p:sp>
        <p:nvSpPr>
          <p:cNvPr id="7" name="Text 5"/>
          <p:cNvSpPr txBox="1"/>
          <p:nvPr/>
        </p:nvSpPr>
        <p:spPr>
          <a:xfrm>
            <a:off x="628650" y="1562100"/>
            <a:ext cx="5334000" cy="60960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見本の設定のまま学習すると、3000回学習しても全員その場で立ち止まった（前進指令 0.5 m/s に対し 0.00 m/s）</a:t>
            </a:r>
            <a:endParaRPr lang="en-US" sz="1500" dirty="0"/>
          </a:p>
        </p:txBody>
      </p:sp>
      <p:sp>
        <p:nvSpPr>
          <p:cNvPr id="8" name="Text 6"/>
          <p:cNvSpPr txBox="1"/>
          <p:nvPr/>
        </p:nvSpPr>
        <p:spPr>
          <a:xfrm>
            <a:off x="628650" y="2286000"/>
            <a:ext cx="5334000" cy="285750"/>
          </a:xfrm>
          <a:prstGeom prst="rect">
            <a:avLst/>
          </a:prstGeom>
          <a:noFill/>
          <a:ln/>
        </p:spPr>
        <p:txBody>
          <a:bodyPr wrap="square" lIns="0" tIns="0" rIns="0" bIns="0" rtlCol="0" anchor="ctr"/>
          <a:lstStyle/>
          <a:p>
            <a:pPr algn="l" indent="0" marL="0">
              <a:buNone/>
            </a:pPr>
            <a:r>
              <a:rPr lang="en-US" sz="1800" b="1" dirty="0">
                <a:solidFill>
                  <a:srgbClr val="E8783F"/>
                </a:solidFill>
                <a:latin typeface="Yu Gothic" pitchFamily="34" charset="0"/>
                <a:ea typeface="Yu Gothic" pitchFamily="34" charset="-122"/>
                <a:cs typeface="Yu Gothic" pitchFamily="34" charset="-120"/>
              </a:rPr>
              <a:t>原因</a:t>
            </a:r>
            <a:endParaRPr lang="en-US" sz="1800" dirty="0"/>
          </a:p>
        </p:txBody>
      </p:sp>
      <p:sp>
        <p:nvSpPr>
          <p:cNvPr id="9" name="Text 7"/>
          <p:cNvSpPr txBox="1"/>
          <p:nvPr/>
        </p:nvSpPr>
        <p:spPr>
          <a:xfrm>
            <a:off x="628650" y="2590800"/>
            <a:ext cx="5334000" cy="1047750"/>
          </a:xfrm>
          <a:prstGeom prst="rect">
            <a:avLst/>
          </a:prstGeom>
          <a:noFill/>
          <a:ln/>
        </p:spPr>
        <p:txBody>
          <a:bodyPr wrap="square" lIns="0" tIns="0" rIns="0" bIns="0" rtlCol="0" anchor="t"/>
          <a:lstStyle/>
          <a:p>
            <a:pPr algn="l" indent="0" marL="0">
              <a:buNone/>
            </a:pPr>
            <a:r>
              <a:rPr lang="en-US" sz="1500" dirty="0">
                <a:solidFill>
                  <a:srgbClr val="17212B"/>
                </a:solidFill>
                <a:latin typeface="Yu Gothic" pitchFamily="34" charset="0"/>
                <a:ea typeface="Yu Gothic" pitchFamily="34" charset="-122"/>
                <a:cs typeface="Yu Gothic" pitchFamily="34" charset="-120"/>
              </a:rPr>
              <a:t>見本の足上げ報酬は「0.2秒以上浮かせて初めてプラス、それより短いとマイナス」。このロボットが自然に出す滞空時間は 0.07〜0.11 秒で、足を上げるほど損をする設計になっていた → 立っているのが一番得</a:t>
            </a:r>
            <a:endParaRPr lang="en-US" sz="1500" dirty="0"/>
          </a:p>
        </p:txBody>
      </p:sp>
      <p:sp>
        <p:nvSpPr>
          <p:cNvPr id="10" name="Text 8"/>
          <p:cNvSpPr txBox="1"/>
          <p:nvPr/>
        </p:nvSpPr>
        <p:spPr>
          <a:xfrm>
            <a:off x="628650" y="3733800"/>
            <a:ext cx="5334000" cy="285750"/>
          </a:xfrm>
          <a:prstGeom prst="rect">
            <a:avLst/>
          </a:prstGeom>
          <a:noFill/>
          <a:ln/>
        </p:spPr>
        <p:txBody>
          <a:bodyPr wrap="square" lIns="0" tIns="0" rIns="0" bIns="0" rtlCol="0" anchor="ctr"/>
          <a:lstStyle/>
          <a:p>
            <a:pPr algn="l" indent="0" marL="0">
              <a:buNone/>
            </a:pPr>
            <a:r>
              <a:rPr lang="en-US" sz="1800" b="1" dirty="0">
                <a:solidFill>
                  <a:srgbClr val="2E8B57"/>
                </a:solidFill>
                <a:latin typeface="Yu Gothic" pitchFamily="34" charset="0"/>
                <a:ea typeface="Yu Gothic" pitchFamily="34" charset="-122"/>
                <a:cs typeface="Yu Gothic" pitchFamily="34" charset="-120"/>
              </a:rPr>
              <a:t>対策</a:t>
            </a:r>
            <a:endParaRPr lang="en-US" sz="1800" dirty="0"/>
          </a:p>
        </p:txBody>
      </p:sp>
      <p:sp>
        <p:nvSpPr>
          <p:cNvPr id="11" name="Text 9"/>
          <p:cNvSpPr txBox="1"/>
          <p:nvPr/>
        </p:nvSpPr>
        <p:spPr>
          <a:xfrm>
            <a:off x="628650" y="4038600"/>
            <a:ext cx="5334000" cy="171450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足上げ報酬を「片足だけ接地している時間」をほめる形に置き換えた</a:t>
            </a:r>
            <a:endParaRPr lang="en-US" sz="1500" dirty="0"/>
          </a:p>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速度追従の幅 σ を 0.5 → 0.35 に締め、立ち止まり・横流れで得られる報酬を減らした</a:t>
            </a:r>
            <a:endParaRPr lang="en-US" sz="1500" dirty="0"/>
          </a:p>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まず平地だけで学習（凸凹地形を混ぜると同じ報酬でも歩き出さなかった）</a:t>
            </a:r>
            <a:endParaRPr lang="en-US" sz="1500" dirty="0"/>
          </a:p>
        </p:txBody>
      </p:sp>
      <p:graphicFrame>
        <p:nvGraphicFramePr>
          <p:cNvPr id="12" name="Chart 0" descr=""/>
          <p:cNvGraphicFramePr/>
          <p:nvPr/>
        </p:nvGraphicFramePr>
        <p:xfrm>
          <a:off x="6477000" y="1333500"/>
          <a:ext cx="5086350" cy="40005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6477000" y="5391150"/>
            <a:ext cx="5086350" cy="247650"/>
          </a:xfrm>
          <a:prstGeom prst="rect">
            <a:avLst/>
          </a:prstGeom>
          <a:noFill/>
          <a:ln/>
        </p:spPr>
        <p:txBody>
          <a:bodyPr wrap="square" lIns="0" tIns="0" rIns="0" bIns="0" rtlCol="0" anchor="ctr"/>
          <a:lstStyle/>
          <a:p>
            <a:pPr algn="ctr" indent="0" marL="0">
              <a:buNone/>
            </a:pPr>
            <a:r>
              <a:rPr lang="en-US" sz="1200" dirty="0">
                <a:solidFill>
                  <a:srgbClr val="5E6A73"/>
                </a:solidFill>
                <a:latin typeface="Yu Gothic" pitchFamily="34" charset="0"/>
                <a:ea typeface="Yu Gothic" pitchFamily="34" charset="-122"/>
                <a:cs typeface="Yu Gothic" pitchFamily="34" charset="-120"/>
              </a:rPr>
              <a:t>シミュレーション・平地・64体の平均（2秒後から10秒間）</a:t>
            </a:r>
            <a:endParaRPr lang="en-US" sz="1200" dirty="0"/>
          </a:p>
        </p:txBody>
      </p:sp>
      <p:sp>
        <p:nvSpPr>
          <p:cNvPr id="14" name="Text 11"/>
          <p:cNvSpPr txBox="1"/>
          <p:nvPr/>
        </p:nvSpPr>
        <p:spPr>
          <a:xfrm>
            <a:off x="628650" y="5867400"/>
            <a:ext cx="10934700" cy="419100"/>
          </a:xfrm>
          <a:prstGeom prst="rect">
            <a:avLst/>
          </a:prstGeom>
          <a:solidFill>
            <a:srgbClr val="F3EEE6"/>
          </a:solid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報酬は「こう動いてほしい」をそのまま書くのではなく、ロボットが実際にとる行動で損得を確かめる必要がある</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シミュレーションと実機の差を埋める工夫</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現実と完全には一致しない前提で「ばらつかせる」「実機に合わせる」の2本立て</a:t>
            </a:r>
            <a:endParaRPr lang="en-US" sz="2200" dirty="0"/>
          </a:p>
        </p:txBody>
      </p:sp>
      <p:sp>
        <p:nvSpPr>
          <p:cNvPr id="7" name="Shape 5"/>
          <p:cNvSpPr/>
          <p:nvPr/>
        </p:nvSpPr>
        <p:spPr>
          <a:xfrm>
            <a:off x="628650" y="1809750"/>
            <a:ext cx="5334000" cy="4000500"/>
          </a:xfrm>
          <a:prstGeom prst="rect">
            <a:avLst/>
          </a:prstGeom>
          <a:solidFill>
            <a:srgbClr val="E8F1F5"/>
          </a:solidFill>
          <a:ln w="12700">
            <a:solidFill>
              <a:srgbClr val="32A5B5"/>
            </a:solidFill>
            <a:prstDash val="solid"/>
          </a:ln>
        </p:spPr>
      </p:sp>
      <p:sp>
        <p:nvSpPr>
          <p:cNvPr id="8" name="Text 6"/>
          <p:cNvSpPr txBox="1"/>
          <p:nvPr/>
        </p:nvSpPr>
        <p:spPr>
          <a:xfrm>
            <a:off x="838200" y="1943100"/>
            <a:ext cx="4953000" cy="304800"/>
          </a:xfrm>
          <a:prstGeom prst="rect">
            <a:avLst/>
          </a:prstGeom>
          <a:noFill/>
          <a:ln/>
        </p:spPr>
        <p:txBody>
          <a:bodyPr wrap="square" lIns="0" tIns="0" rIns="0" bIns="0" rtlCol="0" anchor="ctr"/>
          <a:lstStyle/>
          <a:p>
            <a:pPr algn="l" indent="0" marL="0">
              <a:buNone/>
            </a:pPr>
            <a:r>
              <a:rPr lang="en-US" sz="1900" b="1" dirty="0">
                <a:solidFill>
                  <a:srgbClr val="32A5B5"/>
                </a:solidFill>
                <a:latin typeface="Yu Gothic" pitchFamily="34" charset="0"/>
                <a:ea typeface="Yu Gothic" pitchFamily="34" charset="-122"/>
                <a:cs typeface="Yu Gothic" pitchFamily="34" charset="-120"/>
              </a:rPr>
              <a:t>ばらつかせる（ドメインランダム化）</a:t>
            </a:r>
            <a:endParaRPr lang="en-US" sz="1900" dirty="0"/>
          </a:p>
        </p:txBody>
      </p:sp>
      <p:sp>
        <p:nvSpPr>
          <p:cNvPr id="9" name="Text 7"/>
          <p:cNvSpPr txBox="1"/>
          <p:nvPr/>
        </p:nvSpPr>
        <p:spPr>
          <a:xfrm>
            <a:off x="838200" y="2362200"/>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床の摩擦係数</a:t>
            </a:r>
            <a:endParaRPr lang="en-US" sz="1500" dirty="0"/>
          </a:p>
        </p:txBody>
      </p:sp>
      <p:sp>
        <p:nvSpPr>
          <p:cNvPr id="10" name="Text 8"/>
          <p:cNvSpPr txBox="1"/>
          <p:nvPr/>
        </p:nvSpPr>
        <p:spPr>
          <a:xfrm>
            <a:off x="3619500" y="2362200"/>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0.2 〜 1.25</a:t>
            </a:r>
            <a:endParaRPr lang="en-US" sz="1500" dirty="0"/>
          </a:p>
        </p:txBody>
      </p:sp>
      <p:sp>
        <p:nvSpPr>
          <p:cNvPr id="11" name="Text 9"/>
          <p:cNvSpPr txBox="1"/>
          <p:nvPr/>
        </p:nvSpPr>
        <p:spPr>
          <a:xfrm>
            <a:off x="838200" y="2828925"/>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各リンクの質量</a:t>
            </a:r>
            <a:endParaRPr lang="en-US" sz="1500" dirty="0"/>
          </a:p>
        </p:txBody>
      </p:sp>
      <p:sp>
        <p:nvSpPr>
          <p:cNvPr id="12" name="Text 10"/>
          <p:cNvSpPr txBox="1"/>
          <p:nvPr/>
        </p:nvSpPr>
        <p:spPr>
          <a:xfrm>
            <a:off x="3619500" y="2828925"/>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±10%</a:t>
            </a:r>
            <a:endParaRPr lang="en-US" sz="1500" dirty="0"/>
          </a:p>
        </p:txBody>
      </p:sp>
      <p:sp>
        <p:nvSpPr>
          <p:cNvPr id="13" name="Text 11"/>
          <p:cNvSpPr txBox="1"/>
          <p:nvPr/>
        </p:nvSpPr>
        <p:spPr>
          <a:xfrm>
            <a:off x="838200" y="3295650"/>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胴体の質量</a:t>
            </a:r>
            <a:endParaRPr lang="en-US" sz="1500" dirty="0"/>
          </a:p>
        </p:txBody>
      </p:sp>
      <p:sp>
        <p:nvSpPr>
          <p:cNvPr id="14" name="Text 12"/>
          <p:cNvSpPr txBox="1"/>
          <p:nvPr/>
        </p:nvSpPr>
        <p:spPr>
          <a:xfrm>
            <a:off x="3619500" y="3295650"/>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±1 kg</a:t>
            </a:r>
            <a:endParaRPr lang="en-US" sz="1500" dirty="0"/>
          </a:p>
        </p:txBody>
      </p:sp>
      <p:sp>
        <p:nvSpPr>
          <p:cNvPr id="15" name="Text 13"/>
          <p:cNvSpPr txBox="1"/>
          <p:nvPr/>
        </p:nvSpPr>
        <p:spPr>
          <a:xfrm>
            <a:off x="838200" y="3762375"/>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関節の摩擦 / 慣性</a:t>
            </a:r>
            <a:endParaRPr lang="en-US" sz="1500" dirty="0"/>
          </a:p>
        </p:txBody>
      </p:sp>
      <p:sp>
        <p:nvSpPr>
          <p:cNvPr id="16" name="Text 14"/>
          <p:cNvSpPr txBox="1"/>
          <p:nvPr/>
        </p:nvSpPr>
        <p:spPr>
          <a:xfrm>
            <a:off x="3619500" y="3762375"/>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±10% / 0〜+5%</a:t>
            </a:r>
            <a:endParaRPr lang="en-US" sz="1500" dirty="0"/>
          </a:p>
        </p:txBody>
      </p:sp>
      <p:sp>
        <p:nvSpPr>
          <p:cNvPr id="17" name="Text 15"/>
          <p:cNvSpPr txBox="1"/>
          <p:nvPr/>
        </p:nvSpPr>
        <p:spPr>
          <a:xfrm>
            <a:off x="838200" y="4229100"/>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外から押す（速度を与える）</a:t>
            </a:r>
            <a:endParaRPr lang="en-US" sz="1500" dirty="0"/>
          </a:p>
        </p:txBody>
      </p:sp>
      <p:sp>
        <p:nvSpPr>
          <p:cNvPr id="18" name="Text 16"/>
          <p:cNvSpPr txBox="1"/>
          <p:nvPr/>
        </p:nvSpPr>
        <p:spPr>
          <a:xfrm>
            <a:off x="3619500" y="4229100"/>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10〜15秒ごと</a:t>
            </a:r>
            <a:endParaRPr lang="en-US" sz="1500" dirty="0"/>
          </a:p>
        </p:txBody>
      </p:sp>
      <p:sp>
        <p:nvSpPr>
          <p:cNvPr id="19" name="Text 17"/>
          <p:cNvSpPr txBox="1"/>
          <p:nvPr/>
        </p:nvSpPr>
        <p:spPr>
          <a:xfrm>
            <a:off x="838200" y="4695825"/>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センサ値のノイズ</a:t>
            </a:r>
            <a:endParaRPr lang="en-US" sz="1500" dirty="0"/>
          </a:p>
        </p:txBody>
      </p:sp>
      <p:sp>
        <p:nvSpPr>
          <p:cNvPr id="20" name="Text 18"/>
          <p:cNvSpPr txBox="1"/>
          <p:nvPr/>
        </p:nvSpPr>
        <p:spPr>
          <a:xfrm>
            <a:off x="3619500" y="4695825"/>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観測ごとに一様ノイズ</a:t>
            </a:r>
            <a:endParaRPr lang="en-US" sz="1500" dirty="0"/>
          </a:p>
        </p:txBody>
      </p:sp>
      <p:sp>
        <p:nvSpPr>
          <p:cNvPr id="21" name="Text 19"/>
          <p:cNvSpPr txBox="1"/>
          <p:nvPr/>
        </p:nvSpPr>
        <p:spPr>
          <a:xfrm>
            <a:off x="838200" y="5162550"/>
            <a:ext cx="2857500" cy="3810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開始時の姿勢・速度</a:t>
            </a:r>
            <a:endParaRPr lang="en-US" sz="1500" dirty="0"/>
          </a:p>
        </p:txBody>
      </p:sp>
      <p:sp>
        <p:nvSpPr>
          <p:cNvPr id="22" name="Text 20"/>
          <p:cNvSpPr txBox="1"/>
          <p:nvPr/>
        </p:nvSpPr>
        <p:spPr>
          <a:xfrm>
            <a:off x="3619500" y="5162550"/>
            <a:ext cx="2152650" cy="381000"/>
          </a:xfrm>
          <a:prstGeom prst="rect">
            <a:avLst/>
          </a:prstGeom>
          <a:noFill/>
          <a:ln/>
        </p:spPr>
        <p:txBody>
          <a:bodyPr wrap="square" lIns="0" tIns="0" rIns="0" bIns="0" rtlCol="0" anchor="ctr"/>
          <a:lstStyle/>
          <a:p>
            <a:pPr algn="r" indent="0" marL="0">
              <a:buNone/>
            </a:pPr>
            <a:r>
              <a:rPr lang="en-US" sz="1500" b="1" dirty="0">
                <a:solidFill>
                  <a:srgbClr val="102B46"/>
                </a:solidFill>
                <a:latin typeface="Yu Gothic" pitchFamily="34" charset="0"/>
                <a:ea typeface="Yu Gothic" pitchFamily="34" charset="-122"/>
                <a:cs typeface="Yu Gothic" pitchFamily="34" charset="-120"/>
              </a:rPr>
              <a:t>ランダム</a:t>
            </a:r>
            <a:endParaRPr lang="en-US" sz="1500" dirty="0"/>
          </a:p>
        </p:txBody>
      </p:sp>
      <p:sp>
        <p:nvSpPr>
          <p:cNvPr id="23" name="Shape 21"/>
          <p:cNvSpPr/>
          <p:nvPr/>
        </p:nvSpPr>
        <p:spPr>
          <a:xfrm>
            <a:off x="6229350" y="1809750"/>
            <a:ext cx="5334000" cy="4000500"/>
          </a:xfrm>
          <a:prstGeom prst="rect">
            <a:avLst/>
          </a:prstGeom>
          <a:solidFill>
            <a:srgbClr val="F3EEE6"/>
          </a:solidFill>
          <a:ln w="12700">
            <a:solidFill>
              <a:srgbClr val="E8783F"/>
            </a:solidFill>
            <a:prstDash val="solid"/>
          </a:ln>
        </p:spPr>
      </p:sp>
      <p:sp>
        <p:nvSpPr>
          <p:cNvPr id="24" name="Text 22"/>
          <p:cNvSpPr txBox="1"/>
          <p:nvPr/>
        </p:nvSpPr>
        <p:spPr>
          <a:xfrm>
            <a:off x="6438900" y="1943100"/>
            <a:ext cx="4953000" cy="304800"/>
          </a:xfrm>
          <a:prstGeom prst="rect">
            <a:avLst/>
          </a:prstGeom>
          <a:noFill/>
          <a:ln/>
        </p:spPr>
        <p:txBody>
          <a:bodyPr wrap="square" lIns="0" tIns="0" rIns="0" bIns="0" rtlCol="0" anchor="ctr"/>
          <a:lstStyle/>
          <a:p>
            <a:pPr algn="l" indent="0" marL="0">
              <a:buNone/>
            </a:pPr>
            <a:r>
              <a:rPr lang="en-US" sz="1900" b="1" dirty="0">
                <a:solidFill>
                  <a:srgbClr val="E8783F"/>
                </a:solidFill>
                <a:latin typeface="Yu Gothic" pitchFamily="34" charset="0"/>
                <a:ea typeface="Yu Gothic" pitchFamily="34" charset="-122"/>
                <a:cs typeface="Yu Gothic" pitchFamily="34" charset="-120"/>
              </a:rPr>
              <a:t>実機に合わせる（モデル同定）</a:t>
            </a:r>
            <a:endParaRPr lang="en-US" sz="1900" dirty="0"/>
          </a:p>
        </p:txBody>
      </p:sp>
      <p:sp>
        <p:nvSpPr>
          <p:cNvPr id="25" name="Text 23"/>
          <p:cNvSpPr txBox="1"/>
          <p:nvPr/>
        </p:nvSpPr>
        <p:spPr>
          <a:xfrm>
            <a:off x="6438900" y="2381250"/>
            <a:ext cx="4914900" cy="323850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モーター5種類ごとに剛性・減衰・トルク上限を設定</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AK80-9のトルク上限を 13.5 N·m に抑えて学習（実機で出しきれない場合に備える）</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モーターの回転部の慣性と摩擦を実測・データシートから入れる</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質量・重心・慣性はCADの材質から計算</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制御周期を実機と同じ 50 Hz にそろえる</a:t>
            </a:r>
            <a:endParaRPr lang="en-US" sz="1600" dirty="0"/>
          </a:p>
        </p:txBody>
      </p:sp>
      <p:sp>
        <p:nvSpPr>
          <p:cNvPr id="26" name="Text 24"/>
          <p:cNvSpPr txBox="1"/>
          <p:nvPr/>
        </p:nvSpPr>
        <p:spPr>
          <a:xfrm>
            <a:off x="628650" y="5943600"/>
            <a:ext cx="10934700" cy="285750"/>
          </a:xfrm>
          <a:prstGeom prst="rect">
            <a:avLst/>
          </a:prstGeom>
          <a:noFill/>
          <a:ln/>
        </p:spPr>
        <p:txBody>
          <a:bodyPr wrap="square" lIns="0" tIns="0" rIns="0" bIns="0" rtlCol="0" anchor="ctr"/>
          <a:lstStyle/>
          <a:p>
            <a:pPr algn="ctr" indent="0" marL="0">
              <a:buNone/>
            </a:pPr>
            <a:r>
              <a:rPr lang="en-US" sz="1500" dirty="0">
                <a:solidFill>
                  <a:srgbClr val="5E6A73"/>
                </a:solidFill>
                <a:latin typeface="Yu Gothic" pitchFamily="34" charset="0"/>
                <a:ea typeface="Yu Gothic" pitchFamily="34" charset="-122"/>
                <a:cs typeface="Yu Gothic" pitchFamily="34" charset="-120"/>
              </a:rPr>
              <a:t>押す強さは、転ぶ体数が少なくなってきたら段階的に強くする（カリキュラム学習）</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シミュレーションでの評価結果（実機に載せる方策）</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平地・外乱なし・64体の平均。指令を固定して、2秒後から10秒間を測定</a:t>
            </a:r>
            <a:endParaRPr lang="en-US" sz="2200" dirty="0"/>
          </a:p>
        </p:txBody>
      </p:sp>
      <p:sp>
        <p:nvSpPr>
          <p:cNvPr id="7" name="Shape 5"/>
          <p:cNvSpPr/>
          <p:nvPr/>
        </p:nvSpPr>
        <p:spPr>
          <a:xfrm>
            <a:off x="628650" y="1866900"/>
            <a:ext cx="2019300" cy="1809750"/>
          </a:xfrm>
          <a:prstGeom prst="rect">
            <a:avLst/>
          </a:prstGeom>
          <a:solidFill>
            <a:srgbClr val="E8F1F5"/>
          </a:solidFill>
          <a:ln w="12700">
            <a:solidFill>
              <a:srgbClr val="32A5B5"/>
            </a:solidFill>
            <a:prstDash val="solid"/>
          </a:ln>
        </p:spPr>
      </p:sp>
      <p:sp>
        <p:nvSpPr>
          <p:cNvPr id="8" name="Text 6"/>
          <p:cNvSpPr txBox="1"/>
          <p:nvPr/>
        </p:nvSpPr>
        <p:spPr>
          <a:xfrm>
            <a:off x="742950" y="1962150"/>
            <a:ext cx="1790700" cy="2857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前進</a:t>
            </a:r>
            <a:endParaRPr lang="en-US" sz="1700" dirty="0"/>
          </a:p>
        </p:txBody>
      </p:sp>
      <p:sp>
        <p:nvSpPr>
          <p:cNvPr id="9" name="Text 7"/>
          <p:cNvSpPr txBox="1"/>
          <p:nvPr/>
        </p:nvSpPr>
        <p:spPr>
          <a:xfrm>
            <a:off x="742950" y="2247900"/>
            <a:ext cx="1790700" cy="2286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指令 0.5 m/s</a:t>
            </a:r>
            <a:endParaRPr lang="en-US" sz="1300" dirty="0"/>
          </a:p>
        </p:txBody>
      </p:sp>
      <p:sp>
        <p:nvSpPr>
          <p:cNvPr id="10" name="Text 8"/>
          <p:cNvSpPr txBox="1"/>
          <p:nvPr/>
        </p:nvSpPr>
        <p:spPr>
          <a:xfrm>
            <a:off x="742950" y="2590800"/>
            <a:ext cx="1790700" cy="666750"/>
          </a:xfrm>
          <a:prstGeom prst="rect">
            <a:avLst/>
          </a:prstGeom>
          <a:noFill/>
          <a:ln/>
        </p:spPr>
        <p:txBody>
          <a:bodyPr wrap="square" lIns="0" tIns="0" rIns="0" bIns="0" rtlCol="0" anchor="ctr"/>
          <a:lstStyle/>
          <a:p>
            <a:pPr algn="ctr" indent="0" marL="0">
              <a:buNone/>
            </a:pPr>
            <a:r>
              <a:rPr lang="en-US" sz="4000" b="1" dirty="0">
                <a:solidFill>
                  <a:srgbClr val="32A5B5"/>
                </a:solidFill>
                <a:latin typeface="Yu Gothic" pitchFamily="34" charset="0"/>
                <a:ea typeface="Yu Gothic" pitchFamily="34" charset="-122"/>
                <a:cs typeface="Yu Gothic" pitchFamily="34" charset="-120"/>
              </a:rPr>
              <a:t>0.42</a:t>
            </a:r>
            <a:pPr algn="ctr" indent="0" marL="0">
              <a:buNone/>
            </a:pPr>
            <a:r>
              <a:rPr lang="en-US" sz="1600" b="1" dirty="0">
                <a:solidFill>
                  <a:srgbClr val="32A5B5"/>
                </a:solidFill>
                <a:latin typeface="Yu Gothic" pitchFamily="34" charset="0"/>
                <a:ea typeface="Yu Gothic" pitchFamily="34" charset="-122"/>
                <a:cs typeface="Yu Gothic" pitchFamily="34" charset="-120"/>
              </a:rPr>
              <a:t> m/s</a:t>
            </a:r>
            <a:endParaRPr lang="en-US" sz="1800" dirty="0"/>
          </a:p>
        </p:txBody>
      </p:sp>
      <p:sp>
        <p:nvSpPr>
          <p:cNvPr id="11" name="Shape 9"/>
          <p:cNvSpPr/>
          <p:nvPr/>
        </p:nvSpPr>
        <p:spPr>
          <a:xfrm>
            <a:off x="2838450" y="1866900"/>
            <a:ext cx="2019300" cy="1809750"/>
          </a:xfrm>
          <a:prstGeom prst="rect">
            <a:avLst/>
          </a:prstGeom>
          <a:solidFill>
            <a:srgbClr val="E8F1F5"/>
          </a:solidFill>
          <a:ln w="12700">
            <a:solidFill>
              <a:srgbClr val="32A5B5"/>
            </a:solidFill>
            <a:prstDash val="solid"/>
          </a:ln>
        </p:spPr>
      </p:sp>
      <p:sp>
        <p:nvSpPr>
          <p:cNvPr id="12" name="Text 10"/>
          <p:cNvSpPr txBox="1"/>
          <p:nvPr/>
        </p:nvSpPr>
        <p:spPr>
          <a:xfrm>
            <a:off x="2952750" y="1962150"/>
            <a:ext cx="1790700" cy="2857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横移動</a:t>
            </a:r>
            <a:endParaRPr lang="en-US" sz="1700" dirty="0"/>
          </a:p>
        </p:txBody>
      </p:sp>
      <p:sp>
        <p:nvSpPr>
          <p:cNvPr id="13" name="Text 11"/>
          <p:cNvSpPr txBox="1"/>
          <p:nvPr/>
        </p:nvSpPr>
        <p:spPr>
          <a:xfrm>
            <a:off x="2952750" y="2247900"/>
            <a:ext cx="1790700" cy="2286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指令 0.3 m/s</a:t>
            </a:r>
            <a:endParaRPr lang="en-US" sz="1300" dirty="0"/>
          </a:p>
        </p:txBody>
      </p:sp>
      <p:sp>
        <p:nvSpPr>
          <p:cNvPr id="14" name="Text 12"/>
          <p:cNvSpPr txBox="1"/>
          <p:nvPr/>
        </p:nvSpPr>
        <p:spPr>
          <a:xfrm>
            <a:off x="2952750" y="2590800"/>
            <a:ext cx="1790700" cy="666750"/>
          </a:xfrm>
          <a:prstGeom prst="rect">
            <a:avLst/>
          </a:prstGeom>
          <a:noFill/>
          <a:ln/>
        </p:spPr>
        <p:txBody>
          <a:bodyPr wrap="square" lIns="0" tIns="0" rIns="0" bIns="0" rtlCol="0" anchor="ctr"/>
          <a:lstStyle/>
          <a:p>
            <a:pPr algn="ctr" indent="0" marL="0">
              <a:buNone/>
            </a:pPr>
            <a:r>
              <a:rPr lang="en-US" sz="4000" b="1" dirty="0">
                <a:solidFill>
                  <a:srgbClr val="32A5B5"/>
                </a:solidFill>
                <a:latin typeface="Yu Gothic" pitchFamily="34" charset="0"/>
                <a:ea typeface="Yu Gothic" pitchFamily="34" charset="-122"/>
                <a:cs typeface="Yu Gothic" pitchFamily="34" charset="-120"/>
              </a:rPr>
              <a:t>0.33</a:t>
            </a:r>
            <a:pPr algn="ctr" indent="0" marL="0">
              <a:buNone/>
            </a:pPr>
            <a:r>
              <a:rPr lang="en-US" sz="1600" b="1" dirty="0">
                <a:solidFill>
                  <a:srgbClr val="32A5B5"/>
                </a:solidFill>
                <a:latin typeface="Yu Gothic" pitchFamily="34" charset="0"/>
                <a:ea typeface="Yu Gothic" pitchFamily="34" charset="-122"/>
                <a:cs typeface="Yu Gothic" pitchFamily="34" charset="-120"/>
              </a:rPr>
              <a:t> m/s</a:t>
            </a:r>
            <a:endParaRPr lang="en-US" sz="1800" dirty="0"/>
          </a:p>
        </p:txBody>
      </p:sp>
      <p:sp>
        <p:nvSpPr>
          <p:cNvPr id="15" name="Shape 13"/>
          <p:cNvSpPr/>
          <p:nvPr/>
        </p:nvSpPr>
        <p:spPr>
          <a:xfrm>
            <a:off x="5048250" y="1866900"/>
            <a:ext cx="2019300" cy="1809750"/>
          </a:xfrm>
          <a:prstGeom prst="rect">
            <a:avLst/>
          </a:prstGeom>
          <a:solidFill>
            <a:srgbClr val="E8F1F5"/>
          </a:solidFill>
          <a:ln w="12700">
            <a:solidFill>
              <a:srgbClr val="32A5B5"/>
            </a:solidFill>
            <a:prstDash val="solid"/>
          </a:ln>
        </p:spPr>
      </p:sp>
      <p:sp>
        <p:nvSpPr>
          <p:cNvPr id="16" name="Text 14"/>
          <p:cNvSpPr txBox="1"/>
          <p:nvPr/>
        </p:nvSpPr>
        <p:spPr>
          <a:xfrm>
            <a:off x="5162550" y="1962150"/>
            <a:ext cx="1790700" cy="2857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転倒率</a:t>
            </a:r>
            <a:endParaRPr lang="en-US" sz="1700" dirty="0"/>
          </a:p>
        </p:txBody>
      </p:sp>
      <p:sp>
        <p:nvSpPr>
          <p:cNvPr id="17" name="Text 15"/>
          <p:cNvSpPr txBox="1"/>
          <p:nvPr/>
        </p:nvSpPr>
        <p:spPr>
          <a:xfrm>
            <a:off x="5162550" y="2247900"/>
            <a:ext cx="1790700" cy="2286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前進時</a:t>
            </a:r>
            <a:endParaRPr lang="en-US" sz="1300" dirty="0"/>
          </a:p>
        </p:txBody>
      </p:sp>
      <p:sp>
        <p:nvSpPr>
          <p:cNvPr id="18" name="Text 16"/>
          <p:cNvSpPr txBox="1"/>
          <p:nvPr/>
        </p:nvSpPr>
        <p:spPr>
          <a:xfrm>
            <a:off x="5162550" y="2590800"/>
            <a:ext cx="1790700" cy="666750"/>
          </a:xfrm>
          <a:prstGeom prst="rect">
            <a:avLst/>
          </a:prstGeom>
          <a:noFill/>
          <a:ln/>
        </p:spPr>
        <p:txBody>
          <a:bodyPr wrap="square" lIns="0" tIns="0" rIns="0" bIns="0" rtlCol="0" anchor="ctr"/>
          <a:lstStyle/>
          <a:p>
            <a:pPr algn="ctr" indent="0" marL="0">
              <a:buNone/>
            </a:pPr>
            <a:r>
              <a:rPr lang="en-US" sz="4000" b="1" dirty="0">
                <a:solidFill>
                  <a:srgbClr val="32A5B5"/>
                </a:solidFill>
                <a:latin typeface="Yu Gothic" pitchFamily="34" charset="0"/>
                <a:ea typeface="Yu Gothic" pitchFamily="34" charset="-122"/>
                <a:cs typeface="Yu Gothic" pitchFamily="34" charset="-120"/>
              </a:rPr>
              <a:t>0</a:t>
            </a:r>
            <a:pPr algn="ctr" indent="0" marL="0">
              <a:buNone/>
            </a:pPr>
            <a:r>
              <a:rPr lang="en-US" sz="1600" b="1" dirty="0">
                <a:solidFill>
                  <a:srgbClr val="32A5B5"/>
                </a:solidFill>
                <a:latin typeface="Yu Gothic" pitchFamily="34" charset="0"/>
                <a:ea typeface="Yu Gothic" pitchFamily="34" charset="-122"/>
                <a:cs typeface="Yu Gothic" pitchFamily="34" charset="-120"/>
              </a:rPr>
              <a:t> %</a:t>
            </a:r>
            <a:endParaRPr lang="en-US" sz="1800" dirty="0"/>
          </a:p>
        </p:txBody>
      </p:sp>
      <p:sp>
        <p:nvSpPr>
          <p:cNvPr id="19" name="Shape 17"/>
          <p:cNvSpPr/>
          <p:nvPr/>
        </p:nvSpPr>
        <p:spPr>
          <a:xfrm>
            <a:off x="7258050" y="1866900"/>
            <a:ext cx="2019300" cy="1809750"/>
          </a:xfrm>
          <a:prstGeom prst="rect">
            <a:avLst/>
          </a:prstGeom>
          <a:solidFill>
            <a:srgbClr val="E8F1F5"/>
          </a:solidFill>
          <a:ln w="12700">
            <a:solidFill>
              <a:srgbClr val="32A5B5"/>
            </a:solidFill>
            <a:prstDash val="solid"/>
          </a:ln>
        </p:spPr>
      </p:sp>
      <p:sp>
        <p:nvSpPr>
          <p:cNvPr id="20" name="Text 18"/>
          <p:cNvSpPr txBox="1"/>
          <p:nvPr/>
        </p:nvSpPr>
        <p:spPr>
          <a:xfrm>
            <a:off x="7372350" y="1962150"/>
            <a:ext cx="1790700" cy="2857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歩きながら曲がる</a:t>
            </a:r>
            <a:endParaRPr lang="en-US" sz="1700" dirty="0"/>
          </a:p>
        </p:txBody>
      </p:sp>
      <p:sp>
        <p:nvSpPr>
          <p:cNvPr id="21" name="Text 19"/>
          <p:cNvSpPr txBox="1"/>
          <p:nvPr/>
        </p:nvSpPr>
        <p:spPr>
          <a:xfrm>
            <a:off x="7372350" y="2247900"/>
            <a:ext cx="1790700" cy="2286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±0.3 rad/s</a:t>
            </a:r>
            <a:endParaRPr lang="en-US" sz="1300" dirty="0"/>
          </a:p>
        </p:txBody>
      </p:sp>
      <p:sp>
        <p:nvSpPr>
          <p:cNvPr id="22" name="Text 20"/>
          <p:cNvSpPr txBox="1"/>
          <p:nvPr/>
        </p:nvSpPr>
        <p:spPr>
          <a:xfrm>
            <a:off x="7372350" y="2590800"/>
            <a:ext cx="1790700" cy="666750"/>
          </a:xfrm>
          <a:prstGeom prst="rect">
            <a:avLst/>
          </a:prstGeom>
          <a:noFill/>
          <a:ln/>
        </p:spPr>
        <p:txBody>
          <a:bodyPr wrap="square" lIns="0" tIns="0" rIns="0" bIns="0" rtlCol="0" anchor="ctr"/>
          <a:lstStyle/>
          <a:p>
            <a:pPr algn="ctr" indent="0" marL="0">
              <a:buNone/>
            </a:pPr>
            <a:r>
              <a:rPr lang="en-US" sz="4000" b="1" dirty="0">
                <a:solidFill>
                  <a:srgbClr val="32A5B5"/>
                </a:solidFill>
                <a:latin typeface="Yu Gothic" pitchFamily="34" charset="0"/>
                <a:ea typeface="Yu Gothic" pitchFamily="34" charset="-122"/>
                <a:cs typeface="Yu Gothic" pitchFamily="34" charset="-120"/>
              </a:rPr>
              <a:t>合格</a:t>
            </a:r>
            <a:pPr algn="ctr" indent="0" marL="0">
              <a:buNone/>
            </a:pPr>
            <a:endParaRPr lang="en-US" sz="1800" dirty="0"/>
          </a:p>
        </p:txBody>
      </p:sp>
      <p:sp>
        <p:nvSpPr>
          <p:cNvPr id="23" name="Shape 21"/>
          <p:cNvSpPr/>
          <p:nvPr/>
        </p:nvSpPr>
        <p:spPr>
          <a:xfrm>
            <a:off x="9467850" y="1866900"/>
            <a:ext cx="2019300" cy="1809750"/>
          </a:xfrm>
          <a:prstGeom prst="rect">
            <a:avLst/>
          </a:prstGeom>
          <a:solidFill>
            <a:srgbClr val="FBEDEA"/>
          </a:solidFill>
          <a:ln w="12700">
            <a:solidFill>
              <a:srgbClr val="C8553D"/>
            </a:solidFill>
            <a:prstDash val="solid"/>
          </a:ln>
        </p:spPr>
      </p:sp>
      <p:sp>
        <p:nvSpPr>
          <p:cNvPr id="24" name="Text 22"/>
          <p:cNvSpPr txBox="1"/>
          <p:nvPr/>
        </p:nvSpPr>
        <p:spPr>
          <a:xfrm>
            <a:off x="9582150" y="1962150"/>
            <a:ext cx="1790700" cy="285750"/>
          </a:xfrm>
          <a:prstGeom prst="rect">
            <a:avLst/>
          </a:prstGeom>
          <a:noFill/>
          <a:ln/>
        </p:spPr>
        <p:txBody>
          <a:bodyPr wrap="square" lIns="0" tIns="0" rIns="0" bIns="0" rtlCol="0" anchor="ctr"/>
          <a:lstStyle/>
          <a:p>
            <a:pPr algn="ctr" indent="0" marL="0">
              <a:buNone/>
            </a:pPr>
            <a:r>
              <a:rPr lang="en-US" sz="1700" b="1" dirty="0">
                <a:solidFill>
                  <a:srgbClr val="102B46"/>
                </a:solidFill>
                <a:latin typeface="Yu Gothic" pitchFamily="34" charset="0"/>
                <a:ea typeface="Yu Gothic" pitchFamily="34" charset="-122"/>
                <a:cs typeface="Yu Gothic" pitchFamily="34" charset="-120"/>
              </a:rPr>
              <a:t>その場で旋回</a:t>
            </a:r>
            <a:endParaRPr lang="en-US" sz="1700" dirty="0"/>
          </a:p>
        </p:txBody>
      </p:sp>
      <p:sp>
        <p:nvSpPr>
          <p:cNvPr id="25" name="Text 23"/>
          <p:cNvSpPr txBox="1"/>
          <p:nvPr/>
        </p:nvSpPr>
        <p:spPr>
          <a:xfrm>
            <a:off x="9582150" y="2247900"/>
            <a:ext cx="1790700" cy="228600"/>
          </a:xfrm>
          <a:prstGeom prst="rect">
            <a:avLst/>
          </a:prstGeom>
          <a:noFill/>
          <a:ln/>
        </p:spPr>
        <p:txBody>
          <a:bodyPr wrap="square" lIns="0" tIns="0" rIns="0" bIns="0" rtlCol="0" anchor="ctr"/>
          <a:lstStyle/>
          <a:p>
            <a:pPr algn="ctr" indent="0" marL="0">
              <a:buNone/>
            </a:pPr>
            <a:r>
              <a:rPr lang="en-US" sz="1300" dirty="0">
                <a:solidFill>
                  <a:srgbClr val="5E6A73"/>
                </a:solidFill>
                <a:latin typeface="Yu Gothic" pitchFamily="34" charset="0"/>
                <a:ea typeface="Yu Gothic" pitchFamily="34" charset="-122"/>
                <a:cs typeface="Yu Gothic" pitchFamily="34" charset="-120"/>
              </a:rPr>
              <a:t>0.5 rad/s</a:t>
            </a:r>
            <a:endParaRPr lang="en-US" sz="1300" dirty="0"/>
          </a:p>
        </p:txBody>
      </p:sp>
      <p:sp>
        <p:nvSpPr>
          <p:cNvPr id="26" name="Text 24"/>
          <p:cNvSpPr txBox="1"/>
          <p:nvPr/>
        </p:nvSpPr>
        <p:spPr>
          <a:xfrm>
            <a:off x="9582150" y="2590800"/>
            <a:ext cx="1790700" cy="666750"/>
          </a:xfrm>
          <a:prstGeom prst="rect">
            <a:avLst/>
          </a:prstGeom>
          <a:noFill/>
          <a:ln/>
        </p:spPr>
        <p:txBody>
          <a:bodyPr wrap="square" lIns="0" tIns="0" rIns="0" bIns="0" rtlCol="0" anchor="ctr"/>
          <a:lstStyle/>
          <a:p>
            <a:pPr algn="ctr" indent="0" marL="0">
              <a:buNone/>
            </a:pPr>
            <a:r>
              <a:rPr lang="en-US" sz="4000" b="1" dirty="0">
                <a:solidFill>
                  <a:srgbClr val="C8553D"/>
                </a:solidFill>
                <a:latin typeface="Yu Gothic" pitchFamily="34" charset="0"/>
                <a:ea typeface="Yu Gothic" pitchFamily="34" charset="-122"/>
                <a:cs typeface="Yu Gothic" pitchFamily="34" charset="-120"/>
              </a:rPr>
              <a:t>不可</a:t>
            </a:r>
            <a:pPr algn="ctr" indent="0" marL="0">
              <a:buNone/>
            </a:pPr>
            <a:endParaRPr lang="en-US" sz="1800" dirty="0"/>
          </a:p>
        </p:txBody>
      </p:sp>
      <p:sp>
        <p:nvSpPr>
          <p:cNvPr id="27" name="Shape 25"/>
          <p:cNvSpPr/>
          <p:nvPr/>
        </p:nvSpPr>
        <p:spPr>
          <a:xfrm>
            <a:off x="628650" y="3905250"/>
            <a:ext cx="6667500" cy="2381250"/>
          </a:xfrm>
          <a:prstGeom prst="rect">
            <a:avLst/>
          </a:prstGeom>
          <a:solidFill>
            <a:srgbClr val="FBF7F3"/>
          </a:solidFill>
          <a:ln w="22225">
            <a:solidFill>
              <a:srgbClr val="E8783F"/>
            </a:solidFill>
            <a:prstDash val="dash"/>
          </a:ln>
        </p:spPr>
      </p:sp>
      <p:sp>
        <p:nvSpPr>
          <p:cNvPr id="28" name="Text 26"/>
          <p:cNvSpPr txBox="1"/>
          <p:nvPr/>
        </p:nvSpPr>
        <p:spPr>
          <a:xfrm>
            <a:off x="762000" y="4019550"/>
            <a:ext cx="64008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29" name="Text 27"/>
          <p:cNvSpPr txBox="1"/>
          <p:nvPr/>
        </p:nvSpPr>
        <p:spPr>
          <a:xfrm>
            <a:off x="762000" y="4305300"/>
            <a:ext cx="6400800" cy="1866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評価中の動画：前進指令で複数体が同じ方向へまっすぐ歩いている様子（平地）。</a:t>
            </a:r>
            <a:endParaRPr lang="en-US" sz="1300" dirty="0"/>
          </a:p>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可能なら横移動・曲がりながら歩く様子も数秒ずつ。</a:t>
            </a:r>
            <a:endParaRPr lang="en-US" sz="1300" dirty="0"/>
          </a:p>
        </p:txBody>
      </p:sp>
      <p:sp>
        <p:nvSpPr>
          <p:cNvPr id="30" name="Text 28"/>
          <p:cNvSpPr txBox="1"/>
          <p:nvPr/>
        </p:nvSpPr>
        <p:spPr>
          <a:xfrm>
            <a:off x="7524750" y="3905250"/>
            <a:ext cx="4038600" cy="2381250"/>
          </a:xfrm>
          <a:prstGeom prst="rect">
            <a:avLst/>
          </a:prstGeom>
          <a:solidFill>
            <a:srgbClr val="F3EEE6"/>
          </a:solidFill>
          <a:ln/>
        </p:spPr>
        <p:txBody>
          <a:bodyPr wrap="square" lIns="127000" tIns="152400" rIns="152400" bIns="127000" rtlCol="0" anchor="t"/>
          <a:lstStyle/>
          <a:p>
            <a:pPr algn="l" indent="0" marL="0">
              <a:buNone/>
            </a:pPr>
            <a:r>
              <a:rPr lang="en-US" sz="1500" b="1" dirty="0">
                <a:solidFill>
                  <a:srgbClr val="C8553D"/>
                </a:solidFill>
                <a:latin typeface="Yu Gothic" pitchFamily="34" charset="0"/>
                <a:ea typeface="Yu Gothic" pitchFamily="34" charset="-122"/>
                <a:cs typeface="Yu Gothic" pitchFamily="34" charset="-120"/>
              </a:rPr>
              <a:t>できないこと：</a:t>
            </a:r>
            <a:pPr algn="l" indent="0" marL="0">
              <a:buNone/>
            </a:pPr>
            <a:r>
              <a:rPr lang="en-US" sz="1500" dirty="0">
                <a:solidFill>
                  <a:srgbClr val="17212B"/>
                </a:solidFill>
                <a:latin typeface="Yu Gothic" pitchFamily="34" charset="0"/>
                <a:ea typeface="Yu Gothic" pitchFamily="34" charset="-122"/>
                <a:cs typeface="Yu Gothic" pitchFamily="34" charset="-120"/>
              </a:rPr>
              <a:t>前進せずにその場で回る動き。学習中に「前進せず回る」指令がほとんど出ておらず、足上げ報酬もその指令では0になる設計だったことが原因と分かり、別の方策で対策を試している</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センサ：RealSense T265 で胴体の傾きと速度を得る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3143250" cy="2381250"/>
          </a:xfrm>
          <a:prstGeom prst="rect">
            <a:avLst/>
          </a:prstGeom>
          <a:solidFill>
            <a:srgbClr val="FBF7F3"/>
          </a:solidFill>
          <a:ln w="22225">
            <a:solidFill>
              <a:srgbClr val="E8783F"/>
            </a:solidFill>
            <a:prstDash val="dash"/>
          </a:ln>
        </p:spPr>
      </p:sp>
      <p:sp>
        <p:nvSpPr>
          <p:cNvPr id="7" name="Text 5"/>
          <p:cNvSpPr txBox="1"/>
          <p:nvPr/>
        </p:nvSpPr>
        <p:spPr>
          <a:xfrm>
            <a:off x="762000" y="1352550"/>
            <a:ext cx="287655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8" name="Text 6"/>
          <p:cNvSpPr txBox="1"/>
          <p:nvPr/>
        </p:nvSpPr>
        <p:spPr>
          <a:xfrm>
            <a:off x="762000" y="1638300"/>
            <a:ext cx="2876550" cy="1866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T265本体の写真、またはロボットの腰に取り付けた状態の写真（レンズが正面を向いているのが分かるもの）。</a:t>
            </a:r>
            <a:endParaRPr lang="en-US" sz="1300" dirty="0"/>
          </a:p>
        </p:txBody>
      </p:sp>
      <p:sp>
        <p:nvSpPr>
          <p:cNvPr id="9" name="Shape 7"/>
          <p:cNvSpPr/>
          <p:nvPr/>
        </p:nvSpPr>
        <p:spPr>
          <a:xfrm>
            <a:off x="4095750" y="1238250"/>
            <a:ext cx="7467600" cy="3143250"/>
          </a:xfrm>
          <a:prstGeom prst="rect">
            <a:avLst/>
          </a:prstGeom>
          <a:solidFill>
            <a:srgbClr val="E8F1F5"/>
          </a:solidFill>
          <a:ln w="19050">
            <a:solidFill>
              <a:srgbClr val="32A5B5"/>
            </a:solidFill>
            <a:prstDash val="solid"/>
          </a:ln>
        </p:spPr>
      </p:sp>
      <p:sp>
        <p:nvSpPr>
          <p:cNvPr id="10" name="Text 8"/>
          <p:cNvSpPr txBox="1"/>
          <p:nvPr/>
        </p:nvSpPr>
        <p:spPr>
          <a:xfrm>
            <a:off x="4248150" y="1333500"/>
            <a:ext cx="2857500" cy="266700"/>
          </a:xfrm>
          <a:prstGeom prst="rect">
            <a:avLst/>
          </a:prstGeom>
          <a:noFill/>
          <a:ln/>
        </p:spPr>
        <p:txBody>
          <a:bodyPr wrap="square" lIns="0" tIns="0" rIns="0" bIns="0" rtlCol="0" anchor="ctr"/>
          <a:lstStyle/>
          <a:p>
            <a:pPr algn="l" indent="0" marL="0">
              <a:buNone/>
            </a:pPr>
            <a:r>
              <a:rPr lang="en-US" sz="1600" b="1" dirty="0">
                <a:solidFill>
                  <a:srgbClr val="32A5B5"/>
                </a:solidFill>
                <a:latin typeface="Yu Gothic" pitchFamily="34" charset="0"/>
                <a:ea typeface="Yu Gothic" pitchFamily="34" charset="-122"/>
                <a:cs typeface="Yu Gothic" pitchFamily="34" charset="-120"/>
              </a:rPr>
              <a:t>T265 の中身</a:t>
            </a:r>
            <a:endParaRPr lang="en-US" sz="1600" dirty="0"/>
          </a:p>
        </p:txBody>
      </p:sp>
      <p:sp>
        <p:nvSpPr>
          <p:cNvPr id="11" name="Text 9"/>
          <p:cNvSpPr txBox="1"/>
          <p:nvPr/>
        </p:nvSpPr>
        <p:spPr>
          <a:xfrm>
            <a:off x="4286250" y="1752600"/>
            <a:ext cx="2000250" cy="723900"/>
          </a:xfrm>
          <a:prstGeom prst="rect">
            <a:avLst/>
          </a:prstGeom>
          <a:solidFill>
            <a:srgbClr val="1C5A85"/>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魚眼カメラ ×2</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（白黒・約165°）</a:t>
            </a:r>
            <a:endParaRPr lang="en-US" sz="1500" dirty="0"/>
          </a:p>
        </p:txBody>
      </p:sp>
      <p:sp>
        <p:nvSpPr>
          <p:cNvPr id="12" name="Text 10"/>
          <p:cNvSpPr txBox="1"/>
          <p:nvPr/>
        </p:nvSpPr>
        <p:spPr>
          <a:xfrm>
            <a:off x="4286250" y="2762250"/>
            <a:ext cx="2000250" cy="1143000"/>
          </a:xfrm>
          <a:prstGeom prst="rect">
            <a:avLst/>
          </a:prstGeom>
          <a:solidFill>
            <a:srgbClr val="1C5A85"/>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IMU（BMI055）</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ジャイロ 200 Hz</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加速度 62.5 Hz</a:t>
            </a:r>
            <a:endParaRPr lang="en-US" sz="1500" dirty="0"/>
          </a:p>
        </p:txBody>
      </p:sp>
      <p:sp>
        <p:nvSpPr>
          <p:cNvPr id="13" name="Shape 11"/>
          <p:cNvSpPr/>
          <p:nvPr/>
        </p:nvSpPr>
        <p:spPr>
          <a:xfrm>
            <a:off x="6324600" y="2114550"/>
            <a:ext cx="571500" cy="552450"/>
          </a:xfrm>
          <a:prstGeom prst="line">
            <a:avLst/>
          </a:prstGeom>
          <a:noFill/>
          <a:ln w="31750">
            <a:solidFill>
              <a:srgbClr val="102B46"/>
            </a:solidFill>
            <a:prstDash val="solid"/>
            <a:tailEnd type="triangle"/>
          </a:ln>
        </p:spPr>
      </p:sp>
      <p:sp>
        <p:nvSpPr>
          <p:cNvPr id="14" name="Shape 12"/>
          <p:cNvSpPr/>
          <p:nvPr/>
        </p:nvSpPr>
        <p:spPr>
          <a:xfrm flipV="1">
            <a:off x="6324600" y="2857500"/>
            <a:ext cx="571500" cy="476250"/>
          </a:xfrm>
          <a:prstGeom prst="line">
            <a:avLst/>
          </a:prstGeom>
          <a:noFill/>
          <a:ln w="31750">
            <a:solidFill>
              <a:srgbClr val="102B46"/>
            </a:solidFill>
            <a:prstDash val="solid"/>
            <a:tailEnd type="triangle"/>
          </a:ln>
        </p:spPr>
      </p:sp>
      <p:sp>
        <p:nvSpPr>
          <p:cNvPr id="15" name="Text 13"/>
          <p:cNvSpPr txBox="1"/>
          <p:nvPr/>
        </p:nvSpPr>
        <p:spPr>
          <a:xfrm>
            <a:off x="6953250" y="1905000"/>
            <a:ext cx="2381250" cy="1752600"/>
          </a:xfrm>
          <a:prstGeom prst="rect">
            <a:avLst/>
          </a:prstGeom>
          <a:solidFill>
            <a:srgbClr val="102B46"/>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プロセッサ（VPU）</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カメラ画像の動きと</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IMUを本体内で融合</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（VIO）</a:t>
            </a:r>
            <a:endParaRPr lang="en-US" sz="1500" dirty="0"/>
          </a:p>
        </p:txBody>
      </p:sp>
      <p:sp>
        <p:nvSpPr>
          <p:cNvPr id="16" name="Shape 14"/>
          <p:cNvSpPr/>
          <p:nvPr/>
        </p:nvSpPr>
        <p:spPr>
          <a:xfrm>
            <a:off x="9372600" y="2781300"/>
            <a:ext cx="533400" cy="95"/>
          </a:xfrm>
          <a:prstGeom prst="line">
            <a:avLst/>
          </a:prstGeom>
          <a:noFill/>
          <a:ln w="31750">
            <a:solidFill>
              <a:srgbClr val="102B46"/>
            </a:solidFill>
            <a:prstDash val="solid"/>
            <a:tailEnd type="triangle"/>
          </a:ln>
        </p:spPr>
      </p:sp>
      <p:sp>
        <p:nvSpPr>
          <p:cNvPr id="17" name="Text 15"/>
          <p:cNvSpPr txBox="1"/>
          <p:nvPr/>
        </p:nvSpPr>
        <p:spPr>
          <a:xfrm>
            <a:off x="9944100" y="1714500"/>
            <a:ext cx="1485900" cy="219075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USB出力</a:t>
            </a:r>
            <a:endParaRPr lang="en-US" sz="1300" dirty="0"/>
          </a:p>
          <a:p>
            <a:pPr algn="ctr" indent="0" marL="0">
              <a:buNone/>
            </a:pPr>
            <a:r>
              <a:rPr lang="en-US" sz="1300" b="1" dirty="0">
                <a:solidFill>
                  <a:srgbClr val="102B46"/>
                </a:solidFill>
                <a:latin typeface="Yu Gothic" pitchFamily="34" charset="0"/>
                <a:ea typeface="Yu Gothic" pitchFamily="34" charset="-122"/>
                <a:cs typeface="Yu Gothic" pitchFamily="34" charset="-120"/>
              </a:rPr>
              <a:t>200 Hz</a:t>
            </a:r>
            <a:endParaRPr lang="en-US" sz="1300" dirty="0"/>
          </a:p>
          <a:p>
            <a:pPr algn="ctr" indent="0" marL="0">
              <a:buNone/>
            </a:pPr>
            <a:r>
              <a:rPr lang="en-US" sz="1300" b="1" dirty="0">
                <a:solidFill>
                  <a:srgbClr val="102B46"/>
                </a:solidFill>
                <a:latin typeface="Yu Gothic" pitchFamily="34" charset="0"/>
                <a:ea typeface="Yu Gothic" pitchFamily="34" charset="-122"/>
                <a:cs typeface="Yu Gothic" pitchFamily="34" charset="-120"/>
              </a:rPr>
              <a:t>・位置/姿勢</a:t>
            </a:r>
            <a:endParaRPr lang="en-US" sz="1300" dirty="0"/>
          </a:p>
          <a:p>
            <a:pPr algn="ctr" indent="0" marL="0">
              <a:buNone/>
            </a:pPr>
            <a:r>
              <a:rPr lang="en-US" sz="1300" b="1" dirty="0">
                <a:solidFill>
                  <a:srgbClr val="102B46"/>
                </a:solidFill>
                <a:latin typeface="Yu Gothic" pitchFamily="34" charset="0"/>
                <a:ea typeface="Yu Gothic" pitchFamily="34" charset="-122"/>
                <a:cs typeface="Yu Gothic" pitchFamily="34" charset="-120"/>
              </a:rPr>
              <a:t>・速度</a:t>
            </a:r>
            <a:endParaRPr lang="en-US" sz="1300" dirty="0"/>
          </a:p>
          <a:p>
            <a:pPr algn="ctr" indent="0" marL="0">
              <a:buNone/>
            </a:pPr>
            <a:r>
              <a:rPr lang="en-US" sz="1300" b="1" dirty="0">
                <a:solidFill>
                  <a:srgbClr val="102B46"/>
                </a:solidFill>
                <a:latin typeface="Yu Gothic" pitchFamily="34" charset="0"/>
                <a:ea typeface="Yu Gothic" pitchFamily="34" charset="-122"/>
                <a:cs typeface="Yu Gothic" pitchFamily="34" charset="-120"/>
              </a:rPr>
              <a:t>・角速度</a:t>
            </a:r>
            <a:endParaRPr lang="en-US" sz="1300" dirty="0"/>
          </a:p>
          <a:p>
            <a:pPr algn="ctr" indent="0" marL="0">
              <a:buNone/>
            </a:pPr>
            <a:r>
              <a:rPr lang="en-US" sz="1300" b="1" dirty="0">
                <a:solidFill>
                  <a:srgbClr val="102B46"/>
                </a:solidFill>
                <a:latin typeface="Yu Gothic" pitchFamily="34" charset="0"/>
                <a:ea typeface="Yu Gothic" pitchFamily="34" charset="-122"/>
                <a:cs typeface="Yu Gothic" pitchFamily="34" charset="-120"/>
              </a:rPr>
              <a:t>・信頼度</a:t>
            </a:r>
            <a:endParaRPr lang="en-US" sz="1300" dirty="0"/>
          </a:p>
        </p:txBody>
      </p:sp>
      <p:sp>
        <p:nvSpPr>
          <p:cNvPr id="18" name="Text 16"/>
          <p:cNvSpPr txBox="1"/>
          <p:nvPr/>
        </p:nvSpPr>
        <p:spPr>
          <a:xfrm>
            <a:off x="628650" y="4572000"/>
            <a:ext cx="10934700" cy="285750"/>
          </a:xfrm>
          <a:prstGeom prst="rect">
            <a:avLst/>
          </a:prstGeom>
          <a:noFill/>
          <a:ln/>
        </p:spPr>
        <p:txBody>
          <a:bodyPr wrap="square" lIns="0" tIns="0" rIns="0" bIns="0" rtlCol="0" anchor="ctr"/>
          <a:lstStyle/>
          <a:p>
            <a:pPr algn="l" indent="0" marL="0">
              <a:buNone/>
            </a:pPr>
            <a:r>
              <a:rPr lang="en-US" sz="1800" b="1" dirty="0">
                <a:solidFill>
                  <a:srgbClr val="102B46"/>
                </a:solidFill>
                <a:latin typeface="Yu Gothic" pitchFamily="34" charset="0"/>
                <a:ea typeface="Yu Gothic" pitchFamily="34" charset="-122"/>
                <a:cs typeface="Yu Gothic" pitchFamily="34" charset="-120"/>
              </a:rPr>
              <a:t>なぜIMUだけでなくカメラ付きのT265か</a:t>
            </a:r>
            <a:endParaRPr lang="en-US" sz="1800" dirty="0"/>
          </a:p>
        </p:txBody>
      </p:sp>
      <p:sp>
        <p:nvSpPr>
          <p:cNvPr id="19" name="Text 17"/>
          <p:cNvSpPr txBox="1"/>
          <p:nvPr/>
        </p:nvSpPr>
        <p:spPr>
          <a:xfrm>
            <a:off x="628650" y="4895850"/>
            <a:ext cx="10934700" cy="1428750"/>
          </a:xfrm>
          <a:prstGeom prst="rect">
            <a:avLst/>
          </a:prstGeom>
          <a:noFill/>
          <a:ln/>
        </p:spPr>
        <p:txBody>
          <a:bodyPr wrap="square" lIns="0" tIns="0" rIns="0" bIns="0" rtlCol="0" anchor="t"/>
          <a:lstStyle/>
          <a:p>
            <a:pPr algn="l" marL="342900" indent="-342900">
              <a:spcAft>
                <a:spcPts val="800"/>
              </a:spcAft>
              <a:buSzPct val="100000"/>
              <a:buChar char="•"/>
            </a:pPr>
            <a:r>
              <a:rPr lang="en-US" sz="1500" dirty="0">
                <a:solidFill>
                  <a:srgbClr val="17212B"/>
                </a:solidFill>
                <a:latin typeface="Yu Gothic" pitchFamily="34" charset="0"/>
                <a:ea typeface="Yu Gothic" pitchFamily="34" charset="-122"/>
                <a:cs typeface="Yu Gothic" pitchFamily="34" charset="-120"/>
              </a:rPr>
              <a:t>IMUの加速度を積分して速度を出すと、誤差がたまって数秒でずれる。カメラで周りの景色の動きを見て補正すると、速度をずれずに出せる</a:t>
            </a:r>
            <a:endParaRPr lang="en-US" sz="1500" dirty="0"/>
          </a:p>
          <a:p>
            <a:pPr algn="l" marL="342900" indent="-342900">
              <a:spcAft>
                <a:spcPts val="800"/>
              </a:spcAft>
              <a:buSzPct val="100000"/>
              <a:buChar char="•"/>
            </a:pPr>
            <a:r>
              <a:rPr lang="en-US" sz="1500" dirty="0">
                <a:solidFill>
                  <a:srgbClr val="17212B"/>
                </a:solidFill>
                <a:latin typeface="Yu Gothic" pitchFamily="34" charset="0"/>
                <a:ea typeface="Yu Gothic" pitchFamily="34" charset="-122"/>
                <a:cs typeface="Yu Gothic" pitchFamily="34" charset="-120"/>
              </a:rPr>
              <a:t>方策は胴体の速度を観測に使う。速度を観測から外して学習した方策は前進 0.32 m/s に落ち、モーターが柔らかめ（剛性 ×0.7）だと100%転倒した → 速度を測れるセンサが必要</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T265の値を方策の入力に変換する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座標の向きも原点の位置も違う → 回転と取り付け位置の補正で胴体の値に直す</a:t>
            </a:r>
            <a:endParaRPr lang="en-US" sz="2200" dirty="0"/>
          </a:p>
        </p:txBody>
      </p:sp>
      <p:sp>
        <p:nvSpPr>
          <p:cNvPr id="7" name="Shape 5"/>
          <p:cNvSpPr/>
          <p:nvPr/>
        </p:nvSpPr>
        <p:spPr>
          <a:xfrm>
            <a:off x="628650" y="1809750"/>
            <a:ext cx="5334000" cy="2667000"/>
          </a:xfrm>
          <a:prstGeom prst="rect">
            <a:avLst/>
          </a:prstGeom>
          <a:solidFill>
            <a:srgbClr val="FFFFFF"/>
          </a:solidFill>
          <a:ln w="12700">
            <a:solidFill>
              <a:srgbClr val="B7C7D1"/>
            </a:solidFill>
            <a:prstDash val="solid"/>
          </a:ln>
        </p:spPr>
      </p:sp>
      <p:sp>
        <p:nvSpPr>
          <p:cNvPr id="8" name="Text 6"/>
          <p:cNvSpPr txBox="1"/>
          <p:nvPr/>
        </p:nvSpPr>
        <p:spPr>
          <a:xfrm>
            <a:off x="1047750" y="2000250"/>
            <a:ext cx="1905000" cy="266700"/>
          </a:xfrm>
          <a:prstGeom prst="rect">
            <a:avLst/>
          </a:prstGeom>
          <a:noFill/>
          <a:ln/>
        </p:spPr>
        <p:txBody>
          <a:bodyPr wrap="square" lIns="0" tIns="0" rIns="0" bIns="0" rtlCol="0" anchor="ctr"/>
          <a:lstStyle/>
          <a:p>
            <a:pPr algn="ctr" indent="0" marL="0">
              <a:buNone/>
            </a:pPr>
            <a:r>
              <a:rPr lang="en-US" sz="1500" b="1" dirty="0">
                <a:solidFill>
                  <a:srgbClr val="102B46"/>
                </a:solidFill>
                <a:latin typeface="Yu Gothic" pitchFamily="34" charset="0"/>
                <a:ea typeface="Yu Gothic" pitchFamily="34" charset="-122"/>
                <a:cs typeface="Yu Gothic" pitchFamily="34" charset="-120"/>
              </a:rPr>
              <a:t>T265</a:t>
            </a:r>
            <a:endParaRPr lang="en-US" sz="1500" dirty="0"/>
          </a:p>
        </p:txBody>
      </p:sp>
      <p:sp>
        <p:nvSpPr>
          <p:cNvPr id="9" name="Shape 7"/>
          <p:cNvSpPr/>
          <p:nvPr/>
        </p:nvSpPr>
        <p:spPr>
          <a:xfrm>
            <a:off x="1905000" y="3429000"/>
            <a:ext cx="857250" cy="95"/>
          </a:xfrm>
          <a:prstGeom prst="line">
            <a:avLst/>
          </a:prstGeom>
          <a:noFill/>
          <a:ln w="38100">
            <a:solidFill>
              <a:srgbClr val="E8783F"/>
            </a:solidFill>
            <a:prstDash val="solid"/>
            <a:tailEnd type="triangle"/>
          </a:ln>
        </p:spPr>
      </p:sp>
      <p:sp>
        <p:nvSpPr>
          <p:cNvPr id="10" name="Text 8"/>
          <p:cNvSpPr txBox="1"/>
          <p:nvPr/>
        </p:nvSpPr>
        <p:spPr>
          <a:xfrm>
            <a:off x="2819400" y="3295650"/>
            <a:ext cx="666750" cy="247650"/>
          </a:xfrm>
          <a:prstGeom prst="rect">
            <a:avLst/>
          </a:prstGeom>
          <a:noFill/>
          <a:ln/>
        </p:spPr>
        <p:txBody>
          <a:bodyPr wrap="square" lIns="0" tIns="0" rIns="0" bIns="0" rtlCol="0" anchor="ctr"/>
          <a:lstStyle/>
          <a:p>
            <a:pPr algn="l" indent="0" marL="0">
              <a:buNone/>
            </a:pPr>
            <a:r>
              <a:rPr lang="en-US" sz="1300" b="1" dirty="0">
                <a:solidFill>
                  <a:srgbClr val="E8783F"/>
                </a:solidFill>
                <a:latin typeface="Yu Gothic" pitchFamily="34" charset="0"/>
                <a:ea typeface="Yu Gothic" pitchFamily="34" charset="-122"/>
                <a:cs typeface="Yu Gothic" pitchFamily="34" charset="-120"/>
              </a:rPr>
              <a:t>X 右</a:t>
            </a:r>
            <a:endParaRPr lang="en-US" sz="1300" dirty="0"/>
          </a:p>
        </p:txBody>
      </p:sp>
      <p:sp>
        <p:nvSpPr>
          <p:cNvPr id="11" name="Shape 9"/>
          <p:cNvSpPr/>
          <p:nvPr/>
        </p:nvSpPr>
        <p:spPr>
          <a:xfrm flipV="1">
            <a:off x="1905000" y="2571750"/>
            <a:ext cx="95" cy="857250"/>
          </a:xfrm>
          <a:prstGeom prst="line">
            <a:avLst/>
          </a:prstGeom>
          <a:noFill/>
          <a:ln w="38100">
            <a:solidFill>
              <a:srgbClr val="32A5B5"/>
            </a:solidFill>
            <a:prstDash val="solid"/>
            <a:tailEnd type="triangle"/>
          </a:ln>
        </p:spPr>
      </p:sp>
      <p:sp>
        <p:nvSpPr>
          <p:cNvPr id="12" name="Text 10"/>
          <p:cNvSpPr txBox="1"/>
          <p:nvPr/>
        </p:nvSpPr>
        <p:spPr>
          <a:xfrm>
            <a:off x="1571625" y="2286000"/>
            <a:ext cx="666750" cy="247650"/>
          </a:xfrm>
          <a:prstGeom prst="rect">
            <a:avLst/>
          </a:prstGeom>
          <a:noFill/>
          <a:ln/>
        </p:spPr>
        <p:txBody>
          <a:bodyPr wrap="square" lIns="0" tIns="0" rIns="0" bIns="0" rtlCol="0" anchor="ctr"/>
          <a:lstStyle/>
          <a:p>
            <a:pPr algn="l" indent="0" marL="0">
              <a:buNone/>
            </a:pPr>
            <a:r>
              <a:rPr lang="en-US" sz="1300" b="1" dirty="0">
                <a:solidFill>
                  <a:srgbClr val="32A5B5"/>
                </a:solidFill>
                <a:latin typeface="Yu Gothic" pitchFamily="34" charset="0"/>
                <a:ea typeface="Yu Gothic" pitchFamily="34" charset="-122"/>
                <a:cs typeface="Yu Gothic" pitchFamily="34" charset="-120"/>
              </a:rPr>
              <a:t>Y 上</a:t>
            </a:r>
            <a:endParaRPr lang="en-US" sz="1300" dirty="0"/>
          </a:p>
        </p:txBody>
      </p:sp>
      <p:sp>
        <p:nvSpPr>
          <p:cNvPr id="13" name="Shape 11"/>
          <p:cNvSpPr/>
          <p:nvPr/>
        </p:nvSpPr>
        <p:spPr>
          <a:xfrm flipH="1">
            <a:off x="1333500" y="3429000"/>
            <a:ext cx="571500" cy="476250"/>
          </a:xfrm>
          <a:prstGeom prst="line">
            <a:avLst/>
          </a:prstGeom>
          <a:noFill/>
          <a:ln w="38100">
            <a:solidFill>
              <a:srgbClr val="1C5A85"/>
            </a:solidFill>
            <a:prstDash val="solid"/>
            <a:tailEnd type="triangle"/>
          </a:ln>
        </p:spPr>
      </p:sp>
      <p:sp>
        <p:nvSpPr>
          <p:cNvPr id="14" name="Text 12"/>
          <p:cNvSpPr txBox="1"/>
          <p:nvPr/>
        </p:nvSpPr>
        <p:spPr>
          <a:xfrm>
            <a:off x="609600" y="3943350"/>
            <a:ext cx="666750" cy="247650"/>
          </a:xfrm>
          <a:prstGeom prst="rect">
            <a:avLst/>
          </a:prstGeom>
          <a:noFill/>
          <a:ln/>
        </p:spPr>
        <p:txBody>
          <a:bodyPr wrap="square" lIns="0" tIns="0" rIns="0" bIns="0" rtlCol="0" anchor="ctr"/>
          <a:lstStyle/>
          <a:p>
            <a:pPr algn="r" indent="0" marL="0">
              <a:buNone/>
            </a:pPr>
            <a:r>
              <a:rPr lang="en-US" sz="1300" b="1" dirty="0">
                <a:solidFill>
                  <a:srgbClr val="1C5A85"/>
                </a:solidFill>
                <a:latin typeface="Yu Gothic" pitchFamily="34" charset="0"/>
                <a:ea typeface="Yu Gothic" pitchFamily="34" charset="-122"/>
                <a:cs typeface="Yu Gothic" pitchFamily="34" charset="-120"/>
              </a:rPr>
              <a:t>Z 後ろ</a:t>
            </a:r>
            <a:endParaRPr lang="en-US" sz="1300" dirty="0"/>
          </a:p>
        </p:txBody>
      </p:sp>
      <p:sp>
        <p:nvSpPr>
          <p:cNvPr id="15" name="Text 13"/>
          <p:cNvSpPr txBox="1"/>
          <p:nvPr/>
        </p:nvSpPr>
        <p:spPr>
          <a:xfrm>
            <a:off x="3619500" y="2000250"/>
            <a:ext cx="1905000" cy="266700"/>
          </a:xfrm>
          <a:prstGeom prst="rect">
            <a:avLst/>
          </a:prstGeom>
          <a:noFill/>
          <a:ln/>
        </p:spPr>
        <p:txBody>
          <a:bodyPr wrap="square" lIns="0" tIns="0" rIns="0" bIns="0" rtlCol="0" anchor="ctr"/>
          <a:lstStyle/>
          <a:p>
            <a:pPr algn="ctr" indent="0" marL="0">
              <a:buNone/>
            </a:pPr>
            <a:r>
              <a:rPr lang="en-US" sz="1500" b="1" dirty="0">
                <a:solidFill>
                  <a:srgbClr val="102B46"/>
                </a:solidFill>
                <a:latin typeface="Yu Gothic" pitchFamily="34" charset="0"/>
                <a:ea typeface="Yu Gothic" pitchFamily="34" charset="-122"/>
                <a:cs typeface="Yu Gothic" pitchFamily="34" charset="-120"/>
              </a:rPr>
              <a:t>ロボットの胴体</a:t>
            </a:r>
            <a:endParaRPr lang="en-US" sz="1500" dirty="0"/>
          </a:p>
        </p:txBody>
      </p:sp>
      <p:sp>
        <p:nvSpPr>
          <p:cNvPr id="16" name="Shape 14"/>
          <p:cNvSpPr/>
          <p:nvPr/>
        </p:nvSpPr>
        <p:spPr>
          <a:xfrm flipH="1">
            <a:off x="3905250" y="3429000"/>
            <a:ext cx="571500" cy="476250"/>
          </a:xfrm>
          <a:prstGeom prst="line">
            <a:avLst/>
          </a:prstGeom>
          <a:noFill/>
          <a:ln w="38100">
            <a:solidFill>
              <a:srgbClr val="1C5A85"/>
            </a:solidFill>
            <a:prstDash val="solid"/>
            <a:tailEnd type="triangle"/>
          </a:ln>
        </p:spPr>
      </p:sp>
      <p:sp>
        <p:nvSpPr>
          <p:cNvPr id="17" name="Text 15"/>
          <p:cNvSpPr txBox="1"/>
          <p:nvPr/>
        </p:nvSpPr>
        <p:spPr>
          <a:xfrm>
            <a:off x="3181350" y="3943350"/>
            <a:ext cx="666750" cy="247650"/>
          </a:xfrm>
          <a:prstGeom prst="rect">
            <a:avLst/>
          </a:prstGeom>
          <a:noFill/>
          <a:ln/>
        </p:spPr>
        <p:txBody>
          <a:bodyPr wrap="square" lIns="0" tIns="0" rIns="0" bIns="0" rtlCol="0" anchor="ctr"/>
          <a:lstStyle/>
          <a:p>
            <a:pPr algn="r" indent="0" marL="0">
              <a:buNone/>
            </a:pPr>
            <a:r>
              <a:rPr lang="en-US" sz="1300" b="1" dirty="0">
                <a:solidFill>
                  <a:srgbClr val="1C5A85"/>
                </a:solidFill>
                <a:latin typeface="Yu Gothic" pitchFamily="34" charset="0"/>
                <a:ea typeface="Yu Gothic" pitchFamily="34" charset="-122"/>
                <a:cs typeface="Yu Gothic" pitchFamily="34" charset="-120"/>
              </a:rPr>
              <a:t>x 前</a:t>
            </a:r>
            <a:endParaRPr lang="en-US" sz="1300" dirty="0"/>
          </a:p>
        </p:txBody>
      </p:sp>
      <p:sp>
        <p:nvSpPr>
          <p:cNvPr id="18" name="Shape 16"/>
          <p:cNvSpPr/>
          <p:nvPr/>
        </p:nvSpPr>
        <p:spPr>
          <a:xfrm>
            <a:off x="4476750" y="3429000"/>
            <a:ext cx="857250" cy="95"/>
          </a:xfrm>
          <a:prstGeom prst="line">
            <a:avLst/>
          </a:prstGeom>
          <a:noFill/>
          <a:ln w="38100">
            <a:solidFill>
              <a:srgbClr val="E8783F"/>
            </a:solidFill>
            <a:prstDash val="solid"/>
            <a:tailEnd type="triangle"/>
          </a:ln>
        </p:spPr>
      </p:sp>
      <p:sp>
        <p:nvSpPr>
          <p:cNvPr id="19" name="Text 17"/>
          <p:cNvSpPr txBox="1"/>
          <p:nvPr/>
        </p:nvSpPr>
        <p:spPr>
          <a:xfrm>
            <a:off x="5391150" y="3295650"/>
            <a:ext cx="666750" cy="247650"/>
          </a:xfrm>
          <a:prstGeom prst="rect">
            <a:avLst/>
          </a:prstGeom>
          <a:noFill/>
          <a:ln/>
        </p:spPr>
        <p:txBody>
          <a:bodyPr wrap="square" lIns="0" tIns="0" rIns="0" bIns="0" rtlCol="0" anchor="ctr"/>
          <a:lstStyle/>
          <a:p>
            <a:pPr algn="l" indent="0" marL="0">
              <a:buNone/>
            </a:pPr>
            <a:r>
              <a:rPr lang="en-US" sz="1300" b="1" dirty="0">
                <a:solidFill>
                  <a:srgbClr val="E8783F"/>
                </a:solidFill>
                <a:latin typeface="Yu Gothic" pitchFamily="34" charset="0"/>
                <a:ea typeface="Yu Gothic" pitchFamily="34" charset="-122"/>
                <a:cs typeface="Yu Gothic" pitchFamily="34" charset="-120"/>
              </a:rPr>
              <a:t>y 左</a:t>
            </a:r>
            <a:endParaRPr lang="en-US" sz="1300" dirty="0"/>
          </a:p>
        </p:txBody>
      </p:sp>
      <p:sp>
        <p:nvSpPr>
          <p:cNvPr id="20" name="Shape 18"/>
          <p:cNvSpPr/>
          <p:nvPr/>
        </p:nvSpPr>
        <p:spPr>
          <a:xfrm flipV="1">
            <a:off x="4476750" y="2571750"/>
            <a:ext cx="95" cy="857250"/>
          </a:xfrm>
          <a:prstGeom prst="line">
            <a:avLst/>
          </a:prstGeom>
          <a:noFill/>
          <a:ln w="38100">
            <a:solidFill>
              <a:srgbClr val="32A5B5"/>
            </a:solidFill>
            <a:prstDash val="solid"/>
            <a:tailEnd type="triangle"/>
          </a:ln>
        </p:spPr>
      </p:sp>
      <p:sp>
        <p:nvSpPr>
          <p:cNvPr id="21" name="Text 19"/>
          <p:cNvSpPr txBox="1"/>
          <p:nvPr/>
        </p:nvSpPr>
        <p:spPr>
          <a:xfrm>
            <a:off x="4143375" y="2286000"/>
            <a:ext cx="666750" cy="247650"/>
          </a:xfrm>
          <a:prstGeom prst="rect">
            <a:avLst/>
          </a:prstGeom>
          <a:noFill/>
          <a:ln/>
        </p:spPr>
        <p:txBody>
          <a:bodyPr wrap="square" lIns="0" tIns="0" rIns="0" bIns="0" rtlCol="0" anchor="ctr"/>
          <a:lstStyle/>
          <a:p>
            <a:pPr algn="l" indent="0" marL="0">
              <a:buNone/>
            </a:pPr>
            <a:r>
              <a:rPr lang="en-US" sz="1300" b="1" dirty="0">
                <a:solidFill>
                  <a:srgbClr val="32A5B5"/>
                </a:solidFill>
                <a:latin typeface="Yu Gothic" pitchFamily="34" charset="0"/>
                <a:ea typeface="Yu Gothic" pitchFamily="34" charset="-122"/>
                <a:cs typeface="Yu Gothic" pitchFamily="34" charset="-120"/>
              </a:rPr>
              <a:t>z 上</a:t>
            </a:r>
            <a:endParaRPr lang="en-US" sz="1300" dirty="0"/>
          </a:p>
        </p:txBody>
      </p:sp>
      <p:sp>
        <p:nvSpPr>
          <p:cNvPr id="22" name="Text 20"/>
          <p:cNvSpPr txBox="1"/>
          <p:nvPr/>
        </p:nvSpPr>
        <p:spPr>
          <a:xfrm>
            <a:off x="628650" y="4191000"/>
            <a:ext cx="5334000" cy="228600"/>
          </a:xfrm>
          <a:prstGeom prst="rect">
            <a:avLst/>
          </a:prstGeom>
          <a:noFill/>
          <a:ln/>
        </p:spPr>
        <p:txBody>
          <a:bodyPr wrap="square" lIns="0" tIns="0" rIns="0" bIns="0" rtlCol="0" anchor="ctr"/>
          <a:lstStyle/>
          <a:p>
            <a:pPr algn="ctr" indent="0" marL="0">
              <a:buNone/>
            </a:pPr>
            <a:r>
              <a:rPr lang="en-US" sz="1200" dirty="0">
                <a:solidFill>
                  <a:srgbClr val="5E6A73"/>
                </a:solidFill>
                <a:latin typeface="Yu Gothic" pitchFamily="34" charset="0"/>
                <a:ea typeface="Yu Gothic" pitchFamily="34" charset="-122"/>
                <a:cs typeface="Yu Gothic" pitchFamily="34" charset="-120"/>
              </a:rPr>
              <a:t>（ロボットを正面から見た図）</a:t>
            </a:r>
            <a:endParaRPr lang="en-US" sz="1200" dirty="0"/>
          </a:p>
        </p:txBody>
      </p:sp>
      <p:sp>
        <p:nvSpPr>
          <p:cNvPr id="23" name="Shape 21"/>
          <p:cNvSpPr/>
          <p:nvPr/>
        </p:nvSpPr>
        <p:spPr>
          <a:xfrm>
            <a:off x="6229350" y="1809750"/>
            <a:ext cx="5334000" cy="2667000"/>
          </a:xfrm>
          <a:prstGeom prst="rect">
            <a:avLst/>
          </a:prstGeom>
          <a:solidFill>
            <a:srgbClr val="E8F1F5"/>
          </a:solidFill>
          <a:ln w="12700">
            <a:solidFill>
              <a:srgbClr val="B7C7D1"/>
            </a:solidFill>
            <a:prstDash val="solid"/>
          </a:ln>
        </p:spPr>
      </p:sp>
      <p:sp>
        <p:nvSpPr>
          <p:cNvPr id="24" name="Text 22"/>
          <p:cNvSpPr txBox="1"/>
          <p:nvPr/>
        </p:nvSpPr>
        <p:spPr>
          <a:xfrm>
            <a:off x="6419850" y="1905000"/>
            <a:ext cx="2857500" cy="266700"/>
          </a:xfrm>
          <a:prstGeom prst="rect">
            <a:avLst/>
          </a:prstGeom>
          <a:noFill/>
          <a:ln/>
        </p:spPr>
        <p:txBody>
          <a:bodyPr wrap="square" lIns="0" tIns="0" rIns="0" bIns="0" rtlCol="0" anchor="ctr"/>
          <a:lstStyle/>
          <a:p>
            <a:pPr algn="l" indent="0" marL="0">
              <a:buNone/>
            </a:pPr>
            <a:r>
              <a:rPr lang="en-US" sz="1600" b="1" dirty="0">
                <a:solidFill>
                  <a:srgbClr val="102B46"/>
                </a:solidFill>
                <a:latin typeface="Yu Gothic" pitchFamily="34" charset="0"/>
                <a:ea typeface="Yu Gothic" pitchFamily="34" charset="-122"/>
                <a:cs typeface="Yu Gothic" pitchFamily="34" charset="-120"/>
              </a:rPr>
              <a:t>変換式</a:t>
            </a:r>
            <a:endParaRPr lang="en-US" sz="1600" dirty="0"/>
          </a:p>
        </p:txBody>
      </p:sp>
      <p:sp>
        <p:nvSpPr>
          <p:cNvPr id="25" name="Text 23"/>
          <p:cNvSpPr txBox="1"/>
          <p:nvPr/>
        </p:nvSpPr>
        <p:spPr>
          <a:xfrm>
            <a:off x="6419850" y="2247900"/>
            <a:ext cx="4953000" cy="3810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g</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b</a:t>
            </a:r>
            <a:pPr algn="l" indent="0" marL="0">
              <a:buNone/>
            </a:pPr>
            <a:r>
              <a:rPr lang="en-US" sz="1900" b="1" dirty="0">
                <a:solidFill>
                  <a:srgbClr val="17212B"/>
                </a:solidFill>
                <a:latin typeface="Yu Gothic" pitchFamily="34" charset="0"/>
                <a:ea typeface="Yu Gothic" pitchFamily="34" charset="-122"/>
                <a:cs typeface="Yu Gothic" pitchFamily="34" charset="-120"/>
              </a:rPr>
              <a:t> = R</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CB</a:t>
            </a:r>
            <a:pPr algn="l" indent="0" marL="0">
              <a:buNone/>
            </a:pPr>
            <a:r>
              <a:rPr lang="en-US" sz="1900" b="1" dirty="0">
                <a:solidFill>
                  <a:srgbClr val="17212B"/>
                </a:solidFill>
                <a:latin typeface="Yu Gothic" pitchFamily="34" charset="0"/>
                <a:ea typeface="Yu Gothic" pitchFamily="34" charset="-122"/>
                <a:cs typeface="Yu Gothic" pitchFamily="34" charset="-120"/>
              </a:rPr>
              <a:t>ᵀ R</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wc</a:t>
            </a:r>
            <a:pPr algn="l" indent="0" marL="0">
              <a:buNone/>
            </a:pPr>
            <a:r>
              <a:rPr lang="en-US" sz="1900" b="1" dirty="0">
                <a:solidFill>
                  <a:srgbClr val="17212B"/>
                </a:solidFill>
                <a:latin typeface="Yu Gothic" pitchFamily="34" charset="0"/>
                <a:ea typeface="Yu Gothic" pitchFamily="34" charset="-122"/>
                <a:cs typeface="Yu Gothic" pitchFamily="34" charset="-120"/>
              </a:rPr>
              <a:t>ᵀ (0, −1, 0)</a:t>
            </a:r>
            <a:endParaRPr lang="en-US" sz="1900" dirty="0"/>
          </a:p>
        </p:txBody>
      </p:sp>
      <p:sp>
        <p:nvSpPr>
          <p:cNvPr id="26" name="Text 24"/>
          <p:cNvSpPr txBox="1"/>
          <p:nvPr/>
        </p:nvSpPr>
        <p:spPr>
          <a:xfrm>
            <a:off x="6419850" y="2686050"/>
            <a:ext cx="4953000" cy="3810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ω</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b</a:t>
            </a:r>
            <a:pPr algn="l" indent="0" marL="0">
              <a:buNone/>
            </a:pPr>
            <a:r>
              <a:rPr lang="en-US" sz="1900" b="1" dirty="0">
                <a:solidFill>
                  <a:srgbClr val="17212B"/>
                </a:solidFill>
                <a:latin typeface="Yu Gothic" pitchFamily="34" charset="0"/>
                <a:ea typeface="Yu Gothic" pitchFamily="34" charset="-122"/>
                <a:cs typeface="Yu Gothic" pitchFamily="34" charset="-120"/>
              </a:rPr>
              <a:t> = R</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CB</a:t>
            </a:r>
            <a:pPr algn="l" indent="0" marL="0">
              <a:buNone/>
            </a:pPr>
            <a:r>
              <a:rPr lang="en-US" sz="1900" b="1" dirty="0">
                <a:solidFill>
                  <a:srgbClr val="17212B"/>
                </a:solidFill>
                <a:latin typeface="Yu Gothic" pitchFamily="34" charset="0"/>
                <a:ea typeface="Yu Gothic" pitchFamily="34" charset="-122"/>
                <a:cs typeface="Yu Gothic" pitchFamily="34" charset="-120"/>
              </a:rPr>
              <a:t>ᵀ ω</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c</a:t>
            </a:r>
            <a:endParaRPr lang="en-US" sz="1900" dirty="0"/>
          </a:p>
        </p:txBody>
      </p:sp>
      <p:sp>
        <p:nvSpPr>
          <p:cNvPr id="27" name="Text 25"/>
          <p:cNvSpPr txBox="1"/>
          <p:nvPr/>
        </p:nvSpPr>
        <p:spPr>
          <a:xfrm>
            <a:off x="6419850" y="3124200"/>
            <a:ext cx="4953000" cy="3810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v</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b</a:t>
            </a:r>
            <a:pPr algn="l" indent="0" marL="0">
              <a:buNone/>
            </a:pPr>
            <a:r>
              <a:rPr lang="en-US" sz="1900" b="1" dirty="0">
                <a:solidFill>
                  <a:srgbClr val="17212B"/>
                </a:solidFill>
                <a:latin typeface="Yu Gothic" pitchFamily="34" charset="0"/>
                <a:ea typeface="Yu Gothic" pitchFamily="34" charset="-122"/>
                <a:cs typeface="Yu Gothic" pitchFamily="34" charset="-120"/>
              </a:rPr>
              <a:t> = R</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CB</a:t>
            </a:r>
            <a:pPr algn="l" indent="0" marL="0">
              <a:buNone/>
            </a:pPr>
            <a:r>
              <a:rPr lang="en-US" sz="1900" b="1" dirty="0">
                <a:solidFill>
                  <a:srgbClr val="17212B"/>
                </a:solidFill>
                <a:latin typeface="Yu Gothic" pitchFamily="34" charset="0"/>
                <a:ea typeface="Yu Gothic" pitchFamily="34" charset="-122"/>
                <a:cs typeface="Yu Gothic" pitchFamily="34" charset="-120"/>
              </a:rPr>
              <a:t>ᵀ v</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c</a:t>
            </a:r>
            <a:pPr algn="l" indent="0" marL="0">
              <a:buNone/>
            </a:pPr>
            <a:r>
              <a:rPr lang="en-US" sz="1900" b="1" dirty="0">
                <a:solidFill>
                  <a:srgbClr val="17212B"/>
                </a:solidFill>
                <a:latin typeface="Yu Gothic" pitchFamily="34" charset="0"/>
                <a:ea typeface="Yu Gothic" pitchFamily="34" charset="-122"/>
                <a:cs typeface="Yu Gothic" pitchFamily="34" charset="-120"/>
              </a:rPr>
              <a:t> − ω</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b</a:t>
            </a:r>
            <a:pPr algn="l" indent="0" marL="0">
              <a:buNone/>
            </a:pPr>
            <a:r>
              <a:rPr lang="en-US" sz="1900" b="1" dirty="0">
                <a:solidFill>
                  <a:srgbClr val="17212B"/>
                </a:solidFill>
                <a:latin typeface="Yu Gothic" pitchFamily="34" charset="0"/>
                <a:ea typeface="Yu Gothic" pitchFamily="34" charset="-122"/>
                <a:cs typeface="Yu Gothic" pitchFamily="34" charset="-120"/>
              </a:rPr>
              <a:t> × r</a:t>
            </a:r>
            <a:endParaRPr lang="en-US" sz="1900" dirty="0"/>
          </a:p>
        </p:txBody>
      </p:sp>
      <p:sp>
        <p:nvSpPr>
          <p:cNvPr id="28" name="Text 26"/>
          <p:cNvSpPr txBox="1"/>
          <p:nvPr/>
        </p:nvSpPr>
        <p:spPr>
          <a:xfrm>
            <a:off x="6419850" y="3619500"/>
            <a:ext cx="4953000" cy="762000"/>
          </a:xfrm>
          <a:prstGeom prst="rect">
            <a:avLst/>
          </a:prstGeom>
          <a:noFill/>
          <a:ln/>
        </p:spPr>
        <p:txBody>
          <a:bodyPr wrap="square" lIns="0" tIns="0" rIns="0" bIns="0" rtlCol="0" anchor="t"/>
          <a:lstStyle/>
          <a:p>
            <a:pPr algn="l" indent="0" marL="0">
              <a:buNone/>
            </a:pPr>
            <a:r>
              <a:rPr lang="en-US" sz="1300" dirty="0">
                <a:solidFill>
                  <a:srgbClr val="5E6A73"/>
                </a:solidFill>
                <a:latin typeface="Yu Gothic" pitchFamily="34" charset="0"/>
                <a:ea typeface="Yu Gothic" pitchFamily="34" charset="-122"/>
                <a:cs typeface="Yu Gothic" pitchFamily="34" charset="-120"/>
              </a:rPr>
              <a:t>R_wc：T265の姿勢（回転行列）　R_CB：取り付けの向き</a:t>
            </a:r>
            <a:endParaRPr lang="en-US" sz="1300" dirty="0"/>
          </a:p>
          <a:p>
            <a:pPr algn="l" indent="0" marL="0">
              <a:buNone/>
            </a:pPr>
            <a:r>
              <a:rPr lang="en-US" sz="1300" dirty="0">
                <a:solidFill>
                  <a:srgbClr val="5E6A73"/>
                </a:solidFill>
                <a:latin typeface="Yu Gothic" pitchFamily="34" charset="0"/>
                <a:ea typeface="Yu Gothic" pitchFamily="34" charset="-122"/>
                <a:cs typeface="Yu Gothic" pitchFamily="34" charset="-120"/>
              </a:rPr>
              <a:t>r = (63.5, 89.0, 42.8) mm：胴体の原点 → T265の計測中心（CADから算出）</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8650" y="4629150"/>
          <a:ext cx="7239000" cy="914400"/>
        </p:xfrm>
        <a:graphic>
          <a:graphicData uri="http://schemas.openxmlformats.org/drawingml/2006/table">
            <a:tbl>
              <a:tblPr/>
              <a:tblGrid>
                <a:gridCol w="2476500"/>
                <a:gridCol w="2381250"/>
                <a:gridCol w="2381250"/>
              </a:tblGrid>
              <a:tr h="285750">
                <a:tc>
                  <a:txBody>
                    <a:bodyPr/>
                    <a:lstStyle/>
                    <a:p>
                      <a:pPr algn="l" indent="0" marL="0">
                        <a:buNone/>
                      </a:pPr>
                      <a:r>
                        <a:rPr lang="en-US" sz="1200" b="1" dirty="0">
                          <a:solidFill>
                            <a:srgbClr val="FFFFFF"/>
                          </a:solidFill>
                          <a:latin typeface="Yu Gothic" pitchFamily="34" charset="0"/>
                          <a:ea typeface="Yu Gothic" pitchFamily="34" charset="-122"/>
                          <a:cs typeface="Yu Gothic" pitchFamily="34" charset="-120"/>
                        </a:rPr>
                        <a:t>確認した動き</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期待</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結果</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102B46"/>
                    </a:solidFill>
                  </a:tcPr>
                </a:tc>
              </a:tr>
              <a:tr h="285750">
                <a:tc>
                  <a:txBody>
                    <a:bodyPr/>
                    <a:lstStyle/>
                    <a:p>
                      <a:pPr algn="l" indent="0" marL="0">
                        <a:buNone/>
                      </a:pPr>
                      <a:r>
                        <a:rPr lang="en-US" sz="1200" dirty="0">
                          <a:solidFill>
                            <a:srgbClr val="17212B"/>
                          </a:solidFill>
                          <a:latin typeface="Yu Gothic" pitchFamily="34" charset="0"/>
                          <a:ea typeface="Yu Gothic" pitchFamily="34" charset="-122"/>
                          <a:cs typeface="Yu Gothic" pitchFamily="34" charset="-120"/>
                        </a:rPr>
                        <a:t>水平に置いて静止</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g = (0, 0, −1)</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(0.00, 0.00, −1.00)</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285750">
                <a:tc>
                  <a:txBody>
                    <a:bodyPr/>
                    <a:lstStyle/>
                    <a:p>
                      <a:pPr algn="l" indent="0" marL="0">
                        <a:buNone/>
                      </a:pPr>
                      <a:r>
                        <a:rPr lang="en-US" sz="1200" dirty="0">
                          <a:solidFill>
                            <a:srgbClr val="17212B"/>
                          </a:solidFill>
                          <a:latin typeface="Yu Gothic" pitchFamily="34" charset="0"/>
                          <a:ea typeface="Yu Gothic" pitchFamily="34" charset="-122"/>
                          <a:cs typeface="Yu Gothic" pitchFamily="34" charset="-120"/>
                        </a:rPr>
                        <a:t>前を下げる</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g_x が＋</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285750">
                <a:tc>
                  <a:txBody>
                    <a:bodyPr/>
                    <a:lstStyle/>
                    <a:p>
                      <a:pPr algn="l" indent="0" marL="0">
                        <a:buNone/>
                      </a:pPr>
                      <a:r>
                        <a:rPr lang="en-US" sz="1200" dirty="0">
                          <a:solidFill>
                            <a:srgbClr val="17212B"/>
                          </a:solidFill>
                          <a:latin typeface="Yu Gothic" pitchFamily="34" charset="0"/>
                          <a:ea typeface="Yu Gothic" pitchFamily="34" charset="-122"/>
                          <a:cs typeface="Yu Gothic" pitchFamily="34" charset="-120"/>
                        </a:rPr>
                        <a:t>左を下げる</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g_y が＋</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r h="285750">
                <a:tc>
                  <a:txBody>
                    <a:bodyPr/>
                    <a:lstStyle/>
                    <a:p>
                      <a:pPr algn="l" indent="0" marL="0">
                        <a:buNone/>
                      </a:pPr>
                      <a:r>
                        <a:rPr lang="en-US" sz="1200" dirty="0">
                          <a:solidFill>
                            <a:srgbClr val="17212B"/>
                          </a:solidFill>
                          <a:latin typeface="Yu Gothic" pitchFamily="34" charset="0"/>
                          <a:ea typeface="Yu Gothic" pitchFamily="34" charset="-122"/>
                          <a:cs typeface="Yu Gothic" pitchFamily="34" charset="-120"/>
                        </a:rPr>
                        <a:t>上から見て反時計回り</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ω_z が＋</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E8F1F5"/>
                    </a:solidFill>
                  </a:tcPr>
                </a:tc>
              </a:tr>
              <a:tr h="285750">
                <a:tc>
                  <a:txBody>
                    <a:bodyPr/>
                    <a:lstStyle/>
                    <a:p>
                      <a:pPr algn="l" indent="0" marL="0">
                        <a:buNone/>
                      </a:pPr>
                      <a:r>
                        <a:rPr lang="en-US" sz="1200" dirty="0">
                          <a:solidFill>
                            <a:srgbClr val="17212B"/>
                          </a:solidFill>
                          <a:latin typeface="Yu Gothic" pitchFamily="34" charset="0"/>
                          <a:ea typeface="Yu Gothic" pitchFamily="34" charset="-122"/>
                          <a:cs typeface="Yu Gothic" pitchFamily="34" charset="-120"/>
                        </a:rPr>
                        <a:t>前へ動かす</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v_x が＋</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12B"/>
                          </a:solidFill>
                          <a:latin typeface="Yu Gothic" pitchFamily="34" charset="0"/>
                          <a:ea typeface="Yu Gothic" pitchFamily="34" charset="-122"/>
                          <a:cs typeface="Yu Gothic" pitchFamily="34" charset="-120"/>
                        </a:rPr>
                        <a:t>+0.23 m/s</a:t>
                      </a:r>
                      <a:endParaRPr lang="en-US" sz="1200" dirty="0">
                        <a:latin typeface="Yu Gothic" charset="0"/>
                        <a:ea typeface="Yu Gothic" charset="0"/>
                        <a:cs typeface="Yu Gothic" charset="0"/>
                      </a:endParaRPr>
                    </a:p>
                  </a:txBody>
                  <a:tcPr marL="76200" marR="76200" marT="38100" marB="38100" anchor="ctr">
                    <a:lnL w="9525" cap="flat" cmpd="sng" algn="ctr">
                      <a:solidFill>
                        <a:srgbClr val="B7C7D1"/>
                      </a:solidFill>
                      <a:prstDash val="solid"/>
                      <a:round/>
                      <a:headEnd type="none" w="med" len="med"/>
                      <a:tailEnd type="none" w="med" len="med"/>
                    </a:lnL>
                    <a:lnR w="9525" cap="flat" cmpd="sng" algn="ctr">
                      <a:solidFill>
                        <a:srgbClr val="B7C7D1"/>
                      </a:solidFill>
                      <a:prstDash val="solid"/>
                      <a:round/>
                      <a:headEnd type="none" w="med" len="med"/>
                      <a:tailEnd type="none" w="med" len="med"/>
                    </a:lnR>
                    <a:lnT w="9525" cap="flat" cmpd="sng" algn="ctr">
                      <a:solidFill>
                        <a:srgbClr val="B7C7D1"/>
                      </a:solidFill>
                      <a:prstDash val="solid"/>
                      <a:round/>
                      <a:headEnd type="none" w="med" len="med"/>
                      <a:tailEnd type="none" w="med" len="med"/>
                    </a:lnT>
                    <a:lnB w="9525" cap="flat" cmpd="sng" algn="ctr">
                      <a:solidFill>
                        <a:srgbClr val="B7C7D1"/>
                      </a:solidFill>
                      <a:prstDash val="solid"/>
                      <a:round/>
                      <a:headEnd type="none" w="med" len="med"/>
                      <a:tailEnd type="none" w="med" len="med"/>
                    </a:lnB>
                    <a:solidFill>
                      <a:srgbClr val="FFFFFF"/>
                    </a:solidFill>
                  </a:tcPr>
                </a:tc>
              </a:tr>
            </a:tbl>
          </a:graphicData>
        </a:graphic>
      </p:graphicFrame>
      <p:sp>
        <p:nvSpPr>
          <p:cNvPr id="30" name="Text 27"/>
          <p:cNvSpPr txBox="1"/>
          <p:nvPr/>
        </p:nvSpPr>
        <p:spPr>
          <a:xfrm>
            <a:off x="8096250" y="4629150"/>
            <a:ext cx="3467100" cy="1714500"/>
          </a:xfrm>
          <a:prstGeom prst="rect">
            <a:avLst/>
          </a:prstGeom>
          <a:solidFill>
            <a:srgbClr val="F3EEE6"/>
          </a:solidFill>
          <a:ln/>
        </p:spPr>
        <p:txBody>
          <a:bodyPr wrap="square" lIns="127000" tIns="152400" rIns="152400" bIns="127000" rtlCol="0" anchor="t"/>
          <a:lstStyle/>
          <a:p>
            <a:pPr algn="l" indent="0" marL="0">
              <a:buNone/>
            </a:pPr>
            <a:r>
              <a:rPr lang="en-US" sz="1400" b="1" dirty="0">
                <a:solidFill>
                  <a:srgbClr val="102B46"/>
                </a:solidFill>
                <a:latin typeface="Yu Gothic" pitchFamily="34" charset="0"/>
                <a:ea typeface="Yu Gothic" pitchFamily="34" charset="-122"/>
                <a:cs typeface="Yu Gothic" pitchFamily="34" charset="-120"/>
              </a:rPr>
              <a:t>受信 200 Hz を確認</a:t>
            </a:r>
            <a:endParaRPr lang="en-US" sz="1400" dirty="0"/>
          </a:p>
          <a:p>
            <a:pPr algn="l" indent="0" marL="0">
              <a:buNone/>
            </a:pPr>
            <a:r>
              <a:rPr lang="en-US" sz="1400" b="1" dirty="0">
                <a:solidFill>
                  <a:srgbClr val="102B46"/>
                </a:solidFill>
                <a:latin typeface="Yu Gothic" pitchFamily="34" charset="0"/>
                <a:ea typeface="Yu Gothic" pitchFamily="34" charset="-122"/>
                <a:cs typeface="Yu Gothic" pitchFamily="34" charset="-120"/>
              </a:rPr>
              <a:t>（最大間隔 13 ms）</a:t>
            </a:r>
            <a:endParaRPr lang="en-US" sz="1400" dirty="0"/>
          </a:p>
          <a:p>
            <a:pPr algn="l" indent="0" marL="0">
              <a:buNone/>
            </a:pPr>
            <a:endParaRPr lang="en-US" sz="1400" dirty="0"/>
          </a:p>
          <a:p>
            <a:pPr algn="l" indent="0" marL="0">
              <a:buNone/>
            </a:pPr>
            <a:r>
              <a:rPr lang="en-US" sz="1400" b="1" dirty="0">
                <a:solidFill>
                  <a:srgbClr val="102B46"/>
                </a:solidFill>
                <a:latin typeface="Yu Gothic" pitchFamily="34" charset="0"/>
                <a:ea typeface="Yu Gothic" pitchFamily="34" charset="-122"/>
                <a:cs typeface="Yu Gothic" pitchFamily="34" charset="-120"/>
              </a:rPr>
              <a:t>手で5つの動きをして、符号がすべて合うことを確かめた</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モーター：CAN通信で目標角を送り、状態を受け取る</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Shape 4"/>
          <p:cNvSpPr/>
          <p:nvPr/>
        </p:nvSpPr>
        <p:spPr>
          <a:xfrm>
            <a:off x="628650" y="1238250"/>
            <a:ext cx="2857500" cy="2190750"/>
          </a:xfrm>
          <a:prstGeom prst="rect">
            <a:avLst/>
          </a:prstGeom>
          <a:solidFill>
            <a:srgbClr val="FBF7F3"/>
          </a:solidFill>
          <a:ln w="22225">
            <a:solidFill>
              <a:srgbClr val="E8783F"/>
            </a:solidFill>
            <a:prstDash val="dash"/>
          </a:ln>
        </p:spPr>
      </p:sp>
      <p:sp>
        <p:nvSpPr>
          <p:cNvPr id="7" name="Text 5"/>
          <p:cNvSpPr txBox="1"/>
          <p:nvPr/>
        </p:nvSpPr>
        <p:spPr>
          <a:xfrm>
            <a:off x="762000" y="1352550"/>
            <a:ext cx="25908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8" name="Text 6"/>
          <p:cNvSpPr txBox="1"/>
          <p:nvPr/>
        </p:nvSpPr>
        <p:spPr>
          <a:xfrm>
            <a:off x="762000" y="1638300"/>
            <a:ext cx="2590800" cy="16764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AK10-9 と AK80-9 の写真（並べて大きさが比べられるもの）。</a:t>
            </a:r>
            <a:endParaRPr lang="en-US" sz="1300" dirty="0"/>
          </a:p>
        </p:txBody>
      </p:sp>
      <p:sp>
        <p:nvSpPr>
          <p:cNvPr id="9" name="Shape 7"/>
          <p:cNvSpPr/>
          <p:nvPr/>
        </p:nvSpPr>
        <p:spPr>
          <a:xfrm>
            <a:off x="3771900" y="1238250"/>
            <a:ext cx="7791450" cy="2190750"/>
          </a:xfrm>
          <a:prstGeom prst="rect">
            <a:avLst/>
          </a:prstGeom>
          <a:solidFill>
            <a:srgbClr val="E8F1F5"/>
          </a:solidFill>
          <a:ln w="12700">
            <a:solidFill>
              <a:srgbClr val="B7C7D1"/>
            </a:solidFill>
            <a:prstDash val="solid"/>
          </a:ln>
        </p:spPr>
      </p:sp>
      <p:sp>
        <p:nvSpPr>
          <p:cNvPr id="10" name="Text 8"/>
          <p:cNvSpPr txBox="1"/>
          <p:nvPr/>
        </p:nvSpPr>
        <p:spPr>
          <a:xfrm>
            <a:off x="3962400" y="1333500"/>
            <a:ext cx="7429500" cy="28575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MITモード（モーターの中でPD制御を計算する使い方）</a:t>
            </a:r>
            <a:endParaRPr lang="en-US" sz="1700" dirty="0"/>
          </a:p>
        </p:txBody>
      </p:sp>
      <p:sp>
        <p:nvSpPr>
          <p:cNvPr id="11" name="Text 9"/>
          <p:cNvSpPr txBox="1"/>
          <p:nvPr/>
        </p:nvSpPr>
        <p:spPr>
          <a:xfrm>
            <a:off x="3962400" y="1714500"/>
            <a:ext cx="3619500" cy="247650"/>
          </a:xfrm>
          <a:prstGeom prst="rect">
            <a:avLst/>
          </a:prstGeom>
          <a:noFill/>
          <a:ln/>
        </p:spPr>
        <p:txBody>
          <a:bodyPr wrap="square" lIns="0" tIns="0" rIns="0" bIns="0" rtlCol="0" anchor="ctr"/>
          <a:lstStyle/>
          <a:p>
            <a:pPr algn="l" indent="0" marL="0">
              <a:buNone/>
            </a:pPr>
            <a:r>
              <a:rPr lang="en-US" sz="1500" b="1" dirty="0">
                <a:solidFill>
                  <a:srgbClr val="1C5A85"/>
                </a:solidFill>
                <a:latin typeface="Yu Gothic" pitchFamily="34" charset="0"/>
                <a:ea typeface="Yu Gothic" pitchFamily="34" charset="-122"/>
                <a:cs typeface="Yu Gothic" pitchFamily="34" charset="-120"/>
              </a:rPr>
              <a:t>Jetson → モーター（送信）</a:t>
            </a:r>
            <a:endParaRPr lang="en-US" sz="1500" dirty="0"/>
          </a:p>
        </p:txBody>
      </p:sp>
      <p:sp>
        <p:nvSpPr>
          <p:cNvPr id="12" name="Text 10"/>
          <p:cNvSpPr txBox="1"/>
          <p:nvPr/>
        </p:nvSpPr>
        <p:spPr>
          <a:xfrm>
            <a:off x="3962400" y="1981200"/>
            <a:ext cx="3619500" cy="5334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目標角 θ*、目標角速度（0）、Kp、Kd、追加トルク（0）</a:t>
            </a:r>
            <a:endParaRPr lang="en-US" sz="1400" dirty="0"/>
          </a:p>
        </p:txBody>
      </p:sp>
      <p:sp>
        <p:nvSpPr>
          <p:cNvPr id="13" name="Text 11"/>
          <p:cNvSpPr txBox="1"/>
          <p:nvPr/>
        </p:nvSpPr>
        <p:spPr>
          <a:xfrm>
            <a:off x="7772400" y="1714500"/>
            <a:ext cx="36195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モーター → Jetson（返信）</a:t>
            </a:r>
            <a:endParaRPr lang="en-US" sz="1500" dirty="0"/>
          </a:p>
        </p:txBody>
      </p:sp>
      <p:sp>
        <p:nvSpPr>
          <p:cNvPr id="14" name="Text 12"/>
          <p:cNvSpPr txBox="1"/>
          <p:nvPr/>
        </p:nvSpPr>
        <p:spPr>
          <a:xfrm>
            <a:off x="7772400" y="1981200"/>
            <a:ext cx="3619500" cy="5334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今の角度 θ、角速度 ω、電流、温度、エラー番号</a:t>
            </a:r>
            <a:endParaRPr lang="en-US" sz="1400" dirty="0"/>
          </a:p>
        </p:txBody>
      </p:sp>
      <p:sp>
        <p:nvSpPr>
          <p:cNvPr id="15" name="Text 13"/>
          <p:cNvSpPr txBox="1"/>
          <p:nvPr/>
        </p:nvSpPr>
        <p:spPr>
          <a:xfrm>
            <a:off x="3962400" y="2628900"/>
            <a:ext cx="7429500" cy="342900"/>
          </a:xfrm>
          <a:prstGeom prst="rect">
            <a:avLst/>
          </a:prstGeom>
          <a:noFill/>
          <a:ln/>
        </p:spPr>
        <p:txBody>
          <a:bodyPr wrap="square" lIns="0" tIns="0" rIns="0" bIns="0" rtlCol="0" anchor="ctr"/>
          <a:lstStyle/>
          <a:p>
            <a:pPr algn="l" indent="0" marL="0">
              <a:buNone/>
            </a:pPr>
            <a:r>
              <a:rPr lang="en-US" sz="1900" b="1" dirty="0">
                <a:solidFill>
                  <a:srgbClr val="17212B"/>
                </a:solidFill>
                <a:latin typeface="Yu Gothic" pitchFamily="34" charset="0"/>
                <a:ea typeface="Yu Gothic" pitchFamily="34" charset="-122"/>
                <a:cs typeface="Yu Gothic" pitchFamily="34" charset="-120"/>
              </a:rPr>
              <a:t>モーター内部： τ = K</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p</a:t>
            </a:r>
            <a:pPr algn="l" indent="0" marL="0">
              <a:buNone/>
            </a:pPr>
            <a:r>
              <a:rPr lang="en-US" sz="1900" b="1" dirty="0">
                <a:solidFill>
                  <a:srgbClr val="17212B"/>
                </a:solidFill>
                <a:latin typeface="Yu Gothic" pitchFamily="34" charset="0"/>
                <a:ea typeface="Yu Gothic" pitchFamily="34" charset="-122"/>
                <a:cs typeface="Yu Gothic" pitchFamily="34" charset="-120"/>
              </a:rPr>
              <a:t>(θ* − θ) + K</a:t>
            </a:r>
            <a:pPr algn="l" indent="0" marL="0">
              <a:buNone/>
            </a:pPr>
            <a:r>
              <a:rPr lang="en-US" sz="1900" b="1" baseline="-40000" dirty="0">
                <a:solidFill>
                  <a:srgbClr val="17212B"/>
                </a:solidFill>
                <a:latin typeface="Yu Gothic" pitchFamily="34" charset="0"/>
                <a:ea typeface="Yu Gothic" pitchFamily="34" charset="-122"/>
                <a:cs typeface="Yu Gothic" pitchFamily="34" charset="-120"/>
              </a:rPr>
              <a:t>d</a:t>
            </a:r>
            <a:pPr algn="l" indent="0" marL="0">
              <a:buNone/>
            </a:pPr>
            <a:r>
              <a:rPr lang="en-US" sz="1900" b="1" dirty="0">
                <a:solidFill>
                  <a:srgbClr val="17212B"/>
                </a:solidFill>
                <a:latin typeface="Yu Gothic" pitchFamily="34" charset="0"/>
                <a:ea typeface="Yu Gothic" pitchFamily="34" charset="-122"/>
                <a:cs typeface="Yu Gothic" pitchFamily="34" charset="-120"/>
              </a:rPr>
              <a:t>(0 − ω)</a:t>
            </a:r>
            <a:endParaRPr lang="en-US" sz="1900" dirty="0"/>
          </a:p>
        </p:txBody>
      </p:sp>
      <p:sp>
        <p:nvSpPr>
          <p:cNvPr id="16" name="Text 14"/>
          <p:cNvSpPr txBox="1"/>
          <p:nvPr/>
        </p:nvSpPr>
        <p:spPr>
          <a:xfrm>
            <a:off x="3962400" y="3028950"/>
            <a:ext cx="7429500" cy="285750"/>
          </a:xfrm>
          <a:prstGeom prst="rect">
            <a:avLst/>
          </a:prstGeom>
          <a:noFill/>
          <a:ln/>
        </p:spPr>
        <p:txBody>
          <a:bodyPr wrap="square" lIns="0" tIns="0" rIns="0" bIns="0" rtlCol="0" anchor="ctr"/>
          <a:lstStyle/>
          <a:p>
            <a:pPr algn="l" indent="0" marL="0">
              <a:buNone/>
            </a:pPr>
            <a:r>
              <a:rPr lang="en-US" sz="1400" dirty="0">
                <a:solidFill>
                  <a:srgbClr val="5E6A73"/>
                </a:solidFill>
                <a:latin typeface="Yu Gothic" pitchFamily="34" charset="0"/>
                <a:ea typeface="Yu Gothic" pitchFamily="34" charset="-122"/>
                <a:cs typeface="Yu Gothic" pitchFamily="34" charset="-120"/>
              </a:rPr>
              <a:t>1回送ると1回返ってくる → 送信のたびに全関節の最新の状態がそろう</a:t>
            </a:r>
            <a:endParaRPr lang="en-US" sz="1400" dirty="0"/>
          </a:p>
        </p:txBody>
      </p:sp>
      <p:sp>
        <p:nvSpPr>
          <p:cNvPr id="17" name="Text 15"/>
          <p:cNvSpPr txBox="1"/>
          <p:nvPr/>
        </p:nvSpPr>
        <p:spPr>
          <a:xfrm>
            <a:off x="628650" y="3657600"/>
            <a:ext cx="6667500" cy="28575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2系統のCANバス（左脚・右脚で5軸ずつ）</a:t>
            </a:r>
            <a:endParaRPr lang="en-US" sz="1700" dirty="0"/>
          </a:p>
        </p:txBody>
      </p:sp>
      <p:sp>
        <p:nvSpPr>
          <p:cNvPr id="18" name="Text 16"/>
          <p:cNvSpPr txBox="1"/>
          <p:nvPr/>
        </p:nvSpPr>
        <p:spPr>
          <a:xfrm>
            <a:off x="628650" y="4476750"/>
            <a:ext cx="1238250" cy="571500"/>
          </a:xfrm>
          <a:prstGeom prst="rect">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Jetson</a:t>
            </a:r>
            <a:endParaRPr lang="en-US" sz="1800" dirty="0"/>
          </a:p>
        </p:txBody>
      </p:sp>
      <p:sp>
        <p:nvSpPr>
          <p:cNvPr id="19" name="Shape 17"/>
          <p:cNvSpPr/>
          <p:nvPr/>
        </p:nvSpPr>
        <p:spPr>
          <a:xfrm>
            <a:off x="1885950" y="4762500"/>
            <a:ext cx="495300" cy="95"/>
          </a:xfrm>
          <a:prstGeom prst="line">
            <a:avLst/>
          </a:prstGeom>
          <a:noFill/>
          <a:ln w="31750">
            <a:solidFill>
              <a:srgbClr val="1C5A85"/>
            </a:solidFill>
            <a:prstDash val="solid"/>
            <a:tailEnd type="triangle"/>
          </a:ln>
        </p:spPr>
      </p:sp>
      <p:sp>
        <p:nvSpPr>
          <p:cNvPr id="20" name="Text 18"/>
          <p:cNvSpPr txBox="1"/>
          <p:nvPr/>
        </p:nvSpPr>
        <p:spPr>
          <a:xfrm>
            <a:off x="2419350" y="4400550"/>
            <a:ext cx="1238250" cy="723900"/>
          </a:xfrm>
          <a:prstGeom prst="rect">
            <a:avLst/>
          </a:prstGeom>
          <a:solidFill>
            <a:srgbClr val="32A5B5"/>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USB-CAN</a:t>
            </a:r>
            <a:endParaRPr lang="en-US" sz="1600" dirty="0"/>
          </a:p>
          <a:p>
            <a:pPr algn="ctr" indent="0" marL="0">
              <a:buNone/>
            </a:pPr>
            <a:r>
              <a:rPr lang="en-US" sz="1600" b="1" dirty="0">
                <a:solidFill>
                  <a:srgbClr val="FFFFFF"/>
                </a:solidFill>
                <a:latin typeface="Yu Gothic" pitchFamily="34" charset="0"/>
                <a:ea typeface="Yu Gothic" pitchFamily="34" charset="-122"/>
                <a:cs typeface="Yu Gothic" pitchFamily="34" charset="-120"/>
              </a:rPr>
              <a:t>（2ch）</a:t>
            </a:r>
            <a:endParaRPr lang="en-US" sz="1600" dirty="0"/>
          </a:p>
        </p:txBody>
      </p:sp>
      <p:sp>
        <p:nvSpPr>
          <p:cNvPr id="21" name="Shape 19"/>
          <p:cNvSpPr/>
          <p:nvPr/>
        </p:nvSpPr>
        <p:spPr>
          <a:xfrm flipV="1">
            <a:off x="3676650" y="4267200"/>
            <a:ext cx="323850" cy="495300"/>
          </a:xfrm>
          <a:prstGeom prst="line">
            <a:avLst/>
          </a:prstGeom>
          <a:noFill/>
          <a:ln w="25400">
            <a:solidFill>
              <a:srgbClr val="32A5B5"/>
            </a:solidFill>
            <a:prstDash val="solid"/>
            <a:tailEnd type="triangle"/>
          </a:ln>
        </p:spPr>
      </p:sp>
      <p:sp>
        <p:nvSpPr>
          <p:cNvPr id="22" name="Shape 20"/>
          <p:cNvSpPr/>
          <p:nvPr/>
        </p:nvSpPr>
        <p:spPr>
          <a:xfrm>
            <a:off x="4000500" y="4267200"/>
            <a:ext cx="3905250" cy="0"/>
          </a:xfrm>
          <a:prstGeom prst="line">
            <a:avLst/>
          </a:prstGeom>
          <a:noFill/>
          <a:ln w="31750">
            <a:solidFill>
              <a:srgbClr val="32A5B5"/>
            </a:solidFill>
            <a:prstDash val="solid"/>
          </a:ln>
        </p:spPr>
      </p:sp>
      <p:sp>
        <p:nvSpPr>
          <p:cNvPr id="23" name="Text 21"/>
          <p:cNvSpPr txBox="1"/>
          <p:nvPr/>
        </p:nvSpPr>
        <p:spPr>
          <a:xfrm>
            <a:off x="4095750" y="40957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HR</a:t>
            </a:r>
            <a:endParaRPr lang="en-US" sz="1300" dirty="0"/>
          </a:p>
        </p:txBody>
      </p:sp>
      <p:sp>
        <p:nvSpPr>
          <p:cNvPr id="24" name="Text 22"/>
          <p:cNvSpPr txBox="1"/>
          <p:nvPr/>
        </p:nvSpPr>
        <p:spPr>
          <a:xfrm>
            <a:off x="4857750" y="40957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HAA</a:t>
            </a:r>
            <a:endParaRPr lang="en-US" sz="1300" dirty="0"/>
          </a:p>
        </p:txBody>
      </p:sp>
      <p:sp>
        <p:nvSpPr>
          <p:cNvPr id="25" name="Text 23"/>
          <p:cNvSpPr txBox="1"/>
          <p:nvPr/>
        </p:nvSpPr>
        <p:spPr>
          <a:xfrm>
            <a:off x="5619750" y="40957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HFE</a:t>
            </a:r>
            <a:endParaRPr lang="en-US" sz="1300" dirty="0"/>
          </a:p>
        </p:txBody>
      </p:sp>
      <p:sp>
        <p:nvSpPr>
          <p:cNvPr id="26" name="Text 24"/>
          <p:cNvSpPr txBox="1"/>
          <p:nvPr/>
        </p:nvSpPr>
        <p:spPr>
          <a:xfrm>
            <a:off x="6381750" y="40957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KFE</a:t>
            </a:r>
            <a:endParaRPr lang="en-US" sz="1300" dirty="0"/>
          </a:p>
        </p:txBody>
      </p:sp>
      <p:sp>
        <p:nvSpPr>
          <p:cNvPr id="27" name="Text 25"/>
          <p:cNvSpPr txBox="1"/>
          <p:nvPr/>
        </p:nvSpPr>
        <p:spPr>
          <a:xfrm>
            <a:off x="7143750" y="40957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FFE</a:t>
            </a:r>
            <a:endParaRPr lang="en-US" sz="1300" dirty="0"/>
          </a:p>
        </p:txBody>
      </p:sp>
      <p:sp>
        <p:nvSpPr>
          <p:cNvPr id="28" name="Text 26"/>
          <p:cNvSpPr txBox="1"/>
          <p:nvPr/>
        </p:nvSpPr>
        <p:spPr>
          <a:xfrm>
            <a:off x="7962900" y="4095750"/>
            <a:ext cx="571500" cy="342900"/>
          </a:xfrm>
          <a:prstGeom prst="rect">
            <a:avLst/>
          </a:prstGeom>
          <a:noFill/>
          <a:ln/>
        </p:spPr>
        <p:txBody>
          <a:bodyPr wrap="square" lIns="0" tIns="0" rIns="0" bIns="0" rtlCol="0" anchor="ctr"/>
          <a:lstStyle/>
          <a:p>
            <a:pPr algn="l" indent="0" marL="0">
              <a:buNone/>
            </a:pPr>
            <a:r>
              <a:rPr lang="en-US" sz="1400" b="1" dirty="0">
                <a:solidFill>
                  <a:srgbClr val="5E6A73"/>
                </a:solidFill>
                <a:latin typeface="Yu Gothic" pitchFamily="34" charset="0"/>
                <a:ea typeface="Yu Gothic" pitchFamily="34" charset="-122"/>
                <a:cs typeface="Yu Gothic" pitchFamily="34" charset="-120"/>
              </a:rPr>
              <a:t>左脚</a:t>
            </a:r>
            <a:endParaRPr lang="en-US" sz="1400" dirty="0"/>
          </a:p>
        </p:txBody>
      </p:sp>
      <p:sp>
        <p:nvSpPr>
          <p:cNvPr id="29" name="Shape 27"/>
          <p:cNvSpPr/>
          <p:nvPr/>
        </p:nvSpPr>
        <p:spPr>
          <a:xfrm>
            <a:off x="3676650" y="4762500"/>
            <a:ext cx="323850" cy="495300"/>
          </a:xfrm>
          <a:prstGeom prst="line">
            <a:avLst/>
          </a:prstGeom>
          <a:noFill/>
          <a:ln w="25400">
            <a:solidFill>
              <a:srgbClr val="32A5B5"/>
            </a:solidFill>
            <a:prstDash val="solid"/>
            <a:tailEnd type="triangle"/>
          </a:ln>
        </p:spPr>
      </p:sp>
      <p:sp>
        <p:nvSpPr>
          <p:cNvPr id="30" name="Shape 28"/>
          <p:cNvSpPr/>
          <p:nvPr/>
        </p:nvSpPr>
        <p:spPr>
          <a:xfrm>
            <a:off x="4000500" y="5257800"/>
            <a:ext cx="3905250" cy="0"/>
          </a:xfrm>
          <a:prstGeom prst="line">
            <a:avLst/>
          </a:prstGeom>
          <a:noFill/>
          <a:ln w="31750">
            <a:solidFill>
              <a:srgbClr val="32A5B5"/>
            </a:solidFill>
            <a:prstDash val="solid"/>
          </a:ln>
        </p:spPr>
      </p:sp>
      <p:sp>
        <p:nvSpPr>
          <p:cNvPr id="31" name="Text 29"/>
          <p:cNvSpPr txBox="1"/>
          <p:nvPr/>
        </p:nvSpPr>
        <p:spPr>
          <a:xfrm>
            <a:off x="4095750" y="50863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HR</a:t>
            </a:r>
            <a:endParaRPr lang="en-US" sz="1300" dirty="0"/>
          </a:p>
        </p:txBody>
      </p:sp>
      <p:sp>
        <p:nvSpPr>
          <p:cNvPr id="32" name="Text 30"/>
          <p:cNvSpPr txBox="1"/>
          <p:nvPr/>
        </p:nvSpPr>
        <p:spPr>
          <a:xfrm>
            <a:off x="4857750" y="50863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HAA</a:t>
            </a:r>
            <a:endParaRPr lang="en-US" sz="1300" dirty="0"/>
          </a:p>
        </p:txBody>
      </p:sp>
      <p:sp>
        <p:nvSpPr>
          <p:cNvPr id="33" name="Text 31"/>
          <p:cNvSpPr txBox="1"/>
          <p:nvPr/>
        </p:nvSpPr>
        <p:spPr>
          <a:xfrm>
            <a:off x="5619750" y="50863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HFE</a:t>
            </a:r>
            <a:endParaRPr lang="en-US" sz="1300" dirty="0"/>
          </a:p>
        </p:txBody>
      </p:sp>
      <p:sp>
        <p:nvSpPr>
          <p:cNvPr id="34" name="Text 32"/>
          <p:cNvSpPr txBox="1"/>
          <p:nvPr/>
        </p:nvSpPr>
        <p:spPr>
          <a:xfrm>
            <a:off x="6381750" y="50863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KFE</a:t>
            </a:r>
            <a:endParaRPr lang="en-US" sz="1300" dirty="0"/>
          </a:p>
        </p:txBody>
      </p:sp>
      <p:sp>
        <p:nvSpPr>
          <p:cNvPr id="35" name="Text 33"/>
          <p:cNvSpPr txBox="1"/>
          <p:nvPr/>
        </p:nvSpPr>
        <p:spPr>
          <a:xfrm>
            <a:off x="7143750" y="5086350"/>
            <a:ext cx="666750" cy="34290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300" b="1" dirty="0">
                <a:solidFill>
                  <a:srgbClr val="102B46"/>
                </a:solidFill>
                <a:latin typeface="Yu Gothic" pitchFamily="34" charset="0"/>
                <a:ea typeface="Yu Gothic" pitchFamily="34" charset="-122"/>
                <a:cs typeface="Yu Gothic" pitchFamily="34" charset="-120"/>
              </a:rPr>
              <a:t>FFE</a:t>
            </a:r>
            <a:endParaRPr lang="en-US" sz="1300" dirty="0"/>
          </a:p>
        </p:txBody>
      </p:sp>
      <p:sp>
        <p:nvSpPr>
          <p:cNvPr id="36" name="Text 34"/>
          <p:cNvSpPr txBox="1"/>
          <p:nvPr/>
        </p:nvSpPr>
        <p:spPr>
          <a:xfrm>
            <a:off x="7962900" y="5086350"/>
            <a:ext cx="571500" cy="342900"/>
          </a:xfrm>
          <a:prstGeom prst="rect">
            <a:avLst/>
          </a:prstGeom>
          <a:noFill/>
          <a:ln/>
        </p:spPr>
        <p:txBody>
          <a:bodyPr wrap="square" lIns="0" tIns="0" rIns="0" bIns="0" rtlCol="0" anchor="ctr"/>
          <a:lstStyle/>
          <a:p>
            <a:pPr algn="l" indent="0" marL="0">
              <a:buNone/>
            </a:pPr>
            <a:r>
              <a:rPr lang="en-US" sz="1400" b="1" dirty="0">
                <a:solidFill>
                  <a:srgbClr val="5E6A73"/>
                </a:solidFill>
                <a:latin typeface="Yu Gothic" pitchFamily="34" charset="0"/>
                <a:ea typeface="Yu Gothic" pitchFamily="34" charset="-122"/>
                <a:cs typeface="Yu Gothic" pitchFamily="34" charset="-120"/>
              </a:rPr>
              <a:t>右脚</a:t>
            </a:r>
            <a:endParaRPr lang="en-US" sz="1400" dirty="0"/>
          </a:p>
        </p:txBody>
      </p:sp>
      <p:sp>
        <p:nvSpPr>
          <p:cNvPr id="37" name="Shape 35"/>
          <p:cNvSpPr/>
          <p:nvPr/>
        </p:nvSpPr>
        <p:spPr>
          <a:xfrm>
            <a:off x="8667750" y="3657600"/>
            <a:ext cx="2895600" cy="2571750"/>
          </a:xfrm>
          <a:prstGeom prst="rect">
            <a:avLst/>
          </a:prstGeom>
          <a:solidFill>
            <a:srgbClr val="F3EEE6"/>
          </a:solidFill>
          <a:ln w="12700">
            <a:solidFill>
              <a:srgbClr val="E8783F"/>
            </a:solidFill>
            <a:prstDash val="solid"/>
          </a:ln>
        </p:spPr>
      </p:sp>
      <p:sp>
        <p:nvSpPr>
          <p:cNvPr id="38" name="Text 36"/>
          <p:cNvSpPr txBox="1"/>
          <p:nvPr/>
        </p:nvSpPr>
        <p:spPr>
          <a:xfrm>
            <a:off x="8820150" y="3752850"/>
            <a:ext cx="2590800" cy="266700"/>
          </a:xfrm>
          <a:prstGeom prst="rect">
            <a:avLst/>
          </a:prstGeom>
          <a:noFill/>
          <a:ln/>
        </p:spPr>
        <p:txBody>
          <a:bodyPr wrap="square" lIns="0" tIns="0" rIns="0" bIns="0" rtlCol="0" anchor="ctr"/>
          <a:lstStyle/>
          <a:p>
            <a:pPr algn="l" indent="0" marL="0">
              <a:buNone/>
            </a:pPr>
            <a:r>
              <a:rPr lang="en-US" sz="1600" b="1" dirty="0">
                <a:solidFill>
                  <a:srgbClr val="E8783F"/>
                </a:solidFill>
                <a:latin typeface="Yu Gothic" pitchFamily="34" charset="0"/>
                <a:ea typeface="Yu Gothic" pitchFamily="34" charset="-122"/>
                <a:cs typeface="Yu Gothic" pitchFamily="34" charset="-120"/>
              </a:rPr>
              <a:t>シムのゲインを実機へ</a:t>
            </a:r>
            <a:endParaRPr lang="en-US" sz="1600" dirty="0"/>
          </a:p>
        </p:txBody>
      </p:sp>
      <p:sp>
        <p:nvSpPr>
          <p:cNvPr id="39" name="Text 37"/>
          <p:cNvSpPr txBox="1"/>
          <p:nvPr/>
        </p:nvSpPr>
        <p:spPr>
          <a:xfrm>
            <a:off x="8820150" y="4057650"/>
            <a:ext cx="2590800" cy="857250"/>
          </a:xfrm>
          <a:prstGeom prst="rect">
            <a:avLst/>
          </a:prstGeom>
          <a:noFill/>
          <a:ln/>
        </p:spPr>
        <p:txBody>
          <a:bodyPr wrap="square" lIns="0" tIns="0" rIns="0" bIns="0" rtlCol="0" anchor="t"/>
          <a:lstStyle/>
          <a:p>
            <a:pPr algn="l" indent="0" marL="0">
              <a:buNone/>
            </a:pPr>
            <a:r>
              <a:rPr lang="en-US" sz="1300" dirty="0">
                <a:solidFill>
                  <a:srgbClr val="17212B"/>
                </a:solidFill>
                <a:latin typeface="Yu Gothic" pitchFamily="34" charset="0"/>
                <a:ea typeface="Yu Gothic" pitchFamily="34" charset="-122"/>
                <a:cs typeface="Yu Gothic" pitchFamily="34" charset="-120"/>
              </a:rPr>
              <a:t>モーターに送る Kp の単位はN·m/radそのものではなかった。実測した係数で割って換算：</a:t>
            </a:r>
            <a:endParaRPr lang="en-US" sz="1300" dirty="0"/>
          </a:p>
        </p:txBody>
      </p:sp>
      <p:sp>
        <p:nvSpPr>
          <p:cNvPr id="40" name="Text 38"/>
          <p:cNvSpPr txBox="1"/>
          <p:nvPr/>
        </p:nvSpPr>
        <p:spPr>
          <a:xfrm>
            <a:off x="8820150" y="4953000"/>
            <a:ext cx="2590800" cy="571500"/>
          </a:xfrm>
          <a:prstGeom prst="rect">
            <a:avLst/>
          </a:prstGeom>
          <a:noFill/>
          <a:ln/>
        </p:spPr>
        <p:txBody>
          <a:bodyPr wrap="square" lIns="0" tIns="0" rIns="0" bIns="0" rtlCol="0" anchor="t"/>
          <a:lstStyle/>
          <a:p>
            <a:pPr algn="l" indent="0" marL="0">
              <a:buNone/>
            </a:pPr>
            <a:r>
              <a:rPr lang="en-US" sz="1300" b="1" dirty="0">
                <a:solidFill>
                  <a:srgbClr val="102B46"/>
                </a:solidFill>
                <a:latin typeface="Yu Gothic" pitchFamily="34" charset="0"/>
                <a:ea typeface="Yu Gothic" pitchFamily="34" charset="-122"/>
                <a:cs typeface="Yu Gothic" pitchFamily="34" charset="-120"/>
              </a:rPr>
              <a:t>AK80-9：15 ÷ 0.523 ≒ 28.7</a:t>
            </a:r>
            <a:endParaRPr lang="en-US" sz="1300" dirty="0"/>
          </a:p>
          <a:p>
            <a:pPr algn="l" indent="0" marL="0">
              <a:buNone/>
            </a:pPr>
            <a:r>
              <a:rPr lang="en-US" sz="1300" b="1" dirty="0">
                <a:solidFill>
                  <a:srgbClr val="102B46"/>
                </a:solidFill>
                <a:latin typeface="Yu Gothic" pitchFamily="34" charset="0"/>
                <a:ea typeface="Yu Gothic" pitchFamily="34" charset="-122"/>
                <a:cs typeface="Yu Gothic" pitchFamily="34" charset="-120"/>
              </a:rPr>
              <a:t>AK10-9：15 ÷ 1.258 ≒ 11.9</a:t>
            </a:r>
            <a:endParaRPr lang="en-US" sz="1300" dirty="0"/>
          </a:p>
        </p:txBody>
      </p:sp>
      <p:sp>
        <p:nvSpPr>
          <p:cNvPr id="41" name="Text 39"/>
          <p:cNvSpPr txBox="1"/>
          <p:nvPr/>
        </p:nvSpPr>
        <p:spPr>
          <a:xfrm>
            <a:off x="8820150" y="5676900"/>
            <a:ext cx="2590800" cy="247650"/>
          </a:xfrm>
          <a:prstGeom prst="rect">
            <a:avLst/>
          </a:prstGeom>
          <a:noFill/>
          <a:ln/>
        </p:spPr>
        <p:txBody>
          <a:bodyPr wrap="square" lIns="0" tIns="0" rIns="0" bIns="0" rtlCol="0" anchor="ctr"/>
          <a:lstStyle/>
          <a:p>
            <a:pPr algn="l" indent="0" marL="0">
              <a:buNone/>
            </a:pPr>
            <a:r>
              <a:rPr lang="en-US" sz="1200" dirty="0">
                <a:solidFill>
                  <a:srgbClr val="5E6A73"/>
                </a:solidFill>
                <a:latin typeface="Yu Gothic" pitchFamily="34" charset="0"/>
                <a:ea typeface="Yu Gothic" pitchFamily="34" charset="-122"/>
                <a:cs typeface="Yu Gothic" pitchFamily="34" charset="-120"/>
              </a:rPr>
              <a:t>（剛性 15 N·m/rad の場合）</a:t>
            </a:r>
            <a:endParaRPr lang="en-US" sz="1200" dirty="0"/>
          </a:p>
        </p:txBody>
      </p:sp>
      <p:sp>
        <p:nvSpPr>
          <p:cNvPr id="42" name="Text 40"/>
          <p:cNvSpPr txBox="1"/>
          <p:nvPr/>
        </p:nvSpPr>
        <p:spPr>
          <a:xfrm>
            <a:off x="628650" y="5619750"/>
            <a:ext cx="7905750" cy="5715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1本のバスに5台。IDで宛先を区別し、起動時に受信したIDからどちらのchが左脚かを確定させる</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制御ループの全体像（50 Hz）</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2019300"/>
            <a:ext cx="2095500" cy="914400"/>
          </a:xfrm>
          <a:prstGeom prst="roundRect">
            <a:avLst>
              <a:gd name="adj" fmla="val 10000"/>
            </a:avLst>
          </a:prstGeom>
          <a:solidFill>
            <a:srgbClr val="32A5B5"/>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RealSense T265</a:t>
            </a:r>
            <a:endParaRPr lang="en-US" sz="1600" dirty="0"/>
          </a:p>
          <a:p>
            <a:pPr algn="ctr" indent="0" marL="0">
              <a:buNone/>
            </a:pPr>
            <a:r>
              <a:rPr lang="en-US" sz="1600" b="1" dirty="0">
                <a:solidFill>
                  <a:srgbClr val="FFFFFF"/>
                </a:solidFill>
                <a:latin typeface="Yu Gothic" pitchFamily="34" charset="0"/>
                <a:ea typeface="Yu Gothic" pitchFamily="34" charset="-122"/>
                <a:cs typeface="Yu Gothic" pitchFamily="34" charset="-120"/>
              </a:rPr>
              <a:t>胴体の姿勢・速度</a:t>
            </a:r>
            <a:endParaRPr lang="en-US" sz="1600" dirty="0"/>
          </a:p>
        </p:txBody>
      </p:sp>
      <p:sp>
        <p:nvSpPr>
          <p:cNvPr id="7" name="Text 5"/>
          <p:cNvSpPr txBox="1"/>
          <p:nvPr/>
        </p:nvSpPr>
        <p:spPr>
          <a:xfrm>
            <a:off x="4381500" y="1238250"/>
            <a:ext cx="3429000" cy="533400"/>
          </a:xfrm>
          <a:prstGeom prst="roundRect">
            <a:avLst>
              <a:gd name="adj" fmla="val 17143"/>
            </a:avLst>
          </a:prstGeom>
          <a:solidFill>
            <a:srgbClr val="1C5A85"/>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コントローラー（Bluetooth）</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速度指令 vx, vy, ωz</a:t>
            </a:r>
            <a:endParaRPr lang="en-US" sz="1500" dirty="0"/>
          </a:p>
        </p:txBody>
      </p:sp>
      <p:sp>
        <p:nvSpPr>
          <p:cNvPr id="8" name="Shape 6"/>
          <p:cNvSpPr/>
          <p:nvPr/>
        </p:nvSpPr>
        <p:spPr>
          <a:xfrm>
            <a:off x="3429000" y="1981200"/>
            <a:ext cx="5334000" cy="1962150"/>
          </a:xfrm>
          <a:prstGeom prst="rect">
            <a:avLst/>
          </a:prstGeom>
          <a:solidFill>
            <a:srgbClr val="E8F1F5"/>
          </a:solidFill>
          <a:ln w="25400">
            <a:solidFill>
              <a:srgbClr val="102B46"/>
            </a:solidFill>
            <a:prstDash val="solid"/>
          </a:ln>
        </p:spPr>
      </p:sp>
      <p:sp>
        <p:nvSpPr>
          <p:cNvPr id="9" name="Text 7"/>
          <p:cNvSpPr txBox="1"/>
          <p:nvPr/>
        </p:nvSpPr>
        <p:spPr>
          <a:xfrm>
            <a:off x="3581400" y="2038350"/>
            <a:ext cx="2857500" cy="266700"/>
          </a:xfrm>
          <a:prstGeom prst="rect">
            <a:avLst/>
          </a:prstGeom>
          <a:noFill/>
          <a:ln/>
        </p:spPr>
        <p:txBody>
          <a:bodyPr wrap="square" lIns="0" tIns="0" rIns="0" bIns="0" rtlCol="0" anchor="ctr"/>
          <a:lstStyle/>
          <a:p>
            <a:pPr algn="l" indent="0" marL="0">
              <a:buNone/>
            </a:pPr>
            <a:r>
              <a:rPr lang="en-US" sz="1700" b="1" dirty="0">
                <a:solidFill>
                  <a:srgbClr val="102B46"/>
                </a:solidFill>
                <a:latin typeface="Yu Gothic" pitchFamily="34" charset="0"/>
                <a:ea typeface="Yu Gothic" pitchFamily="34" charset="-122"/>
                <a:cs typeface="Yu Gothic" pitchFamily="34" charset="-120"/>
              </a:rPr>
              <a:t>Jetson Orin Nano</a:t>
            </a:r>
            <a:endParaRPr lang="en-US" sz="1700" dirty="0"/>
          </a:p>
        </p:txBody>
      </p:sp>
      <p:sp>
        <p:nvSpPr>
          <p:cNvPr id="10" name="Text 8"/>
          <p:cNvSpPr txBox="1"/>
          <p:nvPr/>
        </p:nvSpPr>
        <p:spPr>
          <a:xfrm>
            <a:off x="3619500" y="2438400"/>
            <a:ext cx="1428750" cy="104775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500" b="1" dirty="0">
                <a:solidFill>
                  <a:srgbClr val="102B46"/>
                </a:solidFill>
                <a:latin typeface="Yu Gothic" pitchFamily="34" charset="0"/>
                <a:ea typeface="Yu Gothic" pitchFamily="34" charset="-122"/>
                <a:cs typeface="Yu Gothic" pitchFamily="34" charset="-120"/>
              </a:rPr>
              <a:t>① 観測42個</a:t>
            </a:r>
            <a:endParaRPr lang="en-US" sz="1500" dirty="0"/>
          </a:p>
          <a:p>
            <a:pPr algn="ctr" indent="0" marL="0">
              <a:buNone/>
            </a:pPr>
            <a:r>
              <a:rPr lang="en-US" sz="1500" b="1" dirty="0">
                <a:solidFill>
                  <a:srgbClr val="102B46"/>
                </a:solidFill>
                <a:latin typeface="Yu Gothic" pitchFamily="34" charset="0"/>
                <a:ea typeface="Yu Gothic" pitchFamily="34" charset="-122"/>
                <a:cs typeface="Yu Gothic" pitchFamily="34" charset="-120"/>
              </a:rPr>
              <a:t>を組み立てる</a:t>
            </a:r>
            <a:endParaRPr lang="en-US" sz="1500" dirty="0"/>
          </a:p>
        </p:txBody>
      </p:sp>
      <p:sp>
        <p:nvSpPr>
          <p:cNvPr id="11" name="Shape 9"/>
          <p:cNvSpPr/>
          <p:nvPr/>
        </p:nvSpPr>
        <p:spPr>
          <a:xfrm>
            <a:off x="5067300" y="2962275"/>
            <a:ext cx="285750" cy="95"/>
          </a:xfrm>
          <a:prstGeom prst="line">
            <a:avLst/>
          </a:prstGeom>
          <a:noFill/>
          <a:ln w="31750">
            <a:solidFill>
              <a:srgbClr val="102B46"/>
            </a:solidFill>
            <a:prstDash val="solid"/>
            <a:tailEnd type="triangle"/>
          </a:ln>
        </p:spPr>
      </p:sp>
      <p:sp>
        <p:nvSpPr>
          <p:cNvPr id="12" name="Text 10"/>
          <p:cNvSpPr txBox="1"/>
          <p:nvPr/>
        </p:nvSpPr>
        <p:spPr>
          <a:xfrm>
            <a:off x="5391150" y="2438400"/>
            <a:ext cx="1428750" cy="1047750"/>
          </a:xfrm>
          <a:prstGeom prst="rect">
            <a:avLst/>
          </a:prstGeom>
          <a:solidFill>
            <a:srgbClr val="1C5A85"/>
          </a:solid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② 方策（NN）</a:t>
            </a:r>
            <a:endParaRPr lang="en-US" sz="1500" dirty="0"/>
          </a:p>
          <a:p>
            <a:pPr algn="ctr" indent="0" marL="0">
              <a:buNone/>
            </a:pPr>
            <a:r>
              <a:rPr lang="en-US" sz="1500" b="1" dirty="0">
                <a:solidFill>
                  <a:srgbClr val="FFFFFF"/>
                </a:solidFill>
                <a:latin typeface="Yu Gothic" pitchFamily="34" charset="0"/>
                <a:ea typeface="Yu Gothic" pitchFamily="34" charset="-122"/>
                <a:cs typeface="Yu Gothic" pitchFamily="34" charset="-120"/>
              </a:rPr>
              <a:t>をGPUで計算</a:t>
            </a:r>
            <a:endParaRPr lang="en-US" sz="1500" dirty="0"/>
          </a:p>
        </p:txBody>
      </p:sp>
      <p:sp>
        <p:nvSpPr>
          <p:cNvPr id="13" name="Shape 11"/>
          <p:cNvSpPr/>
          <p:nvPr/>
        </p:nvSpPr>
        <p:spPr>
          <a:xfrm>
            <a:off x="6838950" y="2962275"/>
            <a:ext cx="285750" cy="95"/>
          </a:xfrm>
          <a:prstGeom prst="line">
            <a:avLst/>
          </a:prstGeom>
          <a:noFill/>
          <a:ln w="31750">
            <a:solidFill>
              <a:srgbClr val="102B46"/>
            </a:solidFill>
            <a:prstDash val="solid"/>
            <a:tailEnd type="triangle"/>
          </a:ln>
        </p:spPr>
      </p:sp>
      <p:sp>
        <p:nvSpPr>
          <p:cNvPr id="14" name="Text 12"/>
          <p:cNvSpPr txBox="1"/>
          <p:nvPr/>
        </p:nvSpPr>
        <p:spPr>
          <a:xfrm>
            <a:off x="7162800" y="2438400"/>
            <a:ext cx="1428750" cy="1047750"/>
          </a:xfrm>
          <a:prstGeom prst="rect">
            <a:avLst/>
          </a:prstGeom>
          <a:solidFill>
            <a:srgbClr val="FFFFFF"/>
          </a:solidFill>
          <a:ln w="12700">
            <a:solidFill>
              <a:srgbClr val="102B46"/>
            </a:solidFill>
          </a:ln>
        </p:spPr>
        <p:txBody>
          <a:bodyPr wrap="square" lIns="0" tIns="0" rIns="0" bIns="0" rtlCol="0" anchor="ctr"/>
          <a:lstStyle/>
          <a:p>
            <a:pPr algn="ctr" indent="0" marL="0">
              <a:buNone/>
            </a:pPr>
            <a:r>
              <a:rPr lang="en-US" sz="1500" b="1" dirty="0">
                <a:solidFill>
                  <a:srgbClr val="102B46"/>
                </a:solidFill>
                <a:latin typeface="Yu Gothic" pitchFamily="34" charset="0"/>
                <a:ea typeface="Yu Gothic" pitchFamily="34" charset="-122"/>
                <a:cs typeface="Yu Gothic" pitchFamily="34" charset="-120"/>
              </a:rPr>
              <a:t>③ 10関節の</a:t>
            </a:r>
            <a:endParaRPr lang="en-US" sz="1500" dirty="0"/>
          </a:p>
          <a:p>
            <a:pPr algn="ctr" indent="0" marL="0">
              <a:buNone/>
            </a:pPr>
            <a:r>
              <a:rPr lang="en-US" sz="1500" b="1" dirty="0">
                <a:solidFill>
                  <a:srgbClr val="102B46"/>
                </a:solidFill>
                <a:latin typeface="Yu Gothic" pitchFamily="34" charset="0"/>
                <a:ea typeface="Yu Gothic" pitchFamily="34" charset="-122"/>
                <a:cs typeface="Yu Gothic" pitchFamily="34" charset="-120"/>
              </a:rPr>
              <a:t>目標角</a:t>
            </a:r>
            <a:endParaRPr lang="en-US" sz="1500" dirty="0"/>
          </a:p>
        </p:txBody>
      </p:sp>
      <p:sp>
        <p:nvSpPr>
          <p:cNvPr id="15" name="Text 13"/>
          <p:cNvSpPr txBox="1"/>
          <p:nvPr/>
        </p:nvSpPr>
        <p:spPr>
          <a:xfrm>
            <a:off x="9620250" y="2114550"/>
            <a:ext cx="1714500" cy="819150"/>
          </a:xfrm>
          <a:prstGeom prst="roundRect">
            <a:avLst>
              <a:gd name="adj" fmla="val 11163"/>
            </a:avLst>
          </a:prstGeom>
          <a:solidFill>
            <a:srgbClr val="E8783F"/>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USB-CAN</a:t>
            </a:r>
            <a:endParaRPr lang="en-US" sz="1600" dirty="0"/>
          </a:p>
          <a:p>
            <a:pPr algn="ctr" indent="0" marL="0">
              <a:buNone/>
            </a:pPr>
            <a:r>
              <a:rPr lang="en-US" sz="1600" b="1" dirty="0">
                <a:solidFill>
                  <a:srgbClr val="FFFFFF"/>
                </a:solidFill>
                <a:latin typeface="Yu Gothic" pitchFamily="34" charset="0"/>
                <a:ea typeface="Yu Gothic" pitchFamily="34" charset="-122"/>
                <a:cs typeface="Yu Gothic" pitchFamily="34" charset="-120"/>
              </a:rPr>
              <a:t>（2ch）</a:t>
            </a:r>
            <a:endParaRPr lang="en-US" sz="1600" dirty="0"/>
          </a:p>
        </p:txBody>
      </p:sp>
      <p:sp>
        <p:nvSpPr>
          <p:cNvPr id="16" name="Text 14"/>
          <p:cNvSpPr txBox="1"/>
          <p:nvPr/>
        </p:nvSpPr>
        <p:spPr>
          <a:xfrm>
            <a:off x="9620250" y="4476750"/>
            <a:ext cx="1714500" cy="914400"/>
          </a:xfrm>
          <a:prstGeom prst="roundRect">
            <a:avLst>
              <a:gd name="adj" fmla="val 10000"/>
            </a:avLst>
          </a:prstGeom>
          <a:solidFill>
            <a:srgbClr val="102B46"/>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モーター ×10</a:t>
            </a:r>
            <a:endParaRPr lang="en-US" sz="1600" dirty="0"/>
          </a:p>
          <a:p>
            <a:pPr algn="ctr" indent="0" marL="0">
              <a:buNone/>
            </a:pPr>
            <a:r>
              <a:rPr lang="en-US" sz="1600" b="1" dirty="0">
                <a:solidFill>
                  <a:srgbClr val="FFFFFF"/>
                </a:solidFill>
                <a:latin typeface="Yu Gothic" pitchFamily="34" charset="0"/>
                <a:ea typeface="Yu Gothic" pitchFamily="34" charset="-122"/>
                <a:cs typeface="Yu Gothic" pitchFamily="34" charset="-120"/>
              </a:rPr>
              <a:t>内部でPD制御</a:t>
            </a:r>
            <a:endParaRPr lang="en-US" sz="1600" dirty="0"/>
          </a:p>
        </p:txBody>
      </p:sp>
      <p:sp>
        <p:nvSpPr>
          <p:cNvPr id="17" name="Text 15"/>
          <p:cNvSpPr txBox="1"/>
          <p:nvPr/>
        </p:nvSpPr>
        <p:spPr>
          <a:xfrm>
            <a:off x="4953000" y="4476750"/>
            <a:ext cx="2667000" cy="914400"/>
          </a:xfrm>
          <a:prstGeom prst="roundRect">
            <a:avLst>
              <a:gd name="adj" fmla="val 10000"/>
            </a:avLst>
          </a:prstGeom>
          <a:solidFill>
            <a:srgbClr val="F3EEE6"/>
          </a:solidFill>
          <a:ln w="12700">
            <a:solidFill>
              <a:srgbClr val="E8783F"/>
            </a:solid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ロボットの体</a:t>
            </a:r>
            <a:endParaRPr lang="en-US" sz="1600" dirty="0"/>
          </a:p>
          <a:p>
            <a:pPr algn="ctr" indent="0" marL="0">
              <a:buNone/>
            </a:pPr>
            <a:r>
              <a:rPr lang="en-US" sz="1600" b="1" dirty="0">
                <a:solidFill>
                  <a:srgbClr val="102B46"/>
                </a:solidFill>
                <a:latin typeface="Yu Gothic" pitchFamily="34" charset="0"/>
                <a:ea typeface="Yu Gothic" pitchFamily="34" charset="-122"/>
                <a:cs typeface="Yu Gothic" pitchFamily="34" charset="-120"/>
              </a:rPr>
              <a:t>関節が回り、胴体が動く</a:t>
            </a:r>
            <a:endParaRPr lang="en-US" sz="1600" dirty="0"/>
          </a:p>
        </p:txBody>
      </p:sp>
      <p:sp>
        <p:nvSpPr>
          <p:cNvPr id="18" name="Shape 16"/>
          <p:cNvSpPr/>
          <p:nvPr/>
        </p:nvSpPr>
        <p:spPr>
          <a:xfrm>
            <a:off x="2743200" y="2476500"/>
            <a:ext cx="647700" cy="95"/>
          </a:xfrm>
          <a:prstGeom prst="line">
            <a:avLst/>
          </a:prstGeom>
          <a:noFill/>
          <a:ln w="38100">
            <a:solidFill>
              <a:srgbClr val="32A5B5"/>
            </a:solidFill>
            <a:prstDash val="solid"/>
            <a:tailEnd type="triangle"/>
          </a:ln>
        </p:spPr>
      </p:sp>
      <p:sp>
        <p:nvSpPr>
          <p:cNvPr id="19" name="Text 17"/>
          <p:cNvSpPr txBox="1"/>
          <p:nvPr/>
        </p:nvSpPr>
        <p:spPr>
          <a:xfrm>
            <a:off x="2743200" y="2533650"/>
            <a:ext cx="647700" cy="342900"/>
          </a:xfrm>
          <a:prstGeom prst="rect">
            <a:avLst/>
          </a:prstGeom>
          <a:noFill/>
          <a:ln/>
        </p:spPr>
        <p:txBody>
          <a:bodyPr wrap="square" lIns="0" tIns="0" rIns="0" bIns="0" rtlCol="0" anchor="ctr"/>
          <a:lstStyle/>
          <a:p>
            <a:pPr algn="ctr" indent="0" marL="0">
              <a:buNone/>
            </a:pPr>
            <a:r>
              <a:rPr lang="en-US" sz="1000" b="1" dirty="0">
                <a:solidFill>
                  <a:srgbClr val="32A5B5"/>
                </a:solidFill>
                <a:latin typeface="Yu Gothic" pitchFamily="34" charset="0"/>
                <a:ea typeface="Yu Gothic" pitchFamily="34" charset="-122"/>
                <a:cs typeface="Yu Gothic" pitchFamily="34" charset="-120"/>
              </a:rPr>
              <a:t>USB</a:t>
            </a:r>
            <a:endParaRPr lang="en-US" sz="1000" dirty="0"/>
          </a:p>
          <a:p>
            <a:pPr algn="ctr" indent="0" marL="0">
              <a:buNone/>
            </a:pPr>
            <a:r>
              <a:rPr lang="en-US" sz="1000" b="1" dirty="0">
                <a:solidFill>
                  <a:srgbClr val="32A5B5"/>
                </a:solidFill>
                <a:latin typeface="Yu Gothic" pitchFamily="34" charset="0"/>
                <a:ea typeface="Yu Gothic" pitchFamily="34" charset="-122"/>
                <a:cs typeface="Yu Gothic" pitchFamily="34" charset="-120"/>
              </a:rPr>
              <a:t>200 Hz</a:t>
            </a:r>
            <a:endParaRPr lang="en-US" sz="1000" dirty="0"/>
          </a:p>
        </p:txBody>
      </p:sp>
      <p:sp>
        <p:nvSpPr>
          <p:cNvPr id="20" name="Shape 18"/>
          <p:cNvSpPr/>
          <p:nvPr/>
        </p:nvSpPr>
        <p:spPr>
          <a:xfrm>
            <a:off x="6096000" y="1790700"/>
            <a:ext cx="95" cy="152400"/>
          </a:xfrm>
          <a:prstGeom prst="line">
            <a:avLst/>
          </a:prstGeom>
          <a:noFill/>
          <a:ln w="38100">
            <a:solidFill>
              <a:srgbClr val="1C5A85"/>
            </a:solidFill>
            <a:prstDash val="solid"/>
            <a:tailEnd type="triangle"/>
          </a:ln>
        </p:spPr>
      </p:sp>
      <p:sp>
        <p:nvSpPr>
          <p:cNvPr id="21" name="Shape 19"/>
          <p:cNvSpPr/>
          <p:nvPr/>
        </p:nvSpPr>
        <p:spPr>
          <a:xfrm>
            <a:off x="8782050" y="2495550"/>
            <a:ext cx="800100" cy="95"/>
          </a:xfrm>
          <a:prstGeom prst="line">
            <a:avLst/>
          </a:prstGeom>
          <a:noFill/>
          <a:ln w="38100">
            <a:solidFill>
              <a:srgbClr val="E8783F"/>
            </a:solidFill>
            <a:prstDash val="solid"/>
            <a:tailEnd type="triangle"/>
          </a:ln>
        </p:spPr>
      </p:sp>
      <p:sp>
        <p:nvSpPr>
          <p:cNvPr id="22" name="Text 20"/>
          <p:cNvSpPr txBox="1"/>
          <p:nvPr/>
        </p:nvSpPr>
        <p:spPr>
          <a:xfrm>
            <a:off x="8858250" y="2247900"/>
            <a:ext cx="666750" cy="209550"/>
          </a:xfrm>
          <a:prstGeom prst="rect">
            <a:avLst/>
          </a:prstGeom>
          <a:noFill/>
          <a:ln/>
        </p:spPr>
        <p:txBody>
          <a:bodyPr wrap="square" lIns="0" tIns="0" rIns="0" bIns="0" rtlCol="0" anchor="ctr"/>
          <a:lstStyle/>
          <a:p>
            <a:pPr algn="ctr" indent="0" marL="0">
              <a:buNone/>
            </a:pPr>
            <a:r>
              <a:rPr lang="en-US" sz="1100" b="1" dirty="0">
                <a:solidFill>
                  <a:srgbClr val="E8783F"/>
                </a:solidFill>
                <a:latin typeface="Yu Gothic" pitchFamily="34" charset="0"/>
                <a:ea typeface="Yu Gothic" pitchFamily="34" charset="-122"/>
                <a:cs typeface="Yu Gothic" pitchFamily="34" charset="-120"/>
              </a:rPr>
              <a:t>USB</a:t>
            </a:r>
            <a:endParaRPr lang="en-US" sz="1100" dirty="0"/>
          </a:p>
        </p:txBody>
      </p:sp>
      <p:sp>
        <p:nvSpPr>
          <p:cNvPr id="23" name="Shape 21"/>
          <p:cNvSpPr/>
          <p:nvPr/>
        </p:nvSpPr>
        <p:spPr>
          <a:xfrm>
            <a:off x="10477500" y="2952750"/>
            <a:ext cx="95" cy="1485900"/>
          </a:xfrm>
          <a:prstGeom prst="line">
            <a:avLst/>
          </a:prstGeom>
          <a:noFill/>
          <a:ln w="38100">
            <a:solidFill>
              <a:srgbClr val="E8783F"/>
            </a:solidFill>
            <a:prstDash val="solid"/>
            <a:tailEnd type="triangle"/>
          </a:ln>
        </p:spPr>
      </p:sp>
      <p:sp>
        <p:nvSpPr>
          <p:cNvPr id="24" name="Text 22"/>
          <p:cNvSpPr txBox="1"/>
          <p:nvPr/>
        </p:nvSpPr>
        <p:spPr>
          <a:xfrm>
            <a:off x="8572500" y="3333750"/>
            <a:ext cx="1809750" cy="476250"/>
          </a:xfrm>
          <a:prstGeom prst="rect">
            <a:avLst/>
          </a:prstGeom>
          <a:noFill/>
          <a:ln/>
        </p:spPr>
        <p:txBody>
          <a:bodyPr wrap="square" lIns="0" tIns="0" rIns="0" bIns="0" rtlCol="0" anchor="ctr"/>
          <a:lstStyle/>
          <a:p>
            <a:pPr algn="r" indent="0" marL="0">
              <a:buNone/>
            </a:pPr>
            <a:r>
              <a:rPr lang="en-US" sz="1300" b="1" dirty="0">
                <a:solidFill>
                  <a:srgbClr val="E8783F"/>
                </a:solidFill>
                <a:latin typeface="Yu Gothic" pitchFamily="34" charset="0"/>
                <a:ea typeface="Yu Gothic" pitchFamily="34" charset="-122"/>
                <a:cs typeface="Yu Gothic" pitchFamily="34" charset="-120"/>
              </a:rPr>
              <a:t>CAN</a:t>
            </a:r>
            <a:endParaRPr lang="en-US" sz="1300" dirty="0"/>
          </a:p>
          <a:p>
            <a:pPr algn="r" indent="0" marL="0">
              <a:buNone/>
            </a:pPr>
            <a:r>
              <a:rPr lang="en-US" sz="1300" b="1" dirty="0">
                <a:solidFill>
                  <a:srgbClr val="E8783F"/>
                </a:solidFill>
                <a:latin typeface="Yu Gothic" pitchFamily="34" charset="0"/>
                <a:ea typeface="Yu Gothic" pitchFamily="34" charset="-122"/>
                <a:cs typeface="Yu Gothic" pitchFamily="34" charset="-120"/>
              </a:rPr>
              <a:t>目標角・Kp・Kd</a:t>
            </a:r>
            <a:endParaRPr lang="en-US" sz="1300" dirty="0"/>
          </a:p>
        </p:txBody>
      </p:sp>
      <p:sp>
        <p:nvSpPr>
          <p:cNvPr id="25" name="Shape 23"/>
          <p:cNvSpPr/>
          <p:nvPr/>
        </p:nvSpPr>
        <p:spPr>
          <a:xfrm flipH="1">
            <a:off x="7658100" y="4933950"/>
            <a:ext cx="1924050" cy="95"/>
          </a:xfrm>
          <a:prstGeom prst="line">
            <a:avLst/>
          </a:prstGeom>
          <a:noFill/>
          <a:ln w="38100">
            <a:solidFill>
              <a:srgbClr val="102B46"/>
            </a:solidFill>
            <a:prstDash val="solid"/>
            <a:tailEnd type="triangle"/>
          </a:ln>
        </p:spPr>
      </p:sp>
      <p:sp>
        <p:nvSpPr>
          <p:cNvPr id="26" name="Text 24"/>
          <p:cNvSpPr txBox="1"/>
          <p:nvPr/>
        </p:nvSpPr>
        <p:spPr>
          <a:xfrm>
            <a:off x="8286750" y="4667250"/>
            <a:ext cx="762000" cy="228600"/>
          </a:xfrm>
          <a:prstGeom prst="rect">
            <a:avLst/>
          </a:prstGeom>
          <a:noFill/>
          <a:ln/>
        </p:spPr>
        <p:txBody>
          <a:bodyPr wrap="square" lIns="0" tIns="0" rIns="0" bIns="0" rtlCol="0" anchor="ctr"/>
          <a:lstStyle/>
          <a:p>
            <a:pPr algn="ctr" indent="0" marL="0">
              <a:buNone/>
            </a:pPr>
            <a:r>
              <a:rPr lang="en-US" sz="1200" b="1" dirty="0">
                <a:solidFill>
                  <a:srgbClr val="102B46"/>
                </a:solidFill>
                <a:latin typeface="Yu Gothic" pitchFamily="34" charset="0"/>
                <a:ea typeface="Yu Gothic" pitchFamily="34" charset="-122"/>
                <a:cs typeface="Yu Gothic" pitchFamily="34" charset="-120"/>
              </a:rPr>
              <a:t>トルク</a:t>
            </a:r>
            <a:endParaRPr lang="en-US" sz="1200" dirty="0"/>
          </a:p>
        </p:txBody>
      </p:sp>
      <p:sp>
        <p:nvSpPr>
          <p:cNvPr id="27" name="Shape 25"/>
          <p:cNvSpPr/>
          <p:nvPr/>
        </p:nvSpPr>
        <p:spPr>
          <a:xfrm flipV="1">
            <a:off x="10191750" y="4191000"/>
            <a:ext cx="95" cy="266700"/>
          </a:xfrm>
          <a:prstGeom prst="line">
            <a:avLst/>
          </a:prstGeom>
          <a:noFill/>
          <a:ln w="31750">
            <a:solidFill>
              <a:srgbClr val="E8783F"/>
            </a:solidFill>
            <a:prstDash val="dash"/>
          </a:ln>
        </p:spPr>
      </p:sp>
      <p:sp>
        <p:nvSpPr>
          <p:cNvPr id="28" name="Shape 26"/>
          <p:cNvSpPr/>
          <p:nvPr/>
        </p:nvSpPr>
        <p:spPr>
          <a:xfrm flipH="1">
            <a:off x="7905750" y="4191000"/>
            <a:ext cx="2286000" cy="95"/>
          </a:xfrm>
          <a:prstGeom prst="line">
            <a:avLst/>
          </a:prstGeom>
          <a:noFill/>
          <a:ln w="31750">
            <a:solidFill>
              <a:srgbClr val="E8783F"/>
            </a:solidFill>
            <a:prstDash val="dash"/>
          </a:ln>
        </p:spPr>
      </p:sp>
      <p:sp>
        <p:nvSpPr>
          <p:cNvPr id="29" name="Shape 27"/>
          <p:cNvSpPr/>
          <p:nvPr/>
        </p:nvSpPr>
        <p:spPr>
          <a:xfrm flipV="1">
            <a:off x="7905750" y="3981450"/>
            <a:ext cx="95" cy="209550"/>
          </a:xfrm>
          <a:prstGeom prst="line">
            <a:avLst/>
          </a:prstGeom>
          <a:noFill/>
          <a:ln w="31750">
            <a:solidFill>
              <a:srgbClr val="E8783F"/>
            </a:solidFill>
            <a:prstDash val="dash"/>
            <a:tailEnd type="triangle"/>
          </a:ln>
        </p:spPr>
      </p:sp>
      <p:sp>
        <p:nvSpPr>
          <p:cNvPr id="30" name="Text 28"/>
          <p:cNvSpPr txBox="1"/>
          <p:nvPr/>
        </p:nvSpPr>
        <p:spPr>
          <a:xfrm>
            <a:off x="7810500" y="5524500"/>
            <a:ext cx="3810000" cy="228600"/>
          </a:xfrm>
          <a:prstGeom prst="rect">
            <a:avLst/>
          </a:prstGeom>
          <a:noFill/>
          <a:ln/>
        </p:spPr>
        <p:txBody>
          <a:bodyPr wrap="square" lIns="0" tIns="0" rIns="0" bIns="0" rtlCol="0" anchor="ctr"/>
          <a:lstStyle/>
          <a:p>
            <a:pPr algn="r" indent="0" marL="0">
              <a:buNone/>
            </a:pPr>
            <a:r>
              <a:rPr lang="en-US" sz="1200" b="1" dirty="0">
                <a:solidFill>
                  <a:srgbClr val="E8783F"/>
                </a:solidFill>
                <a:latin typeface="Yu Gothic" pitchFamily="34" charset="0"/>
                <a:ea typeface="Yu Gothic" pitchFamily="34" charset="-122"/>
                <a:cs typeface="Yu Gothic" pitchFamily="34" charset="-120"/>
              </a:rPr>
              <a:t>フィードバック：関節角・角速度・電流（CAN返信）</a:t>
            </a:r>
            <a:endParaRPr lang="en-US" sz="1200" dirty="0"/>
          </a:p>
        </p:txBody>
      </p:sp>
      <p:sp>
        <p:nvSpPr>
          <p:cNvPr id="31" name="Shape 29"/>
          <p:cNvSpPr/>
          <p:nvPr/>
        </p:nvSpPr>
        <p:spPr>
          <a:xfrm flipH="1">
            <a:off x="1676400" y="4933950"/>
            <a:ext cx="3238500" cy="95"/>
          </a:xfrm>
          <a:prstGeom prst="line">
            <a:avLst/>
          </a:prstGeom>
          <a:noFill/>
          <a:ln w="31750">
            <a:solidFill>
              <a:srgbClr val="32A5B5"/>
            </a:solidFill>
            <a:prstDash val="dash"/>
          </a:ln>
        </p:spPr>
      </p:sp>
      <p:sp>
        <p:nvSpPr>
          <p:cNvPr id="32" name="Shape 30"/>
          <p:cNvSpPr/>
          <p:nvPr/>
        </p:nvSpPr>
        <p:spPr>
          <a:xfrm flipV="1">
            <a:off x="1676400" y="2971800"/>
            <a:ext cx="95" cy="1962150"/>
          </a:xfrm>
          <a:prstGeom prst="line">
            <a:avLst/>
          </a:prstGeom>
          <a:noFill/>
          <a:ln w="31750">
            <a:solidFill>
              <a:srgbClr val="32A5B5"/>
            </a:solidFill>
            <a:prstDash val="dash"/>
            <a:tailEnd type="triangle"/>
          </a:ln>
        </p:spPr>
      </p:sp>
      <p:sp>
        <p:nvSpPr>
          <p:cNvPr id="33" name="Text 31"/>
          <p:cNvSpPr txBox="1"/>
          <p:nvPr/>
        </p:nvSpPr>
        <p:spPr>
          <a:xfrm>
            <a:off x="1809750" y="5010150"/>
            <a:ext cx="2857500" cy="228600"/>
          </a:xfrm>
          <a:prstGeom prst="rect">
            <a:avLst/>
          </a:prstGeom>
          <a:noFill/>
          <a:ln/>
        </p:spPr>
        <p:txBody>
          <a:bodyPr wrap="square" lIns="0" tIns="0" rIns="0" bIns="0" rtlCol="0" anchor="ctr"/>
          <a:lstStyle/>
          <a:p>
            <a:pPr algn="l" indent="0" marL="0">
              <a:buNone/>
            </a:pPr>
            <a:r>
              <a:rPr lang="en-US" sz="1200" b="1" dirty="0">
                <a:solidFill>
                  <a:srgbClr val="32A5B5"/>
                </a:solidFill>
                <a:latin typeface="Yu Gothic" pitchFamily="34" charset="0"/>
                <a:ea typeface="Yu Gothic" pitchFamily="34" charset="-122"/>
                <a:cs typeface="Yu Gothic" pitchFamily="34" charset="-120"/>
              </a:rPr>
              <a:t>体の動きをT265が測る</a:t>
            </a:r>
            <a:endParaRPr lang="en-US" sz="1200" dirty="0"/>
          </a:p>
        </p:txBody>
      </p:sp>
      <p:sp>
        <p:nvSpPr>
          <p:cNvPr id="34" name="Text 32"/>
          <p:cNvSpPr txBox="1"/>
          <p:nvPr/>
        </p:nvSpPr>
        <p:spPr>
          <a:xfrm>
            <a:off x="4191000" y="5867400"/>
            <a:ext cx="3810000" cy="419100"/>
          </a:xfrm>
          <a:prstGeom prst="roundRect">
            <a:avLst>
              <a:gd name="adj" fmla="val 43636"/>
            </a:avLst>
          </a:prstGeom>
          <a:solidFill>
            <a:srgbClr val="102B46"/>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1周 20 ms（50 Hz）</a:t>
            </a:r>
            <a:endParaRPr lang="en-US" sz="2200" dirty="0"/>
          </a:p>
        </p:txBody>
      </p:sp>
      <p:sp>
        <p:nvSpPr>
          <p:cNvPr id="35" name="Text 33"/>
          <p:cNvSpPr txBox="1"/>
          <p:nvPr/>
        </p:nvSpPr>
        <p:spPr>
          <a:xfrm>
            <a:off x="628650" y="5867400"/>
            <a:ext cx="3429000" cy="209550"/>
          </a:xfrm>
          <a:prstGeom prst="rect">
            <a:avLst/>
          </a:prstGeom>
          <a:noFill/>
          <a:ln/>
        </p:spPr>
        <p:txBody>
          <a:bodyPr wrap="square" lIns="0" tIns="0" rIns="0" bIns="0" rtlCol="0" anchor="ctr"/>
          <a:lstStyle/>
          <a:p>
            <a:pPr algn="l" indent="0" marL="0">
              <a:buNone/>
            </a:pPr>
            <a:r>
              <a:rPr lang="en-US" sz="1200" dirty="0">
                <a:solidFill>
                  <a:srgbClr val="5E6A73"/>
                </a:solidFill>
                <a:latin typeface="Yu Gothic" pitchFamily="34" charset="0"/>
                <a:ea typeface="Yu Gothic" pitchFamily="34" charset="-122"/>
                <a:cs typeface="Yu Gothic" pitchFamily="34" charset="-120"/>
              </a:rPr>
              <a:t>実線：指令の流れ　破線：フィードバック</a:t>
            </a:r>
            <a:endParaRPr lang="en-US" sz="1200" dirty="0"/>
          </a:p>
        </p:txBody>
      </p:sp>
      <p:sp>
        <p:nvSpPr>
          <p:cNvPr id="36" name="Text 34"/>
          <p:cNvSpPr txBox="1"/>
          <p:nvPr/>
        </p:nvSpPr>
        <p:spPr>
          <a:xfrm>
            <a:off x="628650" y="6076950"/>
            <a:ext cx="3429000" cy="381000"/>
          </a:xfrm>
          <a:prstGeom prst="rect">
            <a:avLst/>
          </a:prstGeom>
          <a:noFill/>
          <a:ln/>
        </p:spPr>
        <p:txBody>
          <a:bodyPr wrap="square" lIns="0" tIns="0" rIns="0" bIns="0" rtlCol="0" anchor="t"/>
          <a:lstStyle/>
          <a:p>
            <a:pPr algn="l" indent="0" marL="0">
              <a:buNone/>
            </a:pPr>
            <a:r>
              <a:rPr lang="en-US" sz="1100" dirty="0">
                <a:solidFill>
                  <a:srgbClr val="5E6A73"/>
                </a:solidFill>
                <a:latin typeface="Yu Gothic" pitchFamily="34" charset="0"/>
                <a:ea typeface="Yu Gothic" pitchFamily="34" charset="-122"/>
                <a:cs typeface="Yu Gothic" pitchFamily="34" charset="-120"/>
              </a:rPr>
              <a:t>※ 現在の吊り試験は同じプログラムをノートPCで実行。Jetsonは実機なしの動作確認まで</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1周期（20 ms）の中でやっていること</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3525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Text 5"/>
          <p:cNvSpPr txBox="1"/>
          <p:nvPr/>
        </p:nvSpPr>
        <p:spPr>
          <a:xfrm>
            <a:off x="1181100" y="1257300"/>
            <a:ext cx="1428750" cy="6096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受け取る</a:t>
            </a:r>
            <a:endParaRPr lang="en-US" sz="1900" dirty="0"/>
          </a:p>
        </p:txBody>
      </p:sp>
      <p:sp>
        <p:nvSpPr>
          <p:cNvPr id="8" name="Text 6"/>
          <p:cNvSpPr txBox="1"/>
          <p:nvPr/>
        </p:nvSpPr>
        <p:spPr>
          <a:xfrm>
            <a:off x="2609850" y="1257300"/>
            <a:ext cx="4286250" cy="6096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T265の最新値・10軸の最新の返信・コントローラー入力</a:t>
            </a:r>
            <a:endParaRPr lang="en-US" sz="1500" dirty="0"/>
          </a:p>
        </p:txBody>
      </p:sp>
      <p:sp>
        <p:nvSpPr>
          <p:cNvPr id="9" name="Shape 7"/>
          <p:cNvSpPr/>
          <p:nvPr/>
        </p:nvSpPr>
        <p:spPr>
          <a:xfrm>
            <a:off x="838200" y="1790700"/>
            <a:ext cx="95" cy="304800"/>
          </a:xfrm>
          <a:prstGeom prst="line">
            <a:avLst/>
          </a:prstGeom>
          <a:noFill/>
          <a:ln w="19050">
            <a:solidFill>
              <a:srgbClr val="B7C7D1"/>
            </a:solidFill>
            <a:prstDash val="solid"/>
          </a:ln>
        </p:spPr>
      </p:sp>
      <p:sp>
        <p:nvSpPr>
          <p:cNvPr id="10" name="Text 8"/>
          <p:cNvSpPr txBox="1"/>
          <p:nvPr/>
        </p:nvSpPr>
        <p:spPr>
          <a:xfrm>
            <a:off x="628650" y="2114550"/>
            <a:ext cx="419100" cy="4191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1" name="Text 9"/>
          <p:cNvSpPr txBox="1"/>
          <p:nvPr/>
        </p:nvSpPr>
        <p:spPr>
          <a:xfrm>
            <a:off x="1181100" y="2019300"/>
            <a:ext cx="1428750" cy="6096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確かめる</a:t>
            </a:r>
            <a:endParaRPr lang="en-US" sz="1900" dirty="0"/>
          </a:p>
        </p:txBody>
      </p:sp>
      <p:sp>
        <p:nvSpPr>
          <p:cNvPr id="12" name="Text 10"/>
          <p:cNvSpPr txBox="1"/>
          <p:nvPr/>
        </p:nvSpPr>
        <p:spPr>
          <a:xfrm>
            <a:off x="2609850" y="2019300"/>
            <a:ext cx="4286250" cy="6096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値が古くないか、モーターのエラー・電流・速度が上限内か</a:t>
            </a:r>
            <a:endParaRPr lang="en-US" sz="1500" dirty="0"/>
          </a:p>
        </p:txBody>
      </p:sp>
      <p:sp>
        <p:nvSpPr>
          <p:cNvPr id="13" name="Shape 11"/>
          <p:cNvSpPr/>
          <p:nvPr/>
        </p:nvSpPr>
        <p:spPr>
          <a:xfrm>
            <a:off x="838200" y="2552700"/>
            <a:ext cx="95" cy="304800"/>
          </a:xfrm>
          <a:prstGeom prst="line">
            <a:avLst/>
          </a:prstGeom>
          <a:noFill/>
          <a:ln w="19050">
            <a:solidFill>
              <a:srgbClr val="B7C7D1"/>
            </a:solidFill>
            <a:prstDash val="solid"/>
          </a:ln>
        </p:spPr>
      </p:sp>
      <p:sp>
        <p:nvSpPr>
          <p:cNvPr id="14" name="Text 12"/>
          <p:cNvSpPr txBox="1"/>
          <p:nvPr/>
        </p:nvSpPr>
        <p:spPr>
          <a:xfrm>
            <a:off x="628650" y="28765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5" name="Text 13"/>
          <p:cNvSpPr txBox="1"/>
          <p:nvPr/>
        </p:nvSpPr>
        <p:spPr>
          <a:xfrm>
            <a:off x="1181100" y="2781300"/>
            <a:ext cx="1428750" cy="6096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変換する</a:t>
            </a:r>
            <a:endParaRPr lang="en-US" sz="1900" dirty="0"/>
          </a:p>
        </p:txBody>
      </p:sp>
      <p:sp>
        <p:nvSpPr>
          <p:cNvPr id="16" name="Text 14"/>
          <p:cNvSpPr txBox="1"/>
          <p:nvPr/>
        </p:nvSpPr>
        <p:spPr>
          <a:xfrm>
            <a:off x="2609850" y="2781300"/>
            <a:ext cx="4286250" cy="6096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T265 → 胴体座標、モーター角 → 関節角（原点・向きの補正）</a:t>
            </a:r>
            <a:endParaRPr lang="en-US" sz="1500" dirty="0"/>
          </a:p>
        </p:txBody>
      </p:sp>
      <p:sp>
        <p:nvSpPr>
          <p:cNvPr id="17" name="Shape 15"/>
          <p:cNvSpPr/>
          <p:nvPr/>
        </p:nvSpPr>
        <p:spPr>
          <a:xfrm>
            <a:off x="838200" y="3314700"/>
            <a:ext cx="95" cy="304800"/>
          </a:xfrm>
          <a:prstGeom prst="line">
            <a:avLst/>
          </a:prstGeom>
          <a:noFill/>
          <a:ln w="19050">
            <a:solidFill>
              <a:srgbClr val="B7C7D1"/>
            </a:solidFill>
            <a:prstDash val="solid"/>
          </a:ln>
        </p:spPr>
      </p:sp>
      <p:sp>
        <p:nvSpPr>
          <p:cNvPr id="18" name="Text 16"/>
          <p:cNvSpPr txBox="1"/>
          <p:nvPr/>
        </p:nvSpPr>
        <p:spPr>
          <a:xfrm>
            <a:off x="628650" y="36385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7"/>
          <p:cNvSpPr txBox="1"/>
          <p:nvPr/>
        </p:nvSpPr>
        <p:spPr>
          <a:xfrm>
            <a:off x="1181100" y="3543300"/>
            <a:ext cx="1428750" cy="6096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計算する</a:t>
            </a:r>
            <a:endParaRPr lang="en-US" sz="1900" dirty="0"/>
          </a:p>
        </p:txBody>
      </p:sp>
      <p:sp>
        <p:nvSpPr>
          <p:cNvPr id="20" name="Text 18"/>
          <p:cNvSpPr txBox="1"/>
          <p:nvPr/>
        </p:nvSpPr>
        <p:spPr>
          <a:xfrm>
            <a:off x="2609850" y="3543300"/>
            <a:ext cx="4286250" cy="6096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観測42個 → 方策 → 目標角10個</a:t>
            </a:r>
            <a:endParaRPr lang="en-US" sz="1500" dirty="0"/>
          </a:p>
        </p:txBody>
      </p:sp>
      <p:sp>
        <p:nvSpPr>
          <p:cNvPr id="21" name="Shape 19"/>
          <p:cNvSpPr/>
          <p:nvPr/>
        </p:nvSpPr>
        <p:spPr>
          <a:xfrm>
            <a:off x="838200" y="4076700"/>
            <a:ext cx="95" cy="304800"/>
          </a:xfrm>
          <a:prstGeom prst="line">
            <a:avLst/>
          </a:prstGeom>
          <a:noFill/>
          <a:ln w="19050">
            <a:solidFill>
              <a:srgbClr val="B7C7D1"/>
            </a:solidFill>
            <a:prstDash val="solid"/>
          </a:ln>
        </p:spPr>
      </p:sp>
      <p:sp>
        <p:nvSpPr>
          <p:cNvPr id="22" name="Text 20"/>
          <p:cNvSpPr txBox="1"/>
          <p:nvPr/>
        </p:nvSpPr>
        <p:spPr>
          <a:xfrm>
            <a:off x="628650" y="44005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3" name="Text 21"/>
          <p:cNvSpPr txBox="1"/>
          <p:nvPr/>
        </p:nvSpPr>
        <p:spPr>
          <a:xfrm>
            <a:off x="1181100" y="4305300"/>
            <a:ext cx="1428750" cy="6096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送る</a:t>
            </a:r>
            <a:endParaRPr lang="en-US" sz="1900" dirty="0"/>
          </a:p>
        </p:txBody>
      </p:sp>
      <p:sp>
        <p:nvSpPr>
          <p:cNvPr id="24" name="Text 22"/>
          <p:cNvSpPr txBox="1"/>
          <p:nvPr/>
        </p:nvSpPr>
        <p:spPr>
          <a:xfrm>
            <a:off x="2609850" y="4305300"/>
            <a:ext cx="4286250" cy="6096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目標角を関節順からCAN IDの順に並べ替えて10台へ送信</a:t>
            </a:r>
            <a:endParaRPr lang="en-US" sz="1500" dirty="0"/>
          </a:p>
        </p:txBody>
      </p:sp>
      <p:sp>
        <p:nvSpPr>
          <p:cNvPr id="25" name="Shape 23"/>
          <p:cNvSpPr/>
          <p:nvPr/>
        </p:nvSpPr>
        <p:spPr>
          <a:xfrm>
            <a:off x="838200" y="4838700"/>
            <a:ext cx="95" cy="304800"/>
          </a:xfrm>
          <a:prstGeom prst="line">
            <a:avLst/>
          </a:prstGeom>
          <a:noFill/>
          <a:ln w="19050">
            <a:solidFill>
              <a:srgbClr val="B7C7D1"/>
            </a:solidFill>
            <a:prstDash val="solid"/>
          </a:ln>
        </p:spPr>
      </p:sp>
      <p:sp>
        <p:nvSpPr>
          <p:cNvPr id="26" name="Text 24"/>
          <p:cNvSpPr txBox="1"/>
          <p:nvPr/>
        </p:nvSpPr>
        <p:spPr>
          <a:xfrm>
            <a:off x="628650" y="5162550"/>
            <a:ext cx="419100" cy="4191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27" name="Text 25"/>
          <p:cNvSpPr txBox="1"/>
          <p:nvPr/>
        </p:nvSpPr>
        <p:spPr>
          <a:xfrm>
            <a:off x="1181100" y="5067300"/>
            <a:ext cx="1428750" cy="6096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記録する</a:t>
            </a:r>
            <a:endParaRPr lang="en-US" sz="1900" dirty="0"/>
          </a:p>
        </p:txBody>
      </p:sp>
      <p:sp>
        <p:nvSpPr>
          <p:cNvPr id="28" name="Text 26"/>
          <p:cNvSpPr txBox="1"/>
          <p:nvPr/>
        </p:nvSpPr>
        <p:spPr>
          <a:xfrm>
            <a:off x="2609850" y="5067300"/>
            <a:ext cx="4286250" cy="609600"/>
          </a:xfrm>
          <a:prstGeom prst="rect">
            <a:avLst/>
          </a:prstGeom>
          <a:noFill/>
          <a:ln/>
        </p:spPr>
        <p:txBody>
          <a:bodyPr wrap="square" lIns="0" tIns="0" rIns="0" bIns="0" rtlCol="0" anchor="ctr"/>
          <a:lstStyle/>
          <a:p>
            <a:pPr algn="l" indent="0" marL="0">
              <a:buNone/>
            </a:pPr>
            <a:r>
              <a:rPr lang="en-US" sz="1500" dirty="0">
                <a:solidFill>
                  <a:srgbClr val="17212B"/>
                </a:solidFill>
                <a:latin typeface="Yu Gothic" pitchFamily="34" charset="0"/>
                <a:ea typeface="Yu Gothic" pitchFamily="34" charset="-122"/>
                <a:cs typeface="Yu Gothic" pitchFamily="34" charset="-120"/>
              </a:rPr>
              <a:t>全軸の値をCSVに保存（後で解析）</a:t>
            </a:r>
            <a:endParaRPr lang="en-US" sz="1500" dirty="0"/>
          </a:p>
        </p:txBody>
      </p:sp>
      <p:sp>
        <p:nvSpPr>
          <p:cNvPr id="29" name="Shape 27"/>
          <p:cNvSpPr/>
          <p:nvPr/>
        </p:nvSpPr>
        <p:spPr>
          <a:xfrm>
            <a:off x="7239000" y="1257300"/>
            <a:ext cx="4324350" cy="3143250"/>
          </a:xfrm>
          <a:prstGeom prst="rect">
            <a:avLst/>
          </a:prstGeom>
          <a:solidFill>
            <a:srgbClr val="FBEDEA"/>
          </a:solidFill>
          <a:ln w="12700">
            <a:solidFill>
              <a:srgbClr val="C8553D"/>
            </a:solidFill>
            <a:prstDash val="solid"/>
          </a:ln>
        </p:spPr>
      </p:sp>
      <p:sp>
        <p:nvSpPr>
          <p:cNvPr id="30" name="Text 28"/>
          <p:cNvSpPr txBox="1"/>
          <p:nvPr/>
        </p:nvSpPr>
        <p:spPr>
          <a:xfrm>
            <a:off x="7429500" y="1371600"/>
            <a:ext cx="4000500" cy="285750"/>
          </a:xfrm>
          <a:prstGeom prst="rect">
            <a:avLst/>
          </a:prstGeom>
          <a:noFill/>
          <a:ln/>
        </p:spPr>
        <p:txBody>
          <a:bodyPr wrap="square" lIns="0" tIns="0" rIns="0" bIns="0" rtlCol="0" anchor="ctr"/>
          <a:lstStyle/>
          <a:p>
            <a:pPr algn="l" indent="0" marL="0">
              <a:buNone/>
            </a:pPr>
            <a:r>
              <a:rPr lang="en-US" sz="1600" b="1" dirty="0">
                <a:solidFill>
                  <a:srgbClr val="C8553D"/>
                </a:solidFill>
                <a:latin typeface="Yu Gothic" pitchFamily="34" charset="0"/>
                <a:ea typeface="Yu Gothic" pitchFamily="34" charset="-122"/>
                <a:cs typeface="Yu Gothic" pitchFamily="34" charset="-120"/>
              </a:rPr>
              <a:t>止める条件（ゼロ指令を3回送って停止）</a:t>
            </a:r>
            <a:endParaRPr lang="en-US" sz="1600" dirty="0"/>
          </a:p>
        </p:txBody>
      </p:sp>
      <p:sp>
        <p:nvSpPr>
          <p:cNvPr id="31" name="Text 29"/>
          <p:cNvSpPr txBox="1"/>
          <p:nvPr/>
        </p:nvSpPr>
        <p:spPr>
          <a:xfrm>
            <a:off x="7429500" y="1733550"/>
            <a:ext cx="3943350" cy="190500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T265の値が 200 ms 以上更新されない</a:t>
            </a:r>
            <a:endParaRPr lang="en-US" sz="1500" dirty="0"/>
          </a:p>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モーターの返信が古い／エラー番号が0でない</a:t>
            </a:r>
            <a:endParaRPr lang="en-US" sz="1500" dirty="0"/>
          </a:p>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電流・速度が上限を超えた</a:t>
            </a:r>
            <a:endParaRPr lang="en-US" sz="1500" dirty="0"/>
          </a:p>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コントローラーが切断された</a:t>
            </a:r>
            <a:endParaRPr lang="en-US" sz="1500" dirty="0"/>
          </a:p>
          <a:p>
            <a:pPr algn="l" marL="342900" indent="-342900">
              <a:spcAft>
                <a:spcPts val="600"/>
              </a:spcAft>
              <a:buSzPct val="100000"/>
              <a:buChar char="•"/>
            </a:pPr>
            <a:r>
              <a:rPr lang="en-US" sz="1500" dirty="0">
                <a:solidFill>
                  <a:srgbClr val="17212B"/>
                </a:solidFill>
                <a:latin typeface="Yu Gothic" pitchFamily="34" charset="0"/>
                <a:ea typeface="Yu Gothic" pitchFamily="34" charset="-122"/>
                <a:cs typeface="Yu Gothic" pitchFamily="34" charset="-120"/>
              </a:rPr>
              <a:t>プログラムの例外・終了</a:t>
            </a:r>
            <a:endParaRPr lang="en-US" sz="1500" dirty="0"/>
          </a:p>
        </p:txBody>
      </p:sp>
      <p:sp>
        <p:nvSpPr>
          <p:cNvPr id="32" name="Text 30"/>
          <p:cNvSpPr txBox="1"/>
          <p:nvPr/>
        </p:nvSpPr>
        <p:spPr>
          <a:xfrm>
            <a:off x="7429500" y="3752850"/>
            <a:ext cx="3943350" cy="533400"/>
          </a:xfrm>
          <a:prstGeom prst="rect">
            <a:avLst/>
          </a:prstGeom>
          <a:noFill/>
          <a:ln/>
        </p:spPr>
        <p:txBody>
          <a:bodyPr wrap="square" lIns="0" tIns="0" rIns="0" bIns="0" rtlCol="0" anchor="t"/>
          <a:lstStyle/>
          <a:p>
            <a:pPr algn="l" indent="0" marL="0">
              <a:buNone/>
            </a:pPr>
            <a:r>
              <a:rPr lang="en-US" sz="1400" b="1" dirty="0">
                <a:solidFill>
                  <a:srgbClr val="102B46"/>
                </a:solidFill>
                <a:latin typeface="Yu Gothic" pitchFamily="34" charset="0"/>
                <a:ea typeface="Yu Gothic" pitchFamily="34" charset="-122"/>
                <a:cs typeface="Yu Gothic" pitchFamily="34" charset="-120"/>
              </a:rPr>
              <a:t>最終手段は手元の主電源スイッチ（人がすぐ切れる位置に立つ）</a:t>
            </a:r>
            <a:endParaRPr lang="en-US" sz="1400" dirty="0"/>
          </a:p>
        </p:txBody>
      </p:sp>
      <p:sp>
        <p:nvSpPr>
          <p:cNvPr id="33" name="Shape 31"/>
          <p:cNvSpPr/>
          <p:nvPr/>
        </p:nvSpPr>
        <p:spPr>
          <a:xfrm>
            <a:off x="7239000" y="4572000"/>
            <a:ext cx="4324350" cy="1714500"/>
          </a:xfrm>
          <a:prstGeom prst="rect">
            <a:avLst/>
          </a:prstGeom>
          <a:solidFill>
            <a:srgbClr val="E8F1F5"/>
          </a:solidFill>
          <a:ln w="12700">
            <a:solidFill>
              <a:srgbClr val="32A5B5"/>
            </a:solidFill>
            <a:prstDash val="solid"/>
          </a:ln>
        </p:spPr>
      </p:sp>
      <p:sp>
        <p:nvSpPr>
          <p:cNvPr id="34" name="Text 32"/>
          <p:cNvSpPr txBox="1"/>
          <p:nvPr/>
        </p:nvSpPr>
        <p:spPr>
          <a:xfrm>
            <a:off x="7429500" y="4667250"/>
            <a:ext cx="4000500" cy="266700"/>
          </a:xfrm>
          <a:prstGeom prst="rect">
            <a:avLst/>
          </a:prstGeom>
          <a:noFill/>
          <a:ln/>
        </p:spPr>
        <p:txBody>
          <a:bodyPr wrap="square" lIns="0" tIns="0" rIns="0" bIns="0" rtlCol="0" anchor="ctr"/>
          <a:lstStyle/>
          <a:p>
            <a:pPr algn="l" indent="0" marL="0">
              <a:buNone/>
            </a:pPr>
            <a:r>
              <a:rPr lang="en-US" sz="1600" b="1" dirty="0">
                <a:solidFill>
                  <a:srgbClr val="32A5B5"/>
                </a:solidFill>
                <a:latin typeface="Yu Gothic" pitchFamily="34" charset="0"/>
                <a:ea typeface="Yu Gothic" pitchFamily="34" charset="-122"/>
                <a:cs typeface="Yu Gothic" pitchFamily="34" charset="-120"/>
              </a:rPr>
              <a:t>実機に載せる前のチェック</a:t>
            </a:r>
            <a:endParaRPr lang="en-US" sz="1600" dirty="0"/>
          </a:p>
        </p:txBody>
      </p:sp>
      <p:sp>
        <p:nvSpPr>
          <p:cNvPr id="35" name="Text 33"/>
          <p:cNvSpPr txBox="1"/>
          <p:nvPr/>
        </p:nvSpPr>
        <p:spPr>
          <a:xfrm>
            <a:off x="7429500" y="4972050"/>
            <a:ext cx="3943350" cy="123825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学習環境で記録した入力と出力の組（500件）をJetson側の方策に入れ、同じ出力が出るかを確認：最大誤差 1.2×10⁻⁶（一致）</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実機への導入：小さく確かめてから全身へ</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いきなり床で歩かせない。1軸 → 全軸の対応確認 → 吊った状態 → 床 の順に進める</a:t>
            </a:r>
            <a:endParaRPr lang="en-US" sz="2200" dirty="0"/>
          </a:p>
        </p:txBody>
      </p:sp>
      <p:sp>
        <p:nvSpPr>
          <p:cNvPr id="7" name="Shape 5"/>
          <p:cNvSpPr/>
          <p:nvPr/>
        </p:nvSpPr>
        <p:spPr>
          <a:xfrm>
            <a:off x="628650" y="2095500"/>
            <a:ext cx="1676400" cy="2381250"/>
          </a:xfrm>
          <a:prstGeom prst="rect">
            <a:avLst/>
          </a:prstGeom>
          <a:solidFill>
            <a:srgbClr val="E8F1F5"/>
          </a:solidFill>
          <a:ln w="19050">
            <a:solidFill>
              <a:srgbClr val="2E8B57"/>
            </a:solidFill>
            <a:prstDash val="solid"/>
          </a:ln>
        </p:spPr>
      </p:sp>
      <p:sp>
        <p:nvSpPr>
          <p:cNvPr id="8" name="Text 6"/>
          <p:cNvSpPr txBox="1"/>
          <p:nvPr/>
        </p:nvSpPr>
        <p:spPr>
          <a:xfrm>
            <a:off x="1257300" y="220980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9" name="Text 7"/>
          <p:cNvSpPr txBox="1"/>
          <p:nvPr/>
        </p:nvSpPr>
        <p:spPr>
          <a:xfrm>
            <a:off x="704850" y="2762250"/>
            <a:ext cx="1524000" cy="5334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1軸の動作</a:t>
            </a:r>
            <a:endParaRPr lang="en-US" sz="1600" dirty="0"/>
          </a:p>
        </p:txBody>
      </p:sp>
      <p:sp>
        <p:nvSpPr>
          <p:cNvPr id="10" name="Text 8"/>
          <p:cNvSpPr txBox="1"/>
          <p:nvPr/>
        </p:nvSpPr>
        <p:spPr>
          <a:xfrm>
            <a:off x="704850" y="3333750"/>
            <a:ext cx="1524000" cy="666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MITモードで1台ずつ目標角へ動くか</a:t>
            </a:r>
            <a:endParaRPr lang="en-US" sz="1300" dirty="0"/>
          </a:p>
        </p:txBody>
      </p:sp>
      <p:sp>
        <p:nvSpPr>
          <p:cNvPr id="11" name="Text 9"/>
          <p:cNvSpPr txBox="1"/>
          <p:nvPr/>
        </p:nvSpPr>
        <p:spPr>
          <a:xfrm>
            <a:off x="990600" y="405765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12" name="Shape 10"/>
          <p:cNvSpPr/>
          <p:nvPr/>
        </p:nvSpPr>
        <p:spPr>
          <a:xfrm>
            <a:off x="2324100" y="3286125"/>
            <a:ext cx="114300" cy="95"/>
          </a:xfrm>
          <a:prstGeom prst="line">
            <a:avLst/>
          </a:prstGeom>
          <a:noFill/>
          <a:ln w="25400">
            <a:solidFill>
              <a:srgbClr val="B7C7D1"/>
            </a:solidFill>
            <a:prstDash val="solid"/>
            <a:tailEnd type="triangle"/>
          </a:ln>
        </p:spPr>
      </p:sp>
      <p:sp>
        <p:nvSpPr>
          <p:cNvPr id="13" name="Shape 11"/>
          <p:cNvSpPr/>
          <p:nvPr/>
        </p:nvSpPr>
        <p:spPr>
          <a:xfrm>
            <a:off x="2457450" y="2095500"/>
            <a:ext cx="1676400" cy="2381250"/>
          </a:xfrm>
          <a:prstGeom prst="rect">
            <a:avLst/>
          </a:prstGeom>
          <a:solidFill>
            <a:srgbClr val="E8F1F5"/>
          </a:solidFill>
          <a:ln w="19050">
            <a:solidFill>
              <a:srgbClr val="2E8B57"/>
            </a:solidFill>
            <a:prstDash val="solid"/>
          </a:ln>
        </p:spPr>
      </p:sp>
      <p:sp>
        <p:nvSpPr>
          <p:cNvPr id="14" name="Text 12"/>
          <p:cNvSpPr txBox="1"/>
          <p:nvPr/>
        </p:nvSpPr>
        <p:spPr>
          <a:xfrm>
            <a:off x="3086100" y="220980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5" name="Text 13"/>
          <p:cNvSpPr txBox="1"/>
          <p:nvPr/>
        </p:nvSpPr>
        <p:spPr>
          <a:xfrm>
            <a:off x="2533650" y="2762250"/>
            <a:ext cx="1524000" cy="5334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全軸の対応表・原点</a:t>
            </a:r>
            <a:endParaRPr lang="en-US" sz="1600" dirty="0"/>
          </a:p>
        </p:txBody>
      </p:sp>
      <p:sp>
        <p:nvSpPr>
          <p:cNvPr id="16" name="Text 14"/>
          <p:cNvSpPr txBox="1"/>
          <p:nvPr/>
        </p:nvSpPr>
        <p:spPr>
          <a:xfrm>
            <a:off x="2533650" y="3333750"/>
            <a:ext cx="1524000" cy="666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10台のID・回転方向・ゼロ姿勢</a:t>
            </a:r>
            <a:endParaRPr lang="en-US" sz="1300" dirty="0"/>
          </a:p>
        </p:txBody>
      </p:sp>
      <p:sp>
        <p:nvSpPr>
          <p:cNvPr id="17" name="Text 15"/>
          <p:cNvSpPr txBox="1"/>
          <p:nvPr/>
        </p:nvSpPr>
        <p:spPr>
          <a:xfrm>
            <a:off x="2819400" y="405765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18" name="Shape 16"/>
          <p:cNvSpPr/>
          <p:nvPr/>
        </p:nvSpPr>
        <p:spPr>
          <a:xfrm>
            <a:off x="4152900" y="3286125"/>
            <a:ext cx="114300" cy="95"/>
          </a:xfrm>
          <a:prstGeom prst="line">
            <a:avLst/>
          </a:prstGeom>
          <a:noFill/>
          <a:ln w="25400">
            <a:solidFill>
              <a:srgbClr val="B7C7D1"/>
            </a:solidFill>
            <a:prstDash val="solid"/>
            <a:tailEnd type="triangle"/>
          </a:ln>
        </p:spPr>
      </p:sp>
      <p:sp>
        <p:nvSpPr>
          <p:cNvPr id="19" name="Shape 17"/>
          <p:cNvSpPr/>
          <p:nvPr/>
        </p:nvSpPr>
        <p:spPr>
          <a:xfrm>
            <a:off x="4286250" y="2095500"/>
            <a:ext cx="1676400" cy="2381250"/>
          </a:xfrm>
          <a:prstGeom prst="rect">
            <a:avLst/>
          </a:prstGeom>
          <a:solidFill>
            <a:srgbClr val="E8F1F5"/>
          </a:solidFill>
          <a:ln w="19050">
            <a:solidFill>
              <a:srgbClr val="2E8B57"/>
            </a:solidFill>
            <a:prstDash val="solid"/>
          </a:ln>
        </p:spPr>
      </p:sp>
      <p:sp>
        <p:nvSpPr>
          <p:cNvPr id="20" name="Text 18"/>
          <p:cNvSpPr txBox="1"/>
          <p:nvPr/>
        </p:nvSpPr>
        <p:spPr>
          <a:xfrm>
            <a:off x="4914900" y="2209800"/>
            <a:ext cx="419100" cy="419100"/>
          </a:xfrm>
          <a:prstGeom prst="ellipse">
            <a:avLst/>
          </a:prstGeom>
          <a:solidFill>
            <a:srgbClr val="2E8B57"/>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21" name="Text 19"/>
          <p:cNvSpPr txBox="1"/>
          <p:nvPr/>
        </p:nvSpPr>
        <p:spPr>
          <a:xfrm>
            <a:off x="4362450" y="2762250"/>
            <a:ext cx="1524000" cy="5334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PC上で統合</a:t>
            </a:r>
            <a:endParaRPr lang="en-US" sz="1600" dirty="0"/>
          </a:p>
        </p:txBody>
      </p:sp>
      <p:sp>
        <p:nvSpPr>
          <p:cNvPr id="22" name="Text 20"/>
          <p:cNvSpPr txBox="1"/>
          <p:nvPr/>
        </p:nvSpPr>
        <p:spPr>
          <a:xfrm>
            <a:off x="4362450" y="3333750"/>
            <a:ext cx="1524000" cy="666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T265・方策・CANを1つのプログラムに</a:t>
            </a:r>
            <a:endParaRPr lang="en-US" sz="1300" dirty="0"/>
          </a:p>
        </p:txBody>
      </p:sp>
      <p:sp>
        <p:nvSpPr>
          <p:cNvPr id="23" name="Text 21"/>
          <p:cNvSpPr txBox="1"/>
          <p:nvPr/>
        </p:nvSpPr>
        <p:spPr>
          <a:xfrm>
            <a:off x="4648200" y="4057650"/>
            <a:ext cx="952500" cy="285750"/>
          </a:xfrm>
          <a:prstGeom prst="rect">
            <a:avLst/>
          </a:prstGeom>
          <a:solidFill>
            <a:srgbClr val="2E8B57"/>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完了</a:t>
            </a:r>
            <a:endParaRPr lang="en-US" sz="1400" dirty="0"/>
          </a:p>
        </p:txBody>
      </p:sp>
      <p:sp>
        <p:nvSpPr>
          <p:cNvPr id="24" name="Shape 22"/>
          <p:cNvSpPr/>
          <p:nvPr/>
        </p:nvSpPr>
        <p:spPr>
          <a:xfrm>
            <a:off x="5981700" y="3286125"/>
            <a:ext cx="114300" cy="95"/>
          </a:xfrm>
          <a:prstGeom prst="line">
            <a:avLst/>
          </a:prstGeom>
          <a:noFill/>
          <a:ln w="25400">
            <a:solidFill>
              <a:srgbClr val="B7C7D1"/>
            </a:solidFill>
            <a:prstDash val="solid"/>
            <a:tailEnd type="triangle"/>
          </a:ln>
        </p:spPr>
      </p:sp>
      <p:sp>
        <p:nvSpPr>
          <p:cNvPr id="25" name="Shape 23"/>
          <p:cNvSpPr/>
          <p:nvPr/>
        </p:nvSpPr>
        <p:spPr>
          <a:xfrm>
            <a:off x="6115050" y="2095500"/>
            <a:ext cx="1676400" cy="2381250"/>
          </a:xfrm>
          <a:prstGeom prst="rect">
            <a:avLst/>
          </a:prstGeom>
          <a:solidFill>
            <a:srgbClr val="F3EEE6"/>
          </a:solidFill>
          <a:ln w="19050">
            <a:solidFill>
              <a:srgbClr val="E8783F"/>
            </a:solidFill>
            <a:prstDash val="solid"/>
          </a:ln>
        </p:spPr>
      </p:sp>
      <p:sp>
        <p:nvSpPr>
          <p:cNvPr id="26" name="Text 24"/>
          <p:cNvSpPr txBox="1"/>
          <p:nvPr/>
        </p:nvSpPr>
        <p:spPr>
          <a:xfrm>
            <a:off x="6743700" y="2209800"/>
            <a:ext cx="419100" cy="4191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7" name="Text 25"/>
          <p:cNvSpPr txBox="1"/>
          <p:nvPr/>
        </p:nvSpPr>
        <p:spPr>
          <a:xfrm>
            <a:off x="6191250" y="2762250"/>
            <a:ext cx="1524000" cy="5334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吊って全身</a:t>
            </a:r>
            <a:endParaRPr lang="en-US" sz="1600" dirty="0"/>
          </a:p>
        </p:txBody>
      </p:sp>
      <p:sp>
        <p:nvSpPr>
          <p:cNvPr id="28" name="Text 26"/>
          <p:cNvSpPr txBox="1"/>
          <p:nvPr/>
        </p:nvSpPr>
        <p:spPr>
          <a:xfrm>
            <a:off x="6191250" y="3333750"/>
            <a:ext cx="1524000" cy="666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ひもで吊り、全10軸に指令</a:t>
            </a:r>
            <a:endParaRPr lang="en-US" sz="1300" dirty="0"/>
          </a:p>
        </p:txBody>
      </p:sp>
      <p:sp>
        <p:nvSpPr>
          <p:cNvPr id="29" name="Text 27"/>
          <p:cNvSpPr txBox="1"/>
          <p:nvPr/>
        </p:nvSpPr>
        <p:spPr>
          <a:xfrm>
            <a:off x="6477000" y="4057650"/>
            <a:ext cx="952500" cy="285750"/>
          </a:xfrm>
          <a:prstGeom prst="rect">
            <a:avLst/>
          </a:prstGeom>
          <a:solidFill>
            <a:srgbClr val="E8783F"/>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実施中</a:t>
            </a:r>
            <a:endParaRPr lang="en-US" sz="1400" dirty="0"/>
          </a:p>
        </p:txBody>
      </p:sp>
      <p:sp>
        <p:nvSpPr>
          <p:cNvPr id="30" name="Shape 28"/>
          <p:cNvSpPr/>
          <p:nvPr/>
        </p:nvSpPr>
        <p:spPr>
          <a:xfrm>
            <a:off x="7810500" y="3286125"/>
            <a:ext cx="114300" cy="95"/>
          </a:xfrm>
          <a:prstGeom prst="line">
            <a:avLst/>
          </a:prstGeom>
          <a:noFill/>
          <a:ln w="25400">
            <a:solidFill>
              <a:srgbClr val="B7C7D1"/>
            </a:solidFill>
            <a:prstDash val="solid"/>
            <a:tailEnd type="triangle"/>
          </a:ln>
        </p:spPr>
      </p:sp>
      <p:sp>
        <p:nvSpPr>
          <p:cNvPr id="31" name="Shape 29"/>
          <p:cNvSpPr/>
          <p:nvPr/>
        </p:nvSpPr>
        <p:spPr>
          <a:xfrm>
            <a:off x="7943850" y="2095500"/>
            <a:ext cx="1676400" cy="2381250"/>
          </a:xfrm>
          <a:prstGeom prst="rect">
            <a:avLst/>
          </a:prstGeom>
          <a:solidFill>
            <a:srgbClr val="FFFFFF"/>
          </a:solidFill>
          <a:ln w="19050">
            <a:solidFill>
              <a:srgbClr val="5E6A73"/>
            </a:solidFill>
            <a:prstDash val="solid"/>
          </a:ln>
        </p:spPr>
      </p:sp>
      <p:sp>
        <p:nvSpPr>
          <p:cNvPr id="32" name="Text 30"/>
          <p:cNvSpPr txBox="1"/>
          <p:nvPr/>
        </p:nvSpPr>
        <p:spPr>
          <a:xfrm>
            <a:off x="8572500" y="2209800"/>
            <a:ext cx="419100" cy="419100"/>
          </a:xfrm>
          <a:prstGeom prst="ellipse">
            <a:avLst/>
          </a:prstGeom>
          <a:solidFill>
            <a:srgbClr val="5E6A73"/>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33" name="Text 31"/>
          <p:cNvSpPr txBox="1"/>
          <p:nvPr/>
        </p:nvSpPr>
        <p:spPr>
          <a:xfrm>
            <a:off x="8020050" y="2762250"/>
            <a:ext cx="1524000" cy="5334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床で歩行</a:t>
            </a:r>
            <a:endParaRPr lang="en-US" sz="1600" dirty="0"/>
          </a:p>
        </p:txBody>
      </p:sp>
      <p:sp>
        <p:nvSpPr>
          <p:cNvPr id="34" name="Text 32"/>
          <p:cNvSpPr txBox="1"/>
          <p:nvPr/>
        </p:nvSpPr>
        <p:spPr>
          <a:xfrm>
            <a:off x="8020050" y="3333750"/>
            <a:ext cx="1524000" cy="666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固定の速度指令で短時間</a:t>
            </a:r>
            <a:endParaRPr lang="en-US" sz="1300" dirty="0"/>
          </a:p>
        </p:txBody>
      </p:sp>
      <p:sp>
        <p:nvSpPr>
          <p:cNvPr id="35" name="Text 33"/>
          <p:cNvSpPr txBox="1"/>
          <p:nvPr/>
        </p:nvSpPr>
        <p:spPr>
          <a:xfrm>
            <a:off x="8305800" y="4057650"/>
            <a:ext cx="952500" cy="285750"/>
          </a:xfrm>
          <a:prstGeom prst="rect">
            <a:avLst/>
          </a:prstGeom>
          <a:solidFill>
            <a:srgbClr val="5E6A73"/>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未実施</a:t>
            </a:r>
            <a:endParaRPr lang="en-US" sz="1400" dirty="0"/>
          </a:p>
        </p:txBody>
      </p:sp>
      <p:sp>
        <p:nvSpPr>
          <p:cNvPr id="36" name="Shape 34"/>
          <p:cNvSpPr/>
          <p:nvPr/>
        </p:nvSpPr>
        <p:spPr>
          <a:xfrm>
            <a:off x="9639300" y="3286125"/>
            <a:ext cx="114300" cy="95"/>
          </a:xfrm>
          <a:prstGeom prst="line">
            <a:avLst/>
          </a:prstGeom>
          <a:noFill/>
          <a:ln w="25400">
            <a:solidFill>
              <a:srgbClr val="B7C7D1"/>
            </a:solidFill>
            <a:prstDash val="solid"/>
            <a:tailEnd type="triangle"/>
          </a:ln>
        </p:spPr>
      </p:sp>
      <p:sp>
        <p:nvSpPr>
          <p:cNvPr id="37" name="Shape 35"/>
          <p:cNvSpPr/>
          <p:nvPr/>
        </p:nvSpPr>
        <p:spPr>
          <a:xfrm>
            <a:off x="9772650" y="2095500"/>
            <a:ext cx="1676400" cy="2381250"/>
          </a:xfrm>
          <a:prstGeom prst="rect">
            <a:avLst/>
          </a:prstGeom>
          <a:solidFill>
            <a:srgbClr val="FFFFFF"/>
          </a:solidFill>
          <a:ln w="19050">
            <a:solidFill>
              <a:srgbClr val="5E6A73"/>
            </a:solidFill>
            <a:prstDash val="solid"/>
          </a:ln>
        </p:spPr>
      </p:sp>
      <p:sp>
        <p:nvSpPr>
          <p:cNvPr id="38" name="Text 36"/>
          <p:cNvSpPr txBox="1"/>
          <p:nvPr/>
        </p:nvSpPr>
        <p:spPr>
          <a:xfrm>
            <a:off x="10401300" y="2209800"/>
            <a:ext cx="419100" cy="419100"/>
          </a:xfrm>
          <a:prstGeom prst="ellipse">
            <a:avLst/>
          </a:prstGeom>
          <a:solidFill>
            <a:srgbClr val="5E6A73"/>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39" name="Text 37"/>
          <p:cNvSpPr txBox="1"/>
          <p:nvPr/>
        </p:nvSpPr>
        <p:spPr>
          <a:xfrm>
            <a:off x="9848850" y="2762250"/>
            <a:ext cx="1524000" cy="533400"/>
          </a:xfrm>
          <a:prstGeom prst="rect">
            <a:avLst/>
          </a:prstGeom>
          <a:noFill/>
          <a:ln/>
        </p:spPr>
        <p:txBody>
          <a:bodyPr wrap="square" lIns="0" tIns="0" rIns="0" bIns="0" rtlCol="0" anchor="ctr"/>
          <a:lstStyle/>
          <a:p>
            <a:pPr algn="ctr" indent="0" marL="0">
              <a:buNone/>
            </a:pPr>
            <a:r>
              <a:rPr lang="en-US" sz="1600" b="1" dirty="0">
                <a:solidFill>
                  <a:srgbClr val="102B46"/>
                </a:solidFill>
                <a:latin typeface="Yu Gothic" pitchFamily="34" charset="0"/>
                <a:ea typeface="Yu Gothic" pitchFamily="34" charset="-122"/>
                <a:cs typeface="Yu Gothic" pitchFamily="34" charset="-120"/>
              </a:rPr>
              <a:t>Jetson＋無線操作</a:t>
            </a:r>
            <a:endParaRPr lang="en-US" sz="1600" dirty="0"/>
          </a:p>
        </p:txBody>
      </p:sp>
      <p:sp>
        <p:nvSpPr>
          <p:cNvPr id="40" name="Text 38"/>
          <p:cNvSpPr txBox="1"/>
          <p:nvPr/>
        </p:nvSpPr>
        <p:spPr>
          <a:xfrm>
            <a:off x="9848850" y="3333750"/>
            <a:ext cx="1524000" cy="666750"/>
          </a:xfrm>
          <a:prstGeom prst="rect">
            <a:avLst/>
          </a:prstGeom>
          <a:noFill/>
          <a:ln/>
        </p:spPr>
        <p:txBody>
          <a:bodyPr wrap="square" lIns="0" tIns="0" rIns="0" bIns="0" rtlCol="0" anchor="t"/>
          <a:lstStyle/>
          <a:p>
            <a:pPr algn="ctr" indent="0" marL="0">
              <a:buNone/>
            </a:pPr>
            <a:r>
              <a:rPr lang="en-US" sz="1300" dirty="0">
                <a:solidFill>
                  <a:srgbClr val="17212B"/>
                </a:solidFill>
                <a:latin typeface="Yu Gothic" pitchFamily="34" charset="0"/>
                <a:ea typeface="Yu Gothic" pitchFamily="34" charset="-122"/>
                <a:cs typeface="Yu Gothic" pitchFamily="34" charset="-120"/>
              </a:rPr>
              <a:t>コントローラーで操作</a:t>
            </a:r>
            <a:endParaRPr lang="en-US" sz="1300" dirty="0"/>
          </a:p>
        </p:txBody>
      </p:sp>
      <p:sp>
        <p:nvSpPr>
          <p:cNvPr id="41" name="Text 39"/>
          <p:cNvSpPr txBox="1"/>
          <p:nvPr/>
        </p:nvSpPr>
        <p:spPr>
          <a:xfrm>
            <a:off x="10134600" y="4057650"/>
            <a:ext cx="952500" cy="285750"/>
          </a:xfrm>
          <a:prstGeom prst="rect">
            <a:avLst/>
          </a:prstGeom>
          <a:solidFill>
            <a:srgbClr val="5E6A73"/>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未実施</a:t>
            </a:r>
            <a:endParaRPr lang="en-US" sz="1400" dirty="0"/>
          </a:p>
        </p:txBody>
      </p:sp>
      <p:sp>
        <p:nvSpPr>
          <p:cNvPr id="42" name="Shape 40"/>
          <p:cNvSpPr/>
          <p:nvPr/>
        </p:nvSpPr>
        <p:spPr>
          <a:xfrm>
            <a:off x="628650" y="4705350"/>
            <a:ext cx="5334000" cy="1619250"/>
          </a:xfrm>
          <a:prstGeom prst="rect">
            <a:avLst/>
          </a:prstGeom>
          <a:solidFill>
            <a:srgbClr val="FBF7F3"/>
          </a:solidFill>
          <a:ln w="22225">
            <a:solidFill>
              <a:srgbClr val="E8783F"/>
            </a:solidFill>
            <a:prstDash val="dash"/>
          </a:ln>
        </p:spPr>
      </p:sp>
      <p:sp>
        <p:nvSpPr>
          <p:cNvPr id="43" name="Text 41"/>
          <p:cNvSpPr txBox="1"/>
          <p:nvPr/>
        </p:nvSpPr>
        <p:spPr>
          <a:xfrm>
            <a:off x="762000" y="481965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ここに画像を貼る</a:t>
            </a:r>
            <a:endParaRPr lang="en-US" sz="1500" dirty="0"/>
          </a:p>
        </p:txBody>
      </p:sp>
      <p:sp>
        <p:nvSpPr>
          <p:cNvPr id="44" name="Text 42"/>
          <p:cNvSpPr txBox="1"/>
          <p:nvPr/>
        </p:nvSpPr>
        <p:spPr>
          <a:xfrm>
            <a:off x="762000" y="5105400"/>
            <a:ext cx="5067300" cy="1104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ひもで吊った状態のロボットの写真（全身が写り、支え方が分かるもの）。</a:t>
            </a:r>
            <a:endParaRPr lang="en-US" sz="1300" dirty="0"/>
          </a:p>
        </p:txBody>
      </p:sp>
      <p:sp>
        <p:nvSpPr>
          <p:cNvPr id="45" name="Text 43"/>
          <p:cNvSpPr txBox="1"/>
          <p:nvPr/>
        </p:nvSpPr>
        <p:spPr>
          <a:xfrm>
            <a:off x="6229350" y="4705350"/>
            <a:ext cx="5334000" cy="1619250"/>
          </a:xfrm>
          <a:prstGeom prst="rect">
            <a:avLst/>
          </a:prstGeom>
          <a:solidFill>
            <a:srgbClr val="F3EEE6"/>
          </a:solidFill>
          <a:ln/>
        </p:spPr>
        <p:txBody>
          <a:bodyPr wrap="square" lIns="152400" tIns="177800" rIns="177800" bIns="152400" rtlCol="0" anchor="t"/>
          <a:lstStyle/>
          <a:p>
            <a:pPr algn="l" indent="0" marL="0">
              <a:buNone/>
            </a:pPr>
            <a:r>
              <a:rPr lang="en-US" sz="1500" b="1" dirty="0">
                <a:solidFill>
                  <a:srgbClr val="102B46"/>
                </a:solidFill>
                <a:latin typeface="Yu Gothic" pitchFamily="34" charset="0"/>
                <a:ea typeface="Yu Gothic" pitchFamily="34" charset="-122"/>
                <a:cs typeface="Yu Gothic" pitchFamily="34" charset="-120"/>
              </a:rPr>
              <a:t>各段階で「何が起きたら止めるか」を先に決め、結果は記録したCSVを解析して判定する（「動いた気がする」では判定しない）</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結果（制御）</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07</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19200"/>
            <a:ext cx="5334000" cy="304800"/>
          </a:xfrm>
          <a:prstGeom prst="rect">
            <a:avLst/>
          </a:prstGeom>
          <a:noFill/>
          <a:ln/>
        </p:spPr>
        <p:txBody>
          <a:bodyPr wrap="square" lIns="0" tIns="0" rIns="0" bIns="0" rtlCol="0" anchor="ctr"/>
          <a:lstStyle/>
          <a:p>
            <a:pPr algn="l" indent="0" marL="0">
              <a:buNone/>
            </a:pPr>
            <a:r>
              <a:rPr lang="en-US" sz="2000" b="1" dirty="0">
                <a:solidFill>
                  <a:srgbClr val="32A5B5"/>
                </a:solidFill>
                <a:latin typeface="Yu Gothic" pitchFamily="34" charset="0"/>
                <a:ea typeface="Yu Gothic" pitchFamily="34" charset="-122"/>
                <a:cs typeface="Yu Gothic" pitchFamily="34" charset="-120"/>
              </a:rPr>
              <a:t>シミュレーション</a:t>
            </a:r>
            <a:endParaRPr lang="en-US" sz="2000" dirty="0"/>
          </a:p>
        </p:txBody>
      </p:sp>
      <p:sp>
        <p:nvSpPr>
          <p:cNvPr id="7" name="Text 5"/>
          <p:cNvSpPr txBox="1"/>
          <p:nvPr/>
        </p:nvSpPr>
        <p:spPr>
          <a:xfrm>
            <a:off x="628650" y="1581150"/>
            <a:ext cx="5334000" cy="219075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報酬を見直して、平地で指令どおりに歩く方策が得られた（前進 0.42 m/s・横 0.33 m/s・転倒 0%）</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歩きながら左右に曲がれる。その場旋回は未達</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ONNXに書き出し、実機用プログラムで同じ出力になることを確認</a:t>
            </a:r>
            <a:endParaRPr lang="en-US" sz="1600" dirty="0"/>
          </a:p>
        </p:txBody>
      </p:sp>
      <p:sp>
        <p:nvSpPr>
          <p:cNvPr id="8" name="Text 6"/>
          <p:cNvSpPr txBox="1"/>
          <p:nvPr/>
        </p:nvSpPr>
        <p:spPr>
          <a:xfrm>
            <a:off x="6229350" y="1219200"/>
            <a:ext cx="5334000" cy="304800"/>
          </a:xfrm>
          <a:prstGeom prst="rect">
            <a:avLst/>
          </a:prstGeom>
          <a:noFill/>
          <a:ln/>
        </p:spPr>
        <p:txBody>
          <a:bodyPr wrap="square" lIns="0" tIns="0" rIns="0" bIns="0" rtlCol="0" anchor="ctr"/>
          <a:lstStyle/>
          <a:p>
            <a:pPr algn="l" indent="0" marL="0">
              <a:buNone/>
            </a:pPr>
            <a:r>
              <a:rPr lang="en-US" sz="2000" b="1" dirty="0">
                <a:solidFill>
                  <a:srgbClr val="E8783F"/>
                </a:solidFill>
                <a:latin typeface="Yu Gothic" pitchFamily="34" charset="0"/>
                <a:ea typeface="Yu Gothic" pitchFamily="34" charset="-122"/>
                <a:cs typeface="Yu Gothic" pitchFamily="34" charset="-120"/>
              </a:rPr>
              <a:t>実機（吊り試験）</a:t>
            </a:r>
            <a:endParaRPr lang="en-US" sz="2000" dirty="0"/>
          </a:p>
        </p:txBody>
      </p:sp>
      <p:sp>
        <p:nvSpPr>
          <p:cNvPr id="9" name="Text 7"/>
          <p:cNvSpPr txBox="1"/>
          <p:nvPr/>
        </p:nvSpPr>
        <p:spPr>
          <a:xfrm>
            <a:off x="6229350" y="1581150"/>
            <a:ext cx="5334000" cy="219075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T265 200 Hz・10軸の受信・50 Hzの制御ループ（実測 50.1〜50.5 Hz）が1つのプログラムで動いた（ノートPCで実行）</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ただし全5回とも、方策に切り替える前の「初期姿勢へゆっくり合わせる段階」で安全停止が働いて止まった</a:t>
            </a:r>
            <a:endParaRPr lang="en-US" sz="1600" dirty="0"/>
          </a:p>
          <a:p>
            <a:pPr algn="l" marL="342900" indent="-342900">
              <a:spcAft>
                <a:spcPts val="1000"/>
              </a:spcAft>
              <a:buSzPct val="100000"/>
              <a:buChar char="•"/>
            </a:pPr>
            <a:r>
              <a:rPr lang="en-US" sz="1600" dirty="0">
                <a:solidFill>
                  <a:srgbClr val="17212B"/>
                </a:solidFill>
                <a:latin typeface="Yu Gothic" pitchFamily="34" charset="0"/>
                <a:ea typeface="Yu Gothic" pitchFamily="34" charset="-122"/>
                <a:cs typeface="Yu Gothic" pitchFamily="34" charset="-120"/>
              </a:rPr>
              <a:t>止めた原因は方策でもモーターの故障でもなく、安全停止の電流しきい値（1.0 A）</a:t>
            </a:r>
            <a:endParaRPr lang="en-US" sz="1600" dirty="0"/>
          </a:p>
        </p:txBody>
      </p:sp>
      <p:sp>
        <p:nvSpPr>
          <p:cNvPr id="10" name="Shape 8"/>
          <p:cNvSpPr/>
          <p:nvPr/>
        </p:nvSpPr>
        <p:spPr>
          <a:xfrm>
            <a:off x="628650" y="3905250"/>
            <a:ext cx="5334000" cy="2381250"/>
          </a:xfrm>
          <a:prstGeom prst="rect">
            <a:avLst/>
          </a:prstGeom>
          <a:solidFill>
            <a:srgbClr val="FBF7F3"/>
          </a:solidFill>
          <a:ln w="22225">
            <a:solidFill>
              <a:srgbClr val="E8783F"/>
            </a:solidFill>
            <a:prstDash val="dash"/>
          </a:ln>
        </p:spPr>
      </p:sp>
      <p:sp>
        <p:nvSpPr>
          <p:cNvPr id="11" name="Text 9"/>
          <p:cNvSpPr txBox="1"/>
          <p:nvPr/>
        </p:nvSpPr>
        <p:spPr>
          <a:xfrm>
            <a:off x="762000" y="401955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2" name="Text 10"/>
          <p:cNvSpPr txBox="1"/>
          <p:nvPr/>
        </p:nvSpPr>
        <p:spPr>
          <a:xfrm>
            <a:off x="762000" y="4305300"/>
            <a:ext cx="5067300" cy="1866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シミュレーションで歩いている動画（07-14と同じものでよい）。</a:t>
            </a:r>
            <a:endParaRPr lang="en-US" sz="1300" dirty="0"/>
          </a:p>
        </p:txBody>
      </p:sp>
      <p:sp>
        <p:nvSpPr>
          <p:cNvPr id="13" name="Shape 11"/>
          <p:cNvSpPr/>
          <p:nvPr/>
        </p:nvSpPr>
        <p:spPr>
          <a:xfrm>
            <a:off x="6229350" y="3905250"/>
            <a:ext cx="5334000" cy="2381250"/>
          </a:xfrm>
          <a:prstGeom prst="rect">
            <a:avLst/>
          </a:prstGeom>
          <a:solidFill>
            <a:srgbClr val="FBF7F3"/>
          </a:solidFill>
          <a:ln w="22225">
            <a:solidFill>
              <a:srgbClr val="E8783F"/>
            </a:solidFill>
            <a:prstDash val="dash"/>
          </a:ln>
        </p:spPr>
      </p:sp>
      <p:sp>
        <p:nvSpPr>
          <p:cNvPr id="14" name="Text 12"/>
          <p:cNvSpPr txBox="1"/>
          <p:nvPr/>
        </p:nvSpPr>
        <p:spPr>
          <a:xfrm>
            <a:off x="6362700" y="4019550"/>
            <a:ext cx="5067300" cy="247650"/>
          </a:xfrm>
          <a:prstGeom prst="rect">
            <a:avLst/>
          </a:prstGeom>
          <a:noFill/>
          <a:ln/>
        </p:spPr>
        <p:txBody>
          <a:bodyPr wrap="square" lIns="0" tIns="0" rIns="0" bIns="0" rtlCol="0" anchor="ctr"/>
          <a:lstStyle/>
          <a:p>
            <a:pPr algn="l" indent="0" marL="0">
              <a:buNone/>
            </a:pPr>
            <a:r>
              <a:rPr lang="en-US" sz="1500" b="1" dirty="0">
                <a:solidFill>
                  <a:srgbClr val="E8783F"/>
                </a:solidFill>
                <a:latin typeface="Yu Gothic" pitchFamily="34" charset="0"/>
                <a:ea typeface="Yu Gothic" pitchFamily="34" charset="-122"/>
                <a:cs typeface="Yu Gothic" pitchFamily="34" charset="-120"/>
              </a:rPr>
              <a:t>▶ ここに動画を貼る</a:t>
            </a:r>
            <a:endParaRPr lang="en-US" sz="1500" dirty="0"/>
          </a:p>
        </p:txBody>
      </p:sp>
      <p:sp>
        <p:nvSpPr>
          <p:cNvPr id="15" name="Text 13"/>
          <p:cNvSpPr txBox="1"/>
          <p:nvPr/>
        </p:nvSpPr>
        <p:spPr>
          <a:xfrm>
            <a:off x="6362700" y="4305300"/>
            <a:ext cx="5067300" cy="1866900"/>
          </a:xfrm>
          <a:prstGeom prst="rect">
            <a:avLst/>
          </a:prstGeom>
          <a:noFill/>
          <a:ln/>
        </p:spPr>
        <p:txBody>
          <a:bodyPr wrap="square" lIns="0" tIns="0" rIns="0" bIns="0" rtlCol="0" anchor="t"/>
          <a:lstStyle/>
          <a:p>
            <a:pPr algn="l" indent="0" marL="0">
              <a:lnSpc>
                <a:spcPct val="110000"/>
              </a:lnSpc>
              <a:buNone/>
            </a:pPr>
            <a:r>
              <a:rPr lang="en-US" sz="1300" dirty="0">
                <a:solidFill>
                  <a:srgbClr val="5E6A73"/>
                </a:solidFill>
                <a:latin typeface="Yu Gothic" pitchFamily="34" charset="0"/>
                <a:ea typeface="Yu Gothic" pitchFamily="34" charset="-122"/>
                <a:cs typeface="Yu Gothic" pitchFamily="34" charset="-120"/>
              </a:rPr>
              <a:t>吊り試験の動画：ロボットを吊った状態でプログラムを動かし、安全停止で止まるところまで。</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課題点（制御）</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19200"/>
            <a:ext cx="10934700" cy="323850"/>
          </a:xfrm>
          <a:prstGeom prst="rect">
            <a:avLst/>
          </a:prstGeom>
          <a:noFill/>
          <a:ln/>
        </p:spPr>
        <p:txBody>
          <a:bodyPr wrap="square" lIns="0" tIns="0" rIns="0" bIns="0" rtlCol="0" anchor="ctr"/>
          <a:lstStyle/>
          <a:p>
            <a:pPr algn="l" indent="0" marL="0">
              <a:buNone/>
            </a:pPr>
            <a:r>
              <a:rPr lang="en-US" sz="1900" b="1" dirty="0">
                <a:solidFill>
                  <a:srgbClr val="C8553D"/>
                </a:solidFill>
                <a:latin typeface="Yu Gothic" pitchFamily="34" charset="0"/>
                <a:ea typeface="Yu Gothic" pitchFamily="34" charset="-122"/>
                <a:cs typeface="Yu Gothic" pitchFamily="34" charset="-120"/>
              </a:rPr>
              <a:t>① 安全停止の電流しきい値が、ロボットの自重を支える電流より小さかった</a:t>
            </a:r>
            <a:endParaRPr lang="en-US" sz="1900" dirty="0"/>
          </a:p>
        </p:txBody>
      </p:sp>
      <p:graphicFrame>
        <p:nvGraphicFramePr>
          <p:cNvPr id="7" name="Chart 0" descr=""/>
          <p:cNvGraphicFramePr/>
          <p:nvPr/>
        </p:nvGraphicFramePr>
        <p:xfrm>
          <a:off x="628650" y="1619250"/>
          <a:ext cx="6096000" cy="314325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953250" y="1676400"/>
            <a:ext cx="4610100" cy="2095500"/>
          </a:xfrm>
          <a:prstGeom prst="rect">
            <a:avLst/>
          </a:prstGeom>
          <a:noFill/>
          <a:ln/>
        </p:spPr>
        <p:txBody>
          <a:bodyPr wrap="square" lIns="0" tIns="0" rIns="0" bIns="0" rtlCol="0" anchor="t"/>
          <a:lstStyle/>
          <a:p>
            <a:pPr algn="l" marL="342900" indent="-342900">
              <a:spcAft>
                <a:spcPts val="1000"/>
              </a:spcAft>
              <a:buSzPct val="100000"/>
              <a:buChar char="•"/>
            </a:pPr>
            <a:r>
              <a:rPr lang="en-US" sz="1500" dirty="0">
                <a:solidFill>
                  <a:srgbClr val="17212B"/>
                </a:solidFill>
                <a:latin typeface="Yu Gothic" pitchFamily="34" charset="0"/>
                <a:ea typeface="Yu Gothic" pitchFamily="34" charset="-122"/>
                <a:cs typeface="Yu Gothic" pitchFamily="34" charset="-120"/>
              </a:rPr>
              <a:t>1.0 A は1軸だけを試したときの値。全身を吊ると、股（HAA）はゼロ姿勢でも 1.7 A 必要で、指令を出す前から超えていた</a:t>
            </a:r>
            <a:endParaRPr lang="en-US" sz="1500" dirty="0"/>
          </a:p>
          <a:p>
            <a:pPr algn="l" marL="342900" indent="-342900">
              <a:spcAft>
                <a:spcPts val="1000"/>
              </a:spcAft>
              <a:buSzPct val="100000"/>
              <a:buChar char="•"/>
            </a:pPr>
            <a:r>
              <a:rPr lang="en-US" sz="1500" dirty="0">
                <a:solidFill>
                  <a:srgbClr val="17212B"/>
                </a:solidFill>
                <a:latin typeface="Yu Gothic" pitchFamily="34" charset="0"/>
                <a:ea typeface="Yu Gothic" pitchFamily="34" charset="-122"/>
                <a:cs typeface="Yu Gothic" pitchFamily="34" charset="-120"/>
              </a:rPr>
              <a:t>方策が学習で使ってよい電流の 2〜4% しかなかった</a:t>
            </a:r>
            <a:endParaRPr lang="en-US" sz="1500" dirty="0"/>
          </a:p>
        </p:txBody>
      </p:sp>
      <p:sp>
        <p:nvSpPr>
          <p:cNvPr id="9" name="Text 6"/>
          <p:cNvSpPr txBox="1"/>
          <p:nvPr/>
        </p:nvSpPr>
        <p:spPr>
          <a:xfrm>
            <a:off x="628650" y="4800600"/>
            <a:ext cx="6096000" cy="209550"/>
          </a:xfrm>
          <a:prstGeom prst="rect">
            <a:avLst/>
          </a:prstGeom>
          <a:noFill/>
          <a:ln/>
        </p:spPr>
        <p:txBody>
          <a:bodyPr wrap="square" lIns="0" tIns="0" rIns="0" bIns="0" rtlCol="0" anchor="ctr"/>
          <a:lstStyle/>
          <a:p>
            <a:pPr algn="ctr" indent="0" marL="0">
              <a:buNone/>
            </a:pPr>
            <a:r>
              <a:rPr lang="en-US" sz="1100" dirty="0">
                <a:solidFill>
                  <a:srgbClr val="5E6A73"/>
                </a:solidFill>
                <a:latin typeface="Yu Gothic" pitchFamily="34" charset="0"/>
                <a:ea typeface="Yu Gothic" pitchFamily="34" charset="-122"/>
                <a:cs typeface="Yu Gothic" pitchFamily="34" charset="-120"/>
              </a:rPr>
              <a:t>URDFの質量から関節ごとに計算（電流 = 自重トルク ÷ 実測係数）</a:t>
            </a:r>
            <a:endParaRPr lang="en-US" sz="1100" dirty="0"/>
          </a:p>
        </p:txBody>
      </p:sp>
      <p:sp>
        <p:nvSpPr>
          <p:cNvPr id="10" name="Shape 7"/>
          <p:cNvSpPr/>
          <p:nvPr/>
        </p:nvSpPr>
        <p:spPr>
          <a:xfrm>
            <a:off x="628650" y="5143500"/>
            <a:ext cx="5372100" cy="1181100"/>
          </a:xfrm>
          <a:prstGeom prst="rect">
            <a:avLst/>
          </a:prstGeom>
          <a:solidFill>
            <a:srgbClr val="F3EEE6"/>
          </a:solidFill>
          <a:ln w="12700">
            <a:solidFill>
              <a:srgbClr val="B7C7D1"/>
            </a:solidFill>
            <a:prstDash val="solid"/>
          </a:ln>
        </p:spPr>
      </p:sp>
      <p:sp>
        <p:nvSpPr>
          <p:cNvPr id="11" name="Text 8"/>
          <p:cNvSpPr txBox="1"/>
          <p:nvPr/>
        </p:nvSpPr>
        <p:spPr>
          <a:xfrm>
            <a:off x="781050" y="5219700"/>
            <a:ext cx="5067300" cy="285750"/>
          </a:xfrm>
          <a:prstGeom prst="rect">
            <a:avLst/>
          </a:prstGeom>
          <a:noFill/>
          <a:ln/>
        </p:spPr>
        <p:txBody>
          <a:bodyPr wrap="square" lIns="0" tIns="0" rIns="0" bIns="0" rtlCol="0" anchor="ctr"/>
          <a:lstStyle/>
          <a:p>
            <a:pPr algn="l" indent="0" marL="0">
              <a:buNone/>
            </a:pPr>
            <a:r>
              <a:rPr lang="en-US" sz="1600" b="1" dirty="0">
                <a:solidFill>
                  <a:srgbClr val="E8783F"/>
                </a:solidFill>
                <a:latin typeface="Yu Gothic" pitchFamily="34" charset="0"/>
                <a:ea typeface="Yu Gothic" pitchFamily="34" charset="-122"/>
                <a:cs typeface="Yu Gothic" pitchFamily="34" charset="-120"/>
              </a:rPr>
              <a:t>② 実機のモーターは「動き出し」が重い</a:t>
            </a:r>
            <a:endParaRPr lang="en-US" sz="1600" dirty="0"/>
          </a:p>
        </p:txBody>
      </p:sp>
      <p:sp>
        <p:nvSpPr>
          <p:cNvPr id="12" name="Text 9"/>
          <p:cNvSpPr txBox="1"/>
          <p:nvPr/>
        </p:nvSpPr>
        <p:spPr>
          <a:xfrm>
            <a:off x="781050" y="5543550"/>
            <a:ext cx="5067300" cy="7239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位置の不感帯が実機 2〜6.5° に対し、シミュレーションが想定するのは約1°。摩擦がシミュレーションの2〜3倍</a:t>
            </a:r>
            <a:endParaRPr lang="en-US" sz="1400" dirty="0"/>
          </a:p>
        </p:txBody>
      </p:sp>
      <p:sp>
        <p:nvSpPr>
          <p:cNvPr id="13" name="Shape 10"/>
          <p:cNvSpPr/>
          <p:nvPr/>
        </p:nvSpPr>
        <p:spPr>
          <a:xfrm>
            <a:off x="6191250" y="5143500"/>
            <a:ext cx="5372100" cy="1181100"/>
          </a:xfrm>
          <a:prstGeom prst="rect">
            <a:avLst/>
          </a:prstGeom>
          <a:solidFill>
            <a:srgbClr val="F3EEE6"/>
          </a:solidFill>
          <a:ln w="12700">
            <a:solidFill>
              <a:srgbClr val="B7C7D1"/>
            </a:solidFill>
            <a:prstDash val="solid"/>
          </a:ln>
        </p:spPr>
      </p:sp>
      <p:sp>
        <p:nvSpPr>
          <p:cNvPr id="14" name="Text 11"/>
          <p:cNvSpPr txBox="1"/>
          <p:nvPr/>
        </p:nvSpPr>
        <p:spPr>
          <a:xfrm>
            <a:off x="6343650" y="5219700"/>
            <a:ext cx="5067300" cy="285750"/>
          </a:xfrm>
          <a:prstGeom prst="rect">
            <a:avLst/>
          </a:prstGeom>
          <a:noFill/>
          <a:ln/>
        </p:spPr>
        <p:txBody>
          <a:bodyPr wrap="square" lIns="0" tIns="0" rIns="0" bIns="0" rtlCol="0" anchor="ctr"/>
          <a:lstStyle/>
          <a:p>
            <a:pPr algn="l" indent="0" marL="0">
              <a:buNone/>
            </a:pPr>
            <a:r>
              <a:rPr lang="en-US" sz="1600" b="1" dirty="0">
                <a:solidFill>
                  <a:srgbClr val="E8783F"/>
                </a:solidFill>
                <a:latin typeface="Yu Gothic" pitchFamily="34" charset="0"/>
                <a:ea typeface="Yu Gothic" pitchFamily="34" charset="-122"/>
                <a:cs typeface="Yu Gothic" pitchFamily="34" charset="-120"/>
              </a:rPr>
              <a:t>③ 電源を入れ直すと原点がずれる</a:t>
            </a:r>
            <a:endParaRPr lang="en-US" sz="1600" dirty="0"/>
          </a:p>
        </p:txBody>
      </p:sp>
      <p:sp>
        <p:nvSpPr>
          <p:cNvPr id="15" name="Text 12"/>
          <p:cNvSpPr txBox="1"/>
          <p:nvPr/>
        </p:nvSpPr>
        <p:spPr>
          <a:xfrm>
            <a:off x="6343650" y="5543550"/>
            <a:ext cx="5067300" cy="723900"/>
          </a:xfrm>
          <a:prstGeom prst="rect">
            <a:avLst/>
          </a:prstGeom>
          <a:noFill/>
          <a:ln/>
        </p:spPr>
        <p:txBody>
          <a:bodyPr wrap="square" lIns="0" tIns="0" rIns="0" bIns="0" rtlCol="0" anchor="t"/>
          <a:lstStyle/>
          <a:p>
            <a:pPr algn="l" indent="0" marL="0">
              <a:buNone/>
            </a:pPr>
            <a:r>
              <a:rPr lang="en-US" sz="1400" dirty="0">
                <a:solidFill>
                  <a:srgbClr val="17212B"/>
                </a:solidFill>
                <a:latin typeface="Yu Gothic" pitchFamily="34" charset="0"/>
                <a:ea typeface="Yu Gothic" pitchFamily="34" charset="-122"/>
                <a:cs typeface="Yu Gothic" pitchFamily="34" charset="-120"/>
              </a:rPr>
              <a:t>AK80-9は電源を切るとゼロ姿勢を覚えていない。毎回同じ姿勢で合わせ直す必要があり、手で支えると20〜30°ずれた</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考察（制御）</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257300"/>
            <a:ext cx="10934700" cy="419100"/>
          </a:xfrm>
          <a:prstGeom prst="rect">
            <a:avLst/>
          </a:prstGeom>
          <a:noFill/>
          <a:ln/>
        </p:spPr>
        <p:txBody>
          <a:bodyPr wrap="square" lIns="0" tIns="0" rIns="0" bIns="0" rtlCol="0" anchor="ctr"/>
          <a:lstStyle/>
          <a:p>
            <a:pPr algn="l" indent="0" marL="0">
              <a:buNone/>
            </a:pPr>
            <a:r>
              <a:rPr lang="en-US" sz="2200" b="1" dirty="0">
                <a:solidFill>
                  <a:srgbClr val="102B46"/>
                </a:solidFill>
                <a:latin typeface="Yu Gothic" pitchFamily="34" charset="0"/>
                <a:ea typeface="Yu Gothic" pitchFamily="34" charset="-122"/>
                <a:cs typeface="Yu Gothic" pitchFamily="34" charset="-120"/>
              </a:rPr>
              <a:t>実機とのずれは、方策そのものより「モーターまわり」に集中している</a:t>
            </a:r>
            <a:endParaRPr lang="en-US" sz="2200" dirty="0"/>
          </a:p>
        </p:txBody>
      </p:sp>
      <p:graphicFrame>
        <p:nvGraphicFramePr>
          <p:cNvPr id="7" name="Chart 0" descr=""/>
          <p:cNvGraphicFramePr/>
          <p:nvPr/>
        </p:nvGraphicFramePr>
        <p:xfrm>
          <a:off x="628650" y="1809750"/>
          <a:ext cx="5715000" cy="34290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610350" y="1771650"/>
            <a:ext cx="4953000" cy="1371600"/>
          </a:xfrm>
          <a:prstGeom prst="rect">
            <a:avLst/>
          </a:prstGeom>
          <a:solidFill>
            <a:srgbClr val="E8F1F5"/>
          </a:solidFill>
          <a:ln w="12700">
            <a:solidFill>
              <a:srgbClr val="B7C7D1"/>
            </a:solidFill>
            <a:prstDash val="solid"/>
          </a:ln>
        </p:spPr>
      </p:sp>
      <p:sp>
        <p:nvSpPr>
          <p:cNvPr id="9" name="Text 6"/>
          <p:cNvSpPr txBox="1"/>
          <p:nvPr/>
        </p:nvSpPr>
        <p:spPr>
          <a:xfrm>
            <a:off x="6781800" y="1866900"/>
            <a:ext cx="4648200" cy="495300"/>
          </a:xfrm>
          <a:prstGeom prst="rect">
            <a:avLst/>
          </a:prstGeom>
          <a:noFill/>
          <a:ln/>
        </p:spPr>
        <p:txBody>
          <a:bodyPr wrap="square" lIns="0" tIns="0" rIns="0" bIns="0" rtlCol="0" anchor="t"/>
          <a:lstStyle/>
          <a:p>
            <a:pPr algn="l" indent="0" marL="0">
              <a:buNone/>
            </a:pPr>
            <a:r>
              <a:rPr lang="en-US" sz="1500" b="1" dirty="0">
                <a:solidFill>
                  <a:srgbClr val="102B46"/>
                </a:solidFill>
                <a:latin typeface="Yu Gothic" pitchFamily="34" charset="0"/>
                <a:ea typeface="Yu Gothic" pitchFamily="34" charset="-122"/>
                <a:cs typeface="Yu Gothic" pitchFamily="34" charset="-120"/>
              </a:rPr>
              <a:t>安全停止は「関節ごと・その試験の荷重に合わせて」決めるべきだった</a:t>
            </a:r>
            <a:endParaRPr lang="en-US" sz="1500" dirty="0"/>
          </a:p>
        </p:txBody>
      </p:sp>
      <p:sp>
        <p:nvSpPr>
          <p:cNvPr id="10" name="Text 7"/>
          <p:cNvSpPr txBox="1"/>
          <p:nvPr/>
        </p:nvSpPr>
        <p:spPr>
          <a:xfrm>
            <a:off x="6781800" y="2381250"/>
            <a:ext cx="4648200" cy="723900"/>
          </a:xfrm>
          <a:prstGeom prst="rect">
            <a:avLst/>
          </a:prstGeom>
          <a:noFill/>
          <a:ln/>
        </p:spPr>
        <p:txBody>
          <a:bodyPr wrap="square" lIns="0" tIns="0" rIns="0" bIns="0" rtlCol="0" anchor="t"/>
          <a:lstStyle/>
          <a:p>
            <a:pPr algn="l" indent="0" marL="0">
              <a:buNone/>
            </a:pPr>
            <a:r>
              <a:rPr lang="en-US" sz="1300" dirty="0">
                <a:solidFill>
                  <a:srgbClr val="17212B"/>
                </a:solidFill>
                <a:latin typeface="Yu Gothic" pitchFamily="34" charset="0"/>
                <a:ea typeface="Yu Gothic" pitchFamily="34" charset="-122"/>
                <a:cs typeface="Yu Gothic" pitchFamily="34" charset="-120"/>
              </a:rPr>
              <a:t>1軸試験の値を全身試験にそのまま持ち込んだのが設計上の誤り。まず吊ったまま姿勢を保持させ、各関節の必要電流を実測してから決める</a:t>
            </a:r>
            <a:endParaRPr lang="en-US" sz="1300" dirty="0"/>
          </a:p>
        </p:txBody>
      </p:sp>
      <p:sp>
        <p:nvSpPr>
          <p:cNvPr id="11" name="Shape 8"/>
          <p:cNvSpPr/>
          <p:nvPr/>
        </p:nvSpPr>
        <p:spPr>
          <a:xfrm>
            <a:off x="6610350" y="3276600"/>
            <a:ext cx="4953000" cy="1371600"/>
          </a:xfrm>
          <a:prstGeom prst="rect">
            <a:avLst/>
          </a:prstGeom>
          <a:solidFill>
            <a:srgbClr val="F3EEE6"/>
          </a:solidFill>
          <a:ln w="12700">
            <a:solidFill>
              <a:srgbClr val="B7C7D1"/>
            </a:solidFill>
            <a:prstDash val="solid"/>
          </a:ln>
        </p:spPr>
      </p:sp>
      <p:sp>
        <p:nvSpPr>
          <p:cNvPr id="12" name="Text 9"/>
          <p:cNvSpPr txBox="1"/>
          <p:nvPr/>
        </p:nvSpPr>
        <p:spPr>
          <a:xfrm>
            <a:off x="6781800" y="3371850"/>
            <a:ext cx="4648200" cy="495300"/>
          </a:xfrm>
          <a:prstGeom prst="rect">
            <a:avLst/>
          </a:prstGeom>
          <a:noFill/>
          <a:ln/>
        </p:spPr>
        <p:txBody>
          <a:bodyPr wrap="square" lIns="0" tIns="0" rIns="0" bIns="0" rtlCol="0" anchor="t"/>
          <a:lstStyle/>
          <a:p>
            <a:pPr algn="l" indent="0" marL="0">
              <a:buNone/>
            </a:pPr>
            <a:r>
              <a:rPr lang="en-US" sz="1500" b="1" dirty="0">
                <a:solidFill>
                  <a:srgbClr val="102B46"/>
                </a:solidFill>
                <a:latin typeface="Yu Gothic" pitchFamily="34" charset="0"/>
                <a:ea typeface="Yu Gothic" pitchFamily="34" charset="-122"/>
                <a:cs typeface="Yu Gothic" pitchFamily="34" charset="-120"/>
              </a:rPr>
              <a:t>摩擦の大きさが歩き方を壊すかは、シミュレーションで先に確かめられる</a:t>
            </a:r>
            <a:endParaRPr lang="en-US" sz="1500" dirty="0"/>
          </a:p>
        </p:txBody>
      </p:sp>
      <p:sp>
        <p:nvSpPr>
          <p:cNvPr id="13" name="Text 10"/>
          <p:cNvSpPr txBox="1"/>
          <p:nvPr/>
        </p:nvSpPr>
        <p:spPr>
          <a:xfrm>
            <a:off x="6781800" y="3886200"/>
            <a:ext cx="4648200" cy="723900"/>
          </a:xfrm>
          <a:prstGeom prst="rect">
            <a:avLst/>
          </a:prstGeom>
          <a:noFill/>
          <a:ln/>
        </p:spPr>
        <p:txBody>
          <a:bodyPr wrap="square" lIns="0" tIns="0" rIns="0" bIns="0" rtlCol="0" anchor="t"/>
          <a:lstStyle/>
          <a:p>
            <a:pPr algn="l" indent="0" marL="0">
              <a:buNone/>
            </a:pPr>
            <a:r>
              <a:rPr lang="en-US" sz="1300" dirty="0">
                <a:solidFill>
                  <a:srgbClr val="17212B"/>
                </a:solidFill>
                <a:latin typeface="Yu Gothic" pitchFamily="34" charset="0"/>
                <a:ea typeface="Yu Gothic" pitchFamily="34" charset="-122"/>
                <a:cs typeface="Yu Gothic" pitchFamily="34" charset="-120"/>
              </a:rPr>
              <a:t>摩擦を実測の3〜5倍に振って、今の方策が歩けるかを評価する。歩けなければ摩擦をばらつかせて学習し直す</a:t>
            </a:r>
            <a:endParaRPr lang="en-US" sz="1300" dirty="0"/>
          </a:p>
        </p:txBody>
      </p:sp>
      <p:sp>
        <p:nvSpPr>
          <p:cNvPr id="14" name="Shape 11"/>
          <p:cNvSpPr/>
          <p:nvPr/>
        </p:nvSpPr>
        <p:spPr>
          <a:xfrm>
            <a:off x="6610350" y="4781550"/>
            <a:ext cx="4953000" cy="1371600"/>
          </a:xfrm>
          <a:prstGeom prst="rect">
            <a:avLst/>
          </a:prstGeom>
          <a:solidFill>
            <a:srgbClr val="E8F1F5"/>
          </a:solidFill>
          <a:ln w="12700">
            <a:solidFill>
              <a:srgbClr val="B7C7D1"/>
            </a:solidFill>
            <a:prstDash val="solid"/>
          </a:ln>
        </p:spPr>
      </p:sp>
      <p:sp>
        <p:nvSpPr>
          <p:cNvPr id="15" name="Text 12"/>
          <p:cNvSpPr txBox="1"/>
          <p:nvPr/>
        </p:nvSpPr>
        <p:spPr>
          <a:xfrm>
            <a:off x="6781800" y="4876800"/>
            <a:ext cx="4648200" cy="495300"/>
          </a:xfrm>
          <a:prstGeom prst="rect">
            <a:avLst/>
          </a:prstGeom>
          <a:noFill/>
          <a:ln/>
        </p:spPr>
        <p:txBody>
          <a:bodyPr wrap="square" lIns="0" tIns="0" rIns="0" bIns="0" rtlCol="0" anchor="t"/>
          <a:lstStyle/>
          <a:p>
            <a:pPr algn="l" indent="0" marL="0">
              <a:buNone/>
            </a:pPr>
            <a:r>
              <a:rPr lang="en-US" sz="1500" b="1" dirty="0">
                <a:solidFill>
                  <a:srgbClr val="102B46"/>
                </a:solidFill>
                <a:latin typeface="Yu Gothic" pitchFamily="34" charset="0"/>
                <a:ea typeface="Yu Gothic" pitchFamily="34" charset="-122"/>
                <a:cs typeface="Yu Gothic" pitchFamily="34" charset="-120"/>
              </a:rPr>
              <a:t>原点は治具で決める</a:t>
            </a:r>
            <a:endParaRPr lang="en-US" sz="1500" dirty="0"/>
          </a:p>
        </p:txBody>
      </p:sp>
      <p:sp>
        <p:nvSpPr>
          <p:cNvPr id="16" name="Text 13"/>
          <p:cNvSpPr txBox="1"/>
          <p:nvPr/>
        </p:nvSpPr>
        <p:spPr>
          <a:xfrm>
            <a:off x="6781800" y="5391150"/>
            <a:ext cx="4648200" cy="723900"/>
          </a:xfrm>
          <a:prstGeom prst="rect">
            <a:avLst/>
          </a:prstGeom>
          <a:noFill/>
          <a:ln/>
        </p:spPr>
        <p:txBody>
          <a:bodyPr wrap="square" lIns="0" tIns="0" rIns="0" bIns="0" rtlCol="0" anchor="t"/>
          <a:lstStyle/>
          <a:p>
            <a:pPr algn="l" indent="0" marL="0">
              <a:buNone/>
            </a:pPr>
            <a:r>
              <a:rPr lang="en-US" sz="1300" dirty="0">
                <a:solidFill>
                  <a:srgbClr val="17212B"/>
                </a:solidFill>
                <a:latin typeface="Yu Gothic" pitchFamily="34" charset="0"/>
                <a:ea typeface="Yu Gothic" pitchFamily="34" charset="-122"/>
                <a:cs typeface="Yu Gothic" pitchFamily="34" charset="-120"/>
              </a:rPr>
              <a:t>立った基準姿勢を毎回同じに作れる支持具を使えば、方策が見る関節角が毎回同じになる</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今後の展望（制御）</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08</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857250" y="1504950"/>
            <a:ext cx="457200" cy="4572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Shape 5"/>
          <p:cNvSpPr/>
          <p:nvPr/>
        </p:nvSpPr>
        <p:spPr>
          <a:xfrm>
            <a:off x="1524000" y="1333500"/>
            <a:ext cx="10039350" cy="800100"/>
          </a:xfrm>
          <a:prstGeom prst="rect">
            <a:avLst/>
          </a:prstGeom>
          <a:solidFill>
            <a:srgbClr val="FFFFFF"/>
          </a:solidFill>
          <a:ln w="19050">
            <a:solidFill>
              <a:srgbClr val="1C5A85"/>
            </a:solidFill>
            <a:prstDash val="solid"/>
          </a:ln>
        </p:spPr>
      </p:sp>
      <p:sp>
        <p:nvSpPr>
          <p:cNvPr id="8" name="Text 6"/>
          <p:cNvSpPr txBox="1"/>
          <p:nvPr/>
        </p:nvSpPr>
        <p:spPr>
          <a:xfrm>
            <a:off x="1752600" y="1333500"/>
            <a:ext cx="3619500" cy="8001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吊ったまま姿勢を保持</a:t>
            </a:r>
            <a:endParaRPr lang="en-US" sz="1900" dirty="0"/>
          </a:p>
        </p:txBody>
      </p:sp>
      <p:sp>
        <p:nvSpPr>
          <p:cNvPr id="9" name="Text 7"/>
          <p:cNvSpPr txBox="1"/>
          <p:nvPr/>
        </p:nvSpPr>
        <p:spPr>
          <a:xfrm>
            <a:off x="5524500" y="1333500"/>
            <a:ext cx="5810250" cy="8001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関節ごとに必要な電流を測り、安全停止の値を決め直す</a:t>
            </a:r>
            <a:endParaRPr lang="en-US" sz="1600" dirty="0"/>
          </a:p>
        </p:txBody>
      </p:sp>
      <p:sp>
        <p:nvSpPr>
          <p:cNvPr id="10" name="Shape 8"/>
          <p:cNvSpPr/>
          <p:nvPr/>
        </p:nvSpPr>
        <p:spPr>
          <a:xfrm>
            <a:off x="1085850" y="2000250"/>
            <a:ext cx="95" cy="438150"/>
          </a:xfrm>
          <a:prstGeom prst="line">
            <a:avLst/>
          </a:prstGeom>
          <a:noFill/>
          <a:ln w="25400">
            <a:solidFill>
              <a:srgbClr val="B7C7D1"/>
            </a:solidFill>
            <a:prstDash val="solid"/>
          </a:ln>
        </p:spPr>
      </p:sp>
      <p:sp>
        <p:nvSpPr>
          <p:cNvPr id="11" name="Text 9"/>
          <p:cNvSpPr txBox="1"/>
          <p:nvPr/>
        </p:nvSpPr>
        <p:spPr>
          <a:xfrm>
            <a:off x="857250" y="2476500"/>
            <a:ext cx="457200" cy="457200"/>
          </a:xfrm>
          <a:prstGeom prst="ellipse">
            <a:avLst/>
          </a:prstGeom>
          <a:solidFill>
            <a:srgbClr val="1C5A8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2" name="Shape 10"/>
          <p:cNvSpPr/>
          <p:nvPr/>
        </p:nvSpPr>
        <p:spPr>
          <a:xfrm>
            <a:off x="1524000" y="2305050"/>
            <a:ext cx="10039350" cy="800100"/>
          </a:xfrm>
          <a:prstGeom prst="rect">
            <a:avLst/>
          </a:prstGeom>
          <a:solidFill>
            <a:srgbClr val="FFFFFF"/>
          </a:solidFill>
          <a:ln w="19050">
            <a:solidFill>
              <a:srgbClr val="1C5A85"/>
            </a:solidFill>
            <a:prstDash val="solid"/>
          </a:ln>
        </p:spPr>
      </p:sp>
      <p:sp>
        <p:nvSpPr>
          <p:cNvPr id="13" name="Text 11"/>
          <p:cNvSpPr txBox="1"/>
          <p:nvPr/>
        </p:nvSpPr>
        <p:spPr>
          <a:xfrm>
            <a:off x="1752600" y="2305050"/>
            <a:ext cx="3619500" cy="8001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原点合わせの治具</a:t>
            </a:r>
            <a:endParaRPr lang="en-US" sz="1900" dirty="0"/>
          </a:p>
        </p:txBody>
      </p:sp>
      <p:sp>
        <p:nvSpPr>
          <p:cNvPr id="14" name="Text 12"/>
          <p:cNvSpPr txBox="1"/>
          <p:nvPr/>
        </p:nvSpPr>
        <p:spPr>
          <a:xfrm>
            <a:off x="5524500" y="2305050"/>
            <a:ext cx="5810250" cy="8001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毎回同じ立ち姿勢で原点を取る</a:t>
            </a:r>
            <a:endParaRPr lang="en-US" sz="1600" dirty="0"/>
          </a:p>
        </p:txBody>
      </p:sp>
      <p:sp>
        <p:nvSpPr>
          <p:cNvPr id="15" name="Shape 13"/>
          <p:cNvSpPr/>
          <p:nvPr/>
        </p:nvSpPr>
        <p:spPr>
          <a:xfrm>
            <a:off x="1085850" y="2971800"/>
            <a:ext cx="95" cy="438150"/>
          </a:xfrm>
          <a:prstGeom prst="line">
            <a:avLst/>
          </a:prstGeom>
          <a:noFill/>
          <a:ln w="25400">
            <a:solidFill>
              <a:srgbClr val="B7C7D1"/>
            </a:solidFill>
            <a:prstDash val="solid"/>
          </a:ln>
        </p:spPr>
      </p:sp>
      <p:sp>
        <p:nvSpPr>
          <p:cNvPr id="16" name="Text 14"/>
          <p:cNvSpPr txBox="1"/>
          <p:nvPr/>
        </p:nvSpPr>
        <p:spPr>
          <a:xfrm>
            <a:off x="857250" y="3448050"/>
            <a:ext cx="457200" cy="457200"/>
          </a:xfrm>
          <a:prstGeom prst="ellipse">
            <a:avLst/>
          </a:prstGeom>
          <a:solidFill>
            <a:srgbClr val="32A5B5"/>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7" name="Shape 15"/>
          <p:cNvSpPr/>
          <p:nvPr/>
        </p:nvSpPr>
        <p:spPr>
          <a:xfrm>
            <a:off x="1524000" y="3276600"/>
            <a:ext cx="10039350" cy="800100"/>
          </a:xfrm>
          <a:prstGeom prst="rect">
            <a:avLst/>
          </a:prstGeom>
          <a:solidFill>
            <a:srgbClr val="FFFFFF"/>
          </a:solidFill>
          <a:ln w="19050">
            <a:solidFill>
              <a:srgbClr val="32A5B5"/>
            </a:solidFill>
            <a:prstDash val="solid"/>
          </a:ln>
        </p:spPr>
      </p:sp>
      <p:sp>
        <p:nvSpPr>
          <p:cNvPr id="18" name="Text 16"/>
          <p:cNvSpPr txBox="1"/>
          <p:nvPr/>
        </p:nvSpPr>
        <p:spPr>
          <a:xfrm>
            <a:off x="1752600" y="3276600"/>
            <a:ext cx="3619500" cy="8001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摩擦を変えて再評価</a:t>
            </a:r>
            <a:endParaRPr lang="en-US" sz="1900" dirty="0"/>
          </a:p>
        </p:txBody>
      </p:sp>
      <p:sp>
        <p:nvSpPr>
          <p:cNvPr id="19" name="Text 17"/>
          <p:cNvSpPr txBox="1"/>
          <p:nvPr/>
        </p:nvSpPr>
        <p:spPr>
          <a:xfrm>
            <a:off x="5524500" y="3276600"/>
            <a:ext cx="5810250" cy="8001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シミュレーションで実機並みの摩擦でも歩けるか確認、必要なら再学習</a:t>
            </a:r>
            <a:endParaRPr lang="en-US" sz="1600" dirty="0"/>
          </a:p>
        </p:txBody>
      </p:sp>
      <p:sp>
        <p:nvSpPr>
          <p:cNvPr id="20" name="Shape 18"/>
          <p:cNvSpPr/>
          <p:nvPr/>
        </p:nvSpPr>
        <p:spPr>
          <a:xfrm>
            <a:off x="1085850" y="3943350"/>
            <a:ext cx="95" cy="438150"/>
          </a:xfrm>
          <a:prstGeom prst="line">
            <a:avLst/>
          </a:prstGeom>
          <a:noFill/>
          <a:ln w="25400">
            <a:solidFill>
              <a:srgbClr val="B7C7D1"/>
            </a:solidFill>
            <a:prstDash val="solid"/>
          </a:ln>
        </p:spPr>
      </p:sp>
      <p:sp>
        <p:nvSpPr>
          <p:cNvPr id="21" name="Text 19"/>
          <p:cNvSpPr txBox="1"/>
          <p:nvPr/>
        </p:nvSpPr>
        <p:spPr>
          <a:xfrm>
            <a:off x="857250" y="4419600"/>
            <a:ext cx="457200" cy="457200"/>
          </a:xfrm>
          <a:prstGeom prst="ellipse">
            <a:avLst/>
          </a:prstGeom>
          <a:solidFill>
            <a:srgbClr val="E8783F"/>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2" name="Shape 20"/>
          <p:cNvSpPr/>
          <p:nvPr/>
        </p:nvSpPr>
        <p:spPr>
          <a:xfrm>
            <a:off x="1524000" y="4248150"/>
            <a:ext cx="10039350" cy="800100"/>
          </a:xfrm>
          <a:prstGeom prst="rect">
            <a:avLst/>
          </a:prstGeom>
          <a:solidFill>
            <a:srgbClr val="FFFFFF"/>
          </a:solidFill>
          <a:ln w="19050">
            <a:solidFill>
              <a:srgbClr val="E8783F"/>
            </a:solidFill>
            <a:prstDash val="solid"/>
          </a:ln>
        </p:spPr>
      </p:sp>
      <p:sp>
        <p:nvSpPr>
          <p:cNvPr id="23" name="Text 21"/>
          <p:cNvSpPr txBox="1"/>
          <p:nvPr/>
        </p:nvSpPr>
        <p:spPr>
          <a:xfrm>
            <a:off x="1752600" y="4248150"/>
            <a:ext cx="3619500" cy="8001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平地で歩く</a:t>
            </a:r>
            <a:endParaRPr lang="en-US" sz="1900" dirty="0"/>
          </a:p>
        </p:txBody>
      </p:sp>
      <p:sp>
        <p:nvSpPr>
          <p:cNvPr id="24" name="Text 22"/>
          <p:cNvSpPr txBox="1"/>
          <p:nvPr/>
        </p:nvSpPr>
        <p:spPr>
          <a:xfrm>
            <a:off x="5524500" y="4248150"/>
            <a:ext cx="5810250" cy="8001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固定の速度指令 → コントローラー操作</a:t>
            </a:r>
            <a:endParaRPr lang="en-US" sz="1600" dirty="0"/>
          </a:p>
        </p:txBody>
      </p:sp>
      <p:sp>
        <p:nvSpPr>
          <p:cNvPr id="25" name="Shape 23"/>
          <p:cNvSpPr/>
          <p:nvPr/>
        </p:nvSpPr>
        <p:spPr>
          <a:xfrm>
            <a:off x="1085850" y="4914900"/>
            <a:ext cx="95" cy="438150"/>
          </a:xfrm>
          <a:prstGeom prst="line">
            <a:avLst/>
          </a:prstGeom>
          <a:noFill/>
          <a:ln w="25400">
            <a:solidFill>
              <a:srgbClr val="B7C7D1"/>
            </a:solidFill>
            <a:prstDash val="solid"/>
          </a:ln>
        </p:spPr>
      </p:sp>
      <p:sp>
        <p:nvSpPr>
          <p:cNvPr id="26" name="Text 24"/>
          <p:cNvSpPr txBox="1"/>
          <p:nvPr/>
        </p:nvSpPr>
        <p:spPr>
          <a:xfrm>
            <a:off x="857250" y="5391150"/>
            <a:ext cx="457200" cy="457200"/>
          </a:xfrm>
          <a:prstGeom prst="ellipse">
            <a:avLst/>
          </a:prstGeom>
          <a:solidFill>
            <a:srgbClr val="102B46"/>
          </a:solid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7" name="Shape 25"/>
          <p:cNvSpPr/>
          <p:nvPr/>
        </p:nvSpPr>
        <p:spPr>
          <a:xfrm>
            <a:off x="1524000" y="5219700"/>
            <a:ext cx="10039350" cy="800100"/>
          </a:xfrm>
          <a:prstGeom prst="rect">
            <a:avLst/>
          </a:prstGeom>
          <a:solidFill>
            <a:srgbClr val="F3EEE6"/>
          </a:solidFill>
          <a:ln w="19050">
            <a:solidFill>
              <a:srgbClr val="102B46"/>
            </a:solidFill>
            <a:prstDash val="solid"/>
          </a:ln>
        </p:spPr>
      </p:sp>
      <p:sp>
        <p:nvSpPr>
          <p:cNvPr id="28" name="Text 26"/>
          <p:cNvSpPr txBox="1"/>
          <p:nvPr/>
        </p:nvSpPr>
        <p:spPr>
          <a:xfrm>
            <a:off x="1752600" y="5219700"/>
            <a:ext cx="3619500" cy="800100"/>
          </a:xfrm>
          <a:prstGeom prst="rect">
            <a:avLst/>
          </a:prstGeom>
          <a:noFill/>
          <a:ln/>
        </p:spPr>
        <p:txBody>
          <a:bodyPr wrap="square" lIns="0" tIns="0" rIns="0" bIns="0" rtlCol="0" anchor="ctr"/>
          <a:lstStyle/>
          <a:p>
            <a:pPr algn="l" indent="0" marL="0">
              <a:buNone/>
            </a:pPr>
            <a:r>
              <a:rPr lang="en-US" sz="1900" b="1" dirty="0">
                <a:solidFill>
                  <a:srgbClr val="102B46"/>
                </a:solidFill>
                <a:latin typeface="Yu Gothic" pitchFamily="34" charset="0"/>
                <a:ea typeface="Yu Gothic" pitchFamily="34" charset="-122"/>
                <a:cs typeface="Yu Gothic" pitchFamily="34" charset="-120"/>
              </a:rPr>
              <a:t>坂を登る</a:t>
            </a:r>
            <a:endParaRPr lang="en-US" sz="1900" dirty="0"/>
          </a:p>
        </p:txBody>
      </p:sp>
      <p:sp>
        <p:nvSpPr>
          <p:cNvPr id="29" name="Text 27"/>
          <p:cNvSpPr txBox="1"/>
          <p:nvPr/>
        </p:nvSpPr>
        <p:spPr>
          <a:xfrm>
            <a:off x="5524500" y="5219700"/>
            <a:ext cx="5810250" cy="800100"/>
          </a:xfrm>
          <a:prstGeom prst="rect">
            <a:avLst/>
          </a:prstGeom>
          <a:noFill/>
          <a:ln/>
        </p:spPr>
        <p:txBody>
          <a:bodyPr wrap="square" lIns="0" tIns="0" rIns="0" bIns="0" rtlCol="0" anchor="ctr"/>
          <a:lstStyle/>
          <a:p>
            <a:pPr algn="l" indent="0" marL="0">
              <a:buNone/>
            </a:pPr>
            <a:r>
              <a:rPr lang="en-US" sz="1600" dirty="0">
                <a:solidFill>
                  <a:srgbClr val="17212B"/>
                </a:solidFill>
                <a:latin typeface="Yu Gothic" pitchFamily="34" charset="0"/>
                <a:ea typeface="Yu Gothic" pitchFamily="34" charset="-122"/>
                <a:cs typeface="Yu Gothic" pitchFamily="34" charset="-120"/>
              </a:rPr>
              <a:t>坂の地形を含めて学習し、最終目標へ</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まとめ・今後の展望</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あと</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428750"/>
            <a:ext cx="10934700" cy="476250"/>
          </a:xfrm>
          <a:prstGeom prst="rect">
            <a:avLst/>
          </a:prstGeom>
          <a:noFill/>
          <a:ln/>
        </p:spPr>
        <p:txBody>
          <a:bodyPr wrap="square" lIns="0" tIns="0" rIns="0" bIns="0" rtlCol="0" anchor="ctr"/>
          <a:lstStyle/>
          <a:p>
            <a:pPr algn="l" indent="0" marL="0">
              <a:buNone/>
            </a:pPr>
            <a:r>
              <a:rPr lang="en-US" sz="2600" b="1" dirty="0">
                <a:solidFill>
                  <a:srgbClr val="102B46"/>
                </a:solidFill>
                <a:latin typeface="Yu Gothic" pitchFamily="34" charset="0"/>
                <a:ea typeface="Yu Gothic" pitchFamily="34" charset="-122"/>
                <a:cs typeface="Yu Gothic" pitchFamily="34" charset="-120"/>
              </a:rPr>
              <a:t>二足歩行ロボットの移動基盤を、3つの担当から形にした</a:t>
            </a:r>
            <a:endParaRPr lang="en-US" sz="2600" dirty="0"/>
          </a:p>
        </p:txBody>
      </p:sp>
      <p:sp>
        <p:nvSpPr>
          <p:cNvPr id="7" name="Text 5"/>
          <p:cNvSpPr txBox="1"/>
          <p:nvPr/>
        </p:nvSpPr>
        <p:spPr>
          <a:xfrm>
            <a:off x="1333500" y="2381250"/>
            <a:ext cx="1428750" cy="533400"/>
          </a:xfrm>
          <a:prstGeom prst="rect">
            <a:avLst/>
          </a:prstGeom>
          <a:solidFill>
            <a:srgbClr val="E8783F"/>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設計</a:t>
            </a:r>
            <a:endParaRPr lang="en-US" sz="2200" dirty="0"/>
          </a:p>
        </p:txBody>
      </p:sp>
      <p:sp>
        <p:nvSpPr>
          <p:cNvPr id="8" name="Text 6"/>
          <p:cNvSpPr txBox="1"/>
          <p:nvPr/>
        </p:nvSpPr>
        <p:spPr>
          <a:xfrm>
            <a:off x="3048000" y="23812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足裏の接地と重心配置を起点に脚構造を考えた</a:t>
            </a:r>
            <a:endParaRPr lang="en-US" sz="1900" dirty="0"/>
          </a:p>
        </p:txBody>
      </p:sp>
      <p:sp>
        <p:nvSpPr>
          <p:cNvPr id="9" name="Text 7"/>
          <p:cNvSpPr txBox="1"/>
          <p:nvPr/>
        </p:nvSpPr>
        <p:spPr>
          <a:xfrm>
            <a:off x="1333500" y="3333750"/>
            <a:ext cx="1428750" cy="533400"/>
          </a:xfrm>
          <a:prstGeom prst="rect">
            <a:avLst/>
          </a:prstGeom>
          <a:solidFill>
            <a:srgbClr val="1C5A85"/>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配線</a:t>
            </a:r>
            <a:endParaRPr lang="en-US" sz="2200" dirty="0"/>
          </a:p>
        </p:txBody>
      </p:sp>
      <p:sp>
        <p:nvSpPr>
          <p:cNvPr id="10" name="Text 8"/>
          <p:cNvSpPr txBox="1"/>
          <p:nvPr/>
        </p:nvSpPr>
        <p:spPr>
          <a:xfrm>
            <a:off x="3048000" y="33337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電源とCAN通信を分け、確認しやすい経路を整理した</a:t>
            </a:r>
            <a:endParaRPr lang="en-US" sz="1900" dirty="0"/>
          </a:p>
        </p:txBody>
      </p:sp>
      <p:sp>
        <p:nvSpPr>
          <p:cNvPr id="11" name="Text 9"/>
          <p:cNvSpPr txBox="1"/>
          <p:nvPr/>
        </p:nvSpPr>
        <p:spPr>
          <a:xfrm>
            <a:off x="1333500" y="4286250"/>
            <a:ext cx="1428750" cy="533400"/>
          </a:xfrm>
          <a:prstGeom prst="rect">
            <a:avLst/>
          </a:prstGeom>
          <a:solidFill>
            <a:srgbClr val="32A5B5"/>
          </a:solidFill>
          <a:ln/>
        </p:spPr>
        <p:txBody>
          <a:bodyPr wrap="square" lIns="0" tIns="0" rIns="0" bIns="0" rtlCol="0" anchor="ctr"/>
          <a:lstStyle/>
          <a:p>
            <a:pPr algn="ctr" indent="0" marL="0">
              <a:buNone/>
            </a:pPr>
            <a:r>
              <a:rPr lang="en-US" sz="2200" b="1" dirty="0">
                <a:solidFill>
                  <a:srgbClr val="FFFFFF"/>
                </a:solidFill>
                <a:latin typeface="Yu Gothic" pitchFamily="34" charset="0"/>
                <a:ea typeface="Yu Gothic" pitchFamily="34" charset="-122"/>
                <a:cs typeface="Yu Gothic" pitchFamily="34" charset="-120"/>
              </a:rPr>
              <a:t>制御</a:t>
            </a:r>
            <a:endParaRPr lang="en-US" sz="2200" dirty="0"/>
          </a:p>
        </p:txBody>
      </p:sp>
      <p:sp>
        <p:nvSpPr>
          <p:cNvPr id="12" name="Text 10"/>
          <p:cNvSpPr txBox="1"/>
          <p:nvPr/>
        </p:nvSpPr>
        <p:spPr>
          <a:xfrm>
            <a:off x="3048000" y="4286250"/>
            <a:ext cx="8191500" cy="533400"/>
          </a:xfrm>
          <a:prstGeom prst="rect">
            <a:avLst/>
          </a:prstGeom>
          <a:noFill/>
          <a:ln/>
        </p:spPr>
        <p:txBody>
          <a:bodyPr wrap="square" lIns="0" tIns="0" rIns="0" bIns="0" rtlCol="0" anchor="ctr"/>
          <a:lstStyle/>
          <a:p>
            <a:pPr algn="l" indent="0" marL="0">
              <a:buNone/>
            </a:pPr>
            <a:r>
              <a:rPr lang="en-US" sz="1900" dirty="0">
                <a:solidFill>
                  <a:srgbClr val="17212B"/>
                </a:solidFill>
                <a:latin typeface="Yu Gothic" pitchFamily="34" charset="0"/>
                <a:ea typeface="Yu Gothic" pitchFamily="34" charset="-122"/>
                <a:cs typeface="Yu Gothic" pitchFamily="34" charset="-120"/>
              </a:rPr>
              <a:t>強化学習で平地を歩く方策を作り、T265 → 計算機 → モーターの50 Hzループを組んで吊り試験まで進めた</a:t>
            </a:r>
            <a:endParaRPr lang="en-US" sz="1900" dirty="0"/>
          </a:p>
        </p:txBody>
      </p:sp>
      <p:sp>
        <p:nvSpPr>
          <p:cNvPr id="13" name="Text 11"/>
          <p:cNvSpPr txBox="1"/>
          <p:nvPr/>
        </p:nvSpPr>
        <p:spPr>
          <a:xfrm>
            <a:off x="1047750" y="5619750"/>
            <a:ext cx="10096500" cy="476250"/>
          </a:xfrm>
          <a:prstGeom prst="rect">
            <a:avLst/>
          </a:prstGeom>
          <a:solidFill>
            <a:srgbClr val="F3EEE6"/>
          </a:solidFill>
          <a:ln/>
        </p:spPr>
        <p:txBody>
          <a:bodyPr wrap="square" lIns="0" tIns="0" rIns="0" bIns="0" rtlCol="0" anchor="ctr"/>
          <a:lstStyle/>
          <a:p>
            <a:pPr algn="ctr" indent="0" marL="0">
              <a:buNone/>
            </a:pPr>
            <a:r>
              <a:rPr lang="en-US" sz="1800" b="1" dirty="0">
                <a:solidFill>
                  <a:srgbClr val="102B46"/>
                </a:solidFill>
                <a:latin typeface="Yu Gothic" pitchFamily="34" charset="0"/>
                <a:ea typeface="Yu Gothic" pitchFamily="34" charset="-122"/>
                <a:cs typeface="Yu Gothic" pitchFamily="34" charset="-120"/>
              </a:rPr>
              <a:t>次の段階：安全停止の条件を実測で決め直し、平地で歩かせる。その後、坂の地形へ広げる</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28650" y="381000"/>
            <a:ext cx="10096500" cy="571500"/>
          </a:xfrm>
          <a:prstGeom prst="rect">
            <a:avLst/>
          </a:prstGeom>
          <a:noFill/>
          <a:ln/>
        </p:spPr>
        <p:txBody>
          <a:bodyPr wrap="square" lIns="0" tIns="0" rIns="0" bIns="0" rtlCol="0" anchor="ctr"/>
          <a:lstStyle/>
          <a:p>
            <a:pPr algn="l" indent="0" marL="0">
              <a:buNone/>
            </a:pPr>
            <a:r>
              <a:rPr lang="en-US" sz="3000" b="1" dirty="0">
                <a:solidFill>
                  <a:srgbClr val="102B46"/>
                </a:solidFill>
                <a:latin typeface="Yu Gothic" pitchFamily="34" charset="0"/>
                <a:ea typeface="Yu Gothic" pitchFamily="34" charset="-122"/>
                <a:cs typeface="Yu Gothic" pitchFamily="34" charset="-120"/>
              </a:rPr>
              <a:t>参考文献</a:t>
            </a:r>
            <a:endParaRPr lang="en-US" sz="3000" dirty="0"/>
          </a:p>
        </p:txBody>
      </p:sp>
      <p:sp>
        <p:nvSpPr>
          <p:cNvPr id="3" name="Text 1"/>
          <p:cNvSpPr txBox="1"/>
          <p:nvPr/>
        </p:nvSpPr>
        <p:spPr>
          <a:xfrm>
            <a:off x="10763250" y="514350"/>
            <a:ext cx="800100" cy="266700"/>
          </a:xfrm>
          <a:prstGeom prst="rect">
            <a:avLst/>
          </a:prstGeom>
          <a:noFill/>
          <a:ln/>
        </p:spPr>
        <p:txBody>
          <a:bodyPr wrap="square" lIns="0" tIns="0" rIns="0" bIns="0" rtlCol="0" anchor="ctr"/>
          <a:lstStyle/>
          <a:p>
            <a:pPr algn="r" indent="0" marL="0">
              <a:buNone/>
            </a:pPr>
            <a:r>
              <a:rPr lang="en-US" sz="1400" b="1" dirty="0">
                <a:solidFill>
                  <a:srgbClr val="E8783F"/>
                </a:solidFill>
                <a:latin typeface="Yu Gothic" pitchFamily="34" charset="0"/>
                <a:ea typeface="Yu Gothic" pitchFamily="34" charset="-122"/>
                <a:cs typeface="Yu Gothic" pitchFamily="34" charset="-120"/>
              </a:rPr>
              <a:t>あと</a:t>
            </a:r>
            <a:endParaRPr lang="en-US" sz="1400" dirty="0"/>
          </a:p>
        </p:txBody>
      </p:sp>
      <p:sp>
        <p:nvSpPr>
          <p:cNvPr id="4" name="Shape 2"/>
          <p:cNvSpPr/>
          <p:nvPr/>
        </p:nvSpPr>
        <p:spPr>
          <a:xfrm>
            <a:off x="628650" y="1066800"/>
            <a:ext cx="10934700" cy="0"/>
          </a:xfrm>
          <a:prstGeom prst="line">
            <a:avLst/>
          </a:prstGeom>
          <a:noFill/>
          <a:ln w="19050">
            <a:solidFill>
              <a:srgbClr val="B7C7D1"/>
            </a:solidFill>
            <a:prstDash val="solid"/>
          </a:ln>
        </p:spPr>
      </p:sp>
      <p:sp>
        <p:nvSpPr>
          <p:cNvPr id="5" name="Text 3"/>
          <p:cNvSpPr txBox="1"/>
          <p:nvPr/>
        </p:nvSpPr>
        <p:spPr>
          <a:xfrm>
            <a:off x="628650" y="6553200"/>
            <a:ext cx="3429000" cy="171450"/>
          </a:xfrm>
          <a:prstGeom prst="rect">
            <a:avLst/>
          </a:prstGeom>
          <a:noFill/>
          <a:ln/>
        </p:spPr>
        <p:txBody>
          <a:bodyPr wrap="square" lIns="0" tIns="0" rIns="0" bIns="0" rtlCol="0" anchor="ctr"/>
          <a:lstStyle/>
          <a:p>
            <a:pPr algn="l" indent="0" marL="0">
              <a:buNone/>
            </a:pPr>
            <a:r>
              <a:rPr lang="en-US" sz="900" dirty="0">
                <a:solidFill>
                  <a:srgbClr val="5E6A73"/>
                </a:solidFill>
                <a:latin typeface="Yu Gothic" pitchFamily="34" charset="0"/>
                <a:ea typeface="Yu Gothic" pitchFamily="34" charset="-122"/>
                <a:cs typeface="Yu Gothic" pitchFamily="34" charset="-120"/>
              </a:rPr>
              <a:t>PBL  二足歩行ロボットの開発</a:t>
            </a:r>
            <a:endParaRPr lang="en-US" sz="900" dirty="0"/>
          </a:p>
        </p:txBody>
      </p:sp>
      <p:sp>
        <p:nvSpPr>
          <p:cNvPr id="6" name="Text 4"/>
          <p:cNvSpPr txBox="1"/>
          <p:nvPr/>
        </p:nvSpPr>
        <p:spPr>
          <a:xfrm>
            <a:off x="628650" y="1333500"/>
            <a:ext cx="10934700" cy="4572000"/>
          </a:xfrm>
          <a:prstGeom prst="rect">
            <a:avLst/>
          </a:prstGeom>
          <a:noFill/>
          <a:ln/>
        </p:spPr>
        <p:txBody>
          <a:bodyPr wrap="square" lIns="0" tIns="0" rIns="0" bIns="0" rtlCol="0" anchor="t"/>
          <a:lstStyle/>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NVIDIA, Isaac Lab Documentation. https://isaac-sim.github.io/IsaacLab/</a:t>
            </a:r>
            <a:endParaRPr lang="en-US" sz="1500" dirty="0"/>
          </a:p>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N. Rudin et al., “Learning to Walk in Minutes Using Massively Parallel Deep Reinforcement Learning,” CoRL, 2021.</a:t>
            </a:r>
            <a:endParaRPr lang="en-US" sz="1500" dirty="0"/>
          </a:p>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J. Schulman et al., “Proximal Policy Optimization Algorithms,” arXiv:1707.06347, 2017.</a:t>
            </a:r>
            <a:endParaRPr lang="en-US" sz="1500" dirty="0"/>
          </a:p>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Intel RealSense, “Introduction to RealSense Visual SLAM and the T265 Tracking Camera.” https://dev.realsenseai.com/docs/intel-realsensetm-visual-slam-and-the-t265-tracking-camera/</a:t>
            </a:r>
            <a:endParaRPr lang="en-US" sz="1500" dirty="0"/>
          </a:p>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Intel RealSense, librealsense T265 documentation (v2.53.1). https://github.com/IntelRealSense/librealsense/blob/v2.53.1/doc/t265.md</a:t>
            </a:r>
            <a:endParaRPr lang="en-US" sz="1500" dirty="0"/>
          </a:p>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CubeMars, AK Series Actuator Driver Manual（MITモードの通信仕様）</a:t>
            </a:r>
            <a:endParaRPr lang="en-US" sz="1500" dirty="0"/>
          </a:p>
          <a:p>
            <a:pPr algn="l" marL="342900" indent="-342900">
              <a:spcAft>
                <a:spcPts val="1200"/>
              </a:spcAft>
              <a:buSzPct val="100000"/>
              <a:buChar char="•"/>
            </a:pPr>
            <a:r>
              <a:rPr lang="en-US" sz="1500" dirty="0">
                <a:solidFill>
                  <a:srgbClr val="17212B"/>
                </a:solidFill>
                <a:latin typeface="Yu Gothic" pitchFamily="34" charset="0"/>
                <a:ea typeface="Yu Gothic" pitchFamily="34" charset="-122"/>
                <a:cs typeface="Yu Gothic" pitchFamily="34" charset="-120"/>
              </a:rPr>
              <a:t>Skyentific, BipedalRobotSim（PocLegs）— 学習環境の見本として使用</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制御パート：強化学習による二足歩行制御</dc:title>
  <dc:subject>PptxGenJS Presentation</dc:subject>
  <dc:creator>PptxGenJS</dc:creator>
  <cp:lastModifiedBy>PptxGenJS</cp:lastModifiedBy>
  <cp:revision>1</cp:revision>
  <dcterms:created xsi:type="dcterms:W3CDTF">2026-09-22T20:02:31Z</dcterms:created>
  <dcterms:modified xsi:type="dcterms:W3CDTF">2026-09-22T20:02:31Z</dcterms:modified>
</cp:coreProperties>
</file>