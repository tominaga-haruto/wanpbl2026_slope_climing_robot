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制御の全体像です。歩き方を人が1つずつプログラムするのではなく、Isaac Simというシミュレーターの中でロボットに練習させて覚えさせました。左の動画のように4096体が同時に練習します。できあがったものを「方策」と呼び、歩き方を決めるニューラルネットです。これをロボットのJetsonに載せ、センサの値から1秒間に50回モーターへの指令を計算します。人はプロコンで、どちらへどれくらいの速さで進むかだけを指示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ロボットの中では、カメラ（T265）が胴体の動きと傾きを測り、プロコンからは進む向きと速さが無線で届きます。Jetsonはこれらとモーターから返ってきた関節の角度を集めて、方策で10個の関節の目標角を計算し、USB-CAN変換を通してモーターに送ります。モーターが動くと体が動き、その変化をまた測る、という一周を1秒間に50回くり返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強化学習は犬のしつけに似ています。ロボットがやってみて、良い動きならほめ、悪い動きなら叱り、点数が上がる方へ少しずつ直す。これを何百万回もくり返します。人が用意するのは、ロボットのモデル、練習する環境、何をほめて何を叱るかという報酬の3つだけです。学習は毎回ゼロからではなく、前回までの結果を引き継いで、地形や指示を変えながら積み重ね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シミュレーターにロボットを入れるには、設計班がOnshapeで作ったCADを、ロボットの設計図にあたるURDFというファイルに変換し、Isaac Simに読み込みます。CADから出したままだと前後と左右が入れ替わっていたり、左右の脚で関節の回る向きが逆になっていたりしたので、10個の関節を1つずつ動かして確認してそろえました。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酬関数は13項目の点数の合計です。ほめる項目は3つで、指令どおりの速さで進むこと、指令どおりに回ること、足をしっかり浮かせてから着地することです。叱る項目は、胴体が揺れる・傾く、足が滑る、指令をガタガタ変える、足以外が地面に当たる、関節の限界に近づく、などです。数字は重みで、項目ごとに値の大きさが違うので、数字の大小がそのまま重要度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習で一番苦労したのは、立ち往生とカニ歩きです。立ち往生は、進めと指示してもその場で立ち止まってしまう現象で、立っているだけでも速度の点が少しもらえるうえに、足上げの報酬がこの脚では足を上げるほど損をする式になっていたのが原因でした。カニ歩きは、まっすぐ進めと指示しても横に流れる現象で、CADのままでは前後と左右が入れ替わっていたことと、横に流れても点がほとんど減らない採点だったことが原因でした。向きをそろえ、横へのずれを厳しく採点し、片足で立つ時間をほめる形にしたことで、指示どおりまっすぐ歩けるようにな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シミュレーションでは、平地だけでなく10度・15度の坂、6センチのでこぼこ、その場での旋回、歩きながらの旋回まで、どの場面でも16体中1体も転ばずに動けました。（参考：前進0.5 m/s の指示で平地は15秒で6.75 m、坂10°で6.44 m、坂15°で5.83 m、でこぼこ6 cmで5.26 m〔指示0.4 m/s〕、その場旋回0.37 rad/s、歩きながら旋回0.39 rad/s〔指示0.5 rad/s〕）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習した方策をロボットで動かすことをデプロイと呼びます。方策を書き出し、学習時と同じ答えが出るかを確認してから、モーター1台ずつ、吊った状態で全身、と段階的に進め、今は床に立たせて方策に任せる段階です。左が床の上で立っている様子、右が方策に任せて歩こうとしている様子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プロイを進める中で、シミュレーターと実機の違いがいくつも見つかりました。関節の回る向き、CADで「まっすぐ」のつもりだった姿勢が実は膝が曲がっていたこと、モーターの摩擦などは記録データで原因を確かめて対応しました。下の2つ、シミュレーターでは毎回空中から落として練習を始めていて止まって立った状態から始めたことがないこと、そして方策が股を内側に寄せて歩くのに実機ではそこで左右の足がぶつかることが、床の上で歩き続けられない主な原因だ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機の結果です。床の上で立つことができ、方策に任せると床の上で歩こうとする動きが出るようになりました。吊った状態なら歩く動きがずっと続きます。ただ、床の上で歩き続けることはまだできていません。吊ると歩けるのに床では続かないので、方策やプログラムではなく、足が床や相手の足に触れたときの違いが原因と考えています。実際、方策の歩き方は股を内側に寄せるのですが、実機ではそこで左右の足がぶつかって止まっていました。プログラム側での補正はやり尽くしたので、次はシミュレーターを実機に合わせて学習し直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後の展望です。まずは平地で歩かせることが目標で、そのために足どうしの衝突や、止まって立った状態から始めることをシミュレーターに入れて学習し直します。そのうえで、シミュレーションではできている坂やでこぼこでも実機で歩けるようにし、最後はプロコンで好きな方向に歩かせることを目指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【差し替え案】元のまとめの制御の行と、次の段階の文言を更新したもの。設計・配線の行は元のまま。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制御の全体像</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シミュレーターの中で歩き方を学習し、その脳をロボットに載せて動かす</a:t>
            </a:r>
            <a:endParaRPr lang="en-US" sz="2200" dirty="0"/>
          </a:p>
        </p:txBody>
      </p:sp>
      <p:sp>
        <p:nvSpPr>
          <p:cNvPr id="7" name="Shape 5"/>
          <p:cNvSpPr/>
          <p:nvPr/>
        </p:nvSpPr>
        <p:spPr>
          <a:xfrm>
            <a:off x="628650" y="1866900"/>
            <a:ext cx="5334000" cy="4476750"/>
          </a:xfrm>
          <a:prstGeom prst="roundRect">
            <a:avLst>
              <a:gd name="adj" fmla="val 1021"/>
            </a:avLst>
          </a:prstGeom>
          <a:solidFill>
            <a:srgbClr val="E8F1F5"/>
          </a:solidFill>
          <a:ln w="25400">
            <a:solidFill>
              <a:srgbClr val="32A5B5"/>
            </a:solidFill>
            <a:prstDash val="solid"/>
          </a:ln>
        </p:spPr>
      </p:sp>
      <p:sp>
        <p:nvSpPr>
          <p:cNvPr id="8" name="Text 6"/>
          <p:cNvSpPr txBox="1"/>
          <p:nvPr/>
        </p:nvSpPr>
        <p:spPr>
          <a:xfrm>
            <a:off x="838200" y="1962150"/>
            <a:ext cx="4953000" cy="323850"/>
          </a:xfrm>
          <a:prstGeom prst="rect">
            <a:avLst/>
          </a:prstGeom>
          <a:noFill/>
          <a:ln/>
        </p:spPr>
        <p:txBody>
          <a:bodyPr wrap="square" lIns="0" tIns="0" rIns="0" bIns="0" rtlCol="0" anchor="ctr"/>
          <a:lstStyle/>
          <a:p>
            <a:pPr algn="l" indent="0" marL="0">
              <a:buNone/>
            </a:pPr>
            <a:r>
              <a:rPr lang="en-US" sz="2100" b="1" dirty="0">
                <a:solidFill>
                  <a:srgbClr val="32A5B5"/>
                </a:solidFill>
                <a:latin typeface="Yu Gothic" pitchFamily="34" charset="0"/>
                <a:ea typeface="Yu Gothic" pitchFamily="34" charset="-122"/>
                <a:cs typeface="Yu Gothic" pitchFamily="34" charset="-120"/>
              </a:rPr>
              <a:t>学習用PC（Isaac Sim）</a:t>
            </a:r>
            <a:endParaRPr lang="en-US" sz="2100" dirty="0"/>
          </a:p>
        </p:txBody>
      </p:sp>
      <p:sp>
        <p:nvSpPr>
          <p:cNvPr id="9" name="Shape 7"/>
          <p:cNvSpPr/>
          <p:nvPr/>
        </p:nvSpPr>
        <p:spPr>
          <a:xfrm>
            <a:off x="838200" y="2343150"/>
            <a:ext cx="4914900" cy="2381250"/>
          </a:xfrm>
          <a:prstGeom prst="rect">
            <a:avLst/>
          </a:prstGeom>
          <a:solidFill>
            <a:srgbClr val="FBF7F3"/>
          </a:solidFill>
          <a:ln w="22225">
            <a:solidFill>
              <a:srgbClr val="E8783F"/>
            </a:solidFill>
            <a:prstDash val="dash"/>
          </a:ln>
        </p:spPr>
      </p:sp>
      <p:sp>
        <p:nvSpPr>
          <p:cNvPr id="10" name="Text 8"/>
          <p:cNvSpPr txBox="1"/>
          <p:nvPr/>
        </p:nvSpPr>
        <p:spPr>
          <a:xfrm>
            <a:off x="971550" y="2457450"/>
            <a:ext cx="46482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ここに動画を貼る</a:t>
            </a:r>
            <a:endParaRPr lang="en-US" sz="1500" dirty="0"/>
          </a:p>
        </p:txBody>
      </p:sp>
      <p:sp>
        <p:nvSpPr>
          <p:cNvPr id="11" name="Text 9"/>
          <p:cNvSpPr txBox="1"/>
          <p:nvPr/>
        </p:nvSpPr>
        <p:spPr>
          <a:xfrm>
            <a:off x="971550" y="2743200"/>
            <a:ext cx="4648200" cy="1866900"/>
          </a:xfrm>
          <a:prstGeom prst="rect">
            <a:avLst/>
          </a:prstGeom>
          <a:noFill/>
          <a:ln/>
        </p:spPr>
        <p:txBody>
          <a:bodyPr wrap="square" lIns="0" tIns="0" rIns="0" bIns="0" rtlCol="0" anchor="t"/>
          <a:lstStyle/>
          <a:p>
            <a:pPr algn="l" indent="0" marL="0">
              <a:lnSpc>
                <a:spcPct val="110000"/>
              </a:lnSpc>
              <a:buNone/>
            </a:pPr>
            <a:r>
              <a:rPr lang="en-US" sz="1400" dirty="0">
                <a:solidFill>
                  <a:srgbClr val="5E6A73"/>
                </a:solidFill>
                <a:latin typeface="Yu Gothic" pitchFamily="34" charset="0"/>
                <a:ea typeface="Yu Gothic" pitchFamily="34" charset="-122"/>
                <a:cs typeface="Yu Gothic" pitchFamily="34" charset="-120"/>
              </a:rPr>
              <a:t>Isaac Sim で 4096 体が同時に練習している動画（引きの画。格子状に並んで一斉に歩こうとしている様子、10〜20 秒）。</a:t>
            </a:r>
            <a:endParaRPr lang="en-US" sz="1400" dirty="0"/>
          </a:p>
        </p:txBody>
      </p:sp>
      <p:sp>
        <p:nvSpPr>
          <p:cNvPr id="12" name="Text 10"/>
          <p:cNvSpPr txBox="1"/>
          <p:nvPr/>
        </p:nvSpPr>
        <p:spPr>
          <a:xfrm>
            <a:off x="838200" y="4800600"/>
            <a:ext cx="4914900" cy="571500"/>
          </a:xfrm>
          <a:prstGeom prst="rect">
            <a:avLst/>
          </a:prstGeom>
          <a:noFill/>
          <a:ln/>
        </p:spPr>
        <p:txBody>
          <a:bodyPr wrap="square" lIns="0" tIns="0" rIns="0" bIns="0" rtlCol="0" anchor="t"/>
          <a:lstStyle/>
          <a:p>
            <a:pPr algn="l" indent="0" marL="0">
              <a:buNone/>
            </a:pPr>
            <a:r>
              <a:rPr lang="en-US" sz="1700" dirty="0">
                <a:solidFill>
                  <a:srgbClr val="17212B"/>
                </a:solidFill>
                <a:latin typeface="Yu Gothic" pitchFamily="34" charset="0"/>
                <a:ea typeface="Yu Gothic" pitchFamily="34" charset="-122"/>
                <a:cs typeface="Yu Gothic" pitchFamily="34" charset="-120"/>
              </a:rPr>
              <a:t>4096 体のロボットが同時に練習し、報酬（ほめる・叱る）で歩き方が上達</a:t>
            </a:r>
            <a:endParaRPr lang="en-US" sz="1700" dirty="0"/>
          </a:p>
        </p:txBody>
      </p:sp>
      <p:sp>
        <p:nvSpPr>
          <p:cNvPr id="13" name="Text 11"/>
          <p:cNvSpPr txBox="1"/>
          <p:nvPr/>
        </p:nvSpPr>
        <p:spPr>
          <a:xfrm>
            <a:off x="838200" y="5486400"/>
            <a:ext cx="4914900" cy="685800"/>
          </a:xfrm>
          <a:prstGeom prst="roundRect">
            <a:avLst>
              <a:gd name="adj" fmla="val 13333"/>
            </a:avLst>
          </a:prstGeom>
          <a:solidFill>
            <a:srgbClr val="1C5A85"/>
          </a:solid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できあがるもの：方策</a:t>
            </a:r>
            <a:endParaRPr lang="en-US" sz="1600" dirty="0"/>
          </a:p>
          <a:p>
            <a:pPr algn="ctr" indent="0" marL="0">
              <a:buNone/>
            </a:pPr>
            <a:r>
              <a:rPr lang="en-US" sz="1600" b="1" dirty="0">
                <a:solidFill>
                  <a:srgbClr val="FFFFFF"/>
                </a:solidFill>
                <a:latin typeface="Yu Gothic" pitchFamily="34" charset="0"/>
                <a:ea typeface="Yu Gothic" pitchFamily="34" charset="-122"/>
                <a:cs typeface="Yu Gothic" pitchFamily="34" charset="-120"/>
              </a:rPr>
              <a:t>（歩き方を決めるニューラルネット）</a:t>
            </a:r>
            <a:endParaRPr lang="en-US" sz="1600" dirty="0"/>
          </a:p>
        </p:txBody>
      </p:sp>
      <p:sp>
        <p:nvSpPr>
          <p:cNvPr id="14" name="Shape 12"/>
          <p:cNvSpPr/>
          <p:nvPr/>
        </p:nvSpPr>
        <p:spPr>
          <a:xfrm>
            <a:off x="6000750" y="4095750"/>
            <a:ext cx="666750" cy="95"/>
          </a:xfrm>
          <a:prstGeom prst="line">
            <a:avLst/>
          </a:prstGeom>
          <a:noFill/>
          <a:ln w="50800">
            <a:solidFill>
              <a:srgbClr val="E8783F"/>
            </a:solidFill>
            <a:prstDash val="solid"/>
            <a:tailEnd type="triangle"/>
          </a:ln>
        </p:spPr>
      </p:sp>
      <p:sp>
        <p:nvSpPr>
          <p:cNvPr id="15" name="Text 13"/>
          <p:cNvSpPr txBox="1"/>
          <p:nvPr/>
        </p:nvSpPr>
        <p:spPr>
          <a:xfrm>
            <a:off x="5962650" y="3752850"/>
            <a:ext cx="762000" cy="285750"/>
          </a:xfrm>
          <a:prstGeom prst="rect">
            <a:avLst/>
          </a:prstGeom>
          <a:noFill/>
          <a:ln/>
        </p:spPr>
        <p:txBody>
          <a:bodyPr wrap="square" lIns="0" tIns="0" rIns="0" bIns="0" rtlCol="0" anchor="ctr"/>
          <a:lstStyle/>
          <a:p>
            <a:pPr algn="ctr" indent="0" marL="0">
              <a:buNone/>
            </a:pPr>
            <a:r>
              <a:rPr lang="en-US" sz="1400" b="1" dirty="0">
                <a:solidFill>
                  <a:srgbClr val="E8783F"/>
                </a:solidFill>
                <a:latin typeface="Yu Gothic" pitchFamily="34" charset="0"/>
                <a:ea typeface="Yu Gothic" pitchFamily="34" charset="-122"/>
                <a:cs typeface="Yu Gothic" pitchFamily="34" charset="-120"/>
              </a:rPr>
              <a:t>載せる</a:t>
            </a:r>
            <a:endParaRPr lang="en-US" sz="1400" dirty="0"/>
          </a:p>
        </p:txBody>
      </p:sp>
      <p:sp>
        <p:nvSpPr>
          <p:cNvPr id="16" name="Shape 14"/>
          <p:cNvSpPr/>
          <p:nvPr/>
        </p:nvSpPr>
        <p:spPr>
          <a:xfrm>
            <a:off x="6724650" y="1866900"/>
            <a:ext cx="4838700" cy="4476750"/>
          </a:xfrm>
          <a:prstGeom prst="roundRect">
            <a:avLst>
              <a:gd name="adj" fmla="val 1021"/>
            </a:avLst>
          </a:prstGeom>
          <a:solidFill>
            <a:srgbClr val="F3EEE6"/>
          </a:solidFill>
          <a:ln w="25400">
            <a:solidFill>
              <a:srgbClr val="E8783F"/>
            </a:solidFill>
            <a:prstDash val="solid"/>
          </a:ln>
        </p:spPr>
      </p:sp>
      <p:sp>
        <p:nvSpPr>
          <p:cNvPr id="17" name="Text 15"/>
          <p:cNvSpPr txBox="1"/>
          <p:nvPr/>
        </p:nvSpPr>
        <p:spPr>
          <a:xfrm>
            <a:off x="6934200" y="1962150"/>
            <a:ext cx="4476750" cy="323850"/>
          </a:xfrm>
          <a:prstGeom prst="rect">
            <a:avLst/>
          </a:prstGeom>
          <a:noFill/>
          <a:ln/>
        </p:spPr>
        <p:txBody>
          <a:bodyPr wrap="square" lIns="0" tIns="0" rIns="0" bIns="0" rtlCol="0" anchor="ctr"/>
          <a:lstStyle/>
          <a:p>
            <a:pPr algn="l" indent="0" marL="0">
              <a:buNone/>
            </a:pPr>
            <a:r>
              <a:rPr lang="en-US" sz="2100" b="1" dirty="0">
                <a:solidFill>
                  <a:srgbClr val="E8783F"/>
                </a:solidFill>
                <a:latin typeface="Yu Gothic" pitchFamily="34" charset="0"/>
                <a:ea typeface="Yu Gothic" pitchFamily="34" charset="-122"/>
                <a:cs typeface="Yu Gothic" pitchFamily="34" charset="-120"/>
              </a:rPr>
              <a:t>ロボット（実機）</a:t>
            </a:r>
            <a:endParaRPr lang="en-US" sz="2100" dirty="0"/>
          </a:p>
        </p:txBody>
      </p:sp>
      <p:sp>
        <p:nvSpPr>
          <p:cNvPr id="18" name="Text 16"/>
          <p:cNvSpPr txBox="1"/>
          <p:nvPr/>
        </p:nvSpPr>
        <p:spPr>
          <a:xfrm>
            <a:off x="6934200" y="2438400"/>
            <a:ext cx="4438650" cy="3619500"/>
          </a:xfrm>
          <a:prstGeom prst="rect">
            <a:avLst/>
          </a:prstGeom>
          <a:noFill/>
          <a:ln/>
        </p:spPr>
        <p:txBody>
          <a:bodyPr wrap="square" lIns="0" tIns="0" rIns="0" bIns="0" rtlCol="0" anchor="t"/>
          <a:lstStyle/>
          <a:p>
            <a:pPr algn="l" marL="342900" indent="-342900">
              <a:spcAft>
                <a:spcPts val="1400"/>
              </a:spcAft>
              <a:buSzPct val="100000"/>
              <a:buChar char="•"/>
            </a:pPr>
            <a:r>
              <a:rPr lang="en-US" sz="1900" dirty="0">
                <a:solidFill>
                  <a:srgbClr val="17212B"/>
                </a:solidFill>
                <a:latin typeface="Yu Gothic" pitchFamily="34" charset="0"/>
                <a:ea typeface="Yu Gothic" pitchFamily="34" charset="-122"/>
                <a:cs typeface="Yu Gothic" pitchFamily="34" charset="-120"/>
              </a:rPr>
              <a:t>Jetson が方策を 1 秒間に 50 回計算</a:t>
            </a:r>
            <a:endParaRPr lang="en-US" sz="1900" dirty="0"/>
          </a:p>
          <a:p>
            <a:pPr algn="l" marL="342900" indent="-342900">
              <a:spcAft>
                <a:spcPts val="1400"/>
              </a:spcAft>
              <a:buSzPct val="100000"/>
              <a:buChar char="•"/>
            </a:pPr>
            <a:r>
              <a:rPr lang="en-US" sz="1900" dirty="0">
                <a:solidFill>
                  <a:srgbClr val="17212B"/>
                </a:solidFill>
                <a:latin typeface="Yu Gothic" pitchFamily="34" charset="0"/>
                <a:ea typeface="Yu Gothic" pitchFamily="34" charset="-122"/>
                <a:cs typeface="Yu Gothic" pitchFamily="34" charset="-120"/>
              </a:rPr>
              <a:t>T265 で胴体の傾き・速さを測る</a:t>
            </a:r>
            <a:endParaRPr lang="en-US" sz="1900" dirty="0"/>
          </a:p>
          <a:p>
            <a:pPr algn="l" marL="342900" indent="-342900">
              <a:spcAft>
                <a:spcPts val="1400"/>
              </a:spcAft>
              <a:buSzPct val="100000"/>
              <a:buChar char="•"/>
            </a:pPr>
            <a:r>
              <a:rPr lang="en-US" sz="1900" dirty="0">
                <a:solidFill>
                  <a:srgbClr val="17212B"/>
                </a:solidFill>
                <a:latin typeface="Yu Gothic" pitchFamily="34" charset="0"/>
                <a:ea typeface="Yu Gothic" pitchFamily="34" charset="-122"/>
                <a:cs typeface="Yu Gothic" pitchFamily="34" charset="-120"/>
              </a:rPr>
              <a:t>10 個のモーターを CAN 通信で動かす</a:t>
            </a:r>
            <a:endParaRPr lang="en-US" sz="1900" dirty="0"/>
          </a:p>
          <a:p>
            <a:pPr algn="l" marL="342900" indent="-342900">
              <a:spcAft>
                <a:spcPts val="1400"/>
              </a:spcAft>
              <a:buSzPct val="100000"/>
              <a:buChar char="•"/>
            </a:pPr>
            <a:r>
              <a:rPr lang="en-US" sz="1900" dirty="0">
                <a:solidFill>
                  <a:srgbClr val="17212B"/>
                </a:solidFill>
                <a:latin typeface="Yu Gothic" pitchFamily="34" charset="0"/>
                <a:ea typeface="Yu Gothic" pitchFamily="34" charset="-122"/>
                <a:cs typeface="Yu Gothic" pitchFamily="34" charset="-120"/>
              </a:rPr>
              <a:t>プロコン（無線）で進む向き・速さを指示</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ロボットの中の制御ループ</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測る → 計算する → 動かす → また測る を 1 秒間に 50 回くり返す</a:t>
            </a:r>
            <a:endParaRPr lang="en-US" sz="2200" dirty="0"/>
          </a:p>
        </p:txBody>
      </p:sp>
      <p:sp>
        <p:nvSpPr>
          <p:cNvPr id="7" name="Shape 5"/>
          <p:cNvSpPr/>
          <p:nvPr/>
        </p:nvSpPr>
        <p:spPr>
          <a:xfrm>
            <a:off x="628650" y="1866900"/>
            <a:ext cx="2190750" cy="628650"/>
          </a:xfrm>
          <a:prstGeom prst="rect">
            <a:avLst/>
          </a:prstGeom>
          <a:solidFill>
            <a:srgbClr val="FBF7F3"/>
          </a:solidFill>
          <a:ln w="22225">
            <a:solidFill>
              <a:srgbClr val="E8783F"/>
            </a:solidFill>
            <a:prstDash val="dash"/>
          </a:ln>
        </p:spPr>
      </p:sp>
      <p:sp>
        <p:nvSpPr>
          <p:cNvPr id="8" name="Text 6"/>
          <p:cNvSpPr txBox="1"/>
          <p:nvPr/>
        </p:nvSpPr>
        <p:spPr>
          <a:xfrm>
            <a:off x="762000" y="1981200"/>
            <a:ext cx="1924050" cy="247650"/>
          </a:xfrm>
          <a:prstGeom prst="rect">
            <a:avLst/>
          </a:prstGeom>
          <a:noFill/>
          <a:ln/>
        </p:spPr>
        <p:txBody>
          <a:bodyPr wrap="square" lIns="0" tIns="0" rIns="0" bIns="0" rtlCol="0" anchor="ctr"/>
          <a:lstStyle/>
          <a:p>
            <a:pPr algn="l" indent="0" marL="0">
              <a:buNone/>
            </a:pPr>
            <a:r>
              <a:rPr lang="en-US" sz="1100" b="1" dirty="0">
                <a:solidFill>
                  <a:srgbClr val="E8783F"/>
                </a:solidFill>
                <a:latin typeface="Yu Gothic" pitchFamily="34" charset="0"/>
                <a:ea typeface="Yu Gothic" pitchFamily="34" charset="-122"/>
                <a:cs typeface="Yu Gothic" pitchFamily="34" charset="-120"/>
              </a:rPr>
              <a:t>■ ここに画像を貼る</a:t>
            </a:r>
            <a:endParaRPr lang="en-US" sz="1100" dirty="0"/>
          </a:p>
        </p:txBody>
      </p:sp>
      <p:sp>
        <p:nvSpPr>
          <p:cNvPr id="9" name="Text 7"/>
          <p:cNvSpPr txBox="1"/>
          <p:nvPr/>
        </p:nvSpPr>
        <p:spPr>
          <a:xfrm>
            <a:off x="762000" y="2266950"/>
            <a:ext cx="1924050" cy="114300"/>
          </a:xfrm>
          <a:prstGeom prst="rect">
            <a:avLst/>
          </a:prstGeom>
          <a:noFill/>
          <a:ln/>
        </p:spPr>
        <p:txBody>
          <a:bodyPr wrap="square" lIns="0" tIns="0" rIns="0" bIns="0" rtlCol="0" anchor="t"/>
          <a:lstStyle/>
          <a:p>
            <a:pPr algn="l" indent="0" marL="0">
              <a:lnSpc>
                <a:spcPct val="110000"/>
              </a:lnSpc>
              <a:buNone/>
            </a:pPr>
            <a:r>
              <a:rPr lang="en-US" sz="1100" dirty="0">
                <a:solidFill>
                  <a:srgbClr val="5E6A73"/>
                </a:solidFill>
                <a:latin typeface="Yu Gothic" pitchFamily="34" charset="0"/>
                <a:ea typeface="Yu Gothic" pitchFamily="34" charset="-122"/>
                <a:cs typeface="Yu Gothic" pitchFamily="34" charset="-120"/>
              </a:rPr>
              <a:t>T265 の写真（ver2 で貼ったもの）</a:t>
            </a:r>
            <a:endParaRPr lang="en-US" sz="1100" dirty="0"/>
          </a:p>
        </p:txBody>
      </p:sp>
      <p:sp>
        <p:nvSpPr>
          <p:cNvPr id="10" name="Text 8"/>
          <p:cNvSpPr txBox="1"/>
          <p:nvPr/>
        </p:nvSpPr>
        <p:spPr>
          <a:xfrm>
            <a:off x="4476750" y="1771650"/>
            <a:ext cx="3238500" cy="666750"/>
          </a:xfrm>
          <a:prstGeom prst="roundRect">
            <a:avLst>
              <a:gd name="adj" fmla="val 13714"/>
            </a:avLst>
          </a:prstGeom>
          <a:solidFill>
            <a:srgbClr val="1C5A85"/>
          </a:solidFill>
          <a:ln/>
        </p:spPr>
        <p:txBody>
          <a:bodyPr wrap="square" lIns="0" tIns="0" rIns="0" bIns="0" rtlCol="0" anchor="ctr"/>
          <a:lstStyle/>
          <a:p>
            <a:pPr algn="ctr" indent="0" marL="0">
              <a:buNone/>
            </a:pPr>
            <a:r>
              <a:rPr lang="en-US" sz="1700" b="1" dirty="0">
                <a:solidFill>
                  <a:srgbClr val="FFFFFF"/>
                </a:solidFill>
                <a:latin typeface="Yu Gothic" pitchFamily="34" charset="0"/>
                <a:ea typeface="Yu Gothic" pitchFamily="34" charset="-122"/>
                <a:cs typeface="Yu Gothic" pitchFamily="34" charset="-120"/>
              </a:rPr>
              <a:t>プロコン</a:t>
            </a:r>
            <a:endParaRPr lang="en-US" sz="1700" dirty="0"/>
          </a:p>
          <a:p>
            <a:pPr algn="ctr" indent="0" marL="0">
              <a:buNone/>
            </a:pPr>
            <a:r>
              <a:rPr lang="en-US" sz="1700" b="1" dirty="0">
                <a:solidFill>
                  <a:srgbClr val="FFFFFF"/>
                </a:solidFill>
                <a:latin typeface="Yu Gothic" pitchFamily="34" charset="0"/>
                <a:ea typeface="Yu Gothic" pitchFamily="34" charset="-122"/>
                <a:cs typeface="Yu Gothic" pitchFamily="34" charset="-120"/>
              </a:rPr>
              <a:t>（Bluetooth 無線）</a:t>
            </a:r>
            <a:endParaRPr lang="en-US" sz="1700" dirty="0"/>
          </a:p>
        </p:txBody>
      </p:sp>
      <p:sp>
        <p:nvSpPr>
          <p:cNvPr id="11" name="Text 9"/>
          <p:cNvSpPr txBox="1"/>
          <p:nvPr/>
        </p:nvSpPr>
        <p:spPr>
          <a:xfrm>
            <a:off x="628650" y="2857500"/>
            <a:ext cx="2190750" cy="914400"/>
          </a:xfrm>
          <a:prstGeom prst="roundRect">
            <a:avLst>
              <a:gd name="adj" fmla="val 10000"/>
            </a:avLst>
          </a:prstGeom>
          <a:solidFill>
            <a:srgbClr val="32A5B5"/>
          </a:solid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カメラ（T265）</a:t>
            </a:r>
            <a:endParaRPr lang="en-US" sz="1600" dirty="0"/>
          </a:p>
          <a:p>
            <a:pPr algn="ctr" indent="0" marL="0">
              <a:buNone/>
            </a:pPr>
            <a:r>
              <a:rPr lang="en-US" sz="1600" b="1" dirty="0">
                <a:solidFill>
                  <a:srgbClr val="FFFFFF"/>
                </a:solidFill>
                <a:latin typeface="Yu Gothic" pitchFamily="34" charset="0"/>
                <a:ea typeface="Yu Gothic" pitchFamily="34" charset="-122"/>
                <a:cs typeface="Yu Gothic" pitchFamily="34" charset="-120"/>
              </a:rPr>
              <a:t>胴体の加速度・速度・自己位置</a:t>
            </a:r>
            <a:endParaRPr lang="en-US" sz="1600" dirty="0"/>
          </a:p>
        </p:txBody>
      </p:sp>
      <p:sp>
        <p:nvSpPr>
          <p:cNvPr id="12" name="Text 10"/>
          <p:cNvSpPr txBox="1"/>
          <p:nvPr/>
        </p:nvSpPr>
        <p:spPr>
          <a:xfrm>
            <a:off x="4000500" y="2762250"/>
            <a:ext cx="4191000" cy="1104900"/>
          </a:xfrm>
          <a:prstGeom prst="roundRect">
            <a:avLst>
              <a:gd name="adj" fmla="val 8276"/>
            </a:avLst>
          </a:prstGeom>
          <a:solidFill>
            <a:srgbClr val="102B46"/>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Jetson</a:t>
            </a:r>
            <a:endParaRPr lang="en-US" sz="1800" dirty="0"/>
          </a:p>
          <a:p>
            <a:pPr algn="ctr" indent="0" marL="0">
              <a:buNone/>
            </a:pPr>
            <a:r>
              <a:rPr lang="en-US" sz="1800" b="1" dirty="0">
                <a:solidFill>
                  <a:srgbClr val="FFFFFF"/>
                </a:solidFill>
                <a:latin typeface="Yu Gothic" pitchFamily="34" charset="0"/>
                <a:ea typeface="Yu Gothic" pitchFamily="34" charset="-122"/>
                <a:cs typeface="Yu Gothic" pitchFamily="34" charset="-120"/>
              </a:rPr>
              <a:t>方策（ニューラルネット）で</a:t>
            </a:r>
            <a:endParaRPr lang="en-US" sz="1800" dirty="0"/>
          </a:p>
          <a:p>
            <a:pPr algn="ctr" indent="0" marL="0">
              <a:buNone/>
            </a:pPr>
            <a:r>
              <a:rPr lang="en-US" sz="1800" b="1" dirty="0">
                <a:solidFill>
                  <a:srgbClr val="FFFFFF"/>
                </a:solidFill>
                <a:latin typeface="Yu Gothic" pitchFamily="34" charset="0"/>
                <a:ea typeface="Yu Gothic" pitchFamily="34" charset="-122"/>
                <a:cs typeface="Yu Gothic" pitchFamily="34" charset="-120"/>
              </a:rPr>
              <a:t>10 個の関節の目標角を計算</a:t>
            </a:r>
            <a:endParaRPr lang="en-US" sz="1800" dirty="0"/>
          </a:p>
        </p:txBody>
      </p:sp>
      <p:sp>
        <p:nvSpPr>
          <p:cNvPr id="13" name="Text 11"/>
          <p:cNvSpPr txBox="1"/>
          <p:nvPr/>
        </p:nvSpPr>
        <p:spPr>
          <a:xfrm>
            <a:off x="9372600" y="2857500"/>
            <a:ext cx="2190750" cy="914400"/>
          </a:xfrm>
          <a:prstGeom prst="roundRect">
            <a:avLst>
              <a:gd name="adj" fmla="val 10000"/>
            </a:avLst>
          </a:prstGeom>
          <a:solidFill>
            <a:srgbClr val="E8783F"/>
          </a:solidFill>
          <a:ln/>
        </p:spPr>
        <p:txBody>
          <a:bodyPr wrap="square" lIns="0" tIns="0" rIns="0" bIns="0" rtlCol="0" anchor="ctr"/>
          <a:lstStyle/>
          <a:p>
            <a:pPr algn="ctr" indent="0" marL="0">
              <a:buNone/>
            </a:pPr>
            <a:r>
              <a:rPr lang="en-US" sz="1700" b="1" dirty="0">
                <a:solidFill>
                  <a:srgbClr val="FFFFFF"/>
                </a:solidFill>
                <a:latin typeface="Yu Gothic" pitchFamily="34" charset="0"/>
                <a:ea typeface="Yu Gothic" pitchFamily="34" charset="-122"/>
                <a:cs typeface="Yu Gothic" pitchFamily="34" charset="-120"/>
              </a:rPr>
              <a:t>USB-CAN</a:t>
            </a:r>
            <a:endParaRPr lang="en-US" sz="1700" dirty="0"/>
          </a:p>
          <a:p>
            <a:pPr algn="ctr" indent="0" marL="0">
              <a:buNone/>
            </a:pPr>
            <a:r>
              <a:rPr lang="en-US" sz="1700" b="1" dirty="0">
                <a:solidFill>
                  <a:srgbClr val="FFFFFF"/>
                </a:solidFill>
                <a:latin typeface="Yu Gothic" pitchFamily="34" charset="0"/>
                <a:ea typeface="Yu Gothic" pitchFamily="34" charset="-122"/>
                <a:cs typeface="Yu Gothic" pitchFamily="34" charset="-120"/>
              </a:rPr>
              <a:t>変換</a:t>
            </a:r>
            <a:endParaRPr lang="en-US" sz="1700" dirty="0"/>
          </a:p>
        </p:txBody>
      </p:sp>
      <p:sp>
        <p:nvSpPr>
          <p:cNvPr id="14" name="Text 12"/>
          <p:cNvSpPr txBox="1"/>
          <p:nvPr/>
        </p:nvSpPr>
        <p:spPr>
          <a:xfrm>
            <a:off x="9372600" y="4762500"/>
            <a:ext cx="2190750" cy="762000"/>
          </a:xfrm>
          <a:prstGeom prst="roundRect">
            <a:avLst>
              <a:gd name="adj" fmla="val 12000"/>
            </a:avLst>
          </a:prstGeom>
          <a:solidFill>
            <a:srgbClr val="102B46"/>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モーター × 10</a:t>
            </a:r>
            <a:endParaRPr lang="en-US" sz="1800" dirty="0"/>
          </a:p>
        </p:txBody>
      </p:sp>
      <p:sp>
        <p:nvSpPr>
          <p:cNvPr id="15" name="Text 13"/>
          <p:cNvSpPr txBox="1"/>
          <p:nvPr/>
        </p:nvSpPr>
        <p:spPr>
          <a:xfrm>
            <a:off x="4476750" y="4857750"/>
            <a:ext cx="3238500" cy="571500"/>
          </a:xfrm>
          <a:prstGeom prst="roundRect">
            <a:avLst>
              <a:gd name="adj" fmla="val 16000"/>
            </a:avLst>
          </a:prstGeom>
          <a:solidFill>
            <a:srgbClr val="F3EEE6"/>
          </a:solidFill>
          <a:ln w="12700">
            <a:solidFill>
              <a:srgbClr val="E8783F"/>
            </a:solidFill>
          </a:ln>
        </p:spPr>
        <p:txBody>
          <a:bodyPr wrap="square" lIns="0" tIns="0" rIns="0" bIns="0" rtlCol="0" anchor="ctr"/>
          <a:lstStyle/>
          <a:p>
            <a:pPr algn="ctr" indent="0" marL="0">
              <a:buNone/>
            </a:pPr>
            <a:r>
              <a:rPr lang="en-US" sz="1800" b="1" dirty="0">
                <a:solidFill>
                  <a:srgbClr val="102B46"/>
                </a:solidFill>
                <a:latin typeface="Yu Gothic" pitchFamily="34" charset="0"/>
                <a:ea typeface="Yu Gothic" pitchFamily="34" charset="-122"/>
                <a:cs typeface="Yu Gothic" pitchFamily="34" charset="-120"/>
              </a:rPr>
              <a:t>ロボットの体が動く</a:t>
            </a:r>
            <a:endParaRPr lang="en-US" sz="1800" dirty="0"/>
          </a:p>
        </p:txBody>
      </p:sp>
      <p:sp>
        <p:nvSpPr>
          <p:cNvPr id="16" name="Shape 14"/>
          <p:cNvSpPr/>
          <p:nvPr/>
        </p:nvSpPr>
        <p:spPr>
          <a:xfrm>
            <a:off x="6096000" y="2457450"/>
            <a:ext cx="95" cy="266700"/>
          </a:xfrm>
          <a:prstGeom prst="line">
            <a:avLst/>
          </a:prstGeom>
          <a:noFill/>
          <a:ln w="38100">
            <a:solidFill>
              <a:srgbClr val="1C5A85"/>
            </a:solidFill>
            <a:prstDash val="solid"/>
            <a:tailEnd type="triangle"/>
          </a:ln>
        </p:spPr>
      </p:sp>
      <p:sp>
        <p:nvSpPr>
          <p:cNvPr id="17" name="Text 15"/>
          <p:cNvSpPr txBox="1"/>
          <p:nvPr/>
        </p:nvSpPr>
        <p:spPr>
          <a:xfrm>
            <a:off x="6191250" y="2457450"/>
            <a:ext cx="1714500" cy="247650"/>
          </a:xfrm>
          <a:prstGeom prst="rect">
            <a:avLst/>
          </a:prstGeom>
          <a:noFill/>
          <a:ln/>
        </p:spPr>
        <p:txBody>
          <a:bodyPr wrap="square" lIns="0" tIns="0" rIns="0" bIns="0" rtlCol="0" anchor="ctr"/>
          <a:lstStyle/>
          <a:p>
            <a:pPr algn="l" indent="0" marL="0">
              <a:buNone/>
            </a:pPr>
            <a:r>
              <a:rPr lang="en-US" sz="1300" b="1" dirty="0">
                <a:solidFill>
                  <a:srgbClr val="1C5A85"/>
                </a:solidFill>
                <a:latin typeface="Yu Gothic" pitchFamily="34" charset="0"/>
                <a:ea typeface="Yu Gothic" pitchFamily="34" charset="-122"/>
                <a:cs typeface="Yu Gothic" pitchFamily="34" charset="-120"/>
              </a:rPr>
              <a:t>進む向き・速さ</a:t>
            </a:r>
            <a:endParaRPr lang="en-US" sz="1300" dirty="0"/>
          </a:p>
        </p:txBody>
      </p:sp>
      <p:sp>
        <p:nvSpPr>
          <p:cNvPr id="18" name="Shape 16"/>
          <p:cNvSpPr/>
          <p:nvPr/>
        </p:nvSpPr>
        <p:spPr>
          <a:xfrm>
            <a:off x="2838450" y="3314700"/>
            <a:ext cx="1123950" cy="95"/>
          </a:xfrm>
          <a:prstGeom prst="line">
            <a:avLst/>
          </a:prstGeom>
          <a:noFill/>
          <a:ln w="38100">
            <a:solidFill>
              <a:srgbClr val="32A5B5"/>
            </a:solidFill>
            <a:prstDash val="solid"/>
            <a:tailEnd type="triangle"/>
          </a:ln>
        </p:spPr>
      </p:sp>
      <p:sp>
        <p:nvSpPr>
          <p:cNvPr id="19" name="Shape 17"/>
          <p:cNvSpPr/>
          <p:nvPr/>
        </p:nvSpPr>
        <p:spPr>
          <a:xfrm>
            <a:off x="8210550" y="3314700"/>
            <a:ext cx="1123950" cy="95"/>
          </a:xfrm>
          <a:prstGeom prst="line">
            <a:avLst/>
          </a:prstGeom>
          <a:noFill/>
          <a:ln w="38100">
            <a:solidFill>
              <a:srgbClr val="E8783F"/>
            </a:solidFill>
            <a:prstDash val="solid"/>
            <a:tailEnd type="triangle"/>
          </a:ln>
        </p:spPr>
      </p:sp>
      <p:sp>
        <p:nvSpPr>
          <p:cNvPr id="20" name="Shape 18"/>
          <p:cNvSpPr/>
          <p:nvPr/>
        </p:nvSpPr>
        <p:spPr>
          <a:xfrm>
            <a:off x="10467975" y="3790950"/>
            <a:ext cx="95" cy="933450"/>
          </a:xfrm>
          <a:prstGeom prst="line">
            <a:avLst/>
          </a:prstGeom>
          <a:noFill/>
          <a:ln w="38100">
            <a:solidFill>
              <a:srgbClr val="E8783F"/>
            </a:solidFill>
            <a:prstDash val="solid"/>
            <a:tailEnd type="triangle"/>
          </a:ln>
        </p:spPr>
      </p:sp>
      <p:sp>
        <p:nvSpPr>
          <p:cNvPr id="21" name="Text 19"/>
          <p:cNvSpPr txBox="1"/>
          <p:nvPr/>
        </p:nvSpPr>
        <p:spPr>
          <a:xfrm>
            <a:off x="10572750" y="4114800"/>
            <a:ext cx="9525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目標角</a:t>
            </a:r>
            <a:endParaRPr lang="en-US" sz="1400" dirty="0"/>
          </a:p>
        </p:txBody>
      </p:sp>
      <p:sp>
        <p:nvSpPr>
          <p:cNvPr id="22" name="Shape 20"/>
          <p:cNvSpPr/>
          <p:nvPr/>
        </p:nvSpPr>
        <p:spPr>
          <a:xfrm flipH="1">
            <a:off x="7753350" y="5143500"/>
            <a:ext cx="1581150" cy="95"/>
          </a:xfrm>
          <a:prstGeom prst="line">
            <a:avLst/>
          </a:prstGeom>
          <a:noFill/>
          <a:ln w="38100">
            <a:solidFill>
              <a:srgbClr val="102B46"/>
            </a:solidFill>
            <a:prstDash val="solid"/>
            <a:tailEnd type="triangle"/>
          </a:ln>
        </p:spPr>
      </p:sp>
      <p:sp>
        <p:nvSpPr>
          <p:cNvPr id="23" name="Shape 21"/>
          <p:cNvSpPr/>
          <p:nvPr/>
        </p:nvSpPr>
        <p:spPr>
          <a:xfrm flipH="1">
            <a:off x="8572500" y="5410200"/>
            <a:ext cx="800100" cy="95"/>
          </a:xfrm>
          <a:prstGeom prst="line">
            <a:avLst/>
          </a:prstGeom>
          <a:noFill/>
          <a:ln w="31750">
            <a:solidFill>
              <a:srgbClr val="E8783F"/>
            </a:solidFill>
            <a:prstDash val="dash"/>
          </a:ln>
        </p:spPr>
      </p:sp>
      <p:sp>
        <p:nvSpPr>
          <p:cNvPr id="24" name="Shape 22"/>
          <p:cNvSpPr/>
          <p:nvPr/>
        </p:nvSpPr>
        <p:spPr>
          <a:xfrm flipV="1">
            <a:off x="8572500" y="4191000"/>
            <a:ext cx="95" cy="1219200"/>
          </a:xfrm>
          <a:prstGeom prst="line">
            <a:avLst/>
          </a:prstGeom>
          <a:noFill/>
          <a:ln w="31750">
            <a:solidFill>
              <a:srgbClr val="E8783F"/>
            </a:solidFill>
            <a:prstDash val="dash"/>
          </a:ln>
        </p:spPr>
      </p:sp>
      <p:sp>
        <p:nvSpPr>
          <p:cNvPr id="25" name="Shape 23"/>
          <p:cNvSpPr/>
          <p:nvPr/>
        </p:nvSpPr>
        <p:spPr>
          <a:xfrm flipH="1">
            <a:off x="6667500" y="4191000"/>
            <a:ext cx="1905000" cy="95"/>
          </a:xfrm>
          <a:prstGeom prst="line">
            <a:avLst/>
          </a:prstGeom>
          <a:noFill/>
          <a:ln w="31750">
            <a:solidFill>
              <a:srgbClr val="E8783F"/>
            </a:solidFill>
            <a:prstDash val="dash"/>
          </a:ln>
        </p:spPr>
      </p:sp>
      <p:sp>
        <p:nvSpPr>
          <p:cNvPr id="26" name="Shape 24"/>
          <p:cNvSpPr/>
          <p:nvPr/>
        </p:nvSpPr>
        <p:spPr>
          <a:xfrm flipV="1">
            <a:off x="6667500" y="3905250"/>
            <a:ext cx="95" cy="285750"/>
          </a:xfrm>
          <a:prstGeom prst="line">
            <a:avLst/>
          </a:prstGeom>
          <a:noFill/>
          <a:ln w="31750">
            <a:solidFill>
              <a:srgbClr val="E8783F"/>
            </a:solidFill>
            <a:prstDash val="dash"/>
            <a:tailEnd type="triangle"/>
          </a:ln>
        </p:spPr>
      </p:sp>
      <p:sp>
        <p:nvSpPr>
          <p:cNvPr id="27" name="Text 25"/>
          <p:cNvSpPr txBox="1"/>
          <p:nvPr/>
        </p:nvSpPr>
        <p:spPr>
          <a:xfrm>
            <a:off x="6858000" y="4229100"/>
            <a:ext cx="1619250" cy="247650"/>
          </a:xfrm>
          <a:prstGeom prst="rect">
            <a:avLst/>
          </a:prstGeom>
          <a:noFill/>
          <a:ln/>
        </p:spPr>
        <p:txBody>
          <a:bodyPr wrap="square" lIns="0" tIns="0" rIns="0" bIns="0" rtlCol="0" anchor="ctr"/>
          <a:lstStyle/>
          <a:p>
            <a:pPr algn="l" indent="0" marL="0">
              <a:buNone/>
            </a:pPr>
            <a:r>
              <a:rPr lang="en-US" sz="1300" b="1" dirty="0">
                <a:solidFill>
                  <a:srgbClr val="E8783F"/>
                </a:solidFill>
                <a:latin typeface="Yu Gothic" pitchFamily="34" charset="0"/>
                <a:ea typeface="Yu Gothic" pitchFamily="34" charset="-122"/>
                <a:cs typeface="Yu Gothic" pitchFamily="34" charset="-120"/>
              </a:rPr>
              <a:t>今の角度を返す</a:t>
            </a:r>
            <a:endParaRPr lang="en-US" sz="1300" dirty="0"/>
          </a:p>
        </p:txBody>
      </p:sp>
      <p:sp>
        <p:nvSpPr>
          <p:cNvPr id="28" name="Shape 26"/>
          <p:cNvSpPr/>
          <p:nvPr/>
        </p:nvSpPr>
        <p:spPr>
          <a:xfrm flipH="1">
            <a:off x="1724025" y="5143500"/>
            <a:ext cx="2714625" cy="95"/>
          </a:xfrm>
          <a:prstGeom prst="line">
            <a:avLst/>
          </a:prstGeom>
          <a:noFill/>
          <a:ln w="31750">
            <a:solidFill>
              <a:srgbClr val="32A5B5"/>
            </a:solidFill>
            <a:prstDash val="dash"/>
          </a:ln>
        </p:spPr>
      </p:sp>
      <p:sp>
        <p:nvSpPr>
          <p:cNvPr id="29" name="Shape 27"/>
          <p:cNvSpPr/>
          <p:nvPr/>
        </p:nvSpPr>
        <p:spPr>
          <a:xfrm flipV="1">
            <a:off x="1724025" y="3810000"/>
            <a:ext cx="95" cy="1333500"/>
          </a:xfrm>
          <a:prstGeom prst="line">
            <a:avLst/>
          </a:prstGeom>
          <a:noFill/>
          <a:ln w="31750">
            <a:solidFill>
              <a:srgbClr val="32A5B5"/>
            </a:solidFill>
            <a:prstDash val="dash"/>
            <a:tailEnd type="triangle"/>
          </a:ln>
        </p:spPr>
      </p:sp>
      <p:sp>
        <p:nvSpPr>
          <p:cNvPr id="30" name="Text 28"/>
          <p:cNvSpPr txBox="1"/>
          <p:nvPr/>
        </p:nvSpPr>
        <p:spPr>
          <a:xfrm>
            <a:off x="1866900" y="5200650"/>
            <a:ext cx="2476500" cy="247650"/>
          </a:xfrm>
          <a:prstGeom prst="rect">
            <a:avLst/>
          </a:prstGeom>
          <a:noFill/>
          <a:ln/>
        </p:spPr>
        <p:txBody>
          <a:bodyPr wrap="square" lIns="0" tIns="0" rIns="0" bIns="0" rtlCol="0" anchor="ctr"/>
          <a:lstStyle/>
          <a:p>
            <a:pPr algn="l" indent="0" marL="0">
              <a:buNone/>
            </a:pPr>
            <a:r>
              <a:rPr lang="en-US" sz="1300" b="1" dirty="0">
                <a:solidFill>
                  <a:srgbClr val="32A5B5"/>
                </a:solidFill>
                <a:latin typeface="Yu Gothic" pitchFamily="34" charset="0"/>
                <a:ea typeface="Yu Gothic" pitchFamily="34" charset="-122"/>
                <a:cs typeface="Yu Gothic" pitchFamily="34" charset="-120"/>
              </a:rPr>
              <a:t>体の動きをカメラが測る</a:t>
            </a:r>
            <a:endParaRPr lang="en-US" sz="1300" dirty="0"/>
          </a:p>
        </p:txBody>
      </p:sp>
      <p:sp>
        <p:nvSpPr>
          <p:cNvPr id="31" name="Text 29"/>
          <p:cNvSpPr txBox="1"/>
          <p:nvPr/>
        </p:nvSpPr>
        <p:spPr>
          <a:xfrm>
            <a:off x="628650" y="5810250"/>
            <a:ext cx="3810000" cy="228600"/>
          </a:xfrm>
          <a:prstGeom prst="rect">
            <a:avLst/>
          </a:prstGeom>
          <a:noFill/>
          <a:ln/>
        </p:spPr>
        <p:txBody>
          <a:bodyPr wrap="square" lIns="0" tIns="0" rIns="0" bIns="0" rtlCol="0" anchor="ctr"/>
          <a:lstStyle/>
          <a:p>
            <a:pPr algn="l" indent="0" marL="0">
              <a:buNone/>
            </a:pPr>
            <a:r>
              <a:rPr lang="en-US" sz="1300" dirty="0">
                <a:solidFill>
                  <a:srgbClr val="5E6A73"/>
                </a:solidFill>
                <a:latin typeface="Yu Gothic" pitchFamily="34" charset="0"/>
                <a:ea typeface="Yu Gothic" pitchFamily="34" charset="-122"/>
                <a:cs typeface="Yu Gothic" pitchFamily="34" charset="-120"/>
              </a:rPr>
              <a:t>実線：指令　破線：フィードバック</a:t>
            </a:r>
            <a:endParaRPr lang="en-US" sz="1300" dirty="0"/>
          </a:p>
        </p:txBody>
      </p:sp>
      <p:sp>
        <p:nvSpPr>
          <p:cNvPr id="32" name="Text 30"/>
          <p:cNvSpPr txBox="1"/>
          <p:nvPr/>
        </p:nvSpPr>
        <p:spPr>
          <a:xfrm>
            <a:off x="628650" y="6057900"/>
            <a:ext cx="10934700" cy="381000"/>
          </a:xfrm>
          <a:prstGeom prst="rect">
            <a:avLst/>
          </a:prstGeom>
          <a:noFill/>
          <a:ln/>
        </p:spPr>
        <p:txBody>
          <a:bodyPr wrap="square" lIns="0" tIns="0" rIns="0" bIns="0" rtlCol="0" anchor="t"/>
          <a:lstStyle/>
          <a:p>
            <a:pPr algn="l" indent="0" marL="0">
              <a:buNone/>
            </a:pPr>
            <a:r>
              <a:rPr lang="en-US" sz="1200" dirty="0">
                <a:solidFill>
                  <a:srgbClr val="5E6A73"/>
                </a:solidFill>
                <a:latin typeface="Yu Gothic" pitchFamily="34" charset="0"/>
                <a:ea typeface="Yu Gothic" pitchFamily="34" charset="-122"/>
                <a:cs typeface="Yu Gothic" pitchFamily="34" charset="-120"/>
              </a:rPr>
              <a:t>※ 現在の実機試験はノートPCで同じプログラムを動かし、速度は固定値で指示。プロコン操作は Jetson 単体で確認済み</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強化学習とは：ほめる・叱るで歩き方を覚えさせる</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1047750" y="1619250"/>
            <a:ext cx="2095500" cy="476250"/>
          </a:xfrm>
          <a:prstGeom prst="roundRect">
            <a:avLst>
              <a:gd name="adj" fmla="val 38400"/>
            </a:avLst>
          </a:prstGeom>
          <a:solidFill>
            <a:srgbClr val="1C5A85"/>
          </a:solidFill>
          <a:ln/>
        </p:spPr>
        <p:txBody>
          <a:bodyPr wrap="square" lIns="0" tIns="0" rIns="0" bIns="0" rtlCol="0" anchor="ctr"/>
          <a:lstStyle/>
          <a:p>
            <a:pPr algn="ctr" indent="0" marL="0">
              <a:buNone/>
            </a:pPr>
            <a:r>
              <a:rPr lang="en-US" sz="2100" b="1" dirty="0">
                <a:solidFill>
                  <a:srgbClr val="FFFFFF"/>
                </a:solidFill>
                <a:latin typeface="Yu Gothic" pitchFamily="34" charset="0"/>
                <a:ea typeface="Yu Gothic" pitchFamily="34" charset="-122"/>
                <a:cs typeface="Yu Gothic" pitchFamily="34" charset="-120"/>
              </a:rPr>
              <a:t>やってみる</a:t>
            </a:r>
            <a:endParaRPr lang="en-US" sz="2100" dirty="0"/>
          </a:p>
        </p:txBody>
      </p:sp>
      <p:sp>
        <p:nvSpPr>
          <p:cNvPr id="7" name="Text 5"/>
          <p:cNvSpPr txBox="1"/>
          <p:nvPr/>
        </p:nvSpPr>
        <p:spPr>
          <a:xfrm>
            <a:off x="857250" y="2133600"/>
            <a:ext cx="2476500" cy="285750"/>
          </a:xfrm>
          <a:prstGeom prst="rect">
            <a:avLst/>
          </a:prstGeom>
          <a:noFill/>
          <a:ln/>
        </p:spPr>
        <p:txBody>
          <a:bodyPr wrap="square" lIns="0" tIns="0" rIns="0" bIns="0" rtlCol="0" anchor="ctr"/>
          <a:lstStyle/>
          <a:p>
            <a:pPr algn="ctr" indent="0" marL="0">
              <a:buNone/>
            </a:pPr>
            <a:r>
              <a:rPr lang="en-US" sz="1400" dirty="0">
                <a:solidFill>
                  <a:srgbClr val="17212B"/>
                </a:solidFill>
                <a:latin typeface="Yu Gothic" pitchFamily="34" charset="0"/>
                <a:ea typeface="Yu Gothic" pitchFamily="34" charset="-122"/>
                <a:cs typeface="Yu Gothic" pitchFamily="34" charset="-120"/>
              </a:rPr>
              <a:t>方策が関節を動かす</a:t>
            </a:r>
            <a:endParaRPr lang="en-US" sz="1400" dirty="0"/>
          </a:p>
        </p:txBody>
      </p:sp>
      <p:sp>
        <p:nvSpPr>
          <p:cNvPr id="8" name="Text 6"/>
          <p:cNvSpPr txBox="1"/>
          <p:nvPr/>
        </p:nvSpPr>
        <p:spPr>
          <a:xfrm>
            <a:off x="1047750" y="4191000"/>
            <a:ext cx="2095500" cy="476250"/>
          </a:xfrm>
          <a:prstGeom prst="roundRect">
            <a:avLst>
              <a:gd name="adj" fmla="val 38400"/>
            </a:avLst>
          </a:prstGeom>
          <a:solidFill>
            <a:srgbClr val="E8783F"/>
          </a:solidFill>
          <a:ln/>
        </p:spPr>
        <p:txBody>
          <a:bodyPr wrap="square" lIns="0" tIns="0" rIns="0" bIns="0" rtlCol="0" anchor="ctr"/>
          <a:lstStyle/>
          <a:p>
            <a:pPr algn="ctr" indent="0" marL="0">
              <a:buNone/>
            </a:pPr>
            <a:r>
              <a:rPr lang="en-US" sz="2100" b="1" dirty="0">
                <a:solidFill>
                  <a:srgbClr val="FFFFFF"/>
                </a:solidFill>
                <a:latin typeface="Yu Gothic" pitchFamily="34" charset="0"/>
                <a:ea typeface="Yu Gothic" pitchFamily="34" charset="-122"/>
                <a:cs typeface="Yu Gothic" pitchFamily="34" charset="-120"/>
              </a:rPr>
              <a:t>採点する</a:t>
            </a:r>
            <a:endParaRPr lang="en-US" sz="2100" dirty="0"/>
          </a:p>
        </p:txBody>
      </p:sp>
      <p:sp>
        <p:nvSpPr>
          <p:cNvPr id="9" name="Text 7"/>
          <p:cNvSpPr txBox="1"/>
          <p:nvPr/>
        </p:nvSpPr>
        <p:spPr>
          <a:xfrm>
            <a:off x="857250" y="4705350"/>
            <a:ext cx="2476500" cy="285750"/>
          </a:xfrm>
          <a:prstGeom prst="rect">
            <a:avLst/>
          </a:prstGeom>
          <a:noFill/>
          <a:ln/>
        </p:spPr>
        <p:txBody>
          <a:bodyPr wrap="square" lIns="0" tIns="0" rIns="0" bIns="0" rtlCol="0" anchor="ctr"/>
          <a:lstStyle/>
          <a:p>
            <a:pPr algn="ctr" indent="0" marL="0">
              <a:buNone/>
            </a:pPr>
            <a:r>
              <a:rPr lang="en-US" sz="1400" dirty="0">
                <a:solidFill>
                  <a:srgbClr val="17212B"/>
                </a:solidFill>
                <a:latin typeface="Yu Gothic" pitchFamily="34" charset="0"/>
                <a:ea typeface="Yu Gothic" pitchFamily="34" charset="-122"/>
                <a:cs typeface="Yu Gothic" pitchFamily="34" charset="-120"/>
              </a:rPr>
              <a:t>報酬でほめる・叱る</a:t>
            </a:r>
            <a:endParaRPr lang="en-US" sz="1400" dirty="0"/>
          </a:p>
        </p:txBody>
      </p:sp>
      <p:sp>
        <p:nvSpPr>
          <p:cNvPr id="10" name="Text 8"/>
          <p:cNvSpPr txBox="1"/>
          <p:nvPr/>
        </p:nvSpPr>
        <p:spPr>
          <a:xfrm>
            <a:off x="4095750" y="2905125"/>
            <a:ext cx="2095500" cy="476250"/>
          </a:xfrm>
          <a:prstGeom prst="roundRect">
            <a:avLst>
              <a:gd name="adj" fmla="val 38400"/>
            </a:avLst>
          </a:prstGeom>
          <a:solidFill>
            <a:srgbClr val="32A5B5"/>
          </a:solidFill>
          <a:ln/>
        </p:spPr>
        <p:txBody>
          <a:bodyPr wrap="square" lIns="0" tIns="0" rIns="0" bIns="0" rtlCol="0" anchor="ctr"/>
          <a:lstStyle/>
          <a:p>
            <a:pPr algn="ctr" indent="0" marL="0">
              <a:buNone/>
            </a:pPr>
            <a:r>
              <a:rPr lang="en-US" sz="2100" b="1" dirty="0">
                <a:solidFill>
                  <a:srgbClr val="FFFFFF"/>
                </a:solidFill>
                <a:latin typeface="Yu Gothic" pitchFamily="34" charset="0"/>
                <a:ea typeface="Yu Gothic" pitchFamily="34" charset="-122"/>
                <a:cs typeface="Yu Gothic" pitchFamily="34" charset="-120"/>
              </a:rPr>
              <a:t>少し直す</a:t>
            </a:r>
            <a:endParaRPr lang="en-US" sz="2100" dirty="0"/>
          </a:p>
        </p:txBody>
      </p:sp>
      <p:sp>
        <p:nvSpPr>
          <p:cNvPr id="11" name="Text 9"/>
          <p:cNvSpPr txBox="1"/>
          <p:nvPr/>
        </p:nvSpPr>
        <p:spPr>
          <a:xfrm>
            <a:off x="3905250" y="2600325"/>
            <a:ext cx="2476500" cy="285750"/>
          </a:xfrm>
          <a:prstGeom prst="rect">
            <a:avLst/>
          </a:prstGeom>
          <a:noFill/>
          <a:ln/>
        </p:spPr>
        <p:txBody>
          <a:bodyPr wrap="square" lIns="0" tIns="0" rIns="0" bIns="0" rtlCol="0" anchor="ctr"/>
          <a:lstStyle/>
          <a:p>
            <a:pPr algn="ctr" indent="0" marL="0">
              <a:buNone/>
            </a:pPr>
            <a:r>
              <a:rPr lang="en-US" sz="1400" dirty="0">
                <a:solidFill>
                  <a:srgbClr val="17212B"/>
                </a:solidFill>
                <a:latin typeface="Yu Gothic" pitchFamily="34" charset="0"/>
                <a:ea typeface="Yu Gothic" pitchFamily="34" charset="-122"/>
                <a:cs typeface="Yu Gothic" pitchFamily="34" charset="-120"/>
              </a:rPr>
              <a:t>点が上がる方へ方策を修正</a:t>
            </a:r>
            <a:endParaRPr lang="en-US" sz="1400" dirty="0"/>
          </a:p>
        </p:txBody>
      </p:sp>
      <p:sp>
        <p:nvSpPr>
          <p:cNvPr id="12" name="Shape 10"/>
          <p:cNvSpPr/>
          <p:nvPr/>
        </p:nvSpPr>
        <p:spPr>
          <a:xfrm>
            <a:off x="2095500" y="2438400"/>
            <a:ext cx="95" cy="1695450"/>
          </a:xfrm>
          <a:prstGeom prst="line">
            <a:avLst/>
          </a:prstGeom>
          <a:noFill/>
          <a:ln w="38100">
            <a:solidFill>
              <a:srgbClr val="B7C7D1"/>
            </a:solidFill>
            <a:prstDash val="solid"/>
            <a:tailEnd type="triangle"/>
          </a:ln>
        </p:spPr>
      </p:sp>
      <p:sp>
        <p:nvSpPr>
          <p:cNvPr id="13" name="Shape 11"/>
          <p:cNvSpPr/>
          <p:nvPr/>
        </p:nvSpPr>
        <p:spPr>
          <a:xfrm flipV="1">
            <a:off x="3162300" y="3409950"/>
            <a:ext cx="1219200" cy="971550"/>
          </a:xfrm>
          <a:prstGeom prst="line">
            <a:avLst/>
          </a:prstGeom>
          <a:noFill/>
          <a:ln w="38100">
            <a:solidFill>
              <a:srgbClr val="B7C7D1"/>
            </a:solidFill>
            <a:prstDash val="solid"/>
            <a:tailEnd type="triangle"/>
          </a:ln>
        </p:spPr>
      </p:sp>
      <p:sp>
        <p:nvSpPr>
          <p:cNvPr id="14" name="Shape 12"/>
          <p:cNvSpPr/>
          <p:nvPr/>
        </p:nvSpPr>
        <p:spPr>
          <a:xfrm flipH="1" flipV="1">
            <a:off x="3162300" y="1952625"/>
            <a:ext cx="914400" cy="1076325"/>
          </a:xfrm>
          <a:prstGeom prst="line">
            <a:avLst/>
          </a:prstGeom>
          <a:noFill/>
          <a:ln w="38100">
            <a:solidFill>
              <a:srgbClr val="B7C7D1"/>
            </a:solidFill>
            <a:prstDash val="solid"/>
            <a:tailEnd type="triangle"/>
          </a:ln>
        </p:spPr>
      </p:sp>
      <p:sp>
        <p:nvSpPr>
          <p:cNvPr id="15" name="Text 13"/>
          <p:cNvSpPr txBox="1"/>
          <p:nvPr/>
        </p:nvSpPr>
        <p:spPr>
          <a:xfrm>
            <a:off x="2247900" y="3048000"/>
            <a:ext cx="1428750" cy="571500"/>
          </a:xfrm>
          <a:prstGeom prst="rect">
            <a:avLst/>
          </a:prstGeom>
          <a:noFill/>
          <a:ln/>
        </p:spPr>
        <p:txBody>
          <a:bodyPr wrap="square" lIns="0" tIns="0" rIns="0" bIns="0" rtlCol="0" anchor="ctr"/>
          <a:lstStyle/>
          <a:p>
            <a:pPr algn="ctr" indent="0" marL="0">
              <a:buNone/>
            </a:pPr>
            <a:r>
              <a:rPr lang="en-US" sz="1500" b="1" dirty="0">
                <a:solidFill>
                  <a:srgbClr val="5E6A73"/>
                </a:solidFill>
                <a:latin typeface="Yu Gothic" pitchFamily="34" charset="0"/>
                <a:ea typeface="Yu Gothic" pitchFamily="34" charset="-122"/>
                <a:cs typeface="Yu Gothic" pitchFamily="34" charset="-120"/>
              </a:rPr>
              <a:t>何百万回も</a:t>
            </a:r>
            <a:endParaRPr lang="en-US" sz="1500" dirty="0"/>
          </a:p>
          <a:p>
            <a:pPr algn="ctr" indent="0" marL="0">
              <a:buNone/>
            </a:pPr>
            <a:r>
              <a:rPr lang="en-US" sz="1500" b="1" dirty="0">
                <a:solidFill>
                  <a:srgbClr val="5E6A73"/>
                </a:solidFill>
                <a:latin typeface="Yu Gothic" pitchFamily="34" charset="0"/>
                <a:ea typeface="Yu Gothic" pitchFamily="34" charset="-122"/>
                <a:cs typeface="Yu Gothic" pitchFamily="34" charset="-120"/>
              </a:rPr>
              <a:t>くり返す</a:t>
            </a:r>
            <a:endParaRPr lang="en-US" sz="1500" dirty="0"/>
          </a:p>
        </p:txBody>
      </p:sp>
      <p:sp>
        <p:nvSpPr>
          <p:cNvPr id="16" name="Text 14"/>
          <p:cNvSpPr txBox="1"/>
          <p:nvPr/>
        </p:nvSpPr>
        <p:spPr>
          <a:xfrm>
            <a:off x="6858000" y="1333500"/>
            <a:ext cx="4705350" cy="323850"/>
          </a:xfrm>
          <a:prstGeom prst="rect">
            <a:avLst/>
          </a:prstGeom>
          <a:noFill/>
          <a:ln/>
        </p:spPr>
        <p:txBody>
          <a:bodyPr wrap="square" lIns="0" tIns="0" rIns="0" bIns="0" rtlCol="0" anchor="ctr"/>
          <a:lstStyle/>
          <a:p>
            <a:pPr algn="l" indent="0" marL="0">
              <a:buNone/>
            </a:pPr>
            <a:r>
              <a:rPr lang="en-US" sz="2100" b="1" dirty="0">
                <a:solidFill>
                  <a:srgbClr val="102B46"/>
                </a:solidFill>
                <a:latin typeface="Yu Gothic" pitchFamily="34" charset="0"/>
                <a:ea typeface="Yu Gothic" pitchFamily="34" charset="-122"/>
                <a:cs typeface="Yu Gothic" pitchFamily="34" charset="-120"/>
              </a:rPr>
              <a:t>人が用意するのは 3 つだけ</a:t>
            </a:r>
            <a:endParaRPr lang="en-US" sz="2100" dirty="0"/>
          </a:p>
        </p:txBody>
      </p:sp>
      <p:sp>
        <p:nvSpPr>
          <p:cNvPr id="17" name="Shape 15"/>
          <p:cNvSpPr/>
          <p:nvPr/>
        </p:nvSpPr>
        <p:spPr>
          <a:xfrm>
            <a:off x="6858000" y="1771650"/>
            <a:ext cx="4705350" cy="971550"/>
          </a:xfrm>
          <a:prstGeom prst="rect">
            <a:avLst/>
          </a:prstGeom>
          <a:solidFill>
            <a:srgbClr val="E8F1F5"/>
          </a:solidFill>
          <a:ln w="12700">
            <a:solidFill>
              <a:srgbClr val="B7C7D1"/>
            </a:solidFill>
            <a:prstDash val="solid"/>
          </a:ln>
        </p:spPr>
      </p:sp>
      <p:sp>
        <p:nvSpPr>
          <p:cNvPr id="18" name="Text 16"/>
          <p:cNvSpPr txBox="1"/>
          <p:nvPr/>
        </p:nvSpPr>
        <p:spPr>
          <a:xfrm>
            <a:off x="7029450" y="2038350"/>
            <a:ext cx="419100" cy="4191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19" name="Text 17"/>
          <p:cNvSpPr txBox="1"/>
          <p:nvPr/>
        </p:nvSpPr>
        <p:spPr>
          <a:xfrm>
            <a:off x="7581900" y="1866900"/>
            <a:ext cx="3810000" cy="342900"/>
          </a:xfrm>
          <a:prstGeom prst="rect">
            <a:avLst/>
          </a:prstGeom>
          <a:noFill/>
          <a:ln/>
        </p:spPr>
        <p:txBody>
          <a:bodyPr wrap="square" lIns="0" tIns="0" rIns="0" bIns="0" rtlCol="0" anchor="ctr"/>
          <a:lstStyle/>
          <a:p>
            <a:pPr algn="l" indent="0" marL="0">
              <a:buNone/>
            </a:pPr>
            <a:r>
              <a:rPr lang="en-US" sz="2000" b="1" dirty="0">
                <a:solidFill>
                  <a:srgbClr val="102B46"/>
                </a:solidFill>
                <a:latin typeface="Yu Gothic" pitchFamily="34" charset="0"/>
                <a:ea typeface="Yu Gothic" pitchFamily="34" charset="-122"/>
                <a:cs typeface="Yu Gothic" pitchFamily="34" charset="-120"/>
              </a:rPr>
              <a:t>ロボットのモデル（URDF）</a:t>
            </a:r>
            <a:endParaRPr lang="en-US" sz="2000" dirty="0"/>
          </a:p>
        </p:txBody>
      </p:sp>
      <p:sp>
        <p:nvSpPr>
          <p:cNvPr id="20" name="Text 18"/>
          <p:cNvSpPr txBox="1"/>
          <p:nvPr/>
        </p:nvSpPr>
        <p:spPr>
          <a:xfrm>
            <a:off x="7581900" y="2228850"/>
            <a:ext cx="3810000" cy="476250"/>
          </a:xfrm>
          <a:prstGeom prst="rect">
            <a:avLst/>
          </a:prstGeom>
          <a:noFill/>
          <a:ln/>
        </p:spPr>
        <p:txBody>
          <a:bodyPr wrap="square" lIns="0" tIns="0" rIns="0" bIns="0" rtlCol="0" anchor="t"/>
          <a:lstStyle/>
          <a:p>
            <a:pPr algn="l" indent="0" marL="0">
              <a:buNone/>
            </a:pPr>
            <a:r>
              <a:rPr lang="en-US" sz="1500" dirty="0">
                <a:solidFill>
                  <a:srgbClr val="17212B"/>
                </a:solidFill>
                <a:latin typeface="Yu Gothic" pitchFamily="34" charset="0"/>
                <a:ea typeface="Yu Gothic" pitchFamily="34" charset="-122"/>
                <a:cs typeface="Yu Gothic" pitchFamily="34" charset="-120"/>
              </a:rPr>
              <a:t>CAD から作った形・重さ・関節</a:t>
            </a:r>
            <a:endParaRPr lang="en-US" sz="1500" dirty="0"/>
          </a:p>
        </p:txBody>
      </p:sp>
      <p:sp>
        <p:nvSpPr>
          <p:cNvPr id="21" name="Shape 19"/>
          <p:cNvSpPr/>
          <p:nvPr/>
        </p:nvSpPr>
        <p:spPr>
          <a:xfrm>
            <a:off x="6858000" y="2895600"/>
            <a:ext cx="4705350" cy="971550"/>
          </a:xfrm>
          <a:prstGeom prst="rect">
            <a:avLst/>
          </a:prstGeom>
          <a:solidFill>
            <a:srgbClr val="E8F1F5"/>
          </a:solidFill>
          <a:ln w="12700">
            <a:solidFill>
              <a:srgbClr val="B7C7D1"/>
            </a:solidFill>
            <a:prstDash val="solid"/>
          </a:ln>
        </p:spPr>
      </p:sp>
      <p:sp>
        <p:nvSpPr>
          <p:cNvPr id="22" name="Text 20"/>
          <p:cNvSpPr txBox="1"/>
          <p:nvPr/>
        </p:nvSpPr>
        <p:spPr>
          <a:xfrm>
            <a:off x="7029450" y="3162300"/>
            <a:ext cx="419100" cy="4191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23" name="Text 21"/>
          <p:cNvSpPr txBox="1"/>
          <p:nvPr/>
        </p:nvSpPr>
        <p:spPr>
          <a:xfrm>
            <a:off x="7581900" y="2990850"/>
            <a:ext cx="3810000" cy="342900"/>
          </a:xfrm>
          <a:prstGeom prst="rect">
            <a:avLst/>
          </a:prstGeom>
          <a:noFill/>
          <a:ln/>
        </p:spPr>
        <p:txBody>
          <a:bodyPr wrap="square" lIns="0" tIns="0" rIns="0" bIns="0" rtlCol="0" anchor="ctr"/>
          <a:lstStyle/>
          <a:p>
            <a:pPr algn="l" indent="0" marL="0">
              <a:buNone/>
            </a:pPr>
            <a:r>
              <a:rPr lang="en-US" sz="2000" b="1" dirty="0">
                <a:solidFill>
                  <a:srgbClr val="102B46"/>
                </a:solidFill>
                <a:latin typeface="Yu Gothic" pitchFamily="34" charset="0"/>
                <a:ea typeface="Yu Gothic" pitchFamily="34" charset="-122"/>
                <a:cs typeface="Yu Gothic" pitchFamily="34" charset="-120"/>
              </a:rPr>
              <a:t>練習する環境</a:t>
            </a:r>
            <a:endParaRPr lang="en-US" sz="2000" dirty="0"/>
          </a:p>
        </p:txBody>
      </p:sp>
      <p:sp>
        <p:nvSpPr>
          <p:cNvPr id="24" name="Text 22"/>
          <p:cNvSpPr txBox="1"/>
          <p:nvPr/>
        </p:nvSpPr>
        <p:spPr>
          <a:xfrm>
            <a:off x="7581900" y="3352800"/>
            <a:ext cx="3810000" cy="476250"/>
          </a:xfrm>
          <a:prstGeom prst="rect">
            <a:avLst/>
          </a:prstGeom>
          <a:noFill/>
          <a:ln/>
        </p:spPr>
        <p:txBody>
          <a:bodyPr wrap="square" lIns="0" tIns="0" rIns="0" bIns="0" rtlCol="0" anchor="t"/>
          <a:lstStyle/>
          <a:p>
            <a:pPr algn="l" indent="0" marL="0">
              <a:buNone/>
            </a:pPr>
            <a:r>
              <a:rPr lang="en-US" sz="1500" dirty="0">
                <a:solidFill>
                  <a:srgbClr val="17212B"/>
                </a:solidFill>
                <a:latin typeface="Yu Gothic" pitchFamily="34" charset="0"/>
                <a:ea typeface="Yu Gothic" pitchFamily="34" charset="-122"/>
                <a:cs typeface="Yu Gothic" pitchFamily="34" charset="-120"/>
              </a:rPr>
              <a:t>地形、床の滑りやすさ・重さ・押される力を毎回変える</a:t>
            </a:r>
            <a:endParaRPr lang="en-US" sz="1500" dirty="0"/>
          </a:p>
        </p:txBody>
      </p:sp>
      <p:sp>
        <p:nvSpPr>
          <p:cNvPr id="25" name="Shape 23"/>
          <p:cNvSpPr/>
          <p:nvPr/>
        </p:nvSpPr>
        <p:spPr>
          <a:xfrm>
            <a:off x="6858000" y="4019550"/>
            <a:ext cx="4705350" cy="971550"/>
          </a:xfrm>
          <a:prstGeom prst="rect">
            <a:avLst/>
          </a:prstGeom>
          <a:solidFill>
            <a:srgbClr val="F3EEE6"/>
          </a:solidFill>
          <a:ln w="12700">
            <a:solidFill>
              <a:srgbClr val="E8783F"/>
            </a:solidFill>
            <a:prstDash val="solid"/>
          </a:ln>
        </p:spPr>
      </p:sp>
      <p:sp>
        <p:nvSpPr>
          <p:cNvPr id="26" name="Text 24"/>
          <p:cNvSpPr txBox="1"/>
          <p:nvPr/>
        </p:nvSpPr>
        <p:spPr>
          <a:xfrm>
            <a:off x="7029450" y="4286250"/>
            <a:ext cx="419100" cy="419100"/>
          </a:xfrm>
          <a:prstGeom prst="ellipse">
            <a:avLst/>
          </a:prstGeom>
          <a:solidFill>
            <a:srgbClr val="E8783F"/>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27" name="Text 25"/>
          <p:cNvSpPr txBox="1"/>
          <p:nvPr/>
        </p:nvSpPr>
        <p:spPr>
          <a:xfrm>
            <a:off x="7581900" y="4114800"/>
            <a:ext cx="3810000" cy="342900"/>
          </a:xfrm>
          <a:prstGeom prst="rect">
            <a:avLst/>
          </a:prstGeom>
          <a:noFill/>
          <a:ln/>
        </p:spPr>
        <p:txBody>
          <a:bodyPr wrap="square" lIns="0" tIns="0" rIns="0" bIns="0" rtlCol="0" anchor="ctr"/>
          <a:lstStyle/>
          <a:p>
            <a:pPr algn="l" indent="0" marL="0">
              <a:buNone/>
            </a:pPr>
            <a:r>
              <a:rPr lang="en-US" sz="2000" b="1" dirty="0">
                <a:solidFill>
                  <a:srgbClr val="102B46"/>
                </a:solidFill>
                <a:latin typeface="Yu Gothic" pitchFamily="34" charset="0"/>
                <a:ea typeface="Yu Gothic" pitchFamily="34" charset="-122"/>
                <a:cs typeface="Yu Gothic" pitchFamily="34" charset="-120"/>
              </a:rPr>
              <a:t>報酬</a:t>
            </a:r>
            <a:endParaRPr lang="en-US" sz="2000" dirty="0"/>
          </a:p>
        </p:txBody>
      </p:sp>
      <p:sp>
        <p:nvSpPr>
          <p:cNvPr id="28" name="Text 26"/>
          <p:cNvSpPr txBox="1"/>
          <p:nvPr/>
        </p:nvSpPr>
        <p:spPr>
          <a:xfrm>
            <a:off x="7581900" y="4476750"/>
            <a:ext cx="3810000" cy="476250"/>
          </a:xfrm>
          <a:prstGeom prst="rect">
            <a:avLst/>
          </a:prstGeom>
          <a:noFill/>
          <a:ln/>
        </p:spPr>
        <p:txBody>
          <a:bodyPr wrap="square" lIns="0" tIns="0" rIns="0" bIns="0" rtlCol="0" anchor="t"/>
          <a:lstStyle/>
          <a:p>
            <a:pPr algn="l" indent="0" marL="0">
              <a:buNone/>
            </a:pPr>
            <a:r>
              <a:rPr lang="en-US" sz="1500" dirty="0">
                <a:solidFill>
                  <a:srgbClr val="17212B"/>
                </a:solidFill>
                <a:latin typeface="Yu Gothic" pitchFamily="34" charset="0"/>
                <a:ea typeface="Yu Gothic" pitchFamily="34" charset="-122"/>
                <a:cs typeface="Yu Gothic" pitchFamily="34" charset="-120"/>
              </a:rPr>
              <a:t>何をほめて、何を叱るか</a:t>
            </a:r>
            <a:endParaRPr lang="en-US" sz="1500" dirty="0"/>
          </a:p>
        </p:txBody>
      </p:sp>
      <p:sp>
        <p:nvSpPr>
          <p:cNvPr id="29" name="Text 27"/>
          <p:cNvSpPr txBox="1"/>
          <p:nvPr/>
        </p:nvSpPr>
        <p:spPr>
          <a:xfrm>
            <a:off x="6858000" y="5181600"/>
            <a:ext cx="4705350" cy="533400"/>
          </a:xfrm>
          <a:prstGeom prst="rect">
            <a:avLst/>
          </a:prstGeom>
          <a:noFill/>
          <a:ln/>
        </p:spPr>
        <p:txBody>
          <a:bodyPr wrap="square" lIns="0" tIns="0" rIns="0" bIns="0" rtlCol="0" anchor="t"/>
          <a:lstStyle/>
          <a:p>
            <a:pPr algn="l" indent="0" marL="0">
              <a:buNone/>
            </a:pPr>
            <a:r>
              <a:rPr lang="en-US" sz="1400" dirty="0">
                <a:solidFill>
                  <a:srgbClr val="5E6A73"/>
                </a:solidFill>
                <a:latin typeface="Yu Gothic" pitchFamily="34" charset="0"/>
                <a:ea typeface="Yu Gothic" pitchFamily="34" charset="-122"/>
                <a:cs typeface="Yu Gothic" pitchFamily="34" charset="-120"/>
              </a:rPr>
              <a:t>前回までの学習結果を引き継ぎ、地形や指示を変えながら練習を重ねた（合計 25,000 回の更新）</a:t>
            </a:r>
            <a:endParaRPr lang="en-US" sz="1400" dirty="0"/>
          </a:p>
        </p:txBody>
      </p:sp>
      <p:sp>
        <p:nvSpPr>
          <p:cNvPr id="30" name="Text 28"/>
          <p:cNvSpPr txBox="1"/>
          <p:nvPr/>
        </p:nvSpPr>
        <p:spPr>
          <a:xfrm>
            <a:off x="628650" y="5848350"/>
            <a:ext cx="10934700" cy="438150"/>
          </a:xfrm>
          <a:prstGeom prst="rect">
            <a:avLst/>
          </a:prstGeom>
          <a:solidFill>
            <a:srgbClr val="F3EEE6"/>
          </a:solidFill>
          <a:ln/>
        </p:spPr>
        <p:txBody>
          <a:bodyPr wrap="square" lIns="0" tIns="0" rIns="0" bIns="0" rtlCol="0" anchor="ctr"/>
          <a:lstStyle/>
          <a:p>
            <a:pPr algn="ctr" indent="0" marL="0">
              <a:buNone/>
            </a:pPr>
            <a:r>
              <a:rPr lang="en-US" sz="1700" b="1" dirty="0">
                <a:solidFill>
                  <a:srgbClr val="102B46"/>
                </a:solidFill>
                <a:latin typeface="Yu Gothic" pitchFamily="34" charset="0"/>
                <a:ea typeface="Yu Gothic" pitchFamily="34" charset="-122"/>
                <a:cs typeface="Yu Gothic" pitchFamily="34" charset="-120"/>
              </a:rPr>
              <a:t>どう関節を動かせば歩けるかは教えない。点数だけを手がかりに、ロボットが自分で見つける</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ロボットをシミュレーターに入れる</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3467100" cy="323850"/>
          </a:xfrm>
          <a:prstGeom prst="rect">
            <a:avLst/>
          </a:prstGeom>
          <a:noFill/>
          <a:ln/>
        </p:spPr>
        <p:txBody>
          <a:bodyPr wrap="square" lIns="0" tIns="0" rIns="0" bIns="0" rtlCol="0" anchor="ctr"/>
          <a:lstStyle/>
          <a:p>
            <a:pPr algn="ctr" indent="0" marL="0">
              <a:buNone/>
            </a:pPr>
            <a:r>
              <a:rPr lang="en-US" sz="2000" b="1" dirty="0">
                <a:solidFill>
                  <a:srgbClr val="E8783F"/>
                </a:solidFill>
                <a:latin typeface="Yu Gothic" pitchFamily="34" charset="0"/>
                <a:ea typeface="Yu Gothic" pitchFamily="34" charset="-122"/>
                <a:cs typeface="Yu Gothic" pitchFamily="34" charset="-120"/>
              </a:rPr>
              <a:t>CAD（Onshape）</a:t>
            </a:r>
            <a:endParaRPr lang="en-US" sz="2000" dirty="0"/>
          </a:p>
        </p:txBody>
      </p:sp>
      <p:sp>
        <p:nvSpPr>
          <p:cNvPr id="7" name="Shape 5"/>
          <p:cNvSpPr/>
          <p:nvPr/>
        </p:nvSpPr>
        <p:spPr>
          <a:xfrm>
            <a:off x="628650" y="1638300"/>
            <a:ext cx="3467100" cy="2857500"/>
          </a:xfrm>
          <a:prstGeom prst="rect">
            <a:avLst/>
          </a:prstGeom>
          <a:solidFill>
            <a:srgbClr val="FBF7F3"/>
          </a:solidFill>
          <a:ln w="22225">
            <a:solidFill>
              <a:srgbClr val="E8783F"/>
            </a:solidFill>
            <a:prstDash val="dash"/>
          </a:ln>
        </p:spPr>
      </p:sp>
      <p:sp>
        <p:nvSpPr>
          <p:cNvPr id="8" name="Text 6"/>
          <p:cNvSpPr txBox="1"/>
          <p:nvPr/>
        </p:nvSpPr>
        <p:spPr>
          <a:xfrm>
            <a:off x="762000" y="1752600"/>
            <a:ext cx="32004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ここに画像を貼る</a:t>
            </a:r>
            <a:endParaRPr lang="en-US" sz="1500" dirty="0"/>
          </a:p>
        </p:txBody>
      </p:sp>
      <p:sp>
        <p:nvSpPr>
          <p:cNvPr id="9" name="Text 7"/>
          <p:cNvSpPr txBox="1"/>
          <p:nvPr/>
        </p:nvSpPr>
        <p:spPr>
          <a:xfrm>
            <a:off x="762000" y="2038350"/>
            <a:ext cx="3200400" cy="2343150"/>
          </a:xfrm>
          <a:prstGeom prst="rect">
            <a:avLst/>
          </a:prstGeom>
          <a:noFill/>
          <a:ln/>
        </p:spPr>
        <p:txBody>
          <a:bodyPr wrap="square" lIns="0" tIns="0" rIns="0" bIns="0" rtlCol="0" anchor="t"/>
          <a:lstStyle/>
          <a:p>
            <a:pPr algn="l" indent="0" marL="0">
              <a:lnSpc>
                <a:spcPct val="110000"/>
              </a:lnSpc>
              <a:buNone/>
            </a:pPr>
            <a:r>
              <a:rPr lang="en-US" sz="1500" dirty="0">
                <a:solidFill>
                  <a:srgbClr val="5E6A73"/>
                </a:solidFill>
                <a:latin typeface="Yu Gothic" pitchFamily="34" charset="0"/>
                <a:ea typeface="Yu Gothic" pitchFamily="34" charset="-122"/>
                <a:cs typeface="Yu Gothic" pitchFamily="34" charset="-120"/>
              </a:rPr>
              <a:t>設計班の 3D モデルの画面。</a:t>
            </a:r>
            <a:endParaRPr lang="en-US" sz="1500" dirty="0"/>
          </a:p>
        </p:txBody>
      </p:sp>
      <p:sp>
        <p:nvSpPr>
          <p:cNvPr id="10" name="Shape 8"/>
          <p:cNvSpPr/>
          <p:nvPr/>
        </p:nvSpPr>
        <p:spPr>
          <a:xfrm>
            <a:off x="4133850" y="3067050"/>
            <a:ext cx="190500" cy="95"/>
          </a:xfrm>
          <a:prstGeom prst="line">
            <a:avLst/>
          </a:prstGeom>
          <a:noFill/>
          <a:ln w="38100">
            <a:solidFill>
              <a:srgbClr val="102B46"/>
            </a:solidFill>
            <a:prstDash val="solid"/>
            <a:tailEnd type="triangle"/>
          </a:ln>
        </p:spPr>
      </p:sp>
      <p:sp>
        <p:nvSpPr>
          <p:cNvPr id="11" name="Text 9"/>
          <p:cNvSpPr txBox="1"/>
          <p:nvPr/>
        </p:nvSpPr>
        <p:spPr>
          <a:xfrm>
            <a:off x="4362450" y="1257300"/>
            <a:ext cx="3467100" cy="323850"/>
          </a:xfrm>
          <a:prstGeom prst="rect">
            <a:avLst/>
          </a:prstGeom>
          <a:noFill/>
          <a:ln/>
        </p:spPr>
        <p:txBody>
          <a:bodyPr wrap="square" lIns="0" tIns="0" rIns="0" bIns="0" rtlCol="0" anchor="ctr"/>
          <a:lstStyle/>
          <a:p>
            <a:pPr algn="ctr" indent="0" marL="0">
              <a:buNone/>
            </a:pPr>
            <a:r>
              <a:rPr lang="en-US" sz="2000" b="1" dirty="0">
                <a:solidFill>
                  <a:srgbClr val="1C5A85"/>
                </a:solidFill>
                <a:latin typeface="Yu Gothic" pitchFamily="34" charset="0"/>
                <a:ea typeface="Yu Gothic" pitchFamily="34" charset="-122"/>
                <a:cs typeface="Yu Gothic" pitchFamily="34" charset="-120"/>
              </a:rPr>
              <a:t>URDF</a:t>
            </a:r>
            <a:endParaRPr lang="en-US" sz="2000" dirty="0"/>
          </a:p>
        </p:txBody>
      </p:sp>
      <p:sp>
        <p:nvSpPr>
          <p:cNvPr id="12" name="Shape 10"/>
          <p:cNvSpPr/>
          <p:nvPr/>
        </p:nvSpPr>
        <p:spPr>
          <a:xfrm>
            <a:off x="4362450" y="1638300"/>
            <a:ext cx="3467100" cy="2857500"/>
          </a:xfrm>
          <a:prstGeom prst="rect">
            <a:avLst/>
          </a:prstGeom>
          <a:solidFill>
            <a:srgbClr val="FBF7F3"/>
          </a:solidFill>
          <a:ln w="22225">
            <a:solidFill>
              <a:srgbClr val="E8783F"/>
            </a:solidFill>
            <a:prstDash val="dash"/>
          </a:ln>
        </p:spPr>
      </p:sp>
      <p:sp>
        <p:nvSpPr>
          <p:cNvPr id="13" name="Text 11"/>
          <p:cNvSpPr txBox="1"/>
          <p:nvPr/>
        </p:nvSpPr>
        <p:spPr>
          <a:xfrm>
            <a:off x="4495800" y="1752600"/>
            <a:ext cx="32004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ここに画像を貼る</a:t>
            </a:r>
            <a:endParaRPr lang="en-US" sz="1500" dirty="0"/>
          </a:p>
        </p:txBody>
      </p:sp>
      <p:sp>
        <p:nvSpPr>
          <p:cNvPr id="14" name="Text 12"/>
          <p:cNvSpPr txBox="1"/>
          <p:nvPr/>
        </p:nvSpPr>
        <p:spPr>
          <a:xfrm>
            <a:off x="4495800" y="2038350"/>
            <a:ext cx="3200400" cy="2343150"/>
          </a:xfrm>
          <a:prstGeom prst="rect">
            <a:avLst/>
          </a:prstGeom>
          <a:noFill/>
          <a:ln/>
        </p:spPr>
        <p:txBody>
          <a:bodyPr wrap="square" lIns="0" tIns="0" rIns="0" bIns="0" rtlCol="0" anchor="t"/>
          <a:lstStyle/>
          <a:p>
            <a:pPr algn="l" indent="0" marL="0">
              <a:lnSpc>
                <a:spcPct val="110000"/>
              </a:lnSpc>
              <a:buNone/>
            </a:pPr>
            <a:r>
              <a:rPr lang="en-US" sz="1500" dirty="0">
                <a:solidFill>
                  <a:srgbClr val="5E6A73"/>
                </a:solidFill>
                <a:latin typeface="Yu Gothic" pitchFamily="34" charset="0"/>
                <a:ea typeface="Yu Gothic" pitchFamily="34" charset="-122"/>
                <a:cs typeface="Yu Gothic" pitchFamily="34" charset="-120"/>
              </a:rPr>
              <a:t>関節とリンクのつながり（ツリー図や一覧）の画面。</a:t>
            </a:r>
            <a:endParaRPr lang="en-US" sz="1500" dirty="0"/>
          </a:p>
        </p:txBody>
      </p:sp>
      <p:sp>
        <p:nvSpPr>
          <p:cNvPr id="15" name="Shape 13"/>
          <p:cNvSpPr/>
          <p:nvPr/>
        </p:nvSpPr>
        <p:spPr>
          <a:xfrm>
            <a:off x="7867650" y="3067050"/>
            <a:ext cx="190500" cy="95"/>
          </a:xfrm>
          <a:prstGeom prst="line">
            <a:avLst/>
          </a:prstGeom>
          <a:noFill/>
          <a:ln w="38100">
            <a:solidFill>
              <a:srgbClr val="102B46"/>
            </a:solidFill>
            <a:prstDash val="solid"/>
            <a:tailEnd type="triangle"/>
          </a:ln>
        </p:spPr>
      </p:sp>
      <p:sp>
        <p:nvSpPr>
          <p:cNvPr id="16" name="Text 14"/>
          <p:cNvSpPr txBox="1"/>
          <p:nvPr/>
        </p:nvSpPr>
        <p:spPr>
          <a:xfrm>
            <a:off x="8096250" y="1257300"/>
            <a:ext cx="3467100" cy="323850"/>
          </a:xfrm>
          <a:prstGeom prst="rect">
            <a:avLst/>
          </a:prstGeom>
          <a:noFill/>
          <a:ln/>
        </p:spPr>
        <p:txBody>
          <a:bodyPr wrap="square" lIns="0" tIns="0" rIns="0" bIns="0" rtlCol="0" anchor="ctr"/>
          <a:lstStyle/>
          <a:p>
            <a:pPr algn="ctr" indent="0" marL="0">
              <a:buNone/>
            </a:pPr>
            <a:r>
              <a:rPr lang="en-US" sz="2000" b="1" dirty="0">
                <a:solidFill>
                  <a:srgbClr val="32A5B5"/>
                </a:solidFill>
                <a:latin typeface="Yu Gothic" pitchFamily="34" charset="0"/>
                <a:ea typeface="Yu Gothic" pitchFamily="34" charset="-122"/>
                <a:cs typeface="Yu Gothic" pitchFamily="34" charset="-120"/>
              </a:rPr>
              <a:t>Isaac Sim</a:t>
            </a:r>
            <a:endParaRPr lang="en-US" sz="2000" dirty="0"/>
          </a:p>
        </p:txBody>
      </p:sp>
      <p:sp>
        <p:nvSpPr>
          <p:cNvPr id="17" name="Shape 15"/>
          <p:cNvSpPr/>
          <p:nvPr/>
        </p:nvSpPr>
        <p:spPr>
          <a:xfrm>
            <a:off x="8096250" y="1638300"/>
            <a:ext cx="3467100" cy="2857500"/>
          </a:xfrm>
          <a:prstGeom prst="rect">
            <a:avLst/>
          </a:prstGeom>
          <a:solidFill>
            <a:srgbClr val="FBF7F3"/>
          </a:solidFill>
          <a:ln w="22225">
            <a:solidFill>
              <a:srgbClr val="E8783F"/>
            </a:solidFill>
            <a:prstDash val="dash"/>
          </a:ln>
        </p:spPr>
      </p:sp>
      <p:sp>
        <p:nvSpPr>
          <p:cNvPr id="18" name="Text 16"/>
          <p:cNvSpPr txBox="1"/>
          <p:nvPr/>
        </p:nvSpPr>
        <p:spPr>
          <a:xfrm>
            <a:off x="8229600" y="1752600"/>
            <a:ext cx="32004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ここに画像を貼る</a:t>
            </a:r>
            <a:endParaRPr lang="en-US" sz="1500" dirty="0"/>
          </a:p>
        </p:txBody>
      </p:sp>
      <p:sp>
        <p:nvSpPr>
          <p:cNvPr id="19" name="Text 17"/>
          <p:cNvSpPr txBox="1"/>
          <p:nvPr/>
        </p:nvSpPr>
        <p:spPr>
          <a:xfrm>
            <a:off x="8229600" y="2038350"/>
            <a:ext cx="3200400" cy="2343150"/>
          </a:xfrm>
          <a:prstGeom prst="rect">
            <a:avLst/>
          </a:prstGeom>
          <a:noFill/>
          <a:ln/>
        </p:spPr>
        <p:txBody>
          <a:bodyPr wrap="square" lIns="0" tIns="0" rIns="0" bIns="0" rtlCol="0" anchor="t"/>
          <a:lstStyle/>
          <a:p>
            <a:pPr algn="l" indent="0" marL="0">
              <a:lnSpc>
                <a:spcPct val="110000"/>
              </a:lnSpc>
              <a:buNone/>
            </a:pPr>
            <a:r>
              <a:rPr lang="en-US" sz="1500" dirty="0">
                <a:solidFill>
                  <a:srgbClr val="5E6A73"/>
                </a:solidFill>
                <a:latin typeface="Yu Gothic" pitchFamily="34" charset="0"/>
                <a:ea typeface="Yu Gothic" pitchFamily="34" charset="-122"/>
                <a:cs typeface="Yu Gothic" pitchFamily="34" charset="-120"/>
              </a:rPr>
              <a:t>シミュレーター上に立っている自分たちのロボット。</a:t>
            </a:r>
            <a:endParaRPr lang="en-US" sz="1500" dirty="0"/>
          </a:p>
        </p:txBody>
      </p:sp>
      <p:sp>
        <p:nvSpPr>
          <p:cNvPr id="20" name="Text 18"/>
          <p:cNvSpPr txBox="1"/>
          <p:nvPr/>
        </p:nvSpPr>
        <p:spPr>
          <a:xfrm>
            <a:off x="628650" y="4629150"/>
            <a:ext cx="10934700" cy="533400"/>
          </a:xfrm>
          <a:prstGeom prst="rect">
            <a:avLst/>
          </a:prstGeom>
          <a:noFill/>
          <a:ln/>
        </p:spPr>
        <p:txBody>
          <a:bodyPr wrap="square" lIns="0" tIns="0" rIns="0" bIns="0" rtlCol="0" anchor="t"/>
          <a:lstStyle/>
          <a:p>
            <a:pPr algn="l" indent="0" marL="0">
              <a:buNone/>
            </a:pPr>
            <a:r>
              <a:rPr lang="en-US" sz="1600" dirty="0">
                <a:solidFill>
                  <a:srgbClr val="17212B"/>
                </a:solidFill>
                <a:latin typeface="Yu Gothic" pitchFamily="34" charset="0"/>
                <a:ea typeface="Yu Gothic" pitchFamily="34" charset="-122"/>
                <a:cs typeface="Yu Gothic" pitchFamily="34" charset="-120"/>
              </a:rPr>
              <a:t>URDF：ロボットの設計図。ロボットの形・重さ・関節の位置と回る向きを書いたファイル。質量や重心は CAD の材質から自動で計算</a:t>
            </a:r>
            <a:endParaRPr lang="en-US" sz="1600" dirty="0"/>
          </a:p>
        </p:txBody>
      </p:sp>
      <p:sp>
        <p:nvSpPr>
          <p:cNvPr id="21" name="Shape 19"/>
          <p:cNvSpPr/>
          <p:nvPr/>
        </p:nvSpPr>
        <p:spPr>
          <a:xfrm>
            <a:off x="628650" y="5295900"/>
            <a:ext cx="10934700" cy="952500"/>
          </a:xfrm>
          <a:prstGeom prst="rect">
            <a:avLst/>
          </a:prstGeom>
          <a:solidFill>
            <a:srgbClr val="F3EEE6"/>
          </a:solidFill>
          <a:ln w="12700">
            <a:solidFill>
              <a:srgbClr val="E8783F"/>
            </a:solidFill>
            <a:prstDash val="solid"/>
          </a:ln>
        </p:spPr>
      </p:sp>
      <p:sp>
        <p:nvSpPr>
          <p:cNvPr id="22" name="Text 20"/>
          <p:cNvSpPr txBox="1"/>
          <p:nvPr/>
        </p:nvSpPr>
        <p:spPr>
          <a:xfrm>
            <a:off x="857250" y="5372100"/>
            <a:ext cx="2857500" cy="266700"/>
          </a:xfrm>
          <a:prstGeom prst="rect">
            <a:avLst/>
          </a:prstGeom>
          <a:noFill/>
          <a:ln/>
        </p:spPr>
        <p:txBody>
          <a:bodyPr wrap="square" lIns="0" tIns="0" rIns="0" bIns="0" rtlCol="0" anchor="ctr"/>
          <a:lstStyle/>
          <a:p>
            <a:pPr algn="l" indent="0" marL="0">
              <a:buNone/>
            </a:pPr>
            <a:r>
              <a:rPr lang="en-US" sz="1600" b="1" dirty="0">
                <a:solidFill>
                  <a:srgbClr val="E8783F"/>
                </a:solidFill>
                <a:latin typeface="Yu Gothic" pitchFamily="34" charset="0"/>
                <a:ea typeface="Yu Gothic" pitchFamily="34" charset="-122"/>
                <a:cs typeface="Yu Gothic" pitchFamily="34" charset="-120"/>
              </a:rPr>
              <a:t>つまずいた点</a:t>
            </a:r>
            <a:endParaRPr lang="en-US" sz="1600" dirty="0"/>
          </a:p>
        </p:txBody>
      </p:sp>
      <p:sp>
        <p:nvSpPr>
          <p:cNvPr id="23" name="Text 21"/>
          <p:cNvSpPr txBox="1"/>
          <p:nvPr/>
        </p:nvSpPr>
        <p:spPr>
          <a:xfrm>
            <a:off x="857250" y="5657850"/>
            <a:ext cx="10477500" cy="552450"/>
          </a:xfrm>
          <a:prstGeom prst="rect">
            <a:avLst/>
          </a:prstGeom>
          <a:noFill/>
          <a:ln/>
        </p:spPr>
        <p:txBody>
          <a:bodyPr wrap="square" lIns="0" tIns="0" rIns="0" bIns="0" rtlCol="0" anchor="t"/>
          <a:lstStyle/>
          <a:p>
            <a:pPr algn="l" indent="0" marL="0">
              <a:buNone/>
            </a:pPr>
            <a:r>
              <a:rPr lang="en-US" sz="1500" dirty="0">
                <a:solidFill>
                  <a:srgbClr val="17212B"/>
                </a:solidFill>
                <a:latin typeface="Yu Gothic" pitchFamily="34" charset="0"/>
                <a:ea typeface="Yu Gothic" pitchFamily="34" charset="-122"/>
                <a:cs typeface="Yu Gothic" pitchFamily="34" charset="-120"/>
              </a:rPr>
              <a:t>CAD から出したままだと「前後と左右の向きが入れ替わる」「左右の脚で関節の回る向きが逆になる」ことが分かり、10 個の関節を 1 つずつ動かして確かめ、そろえた</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報酬関数の全体像（最終形）</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13 項目の点数を毎回足し合わせる。＋はほめる、－は叱る</a:t>
            </a:r>
            <a:endParaRPr lang="en-US" sz="2200" dirty="0"/>
          </a:p>
        </p:txBody>
      </p:sp>
      <p:sp>
        <p:nvSpPr>
          <p:cNvPr id="7" name="Shape 5"/>
          <p:cNvSpPr/>
          <p:nvPr/>
        </p:nvSpPr>
        <p:spPr>
          <a:xfrm>
            <a:off x="628650" y="1809750"/>
            <a:ext cx="3505200" cy="3810000"/>
          </a:xfrm>
          <a:prstGeom prst="rect">
            <a:avLst/>
          </a:prstGeom>
          <a:solidFill>
            <a:srgbClr val="E8F1F5"/>
          </a:solidFill>
          <a:ln w="19050">
            <a:solidFill>
              <a:srgbClr val="32A5B5"/>
            </a:solidFill>
            <a:prstDash val="solid"/>
          </a:ln>
        </p:spPr>
      </p:sp>
      <p:sp>
        <p:nvSpPr>
          <p:cNvPr id="8" name="Text 6"/>
          <p:cNvSpPr txBox="1"/>
          <p:nvPr/>
        </p:nvSpPr>
        <p:spPr>
          <a:xfrm>
            <a:off x="800100" y="1943100"/>
            <a:ext cx="2286000" cy="304800"/>
          </a:xfrm>
          <a:prstGeom prst="rect">
            <a:avLst/>
          </a:prstGeom>
          <a:noFill/>
          <a:ln/>
        </p:spPr>
        <p:txBody>
          <a:bodyPr wrap="square" lIns="0" tIns="0" rIns="0" bIns="0" rtlCol="0" anchor="ctr"/>
          <a:lstStyle/>
          <a:p>
            <a:pPr algn="l" indent="0" marL="0">
              <a:buNone/>
            </a:pPr>
            <a:r>
              <a:rPr lang="en-US" sz="2000" b="1" dirty="0">
                <a:solidFill>
                  <a:srgbClr val="32A5B5"/>
                </a:solidFill>
                <a:latin typeface="Yu Gothic" pitchFamily="34" charset="0"/>
                <a:ea typeface="Yu Gothic" pitchFamily="34" charset="-122"/>
                <a:cs typeface="Yu Gothic" pitchFamily="34" charset="-120"/>
              </a:rPr>
              <a:t>目的を達成する</a:t>
            </a:r>
            <a:endParaRPr lang="en-US" sz="2000" dirty="0"/>
          </a:p>
        </p:txBody>
      </p:sp>
      <p:sp>
        <p:nvSpPr>
          <p:cNvPr id="9" name="Text 7"/>
          <p:cNvSpPr txBox="1"/>
          <p:nvPr/>
        </p:nvSpPr>
        <p:spPr>
          <a:xfrm>
            <a:off x="3200400" y="1962150"/>
            <a:ext cx="762000" cy="266700"/>
          </a:xfrm>
          <a:prstGeom prst="rect">
            <a:avLst/>
          </a:prstGeom>
          <a:solidFill>
            <a:srgbClr val="32A5B5"/>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ほめる</a:t>
            </a:r>
            <a:endParaRPr lang="en-US" sz="1400" dirty="0"/>
          </a:p>
        </p:txBody>
      </p:sp>
      <p:sp>
        <p:nvSpPr>
          <p:cNvPr id="10" name="Text 8"/>
          <p:cNvSpPr txBox="1"/>
          <p:nvPr/>
        </p:nvSpPr>
        <p:spPr>
          <a:xfrm>
            <a:off x="800100" y="2381250"/>
            <a:ext cx="249555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指令どおりの速さで進む</a:t>
            </a:r>
            <a:endParaRPr lang="en-US" sz="1500" dirty="0"/>
          </a:p>
        </p:txBody>
      </p:sp>
      <p:sp>
        <p:nvSpPr>
          <p:cNvPr id="11" name="Text 9"/>
          <p:cNvSpPr txBox="1"/>
          <p:nvPr/>
        </p:nvSpPr>
        <p:spPr>
          <a:xfrm>
            <a:off x="3200400" y="2381250"/>
            <a:ext cx="762000" cy="419100"/>
          </a:xfrm>
          <a:prstGeom prst="rect">
            <a:avLst/>
          </a:prstGeom>
          <a:noFill/>
          <a:ln/>
        </p:spPr>
        <p:txBody>
          <a:bodyPr wrap="square" lIns="0" tIns="0" rIns="0" bIns="0" rtlCol="0" anchor="ctr"/>
          <a:lstStyle/>
          <a:p>
            <a:pPr algn="r" indent="0" marL="0">
              <a:buNone/>
            </a:pPr>
            <a:r>
              <a:rPr lang="en-US" sz="1700" b="1" dirty="0">
                <a:solidFill>
                  <a:srgbClr val="32A5B5"/>
                </a:solidFill>
                <a:latin typeface="Yu Gothic" pitchFamily="34" charset="0"/>
                <a:ea typeface="Yu Gothic" pitchFamily="34" charset="-122"/>
                <a:cs typeface="Yu Gothic" pitchFamily="34" charset="-120"/>
              </a:rPr>
              <a:t>+1.0</a:t>
            </a:r>
            <a:endParaRPr lang="en-US" sz="1700" dirty="0"/>
          </a:p>
        </p:txBody>
      </p:sp>
      <p:sp>
        <p:nvSpPr>
          <p:cNvPr id="12" name="Shape 10"/>
          <p:cNvSpPr/>
          <p:nvPr/>
        </p:nvSpPr>
        <p:spPr>
          <a:xfrm>
            <a:off x="800100" y="2838450"/>
            <a:ext cx="3162300" cy="0"/>
          </a:xfrm>
          <a:prstGeom prst="line">
            <a:avLst/>
          </a:prstGeom>
          <a:noFill/>
          <a:ln w="9525">
            <a:solidFill>
              <a:srgbClr val="B7C7D1"/>
            </a:solidFill>
            <a:prstDash val="solid"/>
          </a:ln>
        </p:spPr>
      </p:sp>
      <p:sp>
        <p:nvSpPr>
          <p:cNvPr id="13" name="Text 11"/>
          <p:cNvSpPr txBox="1"/>
          <p:nvPr/>
        </p:nvSpPr>
        <p:spPr>
          <a:xfrm>
            <a:off x="800100" y="2895600"/>
            <a:ext cx="249555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指令どおりに回る</a:t>
            </a:r>
            <a:endParaRPr lang="en-US" sz="1500" dirty="0"/>
          </a:p>
        </p:txBody>
      </p:sp>
      <p:sp>
        <p:nvSpPr>
          <p:cNvPr id="14" name="Text 12"/>
          <p:cNvSpPr txBox="1"/>
          <p:nvPr/>
        </p:nvSpPr>
        <p:spPr>
          <a:xfrm>
            <a:off x="3200400" y="2895600"/>
            <a:ext cx="762000" cy="419100"/>
          </a:xfrm>
          <a:prstGeom prst="rect">
            <a:avLst/>
          </a:prstGeom>
          <a:noFill/>
          <a:ln/>
        </p:spPr>
        <p:txBody>
          <a:bodyPr wrap="square" lIns="0" tIns="0" rIns="0" bIns="0" rtlCol="0" anchor="ctr"/>
          <a:lstStyle/>
          <a:p>
            <a:pPr algn="r" indent="0" marL="0">
              <a:buNone/>
            </a:pPr>
            <a:r>
              <a:rPr lang="en-US" sz="1700" b="1" dirty="0">
                <a:solidFill>
                  <a:srgbClr val="32A5B5"/>
                </a:solidFill>
                <a:latin typeface="Yu Gothic" pitchFamily="34" charset="0"/>
                <a:ea typeface="Yu Gothic" pitchFamily="34" charset="-122"/>
                <a:cs typeface="Yu Gothic" pitchFamily="34" charset="-120"/>
              </a:rPr>
              <a:t>+1.0</a:t>
            </a:r>
            <a:endParaRPr lang="en-US" sz="1700" dirty="0"/>
          </a:p>
        </p:txBody>
      </p:sp>
      <p:sp>
        <p:nvSpPr>
          <p:cNvPr id="15" name="Shape 13"/>
          <p:cNvSpPr/>
          <p:nvPr/>
        </p:nvSpPr>
        <p:spPr>
          <a:xfrm>
            <a:off x="800100" y="3352800"/>
            <a:ext cx="3162300" cy="0"/>
          </a:xfrm>
          <a:prstGeom prst="line">
            <a:avLst/>
          </a:prstGeom>
          <a:noFill/>
          <a:ln w="9525">
            <a:solidFill>
              <a:srgbClr val="B7C7D1"/>
            </a:solidFill>
            <a:prstDash val="solid"/>
          </a:ln>
        </p:spPr>
      </p:sp>
      <p:sp>
        <p:nvSpPr>
          <p:cNvPr id="16" name="Text 14"/>
          <p:cNvSpPr txBox="1"/>
          <p:nvPr/>
        </p:nvSpPr>
        <p:spPr>
          <a:xfrm>
            <a:off x="800100" y="3409950"/>
            <a:ext cx="249555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足を浮かせてから着地する</a:t>
            </a:r>
            <a:endParaRPr lang="en-US" sz="1500" dirty="0"/>
          </a:p>
        </p:txBody>
      </p:sp>
      <p:sp>
        <p:nvSpPr>
          <p:cNvPr id="17" name="Text 15"/>
          <p:cNvSpPr txBox="1"/>
          <p:nvPr/>
        </p:nvSpPr>
        <p:spPr>
          <a:xfrm>
            <a:off x="3200400" y="3409950"/>
            <a:ext cx="762000" cy="419100"/>
          </a:xfrm>
          <a:prstGeom prst="rect">
            <a:avLst/>
          </a:prstGeom>
          <a:noFill/>
          <a:ln/>
        </p:spPr>
        <p:txBody>
          <a:bodyPr wrap="square" lIns="0" tIns="0" rIns="0" bIns="0" rtlCol="0" anchor="ctr"/>
          <a:lstStyle/>
          <a:p>
            <a:pPr algn="r" indent="0" marL="0">
              <a:buNone/>
            </a:pPr>
            <a:r>
              <a:rPr lang="en-US" sz="1700" b="1" dirty="0">
                <a:solidFill>
                  <a:srgbClr val="32A5B5"/>
                </a:solidFill>
                <a:latin typeface="Yu Gothic" pitchFamily="34" charset="0"/>
                <a:ea typeface="Yu Gothic" pitchFamily="34" charset="-122"/>
                <a:cs typeface="Yu Gothic" pitchFamily="34" charset="-120"/>
              </a:rPr>
              <a:t>+2.0</a:t>
            </a:r>
            <a:endParaRPr lang="en-US" sz="1700" dirty="0"/>
          </a:p>
        </p:txBody>
      </p:sp>
      <p:sp>
        <p:nvSpPr>
          <p:cNvPr id="18" name="Shape 16"/>
          <p:cNvSpPr/>
          <p:nvPr/>
        </p:nvSpPr>
        <p:spPr>
          <a:xfrm>
            <a:off x="4343400" y="1809750"/>
            <a:ext cx="3505200" cy="3810000"/>
          </a:xfrm>
          <a:prstGeom prst="rect">
            <a:avLst/>
          </a:prstGeom>
          <a:solidFill>
            <a:srgbClr val="F3EEE6"/>
          </a:solidFill>
          <a:ln w="19050">
            <a:solidFill>
              <a:srgbClr val="E8783F"/>
            </a:solidFill>
            <a:prstDash val="solid"/>
          </a:ln>
        </p:spPr>
      </p:sp>
      <p:sp>
        <p:nvSpPr>
          <p:cNvPr id="19" name="Text 17"/>
          <p:cNvSpPr txBox="1"/>
          <p:nvPr/>
        </p:nvSpPr>
        <p:spPr>
          <a:xfrm>
            <a:off x="4514850" y="1943100"/>
            <a:ext cx="2286000" cy="304800"/>
          </a:xfrm>
          <a:prstGeom prst="rect">
            <a:avLst/>
          </a:prstGeom>
          <a:noFill/>
          <a:ln/>
        </p:spPr>
        <p:txBody>
          <a:bodyPr wrap="square" lIns="0" tIns="0" rIns="0" bIns="0" rtlCol="0" anchor="ctr"/>
          <a:lstStyle/>
          <a:p>
            <a:pPr algn="l" indent="0" marL="0">
              <a:buNone/>
            </a:pPr>
            <a:r>
              <a:rPr lang="en-US" sz="2000" b="1" dirty="0">
                <a:solidFill>
                  <a:srgbClr val="E8783F"/>
                </a:solidFill>
                <a:latin typeface="Yu Gothic" pitchFamily="34" charset="0"/>
                <a:ea typeface="Yu Gothic" pitchFamily="34" charset="-122"/>
                <a:cs typeface="Yu Gothic" pitchFamily="34" charset="-120"/>
              </a:rPr>
              <a:t>きれいに歩く</a:t>
            </a:r>
            <a:endParaRPr lang="en-US" sz="2000" dirty="0"/>
          </a:p>
        </p:txBody>
      </p:sp>
      <p:sp>
        <p:nvSpPr>
          <p:cNvPr id="20" name="Text 18"/>
          <p:cNvSpPr txBox="1"/>
          <p:nvPr/>
        </p:nvSpPr>
        <p:spPr>
          <a:xfrm>
            <a:off x="6915150" y="1962150"/>
            <a:ext cx="762000" cy="266700"/>
          </a:xfrm>
          <a:prstGeom prst="rect">
            <a:avLst/>
          </a:prstGeom>
          <a:solidFill>
            <a:srgbClr val="E8783F"/>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叱る</a:t>
            </a:r>
            <a:endParaRPr lang="en-US" sz="1400" dirty="0"/>
          </a:p>
        </p:txBody>
      </p:sp>
      <p:sp>
        <p:nvSpPr>
          <p:cNvPr id="21" name="Text 19"/>
          <p:cNvSpPr txBox="1"/>
          <p:nvPr/>
        </p:nvSpPr>
        <p:spPr>
          <a:xfrm>
            <a:off x="4514850" y="2381250"/>
            <a:ext cx="249555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胴体が上下に揺れる</a:t>
            </a:r>
            <a:endParaRPr lang="en-US" sz="1500" dirty="0"/>
          </a:p>
        </p:txBody>
      </p:sp>
      <p:sp>
        <p:nvSpPr>
          <p:cNvPr id="22" name="Text 20"/>
          <p:cNvSpPr txBox="1"/>
          <p:nvPr/>
        </p:nvSpPr>
        <p:spPr>
          <a:xfrm>
            <a:off x="6915150" y="2381250"/>
            <a:ext cx="762000" cy="419100"/>
          </a:xfrm>
          <a:prstGeom prst="rect">
            <a:avLst/>
          </a:prstGeom>
          <a:noFill/>
          <a:ln/>
        </p:spPr>
        <p:txBody>
          <a:bodyPr wrap="square" lIns="0" tIns="0" rIns="0" bIns="0" rtlCol="0" anchor="ctr"/>
          <a:lstStyle/>
          <a:p>
            <a:pPr algn="r" indent="0" marL="0">
              <a:buNone/>
            </a:pPr>
            <a:r>
              <a:rPr lang="en-US" sz="1700" b="1" dirty="0">
                <a:solidFill>
                  <a:srgbClr val="E8783F"/>
                </a:solidFill>
                <a:latin typeface="Yu Gothic" pitchFamily="34" charset="0"/>
                <a:ea typeface="Yu Gothic" pitchFamily="34" charset="-122"/>
                <a:cs typeface="Yu Gothic" pitchFamily="34" charset="-120"/>
              </a:rPr>
              <a:t>－2.0</a:t>
            </a:r>
            <a:endParaRPr lang="en-US" sz="1700" dirty="0"/>
          </a:p>
        </p:txBody>
      </p:sp>
      <p:sp>
        <p:nvSpPr>
          <p:cNvPr id="23" name="Shape 21"/>
          <p:cNvSpPr/>
          <p:nvPr/>
        </p:nvSpPr>
        <p:spPr>
          <a:xfrm>
            <a:off x="4514850" y="2838450"/>
            <a:ext cx="3162300" cy="0"/>
          </a:xfrm>
          <a:prstGeom prst="line">
            <a:avLst/>
          </a:prstGeom>
          <a:noFill/>
          <a:ln w="9525">
            <a:solidFill>
              <a:srgbClr val="B7C7D1"/>
            </a:solidFill>
            <a:prstDash val="solid"/>
          </a:ln>
        </p:spPr>
      </p:sp>
      <p:sp>
        <p:nvSpPr>
          <p:cNvPr id="24" name="Text 22"/>
          <p:cNvSpPr txBox="1"/>
          <p:nvPr/>
        </p:nvSpPr>
        <p:spPr>
          <a:xfrm>
            <a:off x="4514850" y="2895600"/>
            <a:ext cx="249555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胴体が傾く</a:t>
            </a:r>
            <a:endParaRPr lang="en-US" sz="1500" dirty="0"/>
          </a:p>
        </p:txBody>
      </p:sp>
      <p:sp>
        <p:nvSpPr>
          <p:cNvPr id="25" name="Text 23"/>
          <p:cNvSpPr txBox="1"/>
          <p:nvPr/>
        </p:nvSpPr>
        <p:spPr>
          <a:xfrm>
            <a:off x="6915150" y="2895600"/>
            <a:ext cx="762000" cy="419100"/>
          </a:xfrm>
          <a:prstGeom prst="rect">
            <a:avLst/>
          </a:prstGeom>
          <a:noFill/>
          <a:ln/>
        </p:spPr>
        <p:txBody>
          <a:bodyPr wrap="square" lIns="0" tIns="0" rIns="0" bIns="0" rtlCol="0" anchor="ctr"/>
          <a:lstStyle/>
          <a:p>
            <a:pPr algn="r" indent="0" marL="0">
              <a:buNone/>
            </a:pPr>
            <a:r>
              <a:rPr lang="en-US" sz="1700" b="1" dirty="0">
                <a:solidFill>
                  <a:srgbClr val="E8783F"/>
                </a:solidFill>
                <a:latin typeface="Yu Gothic" pitchFamily="34" charset="0"/>
                <a:ea typeface="Yu Gothic" pitchFamily="34" charset="-122"/>
                <a:cs typeface="Yu Gothic" pitchFamily="34" charset="-120"/>
              </a:rPr>
              <a:t>－0.5</a:t>
            </a:r>
            <a:endParaRPr lang="en-US" sz="1700" dirty="0"/>
          </a:p>
        </p:txBody>
      </p:sp>
      <p:sp>
        <p:nvSpPr>
          <p:cNvPr id="26" name="Shape 24"/>
          <p:cNvSpPr/>
          <p:nvPr/>
        </p:nvSpPr>
        <p:spPr>
          <a:xfrm>
            <a:off x="4514850" y="3352800"/>
            <a:ext cx="3162300" cy="0"/>
          </a:xfrm>
          <a:prstGeom prst="line">
            <a:avLst/>
          </a:prstGeom>
          <a:noFill/>
          <a:ln w="9525">
            <a:solidFill>
              <a:srgbClr val="B7C7D1"/>
            </a:solidFill>
            <a:prstDash val="solid"/>
          </a:ln>
        </p:spPr>
      </p:sp>
      <p:sp>
        <p:nvSpPr>
          <p:cNvPr id="27" name="Text 25"/>
          <p:cNvSpPr txBox="1"/>
          <p:nvPr/>
        </p:nvSpPr>
        <p:spPr>
          <a:xfrm>
            <a:off x="4514850" y="3409950"/>
            <a:ext cx="249555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足が地面を滑る</a:t>
            </a:r>
            <a:endParaRPr lang="en-US" sz="1500" dirty="0"/>
          </a:p>
        </p:txBody>
      </p:sp>
      <p:sp>
        <p:nvSpPr>
          <p:cNvPr id="28" name="Text 26"/>
          <p:cNvSpPr txBox="1"/>
          <p:nvPr/>
        </p:nvSpPr>
        <p:spPr>
          <a:xfrm>
            <a:off x="6915150" y="3409950"/>
            <a:ext cx="762000" cy="419100"/>
          </a:xfrm>
          <a:prstGeom prst="rect">
            <a:avLst/>
          </a:prstGeom>
          <a:noFill/>
          <a:ln/>
        </p:spPr>
        <p:txBody>
          <a:bodyPr wrap="square" lIns="0" tIns="0" rIns="0" bIns="0" rtlCol="0" anchor="ctr"/>
          <a:lstStyle/>
          <a:p>
            <a:pPr algn="r" indent="0" marL="0">
              <a:buNone/>
            </a:pPr>
            <a:r>
              <a:rPr lang="en-US" sz="1700" b="1" dirty="0">
                <a:solidFill>
                  <a:srgbClr val="E8783F"/>
                </a:solidFill>
                <a:latin typeface="Yu Gothic" pitchFamily="34" charset="0"/>
                <a:ea typeface="Yu Gothic" pitchFamily="34" charset="-122"/>
                <a:cs typeface="Yu Gothic" pitchFamily="34" charset="-120"/>
              </a:rPr>
              <a:t>－0.25</a:t>
            </a:r>
            <a:endParaRPr lang="en-US" sz="1700" dirty="0"/>
          </a:p>
        </p:txBody>
      </p:sp>
      <p:sp>
        <p:nvSpPr>
          <p:cNvPr id="29" name="Shape 27"/>
          <p:cNvSpPr/>
          <p:nvPr/>
        </p:nvSpPr>
        <p:spPr>
          <a:xfrm>
            <a:off x="4514850" y="3867150"/>
            <a:ext cx="3162300" cy="0"/>
          </a:xfrm>
          <a:prstGeom prst="line">
            <a:avLst/>
          </a:prstGeom>
          <a:noFill/>
          <a:ln w="9525">
            <a:solidFill>
              <a:srgbClr val="B7C7D1"/>
            </a:solidFill>
            <a:prstDash val="solid"/>
          </a:ln>
        </p:spPr>
      </p:sp>
      <p:sp>
        <p:nvSpPr>
          <p:cNvPr id="30" name="Text 28"/>
          <p:cNvSpPr txBox="1"/>
          <p:nvPr/>
        </p:nvSpPr>
        <p:spPr>
          <a:xfrm>
            <a:off x="4514850" y="3924300"/>
            <a:ext cx="249555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胴体が左右・前後に揺れる</a:t>
            </a:r>
            <a:endParaRPr lang="en-US" sz="1500" dirty="0"/>
          </a:p>
        </p:txBody>
      </p:sp>
      <p:sp>
        <p:nvSpPr>
          <p:cNvPr id="31" name="Text 29"/>
          <p:cNvSpPr txBox="1"/>
          <p:nvPr/>
        </p:nvSpPr>
        <p:spPr>
          <a:xfrm>
            <a:off x="6915150" y="3924300"/>
            <a:ext cx="762000" cy="419100"/>
          </a:xfrm>
          <a:prstGeom prst="rect">
            <a:avLst/>
          </a:prstGeom>
          <a:noFill/>
          <a:ln/>
        </p:spPr>
        <p:txBody>
          <a:bodyPr wrap="square" lIns="0" tIns="0" rIns="0" bIns="0" rtlCol="0" anchor="ctr"/>
          <a:lstStyle/>
          <a:p>
            <a:pPr algn="r" indent="0" marL="0">
              <a:buNone/>
            </a:pPr>
            <a:r>
              <a:rPr lang="en-US" sz="1700" b="1" dirty="0">
                <a:solidFill>
                  <a:srgbClr val="E8783F"/>
                </a:solidFill>
                <a:latin typeface="Yu Gothic" pitchFamily="34" charset="0"/>
                <a:ea typeface="Yu Gothic" pitchFamily="34" charset="-122"/>
                <a:cs typeface="Yu Gothic" pitchFamily="34" charset="-120"/>
              </a:rPr>
              <a:t>－0.05</a:t>
            </a:r>
            <a:endParaRPr lang="en-US" sz="1700" dirty="0"/>
          </a:p>
        </p:txBody>
      </p:sp>
      <p:sp>
        <p:nvSpPr>
          <p:cNvPr id="32" name="Shape 30"/>
          <p:cNvSpPr/>
          <p:nvPr/>
        </p:nvSpPr>
        <p:spPr>
          <a:xfrm>
            <a:off x="4514850" y="4381500"/>
            <a:ext cx="3162300" cy="0"/>
          </a:xfrm>
          <a:prstGeom prst="line">
            <a:avLst/>
          </a:prstGeom>
          <a:noFill/>
          <a:ln w="9525">
            <a:solidFill>
              <a:srgbClr val="B7C7D1"/>
            </a:solidFill>
            <a:prstDash val="solid"/>
          </a:ln>
        </p:spPr>
      </p:sp>
      <p:sp>
        <p:nvSpPr>
          <p:cNvPr id="33" name="Text 31"/>
          <p:cNvSpPr txBox="1"/>
          <p:nvPr/>
        </p:nvSpPr>
        <p:spPr>
          <a:xfrm>
            <a:off x="4514850" y="4438650"/>
            <a:ext cx="249555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指令を急に変える</a:t>
            </a:r>
            <a:endParaRPr lang="en-US" sz="1500" dirty="0"/>
          </a:p>
        </p:txBody>
      </p:sp>
      <p:sp>
        <p:nvSpPr>
          <p:cNvPr id="34" name="Text 32"/>
          <p:cNvSpPr txBox="1"/>
          <p:nvPr/>
        </p:nvSpPr>
        <p:spPr>
          <a:xfrm>
            <a:off x="6915150" y="4438650"/>
            <a:ext cx="762000" cy="419100"/>
          </a:xfrm>
          <a:prstGeom prst="rect">
            <a:avLst/>
          </a:prstGeom>
          <a:noFill/>
          <a:ln/>
        </p:spPr>
        <p:txBody>
          <a:bodyPr wrap="square" lIns="0" tIns="0" rIns="0" bIns="0" rtlCol="0" anchor="ctr"/>
          <a:lstStyle/>
          <a:p>
            <a:pPr algn="r" indent="0" marL="0">
              <a:buNone/>
            </a:pPr>
            <a:r>
              <a:rPr lang="en-US" sz="1700" b="1" dirty="0">
                <a:solidFill>
                  <a:srgbClr val="E8783F"/>
                </a:solidFill>
                <a:latin typeface="Yu Gothic" pitchFamily="34" charset="0"/>
                <a:ea typeface="Yu Gothic" pitchFamily="34" charset="-122"/>
                <a:cs typeface="Yu Gothic" pitchFamily="34" charset="-120"/>
              </a:rPr>
              <a:t>－0.01</a:t>
            </a:r>
            <a:endParaRPr lang="en-US" sz="1700" dirty="0"/>
          </a:p>
        </p:txBody>
      </p:sp>
      <p:sp>
        <p:nvSpPr>
          <p:cNvPr id="35" name="Shape 33"/>
          <p:cNvSpPr/>
          <p:nvPr/>
        </p:nvSpPr>
        <p:spPr>
          <a:xfrm>
            <a:off x="4514850" y="4895850"/>
            <a:ext cx="3162300" cy="0"/>
          </a:xfrm>
          <a:prstGeom prst="line">
            <a:avLst/>
          </a:prstGeom>
          <a:noFill/>
          <a:ln w="9525">
            <a:solidFill>
              <a:srgbClr val="B7C7D1"/>
            </a:solidFill>
            <a:prstDash val="solid"/>
          </a:ln>
        </p:spPr>
      </p:sp>
      <p:sp>
        <p:nvSpPr>
          <p:cNvPr id="36" name="Text 34"/>
          <p:cNvSpPr txBox="1"/>
          <p:nvPr/>
        </p:nvSpPr>
        <p:spPr>
          <a:xfrm>
            <a:off x="4514850" y="4953000"/>
            <a:ext cx="249555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力を使いすぎる</a:t>
            </a:r>
            <a:endParaRPr lang="en-US" sz="1500" dirty="0"/>
          </a:p>
        </p:txBody>
      </p:sp>
      <p:sp>
        <p:nvSpPr>
          <p:cNvPr id="37" name="Text 35"/>
          <p:cNvSpPr txBox="1"/>
          <p:nvPr/>
        </p:nvSpPr>
        <p:spPr>
          <a:xfrm>
            <a:off x="6915150" y="4953000"/>
            <a:ext cx="762000" cy="419100"/>
          </a:xfrm>
          <a:prstGeom prst="rect">
            <a:avLst/>
          </a:prstGeom>
          <a:noFill/>
          <a:ln/>
        </p:spPr>
        <p:txBody>
          <a:bodyPr wrap="square" lIns="0" tIns="0" rIns="0" bIns="0" rtlCol="0" anchor="ctr"/>
          <a:lstStyle/>
          <a:p>
            <a:pPr algn="r" indent="0" marL="0">
              <a:buNone/>
            </a:pPr>
            <a:r>
              <a:rPr lang="en-US" sz="1700" b="1" dirty="0">
                <a:solidFill>
                  <a:srgbClr val="E8783F"/>
                </a:solidFill>
                <a:latin typeface="Yu Gothic" pitchFamily="34" charset="0"/>
                <a:ea typeface="Yu Gothic" pitchFamily="34" charset="-122"/>
                <a:cs typeface="Yu Gothic" pitchFamily="34" charset="-120"/>
              </a:rPr>
              <a:t>ごく小</a:t>
            </a:r>
            <a:endParaRPr lang="en-US" sz="1700" dirty="0"/>
          </a:p>
        </p:txBody>
      </p:sp>
      <p:sp>
        <p:nvSpPr>
          <p:cNvPr id="38" name="Shape 36"/>
          <p:cNvSpPr/>
          <p:nvPr/>
        </p:nvSpPr>
        <p:spPr>
          <a:xfrm>
            <a:off x="8058150" y="1809750"/>
            <a:ext cx="3505200" cy="3810000"/>
          </a:xfrm>
          <a:prstGeom prst="rect">
            <a:avLst/>
          </a:prstGeom>
          <a:solidFill>
            <a:srgbClr val="F3EEE6"/>
          </a:solidFill>
          <a:ln w="19050">
            <a:solidFill>
              <a:srgbClr val="102B46"/>
            </a:solidFill>
            <a:prstDash val="solid"/>
          </a:ln>
        </p:spPr>
      </p:sp>
      <p:sp>
        <p:nvSpPr>
          <p:cNvPr id="39" name="Text 37"/>
          <p:cNvSpPr txBox="1"/>
          <p:nvPr/>
        </p:nvSpPr>
        <p:spPr>
          <a:xfrm>
            <a:off x="8229600" y="1943100"/>
            <a:ext cx="2286000" cy="304800"/>
          </a:xfrm>
          <a:prstGeom prst="rect">
            <a:avLst/>
          </a:prstGeom>
          <a:noFill/>
          <a:ln/>
        </p:spPr>
        <p:txBody>
          <a:bodyPr wrap="square" lIns="0" tIns="0" rIns="0" bIns="0" rtlCol="0" anchor="ctr"/>
          <a:lstStyle/>
          <a:p>
            <a:pPr algn="l" indent="0" marL="0">
              <a:buNone/>
            </a:pPr>
            <a:r>
              <a:rPr lang="en-US" sz="2000" b="1" dirty="0">
                <a:solidFill>
                  <a:srgbClr val="102B46"/>
                </a:solidFill>
                <a:latin typeface="Yu Gothic" pitchFamily="34" charset="0"/>
                <a:ea typeface="Yu Gothic" pitchFamily="34" charset="-122"/>
                <a:cs typeface="Yu Gothic" pitchFamily="34" charset="-120"/>
              </a:rPr>
              <a:t>安全に動く</a:t>
            </a:r>
            <a:endParaRPr lang="en-US" sz="2000" dirty="0"/>
          </a:p>
        </p:txBody>
      </p:sp>
      <p:sp>
        <p:nvSpPr>
          <p:cNvPr id="40" name="Text 38"/>
          <p:cNvSpPr txBox="1"/>
          <p:nvPr/>
        </p:nvSpPr>
        <p:spPr>
          <a:xfrm>
            <a:off x="10629900" y="1962150"/>
            <a:ext cx="762000" cy="266700"/>
          </a:xfrm>
          <a:prstGeom prst="rect">
            <a:avLst/>
          </a:prstGeom>
          <a:solidFill>
            <a:srgbClr val="102B46"/>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叱る</a:t>
            </a:r>
            <a:endParaRPr lang="en-US" sz="1400" dirty="0"/>
          </a:p>
        </p:txBody>
      </p:sp>
      <p:sp>
        <p:nvSpPr>
          <p:cNvPr id="41" name="Text 39"/>
          <p:cNvSpPr txBox="1"/>
          <p:nvPr/>
        </p:nvSpPr>
        <p:spPr>
          <a:xfrm>
            <a:off x="8229600" y="2381250"/>
            <a:ext cx="249555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足以外が地面に当たる</a:t>
            </a:r>
            <a:endParaRPr lang="en-US" sz="1500" dirty="0"/>
          </a:p>
        </p:txBody>
      </p:sp>
      <p:sp>
        <p:nvSpPr>
          <p:cNvPr id="42" name="Text 40"/>
          <p:cNvSpPr txBox="1"/>
          <p:nvPr/>
        </p:nvSpPr>
        <p:spPr>
          <a:xfrm>
            <a:off x="10629900" y="2381250"/>
            <a:ext cx="762000" cy="419100"/>
          </a:xfrm>
          <a:prstGeom prst="rect">
            <a:avLst/>
          </a:prstGeom>
          <a:noFill/>
          <a:ln/>
        </p:spPr>
        <p:txBody>
          <a:bodyPr wrap="square" lIns="0" tIns="0" rIns="0" bIns="0" rtlCol="0" anchor="ctr"/>
          <a:lstStyle/>
          <a:p>
            <a:pPr algn="r" indent="0" marL="0">
              <a:buNone/>
            </a:pPr>
            <a:r>
              <a:rPr lang="en-US" sz="1700" b="1" dirty="0">
                <a:solidFill>
                  <a:srgbClr val="102B46"/>
                </a:solidFill>
                <a:latin typeface="Yu Gothic" pitchFamily="34" charset="0"/>
                <a:ea typeface="Yu Gothic" pitchFamily="34" charset="-122"/>
                <a:cs typeface="Yu Gothic" pitchFamily="34" charset="-120"/>
              </a:rPr>
              <a:t>－1.0</a:t>
            </a:r>
            <a:endParaRPr lang="en-US" sz="1700" dirty="0"/>
          </a:p>
        </p:txBody>
      </p:sp>
      <p:sp>
        <p:nvSpPr>
          <p:cNvPr id="43" name="Shape 41"/>
          <p:cNvSpPr/>
          <p:nvPr/>
        </p:nvSpPr>
        <p:spPr>
          <a:xfrm>
            <a:off x="8229600" y="2838450"/>
            <a:ext cx="3162300" cy="0"/>
          </a:xfrm>
          <a:prstGeom prst="line">
            <a:avLst/>
          </a:prstGeom>
          <a:noFill/>
          <a:ln w="9525">
            <a:solidFill>
              <a:srgbClr val="B7C7D1"/>
            </a:solidFill>
            <a:prstDash val="solid"/>
          </a:ln>
        </p:spPr>
      </p:sp>
      <p:sp>
        <p:nvSpPr>
          <p:cNvPr id="44" name="Text 42"/>
          <p:cNvSpPr txBox="1"/>
          <p:nvPr/>
        </p:nvSpPr>
        <p:spPr>
          <a:xfrm>
            <a:off x="8229600" y="2895600"/>
            <a:ext cx="249555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関節の限界に近づく</a:t>
            </a:r>
            <a:endParaRPr lang="en-US" sz="1500" dirty="0"/>
          </a:p>
        </p:txBody>
      </p:sp>
      <p:sp>
        <p:nvSpPr>
          <p:cNvPr id="45" name="Text 43"/>
          <p:cNvSpPr txBox="1"/>
          <p:nvPr/>
        </p:nvSpPr>
        <p:spPr>
          <a:xfrm>
            <a:off x="10629900" y="2895600"/>
            <a:ext cx="762000" cy="419100"/>
          </a:xfrm>
          <a:prstGeom prst="rect">
            <a:avLst/>
          </a:prstGeom>
          <a:noFill/>
          <a:ln/>
        </p:spPr>
        <p:txBody>
          <a:bodyPr wrap="square" lIns="0" tIns="0" rIns="0" bIns="0" rtlCol="0" anchor="ctr"/>
          <a:lstStyle/>
          <a:p>
            <a:pPr algn="r" indent="0" marL="0">
              <a:buNone/>
            </a:pPr>
            <a:r>
              <a:rPr lang="en-US" sz="1700" b="1" dirty="0">
                <a:solidFill>
                  <a:srgbClr val="102B46"/>
                </a:solidFill>
                <a:latin typeface="Yu Gothic" pitchFamily="34" charset="0"/>
                <a:ea typeface="Yu Gothic" pitchFamily="34" charset="-122"/>
                <a:cs typeface="Yu Gothic" pitchFamily="34" charset="-120"/>
              </a:rPr>
              <a:t>－1.0</a:t>
            </a:r>
            <a:endParaRPr lang="en-US" sz="1700" dirty="0"/>
          </a:p>
        </p:txBody>
      </p:sp>
      <p:sp>
        <p:nvSpPr>
          <p:cNvPr id="46" name="Shape 44"/>
          <p:cNvSpPr/>
          <p:nvPr/>
        </p:nvSpPr>
        <p:spPr>
          <a:xfrm>
            <a:off x="8229600" y="3352800"/>
            <a:ext cx="3162300" cy="0"/>
          </a:xfrm>
          <a:prstGeom prst="line">
            <a:avLst/>
          </a:prstGeom>
          <a:noFill/>
          <a:ln w="9525">
            <a:solidFill>
              <a:srgbClr val="B7C7D1"/>
            </a:solidFill>
            <a:prstDash val="solid"/>
          </a:ln>
        </p:spPr>
      </p:sp>
      <p:sp>
        <p:nvSpPr>
          <p:cNvPr id="47" name="Text 45"/>
          <p:cNvSpPr txBox="1"/>
          <p:nvPr/>
        </p:nvSpPr>
        <p:spPr>
          <a:xfrm>
            <a:off x="8229600" y="3409950"/>
            <a:ext cx="249555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股の開き・ひねりがずれる</a:t>
            </a:r>
            <a:endParaRPr lang="en-US" sz="1500" dirty="0"/>
          </a:p>
        </p:txBody>
      </p:sp>
      <p:sp>
        <p:nvSpPr>
          <p:cNvPr id="48" name="Text 46"/>
          <p:cNvSpPr txBox="1"/>
          <p:nvPr/>
        </p:nvSpPr>
        <p:spPr>
          <a:xfrm>
            <a:off x="10629900" y="3409950"/>
            <a:ext cx="762000" cy="419100"/>
          </a:xfrm>
          <a:prstGeom prst="rect">
            <a:avLst/>
          </a:prstGeom>
          <a:noFill/>
          <a:ln/>
        </p:spPr>
        <p:txBody>
          <a:bodyPr wrap="square" lIns="0" tIns="0" rIns="0" bIns="0" rtlCol="0" anchor="ctr"/>
          <a:lstStyle/>
          <a:p>
            <a:pPr algn="r" indent="0" marL="0">
              <a:buNone/>
            </a:pPr>
            <a:r>
              <a:rPr lang="en-US" sz="1700" b="1" dirty="0">
                <a:solidFill>
                  <a:srgbClr val="102B46"/>
                </a:solidFill>
                <a:latin typeface="Yu Gothic" pitchFamily="34" charset="0"/>
                <a:ea typeface="Yu Gothic" pitchFamily="34" charset="-122"/>
                <a:cs typeface="Yu Gothic" pitchFamily="34" charset="-120"/>
              </a:rPr>
              <a:t>－0.1</a:t>
            </a:r>
            <a:endParaRPr lang="en-US" sz="1700" dirty="0"/>
          </a:p>
        </p:txBody>
      </p:sp>
      <p:sp>
        <p:nvSpPr>
          <p:cNvPr id="49" name="Shape 47"/>
          <p:cNvSpPr/>
          <p:nvPr/>
        </p:nvSpPr>
        <p:spPr>
          <a:xfrm>
            <a:off x="8229600" y="3867150"/>
            <a:ext cx="3162300" cy="0"/>
          </a:xfrm>
          <a:prstGeom prst="line">
            <a:avLst/>
          </a:prstGeom>
          <a:noFill/>
          <a:ln w="9525">
            <a:solidFill>
              <a:srgbClr val="B7C7D1"/>
            </a:solidFill>
            <a:prstDash val="solid"/>
          </a:ln>
        </p:spPr>
      </p:sp>
      <p:sp>
        <p:nvSpPr>
          <p:cNvPr id="50" name="Text 48"/>
          <p:cNvSpPr txBox="1"/>
          <p:nvPr/>
        </p:nvSpPr>
        <p:spPr>
          <a:xfrm>
            <a:off x="8229600" y="3924300"/>
            <a:ext cx="2495550" cy="4191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膝の曲げ方が初期姿勢からずれる</a:t>
            </a:r>
            <a:endParaRPr lang="en-US" sz="1500" dirty="0"/>
          </a:p>
        </p:txBody>
      </p:sp>
      <p:sp>
        <p:nvSpPr>
          <p:cNvPr id="51" name="Text 49"/>
          <p:cNvSpPr txBox="1"/>
          <p:nvPr/>
        </p:nvSpPr>
        <p:spPr>
          <a:xfrm>
            <a:off x="10629900" y="3924300"/>
            <a:ext cx="762000" cy="419100"/>
          </a:xfrm>
          <a:prstGeom prst="rect">
            <a:avLst/>
          </a:prstGeom>
          <a:noFill/>
          <a:ln/>
        </p:spPr>
        <p:txBody>
          <a:bodyPr wrap="square" lIns="0" tIns="0" rIns="0" bIns="0" rtlCol="0" anchor="ctr"/>
          <a:lstStyle/>
          <a:p>
            <a:pPr algn="r" indent="0" marL="0">
              <a:buNone/>
            </a:pPr>
            <a:r>
              <a:rPr lang="en-US" sz="1700" b="1" dirty="0">
                <a:solidFill>
                  <a:srgbClr val="102B46"/>
                </a:solidFill>
                <a:latin typeface="Yu Gothic" pitchFamily="34" charset="0"/>
                <a:ea typeface="Yu Gothic" pitchFamily="34" charset="-122"/>
                <a:cs typeface="Yu Gothic" pitchFamily="34" charset="-120"/>
              </a:rPr>
              <a:t>－0.01</a:t>
            </a:r>
            <a:endParaRPr lang="en-US" sz="1700" dirty="0"/>
          </a:p>
        </p:txBody>
      </p:sp>
      <p:sp>
        <p:nvSpPr>
          <p:cNvPr id="52" name="Text 50"/>
          <p:cNvSpPr txBox="1"/>
          <p:nvPr/>
        </p:nvSpPr>
        <p:spPr>
          <a:xfrm>
            <a:off x="628650" y="5810250"/>
            <a:ext cx="10934700" cy="381000"/>
          </a:xfrm>
          <a:prstGeom prst="rect">
            <a:avLst/>
          </a:prstGeom>
          <a:solidFill>
            <a:srgbClr val="E8F1F5"/>
          </a:solid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転んだら（胴体が地面に触れる・大きく傾く）その回は終わり、最初からやり直し</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学習で苦労した点：立ち往生とカニ歩き</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Shape 4"/>
          <p:cNvSpPr/>
          <p:nvPr/>
        </p:nvSpPr>
        <p:spPr>
          <a:xfrm>
            <a:off x="628650" y="1257300"/>
            <a:ext cx="3467100" cy="1771650"/>
          </a:xfrm>
          <a:prstGeom prst="rect">
            <a:avLst/>
          </a:prstGeom>
          <a:solidFill>
            <a:srgbClr val="FBF7F3"/>
          </a:solidFill>
          <a:ln w="22225">
            <a:solidFill>
              <a:srgbClr val="E8783F"/>
            </a:solidFill>
            <a:prstDash val="dash"/>
          </a:ln>
        </p:spPr>
      </p:sp>
      <p:sp>
        <p:nvSpPr>
          <p:cNvPr id="7" name="Text 5"/>
          <p:cNvSpPr txBox="1"/>
          <p:nvPr/>
        </p:nvSpPr>
        <p:spPr>
          <a:xfrm>
            <a:off x="762000" y="1371600"/>
            <a:ext cx="32004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 ここに動画を貼る</a:t>
            </a:r>
            <a:endParaRPr lang="en-US" sz="1400" dirty="0"/>
          </a:p>
        </p:txBody>
      </p:sp>
      <p:sp>
        <p:nvSpPr>
          <p:cNvPr id="8" name="Text 6"/>
          <p:cNvSpPr txBox="1"/>
          <p:nvPr/>
        </p:nvSpPr>
        <p:spPr>
          <a:xfrm>
            <a:off x="762000" y="1657350"/>
            <a:ext cx="3200400" cy="125730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立ち往生の動画（「進め」と指示しても、その場で立ち止まる様子）</a:t>
            </a:r>
            <a:endParaRPr lang="en-US" sz="1300" dirty="0"/>
          </a:p>
        </p:txBody>
      </p:sp>
      <p:sp>
        <p:nvSpPr>
          <p:cNvPr id="9" name="Text 7"/>
          <p:cNvSpPr txBox="1"/>
          <p:nvPr/>
        </p:nvSpPr>
        <p:spPr>
          <a:xfrm>
            <a:off x="628650" y="3105150"/>
            <a:ext cx="3467100" cy="323850"/>
          </a:xfrm>
          <a:prstGeom prst="rect">
            <a:avLst/>
          </a:prstGeom>
          <a:noFill/>
          <a:ln/>
        </p:spPr>
        <p:txBody>
          <a:bodyPr wrap="square" lIns="0" tIns="0" rIns="0" bIns="0" rtlCol="0" anchor="ctr"/>
          <a:lstStyle/>
          <a:p>
            <a:pPr algn="l" indent="0" marL="0">
              <a:buNone/>
            </a:pPr>
            <a:r>
              <a:rPr lang="en-US" sz="2100" b="1" dirty="0">
                <a:solidFill>
                  <a:srgbClr val="C8553D"/>
                </a:solidFill>
                <a:latin typeface="Yu Gothic" pitchFamily="34" charset="0"/>
                <a:ea typeface="Yu Gothic" pitchFamily="34" charset="-122"/>
                <a:cs typeface="Yu Gothic" pitchFamily="34" charset="-120"/>
              </a:rPr>
              <a:t>立ち往生</a:t>
            </a:r>
            <a:endParaRPr lang="en-US" sz="2100" dirty="0"/>
          </a:p>
        </p:txBody>
      </p:sp>
      <p:sp>
        <p:nvSpPr>
          <p:cNvPr id="10" name="Text 8"/>
          <p:cNvSpPr txBox="1"/>
          <p:nvPr/>
        </p:nvSpPr>
        <p:spPr>
          <a:xfrm>
            <a:off x="628650" y="3486150"/>
            <a:ext cx="571500" cy="247650"/>
          </a:xfrm>
          <a:prstGeom prst="rect">
            <a:avLst/>
          </a:prstGeom>
          <a:solidFill>
            <a:srgbClr val="C8553D"/>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原因</a:t>
            </a:r>
            <a:endParaRPr lang="en-US" sz="1400" dirty="0"/>
          </a:p>
        </p:txBody>
      </p:sp>
      <p:sp>
        <p:nvSpPr>
          <p:cNvPr id="11" name="Text 9"/>
          <p:cNvSpPr txBox="1"/>
          <p:nvPr/>
        </p:nvSpPr>
        <p:spPr>
          <a:xfrm>
            <a:off x="1295400" y="3467100"/>
            <a:ext cx="2800350" cy="1428750"/>
          </a:xfrm>
          <a:prstGeom prst="rect">
            <a:avLst/>
          </a:prstGeom>
          <a:noFill/>
          <a:ln/>
        </p:spPr>
        <p:txBody>
          <a:bodyPr wrap="square" lIns="0" tIns="0" rIns="0" bIns="0" rtlCol="0" anchor="t"/>
          <a:lstStyle/>
          <a:p>
            <a:pPr algn="l" indent="0" marL="0">
              <a:buNone/>
            </a:pPr>
            <a:r>
              <a:rPr lang="en-US" sz="1400" dirty="0">
                <a:solidFill>
                  <a:srgbClr val="17212B"/>
                </a:solidFill>
                <a:latin typeface="Yu Gothic" pitchFamily="34" charset="0"/>
                <a:ea typeface="Yu Gothic" pitchFamily="34" charset="-122"/>
                <a:cs typeface="Yu Gothic" pitchFamily="34" charset="-120"/>
              </a:rPr>
              <a:t>・立っているだけでも速度の点が少しもらえた</a:t>
            </a:r>
            <a:endParaRPr lang="en-US" sz="1400" dirty="0"/>
          </a:p>
          <a:p>
            <a:pPr algn="l" indent="0" marL="0">
              <a:buNone/>
            </a:pPr>
            <a:r>
              <a:rPr lang="en-US" sz="1400" dirty="0">
                <a:solidFill>
                  <a:srgbClr val="17212B"/>
                </a:solidFill>
                <a:latin typeface="Yu Gothic" pitchFamily="34" charset="0"/>
                <a:ea typeface="Yu Gothic" pitchFamily="34" charset="-122"/>
                <a:cs typeface="Yu Gothic" pitchFamily="34" charset="-120"/>
              </a:rPr>
              <a:t>・足上げの報酬は、短く浮かせると減点。この脚の自然な歩幅では足を上げるほど損だった</a:t>
            </a:r>
            <a:endParaRPr lang="en-US" sz="1400" dirty="0"/>
          </a:p>
        </p:txBody>
      </p:sp>
      <p:sp>
        <p:nvSpPr>
          <p:cNvPr id="12" name="Text 10"/>
          <p:cNvSpPr txBox="1"/>
          <p:nvPr/>
        </p:nvSpPr>
        <p:spPr>
          <a:xfrm>
            <a:off x="628650" y="5010150"/>
            <a:ext cx="571500" cy="247650"/>
          </a:xfrm>
          <a:prstGeom prst="rect">
            <a:avLst/>
          </a:prstGeom>
          <a:solidFill>
            <a:srgbClr val="2E8B57"/>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対策</a:t>
            </a:r>
            <a:endParaRPr lang="en-US" sz="1400" dirty="0"/>
          </a:p>
        </p:txBody>
      </p:sp>
      <p:sp>
        <p:nvSpPr>
          <p:cNvPr id="13" name="Text 11"/>
          <p:cNvSpPr txBox="1"/>
          <p:nvPr/>
        </p:nvSpPr>
        <p:spPr>
          <a:xfrm>
            <a:off x="1295400" y="4991100"/>
            <a:ext cx="2800350" cy="571500"/>
          </a:xfrm>
          <a:prstGeom prst="rect">
            <a:avLst/>
          </a:prstGeom>
          <a:noFill/>
          <a:ln/>
        </p:spPr>
        <p:txBody>
          <a:bodyPr wrap="square" lIns="0" tIns="0" rIns="0" bIns="0" rtlCol="0" anchor="t"/>
          <a:lstStyle/>
          <a:p>
            <a:pPr algn="l" indent="0" marL="0">
              <a:buNone/>
            </a:pPr>
            <a:r>
              <a:rPr lang="en-US" sz="1400" dirty="0">
                <a:solidFill>
                  <a:srgbClr val="17212B"/>
                </a:solidFill>
                <a:latin typeface="Yu Gothic" pitchFamily="34" charset="0"/>
                <a:ea typeface="Yu Gothic" pitchFamily="34" charset="-122"/>
                <a:cs typeface="Yu Gothic" pitchFamily="34" charset="-120"/>
              </a:rPr>
              <a:t>片足で立っている時間をほめる形に変えた</a:t>
            </a:r>
            <a:endParaRPr lang="en-US" sz="1400" dirty="0"/>
          </a:p>
        </p:txBody>
      </p:sp>
      <p:sp>
        <p:nvSpPr>
          <p:cNvPr id="14" name="Shape 12"/>
          <p:cNvSpPr/>
          <p:nvPr/>
        </p:nvSpPr>
        <p:spPr>
          <a:xfrm>
            <a:off x="4362450" y="1257300"/>
            <a:ext cx="3467100" cy="1771650"/>
          </a:xfrm>
          <a:prstGeom prst="rect">
            <a:avLst/>
          </a:prstGeom>
          <a:solidFill>
            <a:srgbClr val="FBF7F3"/>
          </a:solidFill>
          <a:ln w="22225">
            <a:solidFill>
              <a:srgbClr val="E8783F"/>
            </a:solidFill>
            <a:prstDash val="dash"/>
          </a:ln>
        </p:spPr>
      </p:sp>
      <p:sp>
        <p:nvSpPr>
          <p:cNvPr id="15" name="Text 13"/>
          <p:cNvSpPr txBox="1"/>
          <p:nvPr/>
        </p:nvSpPr>
        <p:spPr>
          <a:xfrm>
            <a:off x="4495800" y="1371600"/>
            <a:ext cx="32004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 ここに動画を貼る</a:t>
            </a:r>
            <a:endParaRPr lang="en-US" sz="1400" dirty="0"/>
          </a:p>
        </p:txBody>
      </p:sp>
      <p:sp>
        <p:nvSpPr>
          <p:cNvPr id="16" name="Text 14"/>
          <p:cNvSpPr txBox="1"/>
          <p:nvPr/>
        </p:nvSpPr>
        <p:spPr>
          <a:xfrm>
            <a:off x="4495800" y="1657350"/>
            <a:ext cx="3200400" cy="125730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カニ歩きの動画（まっすぐ進めと指示しても、横に流れる様子）</a:t>
            </a:r>
            <a:endParaRPr lang="en-US" sz="1300" dirty="0"/>
          </a:p>
        </p:txBody>
      </p:sp>
      <p:sp>
        <p:nvSpPr>
          <p:cNvPr id="17" name="Text 15"/>
          <p:cNvSpPr txBox="1"/>
          <p:nvPr/>
        </p:nvSpPr>
        <p:spPr>
          <a:xfrm>
            <a:off x="4362450" y="3105150"/>
            <a:ext cx="3467100" cy="323850"/>
          </a:xfrm>
          <a:prstGeom prst="rect">
            <a:avLst/>
          </a:prstGeom>
          <a:noFill/>
          <a:ln/>
        </p:spPr>
        <p:txBody>
          <a:bodyPr wrap="square" lIns="0" tIns="0" rIns="0" bIns="0" rtlCol="0" anchor="ctr"/>
          <a:lstStyle/>
          <a:p>
            <a:pPr algn="l" indent="0" marL="0">
              <a:buNone/>
            </a:pPr>
            <a:r>
              <a:rPr lang="en-US" sz="2100" b="1" dirty="0">
                <a:solidFill>
                  <a:srgbClr val="E8783F"/>
                </a:solidFill>
                <a:latin typeface="Yu Gothic" pitchFamily="34" charset="0"/>
                <a:ea typeface="Yu Gothic" pitchFamily="34" charset="-122"/>
                <a:cs typeface="Yu Gothic" pitchFamily="34" charset="-120"/>
              </a:rPr>
              <a:t>カニ歩き</a:t>
            </a:r>
            <a:endParaRPr lang="en-US" sz="2100" dirty="0"/>
          </a:p>
        </p:txBody>
      </p:sp>
      <p:sp>
        <p:nvSpPr>
          <p:cNvPr id="18" name="Text 16"/>
          <p:cNvSpPr txBox="1"/>
          <p:nvPr/>
        </p:nvSpPr>
        <p:spPr>
          <a:xfrm>
            <a:off x="4362450" y="3486150"/>
            <a:ext cx="571500" cy="247650"/>
          </a:xfrm>
          <a:prstGeom prst="rect">
            <a:avLst/>
          </a:prstGeom>
          <a:solidFill>
            <a:srgbClr val="E8783F"/>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原因</a:t>
            </a:r>
            <a:endParaRPr lang="en-US" sz="1400" dirty="0"/>
          </a:p>
        </p:txBody>
      </p:sp>
      <p:sp>
        <p:nvSpPr>
          <p:cNvPr id="19" name="Text 17"/>
          <p:cNvSpPr txBox="1"/>
          <p:nvPr/>
        </p:nvSpPr>
        <p:spPr>
          <a:xfrm>
            <a:off x="5029200" y="3467100"/>
            <a:ext cx="2800350" cy="1428750"/>
          </a:xfrm>
          <a:prstGeom prst="rect">
            <a:avLst/>
          </a:prstGeom>
          <a:noFill/>
          <a:ln/>
        </p:spPr>
        <p:txBody>
          <a:bodyPr wrap="square" lIns="0" tIns="0" rIns="0" bIns="0" rtlCol="0" anchor="t"/>
          <a:lstStyle/>
          <a:p>
            <a:pPr algn="l" indent="0" marL="0">
              <a:buNone/>
            </a:pPr>
            <a:r>
              <a:rPr lang="en-US" sz="1400" dirty="0">
                <a:solidFill>
                  <a:srgbClr val="17212B"/>
                </a:solidFill>
                <a:latin typeface="Yu Gothic" pitchFamily="34" charset="0"/>
                <a:ea typeface="Yu Gothic" pitchFamily="34" charset="-122"/>
                <a:cs typeface="Yu Gothic" pitchFamily="34" charset="-120"/>
              </a:rPr>
              <a:t>・CAD のままでは前後と左右の向きが入れ替わっていた</a:t>
            </a:r>
            <a:endParaRPr lang="en-US" sz="1400" dirty="0"/>
          </a:p>
          <a:p>
            <a:pPr algn="l" indent="0" marL="0">
              <a:buNone/>
            </a:pPr>
            <a:r>
              <a:rPr lang="en-US" sz="1400" dirty="0">
                <a:solidFill>
                  <a:srgbClr val="17212B"/>
                </a:solidFill>
                <a:latin typeface="Yu Gothic" pitchFamily="34" charset="0"/>
                <a:ea typeface="Yu Gothic" pitchFamily="34" charset="-122"/>
                <a:cs typeface="Yu Gothic" pitchFamily="34" charset="-120"/>
              </a:rPr>
              <a:t>・横に流れても点がほとんど減らない採点だった</a:t>
            </a:r>
            <a:endParaRPr lang="en-US" sz="1400" dirty="0"/>
          </a:p>
        </p:txBody>
      </p:sp>
      <p:sp>
        <p:nvSpPr>
          <p:cNvPr id="20" name="Text 18"/>
          <p:cNvSpPr txBox="1"/>
          <p:nvPr/>
        </p:nvSpPr>
        <p:spPr>
          <a:xfrm>
            <a:off x="4362450" y="5010150"/>
            <a:ext cx="571500" cy="247650"/>
          </a:xfrm>
          <a:prstGeom prst="rect">
            <a:avLst/>
          </a:prstGeom>
          <a:solidFill>
            <a:srgbClr val="2E8B57"/>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対策</a:t>
            </a:r>
            <a:endParaRPr lang="en-US" sz="1400" dirty="0"/>
          </a:p>
        </p:txBody>
      </p:sp>
      <p:sp>
        <p:nvSpPr>
          <p:cNvPr id="21" name="Text 19"/>
          <p:cNvSpPr txBox="1"/>
          <p:nvPr/>
        </p:nvSpPr>
        <p:spPr>
          <a:xfrm>
            <a:off x="5029200" y="4991100"/>
            <a:ext cx="2800350" cy="571500"/>
          </a:xfrm>
          <a:prstGeom prst="rect">
            <a:avLst/>
          </a:prstGeom>
          <a:noFill/>
          <a:ln/>
        </p:spPr>
        <p:txBody>
          <a:bodyPr wrap="square" lIns="0" tIns="0" rIns="0" bIns="0" rtlCol="0" anchor="t"/>
          <a:lstStyle/>
          <a:p>
            <a:pPr algn="l" indent="0" marL="0">
              <a:buNone/>
            </a:pPr>
            <a:r>
              <a:rPr lang="en-US" sz="1400" dirty="0">
                <a:solidFill>
                  <a:srgbClr val="17212B"/>
                </a:solidFill>
                <a:latin typeface="Yu Gothic" pitchFamily="34" charset="0"/>
                <a:ea typeface="Yu Gothic" pitchFamily="34" charset="-122"/>
                <a:cs typeface="Yu Gothic" pitchFamily="34" charset="-120"/>
              </a:rPr>
              <a:t>向きをそろえ、横へのずれを厳しく採点した</a:t>
            </a:r>
            <a:endParaRPr lang="en-US" sz="1400" dirty="0"/>
          </a:p>
        </p:txBody>
      </p:sp>
      <p:sp>
        <p:nvSpPr>
          <p:cNvPr id="22" name="Shape 20"/>
          <p:cNvSpPr/>
          <p:nvPr/>
        </p:nvSpPr>
        <p:spPr>
          <a:xfrm>
            <a:off x="8096250" y="1257300"/>
            <a:ext cx="3467100" cy="1771650"/>
          </a:xfrm>
          <a:prstGeom prst="rect">
            <a:avLst/>
          </a:prstGeom>
          <a:solidFill>
            <a:srgbClr val="FBF7F3"/>
          </a:solidFill>
          <a:ln w="22225">
            <a:solidFill>
              <a:srgbClr val="E8783F"/>
            </a:solidFill>
            <a:prstDash val="dash"/>
          </a:ln>
        </p:spPr>
      </p:sp>
      <p:sp>
        <p:nvSpPr>
          <p:cNvPr id="23" name="Text 21"/>
          <p:cNvSpPr txBox="1"/>
          <p:nvPr/>
        </p:nvSpPr>
        <p:spPr>
          <a:xfrm>
            <a:off x="8229600" y="1371600"/>
            <a:ext cx="32004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 ここに動画を貼る</a:t>
            </a:r>
            <a:endParaRPr lang="en-US" sz="1400" dirty="0"/>
          </a:p>
        </p:txBody>
      </p:sp>
      <p:sp>
        <p:nvSpPr>
          <p:cNvPr id="24" name="Text 22"/>
          <p:cNvSpPr txBox="1"/>
          <p:nvPr/>
        </p:nvSpPr>
        <p:spPr>
          <a:xfrm>
            <a:off x="8229600" y="1657350"/>
            <a:ext cx="3200400" cy="125730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改善後の動画（指示どおりまっすぐ前へ歩く様子）</a:t>
            </a:r>
            <a:endParaRPr lang="en-US" sz="1300" dirty="0"/>
          </a:p>
        </p:txBody>
      </p:sp>
      <p:sp>
        <p:nvSpPr>
          <p:cNvPr id="25" name="Text 23"/>
          <p:cNvSpPr txBox="1"/>
          <p:nvPr/>
        </p:nvSpPr>
        <p:spPr>
          <a:xfrm>
            <a:off x="8096250" y="3105150"/>
            <a:ext cx="3467100" cy="323850"/>
          </a:xfrm>
          <a:prstGeom prst="rect">
            <a:avLst/>
          </a:prstGeom>
          <a:noFill/>
          <a:ln/>
        </p:spPr>
        <p:txBody>
          <a:bodyPr wrap="square" lIns="0" tIns="0" rIns="0" bIns="0" rtlCol="0" anchor="ctr"/>
          <a:lstStyle/>
          <a:p>
            <a:pPr algn="l" indent="0" marL="0">
              <a:buNone/>
            </a:pPr>
            <a:r>
              <a:rPr lang="en-US" sz="2100" b="1" dirty="0">
                <a:solidFill>
                  <a:srgbClr val="2E8B57"/>
                </a:solidFill>
                <a:latin typeface="Yu Gothic" pitchFamily="34" charset="0"/>
                <a:ea typeface="Yu Gothic" pitchFamily="34" charset="-122"/>
                <a:cs typeface="Yu Gothic" pitchFamily="34" charset="-120"/>
              </a:rPr>
              <a:t>改善後</a:t>
            </a:r>
            <a:endParaRPr lang="en-US" sz="2100" dirty="0"/>
          </a:p>
        </p:txBody>
      </p:sp>
      <p:sp>
        <p:nvSpPr>
          <p:cNvPr id="26" name="Text 24"/>
          <p:cNvSpPr txBox="1"/>
          <p:nvPr/>
        </p:nvSpPr>
        <p:spPr>
          <a:xfrm>
            <a:off x="8096250" y="3486150"/>
            <a:ext cx="3467100" cy="571500"/>
          </a:xfrm>
          <a:prstGeom prst="rect">
            <a:avLst/>
          </a:prstGeom>
          <a:noFill/>
          <a:ln/>
        </p:spPr>
        <p:txBody>
          <a:bodyPr wrap="square" lIns="0" tIns="0" rIns="0" bIns="0" rtlCol="0" anchor="t"/>
          <a:lstStyle/>
          <a:p>
            <a:pPr algn="l" indent="0" marL="0">
              <a:buNone/>
            </a:pPr>
            <a:r>
              <a:rPr lang="en-US" sz="1500" dirty="0">
                <a:solidFill>
                  <a:srgbClr val="17212B"/>
                </a:solidFill>
                <a:latin typeface="Yu Gothic" pitchFamily="34" charset="0"/>
                <a:ea typeface="Yu Gothic" pitchFamily="34" charset="-122"/>
                <a:cs typeface="Yu Gothic" pitchFamily="34" charset="-120"/>
              </a:rPr>
              <a:t>指示どおりの方向へまっすぐ歩けるようになった</a:t>
            </a:r>
            <a:endParaRPr lang="en-US" sz="1500" dirty="0"/>
          </a:p>
        </p:txBody>
      </p:sp>
      <p:sp>
        <p:nvSpPr>
          <p:cNvPr id="27" name="Shape 25"/>
          <p:cNvSpPr/>
          <p:nvPr/>
        </p:nvSpPr>
        <p:spPr>
          <a:xfrm>
            <a:off x="7620000" y="2143125"/>
            <a:ext cx="438150" cy="95"/>
          </a:xfrm>
          <a:prstGeom prst="line">
            <a:avLst/>
          </a:prstGeom>
          <a:noFill/>
          <a:ln w="38100">
            <a:solidFill>
              <a:srgbClr val="102B46"/>
            </a:solidFill>
            <a:prstDash val="solid"/>
            <a:tailEnd type="triangle"/>
          </a:ln>
        </p:spPr>
      </p:sp>
      <p:sp>
        <p:nvSpPr>
          <p:cNvPr id="28" name="Text 26"/>
          <p:cNvSpPr txBox="1"/>
          <p:nvPr/>
        </p:nvSpPr>
        <p:spPr>
          <a:xfrm>
            <a:off x="628650" y="5772150"/>
            <a:ext cx="10934700" cy="476250"/>
          </a:xfrm>
          <a:prstGeom prst="rect">
            <a:avLst/>
          </a:prstGeom>
          <a:solidFill>
            <a:srgbClr val="F3EEE6"/>
          </a:solidFill>
          <a:ln/>
        </p:spPr>
        <p:txBody>
          <a:bodyPr wrap="square" lIns="0" tIns="0" rIns="0" bIns="0" rtlCol="0" anchor="ctr"/>
          <a:lstStyle/>
          <a:p>
            <a:pPr algn="ctr" indent="0" marL="0">
              <a:buNone/>
            </a:pPr>
            <a:r>
              <a:rPr lang="en-US" sz="1700" b="1" dirty="0">
                <a:solidFill>
                  <a:srgbClr val="102B46"/>
                </a:solidFill>
                <a:latin typeface="Yu Gothic" pitchFamily="34" charset="0"/>
                <a:ea typeface="Yu Gothic" pitchFamily="34" charset="-122"/>
                <a:cs typeface="Yu Gothic" pitchFamily="34" charset="-120"/>
              </a:rPr>
              <a:t>報酬は「こうしてほしい」と書くだけでは足りない。ロボットにとって何が得かを確かめる必要がある</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結果：シミュレーションでは坂・でこぼこ・旋回もできた</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Shape 4"/>
          <p:cNvSpPr/>
          <p:nvPr/>
        </p:nvSpPr>
        <p:spPr>
          <a:xfrm>
            <a:off x="628650" y="1219200"/>
            <a:ext cx="3467100" cy="1905000"/>
          </a:xfrm>
          <a:prstGeom prst="rect">
            <a:avLst/>
          </a:prstGeom>
          <a:solidFill>
            <a:srgbClr val="FBF7F3"/>
          </a:solidFill>
          <a:ln w="22225">
            <a:solidFill>
              <a:srgbClr val="E8783F"/>
            </a:solidFill>
            <a:prstDash val="dash"/>
          </a:ln>
        </p:spPr>
      </p:sp>
      <p:sp>
        <p:nvSpPr>
          <p:cNvPr id="7" name="Text 5"/>
          <p:cNvSpPr txBox="1"/>
          <p:nvPr/>
        </p:nvSpPr>
        <p:spPr>
          <a:xfrm>
            <a:off x="762000" y="1333500"/>
            <a:ext cx="32004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 ここに動画を貼る</a:t>
            </a:r>
            <a:endParaRPr lang="en-US" sz="1400" dirty="0"/>
          </a:p>
        </p:txBody>
      </p:sp>
      <p:sp>
        <p:nvSpPr>
          <p:cNvPr id="8" name="Text 6"/>
          <p:cNvSpPr txBox="1"/>
          <p:nvPr/>
        </p:nvSpPr>
        <p:spPr>
          <a:xfrm>
            <a:off x="762000" y="1619250"/>
            <a:ext cx="3200400" cy="139065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平地を前進の動画（実験15の動画フォルダ videos_presentation_20260924 から）</a:t>
            </a:r>
            <a:endParaRPr lang="en-US" sz="1300" dirty="0"/>
          </a:p>
        </p:txBody>
      </p:sp>
      <p:sp>
        <p:nvSpPr>
          <p:cNvPr id="9" name="Text 7"/>
          <p:cNvSpPr txBox="1"/>
          <p:nvPr/>
        </p:nvSpPr>
        <p:spPr>
          <a:xfrm>
            <a:off x="628650" y="3162300"/>
            <a:ext cx="3467100" cy="381000"/>
          </a:xfrm>
          <a:prstGeom prst="rect">
            <a:avLst/>
          </a:prstGeom>
          <a:noFill/>
          <a:ln/>
        </p:spPr>
        <p:txBody>
          <a:bodyPr wrap="square" lIns="0" tIns="0" rIns="0" bIns="0" rtlCol="0" anchor="ctr"/>
          <a:lstStyle/>
          <a:p>
            <a:pPr algn="ctr" indent="0" marL="0">
              <a:buNone/>
            </a:pPr>
            <a:r>
              <a:rPr lang="en-US" sz="1800" b="1" dirty="0">
                <a:solidFill>
                  <a:srgbClr val="102B46"/>
                </a:solidFill>
                <a:latin typeface="Yu Gothic" pitchFamily="34" charset="0"/>
                <a:ea typeface="Yu Gothic" pitchFamily="34" charset="-122"/>
                <a:cs typeface="Yu Gothic" pitchFamily="34" charset="-120"/>
              </a:rPr>
              <a:t>平地を前進</a:t>
            </a:r>
            <a:endParaRPr lang="en-US" sz="1800" dirty="0"/>
          </a:p>
        </p:txBody>
      </p:sp>
      <p:sp>
        <p:nvSpPr>
          <p:cNvPr id="10" name="Shape 8"/>
          <p:cNvSpPr/>
          <p:nvPr/>
        </p:nvSpPr>
        <p:spPr>
          <a:xfrm>
            <a:off x="4362450" y="1219200"/>
            <a:ext cx="3467100" cy="1905000"/>
          </a:xfrm>
          <a:prstGeom prst="rect">
            <a:avLst/>
          </a:prstGeom>
          <a:solidFill>
            <a:srgbClr val="FBF7F3"/>
          </a:solidFill>
          <a:ln w="22225">
            <a:solidFill>
              <a:srgbClr val="E8783F"/>
            </a:solidFill>
            <a:prstDash val="dash"/>
          </a:ln>
        </p:spPr>
      </p:sp>
      <p:sp>
        <p:nvSpPr>
          <p:cNvPr id="11" name="Text 9"/>
          <p:cNvSpPr txBox="1"/>
          <p:nvPr/>
        </p:nvSpPr>
        <p:spPr>
          <a:xfrm>
            <a:off x="4495800" y="1333500"/>
            <a:ext cx="32004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 ここに動画を貼る</a:t>
            </a:r>
            <a:endParaRPr lang="en-US" sz="1400" dirty="0"/>
          </a:p>
        </p:txBody>
      </p:sp>
      <p:sp>
        <p:nvSpPr>
          <p:cNvPr id="12" name="Text 10"/>
          <p:cNvSpPr txBox="1"/>
          <p:nvPr/>
        </p:nvSpPr>
        <p:spPr>
          <a:xfrm>
            <a:off x="4495800" y="1619250"/>
            <a:ext cx="3200400" cy="139065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坂 10°の動画（実験15の動画フォルダ videos_presentation_20260924 から）</a:t>
            </a:r>
            <a:endParaRPr lang="en-US" sz="1300" dirty="0"/>
          </a:p>
        </p:txBody>
      </p:sp>
      <p:sp>
        <p:nvSpPr>
          <p:cNvPr id="13" name="Text 11"/>
          <p:cNvSpPr txBox="1"/>
          <p:nvPr/>
        </p:nvSpPr>
        <p:spPr>
          <a:xfrm>
            <a:off x="4362450" y="3162300"/>
            <a:ext cx="3467100" cy="381000"/>
          </a:xfrm>
          <a:prstGeom prst="rect">
            <a:avLst/>
          </a:prstGeom>
          <a:noFill/>
          <a:ln/>
        </p:spPr>
        <p:txBody>
          <a:bodyPr wrap="square" lIns="0" tIns="0" rIns="0" bIns="0" rtlCol="0" anchor="ctr"/>
          <a:lstStyle/>
          <a:p>
            <a:pPr algn="ctr" indent="0" marL="0">
              <a:buNone/>
            </a:pPr>
            <a:r>
              <a:rPr lang="en-US" sz="1800" b="1" dirty="0">
                <a:solidFill>
                  <a:srgbClr val="102B46"/>
                </a:solidFill>
                <a:latin typeface="Yu Gothic" pitchFamily="34" charset="0"/>
                <a:ea typeface="Yu Gothic" pitchFamily="34" charset="-122"/>
                <a:cs typeface="Yu Gothic" pitchFamily="34" charset="-120"/>
              </a:rPr>
              <a:t>坂 10°</a:t>
            </a:r>
            <a:endParaRPr lang="en-US" sz="1800" dirty="0"/>
          </a:p>
        </p:txBody>
      </p:sp>
      <p:sp>
        <p:nvSpPr>
          <p:cNvPr id="14" name="Shape 12"/>
          <p:cNvSpPr/>
          <p:nvPr/>
        </p:nvSpPr>
        <p:spPr>
          <a:xfrm>
            <a:off x="8096250" y="1219200"/>
            <a:ext cx="3467100" cy="1905000"/>
          </a:xfrm>
          <a:prstGeom prst="rect">
            <a:avLst/>
          </a:prstGeom>
          <a:solidFill>
            <a:srgbClr val="FBF7F3"/>
          </a:solidFill>
          <a:ln w="22225">
            <a:solidFill>
              <a:srgbClr val="E8783F"/>
            </a:solidFill>
            <a:prstDash val="dash"/>
          </a:ln>
        </p:spPr>
      </p:sp>
      <p:sp>
        <p:nvSpPr>
          <p:cNvPr id="15" name="Text 13"/>
          <p:cNvSpPr txBox="1"/>
          <p:nvPr/>
        </p:nvSpPr>
        <p:spPr>
          <a:xfrm>
            <a:off x="8229600" y="1333500"/>
            <a:ext cx="32004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 ここに動画を貼る</a:t>
            </a:r>
            <a:endParaRPr lang="en-US" sz="1400" dirty="0"/>
          </a:p>
        </p:txBody>
      </p:sp>
      <p:sp>
        <p:nvSpPr>
          <p:cNvPr id="16" name="Text 14"/>
          <p:cNvSpPr txBox="1"/>
          <p:nvPr/>
        </p:nvSpPr>
        <p:spPr>
          <a:xfrm>
            <a:off x="8229600" y="1619250"/>
            <a:ext cx="3200400" cy="139065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坂 15°の動画（実験15の動画フォルダ videos_presentation_20260924 から）</a:t>
            </a:r>
            <a:endParaRPr lang="en-US" sz="1300" dirty="0"/>
          </a:p>
        </p:txBody>
      </p:sp>
      <p:sp>
        <p:nvSpPr>
          <p:cNvPr id="17" name="Text 15"/>
          <p:cNvSpPr txBox="1"/>
          <p:nvPr/>
        </p:nvSpPr>
        <p:spPr>
          <a:xfrm>
            <a:off x="8096250" y="3162300"/>
            <a:ext cx="3467100" cy="381000"/>
          </a:xfrm>
          <a:prstGeom prst="rect">
            <a:avLst/>
          </a:prstGeom>
          <a:noFill/>
          <a:ln/>
        </p:spPr>
        <p:txBody>
          <a:bodyPr wrap="square" lIns="0" tIns="0" rIns="0" bIns="0" rtlCol="0" anchor="ctr"/>
          <a:lstStyle/>
          <a:p>
            <a:pPr algn="ctr" indent="0" marL="0">
              <a:buNone/>
            </a:pPr>
            <a:r>
              <a:rPr lang="en-US" sz="1800" b="1" dirty="0">
                <a:solidFill>
                  <a:srgbClr val="102B46"/>
                </a:solidFill>
                <a:latin typeface="Yu Gothic" pitchFamily="34" charset="0"/>
                <a:ea typeface="Yu Gothic" pitchFamily="34" charset="-122"/>
                <a:cs typeface="Yu Gothic" pitchFamily="34" charset="-120"/>
              </a:rPr>
              <a:t>坂 15°</a:t>
            </a:r>
            <a:endParaRPr lang="en-US" sz="1800" dirty="0"/>
          </a:p>
        </p:txBody>
      </p:sp>
      <p:sp>
        <p:nvSpPr>
          <p:cNvPr id="18" name="Shape 16"/>
          <p:cNvSpPr/>
          <p:nvPr/>
        </p:nvSpPr>
        <p:spPr>
          <a:xfrm>
            <a:off x="628650" y="3714750"/>
            <a:ext cx="3467100" cy="1905000"/>
          </a:xfrm>
          <a:prstGeom prst="rect">
            <a:avLst/>
          </a:prstGeom>
          <a:solidFill>
            <a:srgbClr val="FBF7F3"/>
          </a:solidFill>
          <a:ln w="22225">
            <a:solidFill>
              <a:srgbClr val="E8783F"/>
            </a:solidFill>
            <a:prstDash val="dash"/>
          </a:ln>
        </p:spPr>
      </p:sp>
      <p:sp>
        <p:nvSpPr>
          <p:cNvPr id="19" name="Text 17"/>
          <p:cNvSpPr txBox="1"/>
          <p:nvPr/>
        </p:nvSpPr>
        <p:spPr>
          <a:xfrm>
            <a:off x="762000" y="3829050"/>
            <a:ext cx="32004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 ここに動画を貼る</a:t>
            </a:r>
            <a:endParaRPr lang="en-US" sz="1400" dirty="0"/>
          </a:p>
        </p:txBody>
      </p:sp>
      <p:sp>
        <p:nvSpPr>
          <p:cNvPr id="20" name="Text 18"/>
          <p:cNvSpPr txBox="1"/>
          <p:nvPr/>
        </p:nvSpPr>
        <p:spPr>
          <a:xfrm>
            <a:off x="762000" y="4114800"/>
            <a:ext cx="3200400" cy="139065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でこぼこ 6 cmの動画（実験15の動画フォルダ videos_presentation_20260924 から）</a:t>
            </a:r>
            <a:endParaRPr lang="en-US" sz="1300" dirty="0"/>
          </a:p>
        </p:txBody>
      </p:sp>
      <p:sp>
        <p:nvSpPr>
          <p:cNvPr id="21" name="Text 19"/>
          <p:cNvSpPr txBox="1"/>
          <p:nvPr/>
        </p:nvSpPr>
        <p:spPr>
          <a:xfrm>
            <a:off x="628650" y="5657850"/>
            <a:ext cx="3467100" cy="381000"/>
          </a:xfrm>
          <a:prstGeom prst="rect">
            <a:avLst/>
          </a:prstGeom>
          <a:noFill/>
          <a:ln/>
        </p:spPr>
        <p:txBody>
          <a:bodyPr wrap="square" lIns="0" tIns="0" rIns="0" bIns="0" rtlCol="0" anchor="ctr"/>
          <a:lstStyle/>
          <a:p>
            <a:pPr algn="ctr" indent="0" marL="0">
              <a:buNone/>
            </a:pPr>
            <a:r>
              <a:rPr lang="en-US" sz="1800" b="1" dirty="0">
                <a:solidFill>
                  <a:srgbClr val="102B46"/>
                </a:solidFill>
                <a:latin typeface="Yu Gothic" pitchFamily="34" charset="0"/>
                <a:ea typeface="Yu Gothic" pitchFamily="34" charset="-122"/>
                <a:cs typeface="Yu Gothic" pitchFamily="34" charset="-120"/>
              </a:rPr>
              <a:t>でこぼこ 6 cm</a:t>
            </a:r>
            <a:endParaRPr lang="en-US" sz="1800" dirty="0"/>
          </a:p>
        </p:txBody>
      </p:sp>
      <p:sp>
        <p:nvSpPr>
          <p:cNvPr id="22" name="Shape 20"/>
          <p:cNvSpPr/>
          <p:nvPr/>
        </p:nvSpPr>
        <p:spPr>
          <a:xfrm>
            <a:off x="4362450" y="3714750"/>
            <a:ext cx="3467100" cy="1905000"/>
          </a:xfrm>
          <a:prstGeom prst="rect">
            <a:avLst/>
          </a:prstGeom>
          <a:solidFill>
            <a:srgbClr val="FBF7F3"/>
          </a:solidFill>
          <a:ln w="22225">
            <a:solidFill>
              <a:srgbClr val="E8783F"/>
            </a:solidFill>
            <a:prstDash val="dash"/>
          </a:ln>
        </p:spPr>
      </p:sp>
      <p:sp>
        <p:nvSpPr>
          <p:cNvPr id="23" name="Text 21"/>
          <p:cNvSpPr txBox="1"/>
          <p:nvPr/>
        </p:nvSpPr>
        <p:spPr>
          <a:xfrm>
            <a:off x="4495800" y="3829050"/>
            <a:ext cx="32004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 ここに動画を貼る</a:t>
            </a:r>
            <a:endParaRPr lang="en-US" sz="1400" dirty="0"/>
          </a:p>
        </p:txBody>
      </p:sp>
      <p:sp>
        <p:nvSpPr>
          <p:cNvPr id="24" name="Text 22"/>
          <p:cNvSpPr txBox="1"/>
          <p:nvPr/>
        </p:nvSpPr>
        <p:spPr>
          <a:xfrm>
            <a:off x="4495800" y="4114800"/>
            <a:ext cx="3200400" cy="139065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その場で旋回の動画（実験15の動画フォルダ videos_presentation_20260924 から）</a:t>
            </a:r>
            <a:endParaRPr lang="en-US" sz="1300" dirty="0"/>
          </a:p>
        </p:txBody>
      </p:sp>
      <p:sp>
        <p:nvSpPr>
          <p:cNvPr id="25" name="Text 23"/>
          <p:cNvSpPr txBox="1"/>
          <p:nvPr/>
        </p:nvSpPr>
        <p:spPr>
          <a:xfrm>
            <a:off x="4362450" y="5657850"/>
            <a:ext cx="3467100" cy="381000"/>
          </a:xfrm>
          <a:prstGeom prst="rect">
            <a:avLst/>
          </a:prstGeom>
          <a:noFill/>
          <a:ln/>
        </p:spPr>
        <p:txBody>
          <a:bodyPr wrap="square" lIns="0" tIns="0" rIns="0" bIns="0" rtlCol="0" anchor="ctr"/>
          <a:lstStyle/>
          <a:p>
            <a:pPr algn="ctr" indent="0" marL="0">
              <a:buNone/>
            </a:pPr>
            <a:r>
              <a:rPr lang="en-US" sz="1800" b="1" dirty="0">
                <a:solidFill>
                  <a:srgbClr val="102B46"/>
                </a:solidFill>
                <a:latin typeface="Yu Gothic" pitchFamily="34" charset="0"/>
                <a:ea typeface="Yu Gothic" pitchFamily="34" charset="-122"/>
                <a:cs typeface="Yu Gothic" pitchFamily="34" charset="-120"/>
              </a:rPr>
              <a:t>その場で旋回</a:t>
            </a:r>
            <a:endParaRPr lang="en-US" sz="1800" dirty="0"/>
          </a:p>
        </p:txBody>
      </p:sp>
      <p:sp>
        <p:nvSpPr>
          <p:cNvPr id="26" name="Shape 24"/>
          <p:cNvSpPr/>
          <p:nvPr/>
        </p:nvSpPr>
        <p:spPr>
          <a:xfrm>
            <a:off x="8096250" y="3714750"/>
            <a:ext cx="3467100" cy="1905000"/>
          </a:xfrm>
          <a:prstGeom prst="rect">
            <a:avLst/>
          </a:prstGeom>
          <a:solidFill>
            <a:srgbClr val="FBF7F3"/>
          </a:solidFill>
          <a:ln w="22225">
            <a:solidFill>
              <a:srgbClr val="E8783F"/>
            </a:solidFill>
            <a:prstDash val="dash"/>
          </a:ln>
        </p:spPr>
      </p:sp>
      <p:sp>
        <p:nvSpPr>
          <p:cNvPr id="27" name="Text 25"/>
          <p:cNvSpPr txBox="1"/>
          <p:nvPr/>
        </p:nvSpPr>
        <p:spPr>
          <a:xfrm>
            <a:off x="8229600" y="3829050"/>
            <a:ext cx="3200400" cy="247650"/>
          </a:xfrm>
          <a:prstGeom prst="rect">
            <a:avLst/>
          </a:prstGeom>
          <a:noFill/>
          <a:ln/>
        </p:spPr>
        <p:txBody>
          <a:bodyPr wrap="square" lIns="0" tIns="0" rIns="0" bIns="0" rtlCol="0" anchor="ctr"/>
          <a:lstStyle/>
          <a:p>
            <a:pPr algn="l" indent="0" marL="0">
              <a:buNone/>
            </a:pPr>
            <a:r>
              <a:rPr lang="en-US" sz="1400" b="1" dirty="0">
                <a:solidFill>
                  <a:srgbClr val="E8783F"/>
                </a:solidFill>
                <a:latin typeface="Yu Gothic" pitchFamily="34" charset="0"/>
                <a:ea typeface="Yu Gothic" pitchFamily="34" charset="-122"/>
                <a:cs typeface="Yu Gothic" pitchFamily="34" charset="-120"/>
              </a:rPr>
              <a:t>▶ ここに動画を貼る</a:t>
            </a:r>
            <a:endParaRPr lang="en-US" sz="1400" dirty="0"/>
          </a:p>
        </p:txBody>
      </p:sp>
      <p:sp>
        <p:nvSpPr>
          <p:cNvPr id="28" name="Text 26"/>
          <p:cNvSpPr txBox="1"/>
          <p:nvPr/>
        </p:nvSpPr>
        <p:spPr>
          <a:xfrm>
            <a:off x="8229600" y="4114800"/>
            <a:ext cx="3200400" cy="139065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歩きながら旋回の動画（実験15の動画フォルダ videos_presentation_20260924 から）</a:t>
            </a:r>
            <a:endParaRPr lang="en-US" sz="1300" dirty="0"/>
          </a:p>
        </p:txBody>
      </p:sp>
      <p:sp>
        <p:nvSpPr>
          <p:cNvPr id="29" name="Text 27"/>
          <p:cNvSpPr txBox="1"/>
          <p:nvPr/>
        </p:nvSpPr>
        <p:spPr>
          <a:xfrm>
            <a:off x="8096250" y="5657850"/>
            <a:ext cx="3467100" cy="381000"/>
          </a:xfrm>
          <a:prstGeom prst="rect">
            <a:avLst/>
          </a:prstGeom>
          <a:noFill/>
          <a:ln/>
        </p:spPr>
        <p:txBody>
          <a:bodyPr wrap="square" lIns="0" tIns="0" rIns="0" bIns="0" rtlCol="0" anchor="ctr"/>
          <a:lstStyle/>
          <a:p>
            <a:pPr algn="ctr" indent="0" marL="0">
              <a:buNone/>
            </a:pPr>
            <a:r>
              <a:rPr lang="en-US" sz="1800" b="1" dirty="0">
                <a:solidFill>
                  <a:srgbClr val="102B46"/>
                </a:solidFill>
                <a:latin typeface="Yu Gothic" pitchFamily="34" charset="0"/>
                <a:ea typeface="Yu Gothic" pitchFamily="34" charset="-122"/>
                <a:cs typeface="Yu Gothic" pitchFamily="34" charset="-120"/>
              </a:rPr>
              <a:t>歩きながら旋回</a:t>
            </a:r>
            <a:endParaRPr lang="en-US" sz="1800" dirty="0"/>
          </a:p>
        </p:txBody>
      </p:sp>
      <p:sp>
        <p:nvSpPr>
          <p:cNvPr id="30" name="Text 28"/>
          <p:cNvSpPr txBox="1"/>
          <p:nvPr/>
        </p:nvSpPr>
        <p:spPr>
          <a:xfrm>
            <a:off x="628650" y="6153150"/>
            <a:ext cx="10934700" cy="285750"/>
          </a:xfrm>
          <a:prstGeom prst="rect">
            <a:avLst/>
          </a:prstGeom>
          <a:noFill/>
          <a:ln/>
        </p:spPr>
        <p:txBody>
          <a:bodyPr wrap="square" lIns="0" tIns="0" rIns="0" bIns="0" rtlCol="0" anchor="ctr"/>
          <a:lstStyle/>
          <a:p>
            <a:pPr algn="ctr" indent="0" marL="0">
              <a:buNone/>
            </a:pPr>
            <a:r>
              <a:rPr lang="en-US" sz="1500" b="1" dirty="0">
                <a:solidFill>
                  <a:srgbClr val="32A5B5"/>
                </a:solidFill>
                <a:latin typeface="Yu Gothic" pitchFamily="34" charset="0"/>
                <a:ea typeface="Yu Gothic" pitchFamily="34" charset="-122"/>
                <a:cs typeface="Yu Gothic" pitchFamily="34" charset="-120"/>
              </a:rPr>
              <a:t>どの場面でも 16 体中 1 体も転ばなかった（15 秒間・外からの押しなし）</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デプロイ：学習した方策を実機ロボットに</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いきなり床で歩かせず、小さく確かめてから全身へ進める</a:t>
            </a:r>
            <a:endParaRPr lang="en-US" sz="2200" dirty="0"/>
          </a:p>
        </p:txBody>
      </p:sp>
      <p:sp>
        <p:nvSpPr>
          <p:cNvPr id="7" name="Shape 5"/>
          <p:cNvSpPr/>
          <p:nvPr/>
        </p:nvSpPr>
        <p:spPr>
          <a:xfrm>
            <a:off x="628650" y="1809750"/>
            <a:ext cx="1676400" cy="1981200"/>
          </a:xfrm>
          <a:prstGeom prst="rect">
            <a:avLst/>
          </a:prstGeom>
          <a:solidFill>
            <a:srgbClr val="EAF4EE"/>
          </a:solidFill>
          <a:ln w="19050">
            <a:solidFill>
              <a:srgbClr val="2E8B57"/>
            </a:solidFill>
            <a:prstDash val="solid"/>
          </a:ln>
        </p:spPr>
      </p:sp>
      <p:sp>
        <p:nvSpPr>
          <p:cNvPr id="8" name="Text 6"/>
          <p:cNvSpPr txBox="1"/>
          <p:nvPr/>
        </p:nvSpPr>
        <p:spPr>
          <a:xfrm>
            <a:off x="1276350" y="1905000"/>
            <a:ext cx="381000" cy="381000"/>
          </a:xfrm>
          <a:prstGeom prst="ellipse">
            <a:avLst/>
          </a:prstGeom>
          <a:solidFill>
            <a:srgbClr val="2E8B57"/>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9" name="Text 7"/>
          <p:cNvSpPr txBox="1"/>
          <p:nvPr/>
        </p:nvSpPr>
        <p:spPr>
          <a:xfrm>
            <a:off x="685800" y="2362200"/>
            <a:ext cx="1562100" cy="34290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方策を書き出す</a:t>
            </a:r>
            <a:endParaRPr lang="en-US" sz="1600" dirty="0"/>
          </a:p>
        </p:txBody>
      </p:sp>
      <p:sp>
        <p:nvSpPr>
          <p:cNvPr id="10" name="Text 8"/>
          <p:cNvSpPr txBox="1"/>
          <p:nvPr/>
        </p:nvSpPr>
        <p:spPr>
          <a:xfrm>
            <a:off x="685800" y="2743200"/>
            <a:ext cx="1562100" cy="57150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ONNX形式で</a:t>
            </a:r>
            <a:endParaRPr lang="en-US" sz="1300" dirty="0"/>
          </a:p>
          <a:p>
            <a:pPr algn="ctr" indent="0" marL="0">
              <a:buNone/>
            </a:pPr>
            <a:r>
              <a:rPr lang="en-US" sz="1300" dirty="0">
                <a:solidFill>
                  <a:srgbClr val="17212B"/>
                </a:solidFill>
                <a:latin typeface="Yu Gothic" pitchFamily="34" charset="0"/>
                <a:ea typeface="Yu Gothic" pitchFamily="34" charset="-122"/>
                <a:cs typeface="Yu Gothic" pitchFamily="34" charset="-120"/>
              </a:rPr>
              <a:t>保存</a:t>
            </a:r>
            <a:endParaRPr lang="en-US" sz="1300" dirty="0"/>
          </a:p>
        </p:txBody>
      </p:sp>
      <p:sp>
        <p:nvSpPr>
          <p:cNvPr id="11" name="Text 9"/>
          <p:cNvSpPr txBox="1"/>
          <p:nvPr/>
        </p:nvSpPr>
        <p:spPr>
          <a:xfrm>
            <a:off x="990600" y="3390900"/>
            <a:ext cx="952500" cy="285750"/>
          </a:xfrm>
          <a:prstGeom prst="rect">
            <a:avLst/>
          </a:prstGeom>
          <a:solidFill>
            <a:srgbClr val="2E8B57"/>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完了</a:t>
            </a:r>
            <a:endParaRPr lang="en-US" sz="1400" dirty="0"/>
          </a:p>
        </p:txBody>
      </p:sp>
      <p:sp>
        <p:nvSpPr>
          <p:cNvPr id="12" name="Shape 10"/>
          <p:cNvSpPr/>
          <p:nvPr/>
        </p:nvSpPr>
        <p:spPr>
          <a:xfrm>
            <a:off x="2324100" y="2800350"/>
            <a:ext cx="114300" cy="95"/>
          </a:xfrm>
          <a:prstGeom prst="line">
            <a:avLst/>
          </a:prstGeom>
          <a:noFill/>
          <a:ln w="25400">
            <a:solidFill>
              <a:srgbClr val="B7C7D1"/>
            </a:solidFill>
            <a:prstDash val="solid"/>
            <a:tailEnd type="triangle"/>
          </a:ln>
        </p:spPr>
      </p:sp>
      <p:sp>
        <p:nvSpPr>
          <p:cNvPr id="13" name="Shape 11"/>
          <p:cNvSpPr/>
          <p:nvPr/>
        </p:nvSpPr>
        <p:spPr>
          <a:xfrm>
            <a:off x="2457450" y="1809750"/>
            <a:ext cx="1676400" cy="1981200"/>
          </a:xfrm>
          <a:prstGeom prst="rect">
            <a:avLst/>
          </a:prstGeom>
          <a:solidFill>
            <a:srgbClr val="EAF4EE"/>
          </a:solidFill>
          <a:ln w="19050">
            <a:solidFill>
              <a:srgbClr val="2E8B57"/>
            </a:solidFill>
            <a:prstDash val="solid"/>
          </a:ln>
        </p:spPr>
      </p:sp>
      <p:sp>
        <p:nvSpPr>
          <p:cNvPr id="14" name="Text 12"/>
          <p:cNvSpPr txBox="1"/>
          <p:nvPr/>
        </p:nvSpPr>
        <p:spPr>
          <a:xfrm>
            <a:off x="3105150" y="1905000"/>
            <a:ext cx="381000" cy="381000"/>
          </a:xfrm>
          <a:prstGeom prst="ellipse">
            <a:avLst/>
          </a:prstGeom>
          <a:solidFill>
            <a:srgbClr val="2E8B57"/>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5" name="Text 13"/>
          <p:cNvSpPr txBox="1"/>
          <p:nvPr/>
        </p:nvSpPr>
        <p:spPr>
          <a:xfrm>
            <a:off x="2514600" y="2362200"/>
            <a:ext cx="1562100" cy="34290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答えを確認</a:t>
            </a:r>
            <a:endParaRPr lang="en-US" sz="1600" dirty="0"/>
          </a:p>
        </p:txBody>
      </p:sp>
      <p:sp>
        <p:nvSpPr>
          <p:cNvPr id="16" name="Text 14"/>
          <p:cNvSpPr txBox="1"/>
          <p:nvPr/>
        </p:nvSpPr>
        <p:spPr>
          <a:xfrm>
            <a:off x="2514600" y="2743200"/>
            <a:ext cx="1562100" cy="57150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学習時と同じ</a:t>
            </a:r>
            <a:endParaRPr lang="en-US" sz="1300" dirty="0"/>
          </a:p>
          <a:p>
            <a:pPr algn="ctr" indent="0" marL="0">
              <a:buNone/>
            </a:pPr>
            <a:r>
              <a:rPr lang="en-US" sz="1300" dirty="0">
                <a:solidFill>
                  <a:srgbClr val="17212B"/>
                </a:solidFill>
                <a:latin typeface="Yu Gothic" pitchFamily="34" charset="0"/>
                <a:ea typeface="Yu Gothic" pitchFamily="34" charset="-122"/>
                <a:cs typeface="Yu Gothic" pitchFamily="34" charset="-120"/>
              </a:rPr>
              <a:t>出力が出るか</a:t>
            </a:r>
            <a:endParaRPr lang="en-US" sz="1300" dirty="0"/>
          </a:p>
        </p:txBody>
      </p:sp>
      <p:sp>
        <p:nvSpPr>
          <p:cNvPr id="17" name="Text 15"/>
          <p:cNvSpPr txBox="1"/>
          <p:nvPr/>
        </p:nvSpPr>
        <p:spPr>
          <a:xfrm>
            <a:off x="2819400" y="3390900"/>
            <a:ext cx="952500" cy="285750"/>
          </a:xfrm>
          <a:prstGeom prst="rect">
            <a:avLst/>
          </a:prstGeom>
          <a:solidFill>
            <a:srgbClr val="2E8B57"/>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完了</a:t>
            </a:r>
            <a:endParaRPr lang="en-US" sz="1400" dirty="0"/>
          </a:p>
        </p:txBody>
      </p:sp>
      <p:sp>
        <p:nvSpPr>
          <p:cNvPr id="18" name="Shape 16"/>
          <p:cNvSpPr/>
          <p:nvPr/>
        </p:nvSpPr>
        <p:spPr>
          <a:xfrm>
            <a:off x="4152900" y="2800350"/>
            <a:ext cx="114300" cy="95"/>
          </a:xfrm>
          <a:prstGeom prst="line">
            <a:avLst/>
          </a:prstGeom>
          <a:noFill/>
          <a:ln w="25400">
            <a:solidFill>
              <a:srgbClr val="B7C7D1"/>
            </a:solidFill>
            <a:prstDash val="solid"/>
            <a:tailEnd type="triangle"/>
          </a:ln>
        </p:spPr>
      </p:sp>
      <p:sp>
        <p:nvSpPr>
          <p:cNvPr id="19" name="Shape 17"/>
          <p:cNvSpPr/>
          <p:nvPr/>
        </p:nvSpPr>
        <p:spPr>
          <a:xfrm>
            <a:off x="4286250" y="1809750"/>
            <a:ext cx="1676400" cy="1981200"/>
          </a:xfrm>
          <a:prstGeom prst="rect">
            <a:avLst/>
          </a:prstGeom>
          <a:solidFill>
            <a:srgbClr val="EAF4EE"/>
          </a:solidFill>
          <a:ln w="19050">
            <a:solidFill>
              <a:srgbClr val="2E8B57"/>
            </a:solidFill>
            <a:prstDash val="solid"/>
          </a:ln>
        </p:spPr>
      </p:sp>
      <p:sp>
        <p:nvSpPr>
          <p:cNvPr id="20" name="Text 18"/>
          <p:cNvSpPr txBox="1"/>
          <p:nvPr/>
        </p:nvSpPr>
        <p:spPr>
          <a:xfrm>
            <a:off x="4933950" y="1905000"/>
            <a:ext cx="381000" cy="381000"/>
          </a:xfrm>
          <a:prstGeom prst="ellipse">
            <a:avLst/>
          </a:prstGeom>
          <a:solidFill>
            <a:srgbClr val="2E8B57"/>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21" name="Text 19"/>
          <p:cNvSpPr txBox="1"/>
          <p:nvPr/>
        </p:nvSpPr>
        <p:spPr>
          <a:xfrm>
            <a:off x="4343400" y="2362200"/>
            <a:ext cx="1562100" cy="34290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1台ずつ動かす</a:t>
            </a:r>
            <a:endParaRPr lang="en-US" sz="1600" dirty="0"/>
          </a:p>
        </p:txBody>
      </p:sp>
      <p:sp>
        <p:nvSpPr>
          <p:cNvPr id="22" name="Text 20"/>
          <p:cNvSpPr txBox="1"/>
          <p:nvPr/>
        </p:nvSpPr>
        <p:spPr>
          <a:xfrm>
            <a:off x="4343400" y="2743200"/>
            <a:ext cx="1562100" cy="57150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指令どおりに</a:t>
            </a:r>
            <a:endParaRPr lang="en-US" sz="1300" dirty="0"/>
          </a:p>
          <a:p>
            <a:pPr algn="ctr" indent="0" marL="0">
              <a:buNone/>
            </a:pPr>
            <a:r>
              <a:rPr lang="en-US" sz="1300" dirty="0">
                <a:solidFill>
                  <a:srgbClr val="17212B"/>
                </a:solidFill>
                <a:latin typeface="Yu Gothic" pitchFamily="34" charset="0"/>
                <a:ea typeface="Yu Gothic" pitchFamily="34" charset="-122"/>
                <a:cs typeface="Yu Gothic" pitchFamily="34" charset="-120"/>
              </a:rPr>
              <a:t>回るか</a:t>
            </a:r>
            <a:endParaRPr lang="en-US" sz="1300" dirty="0"/>
          </a:p>
        </p:txBody>
      </p:sp>
      <p:sp>
        <p:nvSpPr>
          <p:cNvPr id="23" name="Text 21"/>
          <p:cNvSpPr txBox="1"/>
          <p:nvPr/>
        </p:nvSpPr>
        <p:spPr>
          <a:xfrm>
            <a:off x="4648200" y="3390900"/>
            <a:ext cx="952500" cy="285750"/>
          </a:xfrm>
          <a:prstGeom prst="rect">
            <a:avLst/>
          </a:prstGeom>
          <a:solidFill>
            <a:srgbClr val="2E8B57"/>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完了</a:t>
            </a:r>
            <a:endParaRPr lang="en-US" sz="1400" dirty="0"/>
          </a:p>
        </p:txBody>
      </p:sp>
      <p:sp>
        <p:nvSpPr>
          <p:cNvPr id="24" name="Shape 22"/>
          <p:cNvSpPr/>
          <p:nvPr/>
        </p:nvSpPr>
        <p:spPr>
          <a:xfrm>
            <a:off x="5981700" y="2800350"/>
            <a:ext cx="114300" cy="95"/>
          </a:xfrm>
          <a:prstGeom prst="line">
            <a:avLst/>
          </a:prstGeom>
          <a:noFill/>
          <a:ln w="25400">
            <a:solidFill>
              <a:srgbClr val="B7C7D1"/>
            </a:solidFill>
            <a:prstDash val="solid"/>
            <a:tailEnd type="triangle"/>
          </a:ln>
        </p:spPr>
      </p:sp>
      <p:sp>
        <p:nvSpPr>
          <p:cNvPr id="25" name="Shape 23"/>
          <p:cNvSpPr/>
          <p:nvPr/>
        </p:nvSpPr>
        <p:spPr>
          <a:xfrm>
            <a:off x="6115050" y="1809750"/>
            <a:ext cx="1676400" cy="1981200"/>
          </a:xfrm>
          <a:prstGeom prst="rect">
            <a:avLst/>
          </a:prstGeom>
          <a:solidFill>
            <a:srgbClr val="EAF4EE"/>
          </a:solidFill>
          <a:ln w="19050">
            <a:solidFill>
              <a:srgbClr val="2E8B57"/>
            </a:solidFill>
            <a:prstDash val="solid"/>
          </a:ln>
        </p:spPr>
      </p:sp>
      <p:sp>
        <p:nvSpPr>
          <p:cNvPr id="26" name="Text 24"/>
          <p:cNvSpPr txBox="1"/>
          <p:nvPr/>
        </p:nvSpPr>
        <p:spPr>
          <a:xfrm>
            <a:off x="6762750" y="1905000"/>
            <a:ext cx="381000" cy="381000"/>
          </a:xfrm>
          <a:prstGeom prst="ellipse">
            <a:avLst/>
          </a:prstGeom>
          <a:solidFill>
            <a:srgbClr val="2E8B57"/>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27" name="Text 25"/>
          <p:cNvSpPr txBox="1"/>
          <p:nvPr/>
        </p:nvSpPr>
        <p:spPr>
          <a:xfrm>
            <a:off x="6172200" y="2362200"/>
            <a:ext cx="1562100" cy="34290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吊って全身</a:t>
            </a:r>
            <a:endParaRPr lang="en-US" sz="1600" dirty="0"/>
          </a:p>
        </p:txBody>
      </p:sp>
      <p:sp>
        <p:nvSpPr>
          <p:cNvPr id="28" name="Text 26"/>
          <p:cNvSpPr txBox="1"/>
          <p:nvPr/>
        </p:nvSpPr>
        <p:spPr>
          <a:xfrm>
            <a:off x="6172200" y="2743200"/>
            <a:ext cx="1562100" cy="57150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10台すべてに</a:t>
            </a:r>
            <a:endParaRPr lang="en-US" sz="1300" dirty="0"/>
          </a:p>
          <a:p>
            <a:pPr algn="ctr" indent="0" marL="0">
              <a:buNone/>
            </a:pPr>
            <a:r>
              <a:rPr lang="en-US" sz="1300" dirty="0">
                <a:solidFill>
                  <a:srgbClr val="17212B"/>
                </a:solidFill>
                <a:latin typeface="Yu Gothic" pitchFamily="34" charset="0"/>
                <a:ea typeface="Yu Gothic" pitchFamily="34" charset="-122"/>
                <a:cs typeface="Yu Gothic" pitchFamily="34" charset="-120"/>
              </a:rPr>
              <a:t>方策の指令</a:t>
            </a:r>
            <a:endParaRPr lang="en-US" sz="1300" dirty="0"/>
          </a:p>
        </p:txBody>
      </p:sp>
      <p:sp>
        <p:nvSpPr>
          <p:cNvPr id="29" name="Text 27"/>
          <p:cNvSpPr txBox="1"/>
          <p:nvPr/>
        </p:nvSpPr>
        <p:spPr>
          <a:xfrm>
            <a:off x="6477000" y="3390900"/>
            <a:ext cx="952500" cy="285750"/>
          </a:xfrm>
          <a:prstGeom prst="rect">
            <a:avLst/>
          </a:prstGeom>
          <a:solidFill>
            <a:srgbClr val="2E8B57"/>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完了</a:t>
            </a:r>
            <a:endParaRPr lang="en-US" sz="1400" dirty="0"/>
          </a:p>
        </p:txBody>
      </p:sp>
      <p:sp>
        <p:nvSpPr>
          <p:cNvPr id="30" name="Shape 28"/>
          <p:cNvSpPr/>
          <p:nvPr/>
        </p:nvSpPr>
        <p:spPr>
          <a:xfrm>
            <a:off x="7810500" y="2800350"/>
            <a:ext cx="114300" cy="95"/>
          </a:xfrm>
          <a:prstGeom prst="line">
            <a:avLst/>
          </a:prstGeom>
          <a:noFill/>
          <a:ln w="25400">
            <a:solidFill>
              <a:srgbClr val="B7C7D1"/>
            </a:solidFill>
            <a:prstDash val="solid"/>
            <a:tailEnd type="triangle"/>
          </a:ln>
        </p:spPr>
      </p:sp>
      <p:sp>
        <p:nvSpPr>
          <p:cNvPr id="31" name="Shape 29"/>
          <p:cNvSpPr/>
          <p:nvPr/>
        </p:nvSpPr>
        <p:spPr>
          <a:xfrm>
            <a:off x="7943850" y="1809750"/>
            <a:ext cx="1676400" cy="1981200"/>
          </a:xfrm>
          <a:prstGeom prst="rect">
            <a:avLst/>
          </a:prstGeom>
          <a:solidFill>
            <a:srgbClr val="F3EEE6"/>
          </a:solidFill>
          <a:ln w="19050">
            <a:solidFill>
              <a:srgbClr val="E8783F"/>
            </a:solidFill>
            <a:prstDash val="solid"/>
          </a:ln>
        </p:spPr>
      </p:sp>
      <p:sp>
        <p:nvSpPr>
          <p:cNvPr id="32" name="Text 30"/>
          <p:cNvSpPr txBox="1"/>
          <p:nvPr/>
        </p:nvSpPr>
        <p:spPr>
          <a:xfrm>
            <a:off x="8591550" y="1905000"/>
            <a:ext cx="381000" cy="381000"/>
          </a:xfrm>
          <a:prstGeom prst="ellipse">
            <a:avLst/>
          </a:prstGeom>
          <a:solidFill>
            <a:srgbClr val="E8783F"/>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33" name="Text 31"/>
          <p:cNvSpPr txBox="1"/>
          <p:nvPr/>
        </p:nvSpPr>
        <p:spPr>
          <a:xfrm>
            <a:off x="8001000" y="2362200"/>
            <a:ext cx="1562100" cy="34290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床に立たせる</a:t>
            </a:r>
            <a:endParaRPr lang="en-US" sz="1600" dirty="0"/>
          </a:p>
        </p:txBody>
      </p:sp>
      <p:sp>
        <p:nvSpPr>
          <p:cNvPr id="34" name="Text 32"/>
          <p:cNvSpPr txBox="1"/>
          <p:nvPr/>
        </p:nvSpPr>
        <p:spPr>
          <a:xfrm>
            <a:off x="8001000" y="2743200"/>
            <a:ext cx="1562100" cy="57150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方策に任せて</a:t>
            </a:r>
            <a:endParaRPr lang="en-US" sz="1300" dirty="0"/>
          </a:p>
          <a:p>
            <a:pPr algn="ctr" indent="0" marL="0">
              <a:buNone/>
            </a:pPr>
            <a:r>
              <a:rPr lang="en-US" sz="1300" dirty="0">
                <a:solidFill>
                  <a:srgbClr val="17212B"/>
                </a:solidFill>
                <a:latin typeface="Yu Gothic" pitchFamily="34" charset="0"/>
                <a:ea typeface="Yu Gothic" pitchFamily="34" charset="-122"/>
                <a:cs typeface="Yu Gothic" pitchFamily="34" charset="-120"/>
              </a:rPr>
              <a:t>立つ・歩く</a:t>
            </a:r>
            <a:endParaRPr lang="en-US" sz="1300" dirty="0"/>
          </a:p>
        </p:txBody>
      </p:sp>
      <p:sp>
        <p:nvSpPr>
          <p:cNvPr id="35" name="Text 33"/>
          <p:cNvSpPr txBox="1"/>
          <p:nvPr/>
        </p:nvSpPr>
        <p:spPr>
          <a:xfrm>
            <a:off x="8305800" y="3390900"/>
            <a:ext cx="952500" cy="285750"/>
          </a:xfrm>
          <a:prstGeom prst="rect">
            <a:avLst/>
          </a:prstGeom>
          <a:solidFill>
            <a:srgbClr val="E8783F"/>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実施中</a:t>
            </a:r>
            <a:endParaRPr lang="en-US" sz="1400" dirty="0"/>
          </a:p>
        </p:txBody>
      </p:sp>
      <p:sp>
        <p:nvSpPr>
          <p:cNvPr id="36" name="Shape 34"/>
          <p:cNvSpPr/>
          <p:nvPr/>
        </p:nvSpPr>
        <p:spPr>
          <a:xfrm>
            <a:off x="9639300" y="2800350"/>
            <a:ext cx="114300" cy="95"/>
          </a:xfrm>
          <a:prstGeom prst="line">
            <a:avLst/>
          </a:prstGeom>
          <a:noFill/>
          <a:ln w="25400">
            <a:solidFill>
              <a:srgbClr val="B7C7D1"/>
            </a:solidFill>
            <a:prstDash val="solid"/>
            <a:tailEnd type="triangle"/>
          </a:ln>
        </p:spPr>
      </p:sp>
      <p:sp>
        <p:nvSpPr>
          <p:cNvPr id="37" name="Shape 35"/>
          <p:cNvSpPr/>
          <p:nvPr/>
        </p:nvSpPr>
        <p:spPr>
          <a:xfrm>
            <a:off x="9772650" y="1809750"/>
            <a:ext cx="1676400" cy="1981200"/>
          </a:xfrm>
          <a:prstGeom prst="rect">
            <a:avLst/>
          </a:prstGeom>
          <a:solidFill>
            <a:srgbClr val="FFFFFF"/>
          </a:solidFill>
          <a:ln w="19050">
            <a:solidFill>
              <a:srgbClr val="5E6A73"/>
            </a:solidFill>
            <a:prstDash val="solid"/>
          </a:ln>
        </p:spPr>
      </p:sp>
      <p:sp>
        <p:nvSpPr>
          <p:cNvPr id="38" name="Text 36"/>
          <p:cNvSpPr txBox="1"/>
          <p:nvPr/>
        </p:nvSpPr>
        <p:spPr>
          <a:xfrm>
            <a:off x="10420350" y="1905000"/>
            <a:ext cx="381000" cy="381000"/>
          </a:xfrm>
          <a:prstGeom prst="ellipse">
            <a:avLst/>
          </a:prstGeom>
          <a:solidFill>
            <a:srgbClr val="5E6A73"/>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6</a:t>
            </a:r>
            <a:endParaRPr lang="en-US" sz="1800" dirty="0"/>
          </a:p>
        </p:txBody>
      </p:sp>
      <p:sp>
        <p:nvSpPr>
          <p:cNvPr id="39" name="Text 37"/>
          <p:cNvSpPr txBox="1"/>
          <p:nvPr/>
        </p:nvSpPr>
        <p:spPr>
          <a:xfrm>
            <a:off x="9829800" y="2362200"/>
            <a:ext cx="1562100" cy="34290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プロコン操作</a:t>
            </a:r>
            <a:endParaRPr lang="en-US" sz="1600" dirty="0"/>
          </a:p>
        </p:txBody>
      </p:sp>
      <p:sp>
        <p:nvSpPr>
          <p:cNvPr id="40" name="Text 38"/>
          <p:cNvSpPr txBox="1"/>
          <p:nvPr/>
        </p:nvSpPr>
        <p:spPr>
          <a:xfrm>
            <a:off x="9829800" y="2743200"/>
            <a:ext cx="1562100" cy="57150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Jetson＋無線で</a:t>
            </a:r>
            <a:endParaRPr lang="en-US" sz="1300" dirty="0"/>
          </a:p>
          <a:p>
            <a:pPr algn="ctr" indent="0" marL="0">
              <a:buNone/>
            </a:pPr>
            <a:r>
              <a:rPr lang="en-US" sz="1300" dirty="0">
                <a:solidFill>
                  <a:srgbClr val="17212B"/>
                </a:solidFill>
                <a:latin typeface="Yu Gothic" pitchFamily="34" charset="0"/>
                <a:ea typeface="Yu Gothic" pitchFamily="34" charset="-122"/>
                <a:cs typeface="Yu Gothic" pitchFamily="34" charset="-120"/>
              </a:rPr>
              <a:t>好きな方向へ</a:t>
            </a:r>
            <a:endParaRPr lang="en-US" sz="1300" dirty="0"/>
          </a:p>
        </p:txBody>
      </p:sp>
      <p:sp>
        <p:nvSpPr>
          <p:cNvPr id="41" name="Text 39"/>
          <p:cNvSpPr txBox="1"/>
          <p:nvPr/>
        </p:nvSpPr>
        <p:spPr>
          <a:xfrm>
            <a:off x="10134600" y="3390900"/>
            <a:ext cx="952500" cy="285750"/>
          </a:xfrm>
          <a:prstGeom prst="rect">
            <a:avLst/>
          </a:prstGeom>
          <a:solidFill>
            <a:srgbClr val="5E6A73"/>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未実施</a:t>
            </a:r>
            <a:endParaRPr lang="en-US" sz="1400" dirty="0"/>
          </a:p>
        </p:txBody>
      </p:sp>
      <p:sp>
        <p:nvSpPr>
          <p:cNvPr id="42" name="Shape 40"/>
          <p:cNvSpPr/>
          <p:nvPr/>
        </p:nvSpPr>
        <p:spPr>
          <a:xfrm>
            <a:off x="628650" y="3962400"/>
            <a:ext cx="5334000" cy="2324100"/>
          </a:xfrm>
          <a:prstGeom prst="rect">
            <a:avLst/>
          </a:prstGeom>
          <a:solidFill>
            <a:srgbClr val="FBF7F3"/>
          </a:solidFill>
          <a:ln w="22225">
            <a:solidFill>
              <a:srgbClr val="E8783F"/>
            </a:solidFill>
            <a:prstDash val="dash"/>
          </a:ln>
        </p:spPr>
      </p:sp>
      <p:sp>
        <p:nvSpPr>
          <p:cNvPr id="43" name="Text 41"/>
          <p:cNvSpPr txBox="1"/>
          <p:nvPr/>
        </p:nvSpPr>
        <p:spPr>
          <a:xfrm>
            <a:off x="762000" y="4076700"/>
            <a:ext cx="50673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ここに動画を貼る</a:t>
            </a:r>
            <a:endParaRPr lang="en-US" sz="1500" dirty="0"/>
          </a:p>
        </p:txBody>
      </p:sp>
      <p:sp>
        <p:nvSpPr>
          <p:cNvPr id="44" name="Text 42"/>
          <p:cNvSpPr txBox="1"/>
          <p:nvPr/>
        </p:nvSpPr>
        <p:spPr>
          <a:xfrm>
            <a:off x="762000" y="4362450"/>
            <a:ext cx="5067300" cy="1809750"/>
          </a:xfrm>
          <a:prstGeom prst="rect">
            <a:avLst/>
          </a:prstGeom>
          <a:noFill/>
          <a:ln/>
        </p:spPr>
        <p:txBody>
          <a:bodyPr wrap="square" lIns="0" tIns="0" rIns="0" bIns="0" rtlCol="0" anchor="t"/>
          <a:lstStyle/>
          <a:p>
            <a:pPr algn="l" indent="0" marL="0">
              <a:lnSpc>
                <a:spcPct val="110000"/>
              </a:lnSpc>
              <a:buNone/>
            </a:pPr>
            <a:r>
              <a:rPr lang="en-US" sz="1500" dirty="0">
                <a:solidFill>
                  <a:srgbClr val="5E6A73"/>
                </a:solidFill>
                <a:latin typeface="Yu Gothic" pitchFamily="34" charset="0"/>
                <a:ea typeface="Yu Gothic" pitchFamily="34" charset="-122"/>
                <a:cs typeface="Yu Gothic" pitchFamily="34" charset="-120"/>
              </a:rPr>
              <a:t>床の上で立っている動画。</a:t>
            </a:r>
            <a:endParaRPr lang="en-US" sz="1500" dirty="0"/>
          </a:p>
        </p:txBody>
      </p:sp>
      <p:sp>
        <p:nvSpPr>
          <p:cNvPr id="45" name="Shape 43"/>
          <p:cNvSpPr/>
          <p:nvPr/>
        </p:nvSpPr>
        <p:spPr>
          <a:xfrm>
            <a:off x="6229350" y="3962400"/>
            <a:ext cx="5334000" cy="2324100"/>
          </a:xfrm>
          <a:prstGeom prst="rect">
            <a:avLst/>
          </a:prstGeom>
          <a:solidFill>
            <a:srgbClr val="FBF7F3"/>
          </a:solidFill>
          <a:ln w="22225">
            <a:solidFill>
              <a:srgbClr val="E8783F"/>
            </a:solidFill>
            <a:prstDash val="dash"/>
          </a:ln>
        </p:spPr>
      </p:sp>
      <p:sp>
        <p:nvSpPr>
          <p:cNvPr id="46" name="Text 44"/>
          <p:cNvSpPr txBox="1"/>
          <p:nvPr/>
        </p:nvSpPr>
        <p:spPr>
          <a:xfrm>
            <a:off x="6362700" y="4076700"/>
            <a:ext cx="50673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ここに動画を貼る</a:t>
            </a:r>
            <a:endParaRPr lang="en-US" sz="1500" dirty="0"/>
          </a:p>
        </p:txBody>
      </p:sp>
      <p:sp>
        <p:nvSpPr>
          <p:cNvPr id="47" name="Text 45"/>
          <p:cNvSpPr txBox="1"/>
          <p:nvPr/>
        </p:nvSpPr>
        <p:spPr>
          <a:xfrm>
            <a:off x="6362700" y="4362450"/>
            <a:ext cx="5067300" cy="1809750"/>
          </a:xfrm>
          <a:prstGeom prst="rect">
            <a:avLst/>
          </a:prstGeom>
          <a:noFill/>
          <a:ln/>
        </p:spPr>
        <p:txBody>
          <a:bodyPr wrap="square" lIns="0" tIns="0" rIns="0" bIns="0" rtlCol="0" anchor="t"/>
          <a:lstStyle/>
          <a:p>
            <a:pPr algn="l" indent="0" marL="0">
              <a:lnSpc>
                <a:spcPct val="110000"/>
              </a:lnSpc>
              <a:buNone/>
            </a:pPr>
            <a:r>
              <a:rPr lang="en-US" sz="1500" dirty="0">
                <a:solidFill>
                  <a:srgbClr val="5E6A73"/>
                </a:solidFill>
                <a:latin typeface="Yu Gothic" pitchFamily="34" charset="0"/>
                <a:ea typeface="Yu Gothic" pitchFamily="34" charset="-122"/>
                <a:cs typeface="Yu Gothic" pitchFamily="34" charset="-120"/>
              </a:rPr>
              <a:t>床の上で方策に任せて、歩こうとする動画。</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デプロイで見つかった「シミュレーターとの違い」</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28650" y="1257300"/>
          <a:ext cx="10934700" cy="914400"/>
        </p:xfrm>
        <a:graphic>
          <a:graphicData uri="http://schemas.openxmlformats.org/drawingml/2006/table">
            <a:tbl>
              <a:tblPr/>
              <a:tblGrid>
                <a:gridCol w="6096000"/>
                <a:gridCol w="4838700"/>
              </a:tblGrid>
              <a:tr h="666750">
                <a:tc>
                  <a:txBody>
                    <a:bodyPr/>
                    <a:lstStyle/>
                    <a:p>
                      <a:pPr indent="0" marL="0">
                        <a:buNone/>
                      </a:pPr>
                      <a:r>
                        <a:rPr lang="en-US" sz="1600" b="1" dirty="0">
                          <a:solidFill>
                            <a:srgbClr val="FFFFFF"/>
                          </a:solidFill>
                          <a:latin typeface="Yu Gothic" pitchFamily="34" charset="0"/>
                          <a:ea typeface="Yu Gothic" pitchFamily="34" charset="-122"/>
                          <a:cs typeface="Yu Gothic" pitchFamily="34" charset="-120"/>
                        </a:rPr>
                        <a:t>見つかった違い</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102B46"/>
                    </a:solidFill>
                  </a:tcPr>
                </a:tc>
                <a:tc>
                  <a:txBody>
                    <a:bodyPr/>
                    <a:lstStyle/>
                    <a:p>
                      <a:pPr indent="0" marL="0">
                        <a:buNone/>
                      </a:pPr>
                      <a:r>
                        <a:rPr lang="en-US" sz="1600" b="1" dirty="0">
                          <a:solidFill>
                            <a:srgbClr val="FFFFFF"/>
                          </a:solidFill>
                          <a:latin typeface="Yu Gothic" pitchFamily="34" charset="0"/>
                          <a:ea typeface="Yu Gothic" pitchFamily="34" charset="-122"/>
                          <a:cs typeface="Yu Gothic" pitchFamily="34" charset="-120"/>
                        </a:rPr>
                        <a:t>どう対応したか</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102B46"/>
                    </a:solidFill>
                  </a:tcPr>
                </a:tc>
              </a:tr>
              <a:tr h="666750">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一部の関節の回る向きが逆</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関節ごとの向きを表にまとめて修正</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r h="666750">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CAD の「まっすぐ」が実は膝の曲がった姿勢（左 12°・右 7°）</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読み替えを入れて、床で立てるようになった</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r>
              <a:tr h="666750">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モーターの摩擦がシミュレーターの 2〜3 倍</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摩擦をばらつかせて学習し直す</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r h="666750">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シミュレーターでは毎回、空中から落として練習を始めていた</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止まって立った状態から始める練習を加える</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r>
              <a:tr h="666750">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方策は股を内側に寄せて歩くが、実機ではそこで左右の足がぶつかる</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indent="0" marL="0">
                        <a:buNone/>
                      </a:pPr>
                      <a:r>
                        <a:rPr lang="en-US" sz="1600" dirty="0">
                          <a:solidFill>
                            <a:srgbClr val="17212B"/>
                          </a:solidFill>
                          <a:latin typeface="Yu Gothic" pitchFamily="34" charset="0"/>
                          <a:ea typeface="Yu Gothic" pitchFamily="34" charset="-122"/>
                          <a:cs typeface="Yu Gothic" pitchFamily="34" charset="-120"/>
                        </a:rPr>
                        <a:t>足どうしの衝突をシミュレーターに入れて学習し直す</a:t>
                      </a:r>
                      <a:endParaRPr lang="en-US" sz="16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28650" y="5524500"/>
            <a:ext cx="10934700" cy="476250"/>
          </a:xfrm>
          <a:prstGeom prst="rect">
            <a:avLst/>
          </a:prstGeom>
          <a:solidFill>
            <a:srgbClr val="F3EEE6"/>
          </a:solidFill>
          <a:ln/>
        </p:spPr>
        <p:txBody>
          <a:bodyPr wrap="square" lIns="0" tIns="0" rIns="0" bIns="0" rtlCol="0" anchor="ctr"/>
          <a:lstStyle/>
          <a:p>
            <a:pPr algn="ctr" indent="0" marL="0">
              <a:buNone/>
            </a:pPr>
            <a:r>
              <a:rPr lang="en-US" sz="1700" b="1" dirty="0">
                <a:solidFill>
                  <a:srgbClr val="102B46"/>
                </a:solidFill>
                <a:latin typeface="Yu Gothic" pitchFamily="34" charset="0"/>
                <a:ea typeface="Yu Gothic" pitchFamily="34" charset="-122"/>
                <a:cs typeface="Yu Gothic" pitchFamily="34" charset="-120"/>
              </a:rPr>
              <a:t>上の 3 つは直した。下の 2 つが、床の上で歩き続けられない主な原因と考えている</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結果と考察：実機</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08</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Shape 4"/>
          <p:cNvSpPr/>
          <p:nvPr/>
        </p:nvSpPr>
        <p:spPr>
          <a:xfrm>
            <a:off x="628650" y="1257300"/>
            <a:ext cx="5334000" cy="2476500"/>
          </a:xfrm>
          <a:prstGeom prst="rect">
            <a:avLst/>
          </a:prstGeom>
          <a:solidFill>
            <a:srgbClr val="EAF4EE"/>
          </a:solidFill>
          <a:ln w="12700">
            <a:solidFill>
              <a:srgbClr val="2E8B57"/>
            </a:solidFill>
            <a:prstDash val="solid"/>
          </a:ln>
        </p:spPr>
      </p:sp>
      <p:sp>
        <p:nvSpPr>
          <p:cNvPr id="7" name="Text 5"/>
          <p:cNvSpPr txBox="1"/>
          <p:nvPr/>
        </p:nvSpPr>
        <p:spPr>
          <a:xfrm>
            <a:off x="838200" y="1371600"/>
            <a:ext cx="4762500" cy="304800"/>
          </a:xfrm>
          <a:prstGeom prst="rect">
            <a:avLst/>
          </a:prstGeom>
          <a:noFill/>
          <a:ln/>
        </p:spPr>
        <p:txBody>
          <a:bodyPr wrap="square" lIns="0" tIns="0" rIns="0" bIns="0" rtlCol="0" anchor="ctr"/>
          <a:lstStyle/>
          <a:p>
            <a:pPr algn="l" indent="0" marL="0">
              <a:buNone/>
            </a:pPr>
            <a:r>
              <a:rPr lang="en-US" sz="2000" b="1" dirty="0">
                <a:solidFill>
                  <a:srgbClr val="2E8B57"/>
                </a:solidFill>
                <a:latin typeface="Yu Gothic" pitchFamily="34" charset="0"/>
                <a:ea typeface="Yu Gothic" pitchFamily="34" charset="-122"/>
                <a:cs typeface="Yu Gothic" pitchFamily="34" charset="-120"/>
              </a:rPr>
              <a:t>できたこと</a:t>
            </a:r>
            <a:endParaRPr lang="en-US" sz="2000" dirty="0"/>
          </a:p>
        </p:txBody>
      </p:sp>
      <p:sp>
        <p:nvSpPr>
          <p:cNvPr id="8" name="Text 6"/>
          <p:cNvSpPr txBox="1"/>
          <p:nvPr/>
        </p:nvSpPr>
        <p:spPr>
          <a:xfrm>
            <a:off x="838200" y="1771650"/>
            <a:ext cx="4953000" cy="1905000"/>
          </a:xfrm>
          <a:prstGeom prst="rect">
            <a:avLst/>
          </a:prstGeom>
          <a:noFill/>
          <a:ln/>
        </p:spPr>
        <p:txBody>
          <a:bodyPr wrap="square" lIns="0" tIns="0" rIns="0" bIns="0" rtlCol="0" anchor="t"/>
          <a:lstStyle/>
          <a:p>
            <a:pPr algn="l" marL="342900" indent="-342900">
              <a:spcAft>
                <a:spcPts val="1000"/>
              </a:spcAft>
              <a:buSzPct val="100000"/>
              <a:buChar char="•"/>
            </a:pPr>
            <a:r>
              <a:rPr lang="en-US" sz="1800" dirty="0">
                <a:solidFill>
                  <a:srgbClr val="17212B"/>
                </a:solidFill>
                <a:latin typeface="Yu Gothic" pitchFamily="34" charset="0"/>
                <a:ea typeface="Yu Gothic" pitchFamily="34" charset="-122"/>
                <a:cs typeface="Yu Gothic" pitchFamily="34" charset="-120"/>
              </a:rPr>
              <a:t>床の上で立てる</a:t>
            </a:r>
            <a:endParaRPr lang="en-US" sz="1800" dirty="0"/>
          </a:p>
          <a:p>
            <a:pPr algn="l" marL="342900" indent="-342900">
              <a:spcAft>
                <a:spcPts val="1000"/>
              </a:spcAft>
              <a:buSzPct val="100000"/>
              <a:buChar char="•"/>
            </a:pPr>
            <a:r>
              <a:rPr lang="en-US" sz="1800" dirty="0">
                <a:solidFill>
                  <a:srgbClr val="17212B"/>
                </a:solidFill>
                <a:latin typeface="Yu Gothic" pitchFamily="34" charset="0"/>
                <a:ea typeface="Yu Gothic" pitchFamily="34" charset="-122"/>
                <a:cs typeface="Yu Gothic" pitchFamily="34" charset="-120"/>
              </a:rPr>
              <a:t>方策に任せると、床の上で歩こうとする（最長 5 秒ほど）</a:t>
            </a:r>
            <a:endParaRPr lang="en-US" sz="1800" dirty="0"/>
          </a:p>
          <a:p>
            <a:pPr algn="l" marL="342900" indent="-342900">
              <a:spcAft>
                <a:spcPts val="1000"/>
              </a:spcAft>
              <a:buSzPct val="100000"/>
              <a:buChar char="•"/>
            </a:pPr>
            <a:r>
              <a:rPr lang="en-US" sz="1800" dirty="0">
                <a:solidFill>
                  <a:srgbClr val="17212B"/>
                </a:solidFill>
                <a:latin typeface="Yu Gothic" pitchFamily="34" charset="0"/>
                <a:ea typeface="Yu Gothic" pitchFamily="34" charset="-122"/>
                <a:cs typeface="Yu Gothic" pitchFamily="34" charset="-120"/>
              </a:rPr>
              <a:t>吊った状態なら、歩く動きがずっと続く</a:t>
            </a:r>
            <a:endParaRPr lang="en-US" sz="1800" dirty="0"/>
          </a:p>
        </p:txBody>
      </p:sp>
      <p:sp>
        <p:nvSpPr>
          <p:cNvPr id="9" name="Shape 7"/>
          <p:cNvSpPr/>
          <p:nvPr/>
        </p:nvSpPr>
        <p:spPr>
          <a:xfrm>
            <a:off x="6229350" y="1257300"/>
            <a:ext cx="5334000" cy="2476500"/>
          </a:xfrm>
          <a:prstGeom prst="rect">
            <a:avLst/>
          </a:prstGeom>
          <a:solidFill>
            <a:srgbClr val="FBEDEA"/>
          </a:solidFill>
          <a:ln w="12700">
            <a:solidFill>
              <a:srgbClr val="C8553D"/>
            </a:solidFill>
            <a:prstDash val="solid"/>
          </a:ln>
        </p:spPr>
      </p:sp>
      <p:sp>
        <p:nvSpPr>
          <p:cNvPr id="10" name="Text 8"/>
          <p:cNvSpPr txBox="1"/>
          <p:nvPr/>
        </p:nvSpPr>
        <p:spPr>
          <a:xfrm>
            <a:off x="6438900" y="1371600"/>
            <a:ext cx="4762500" cy="304800"/>
          </a:xfrm>
          <a:prstGeom prst="rect">
            <a:avLst/>
          </a:prstGeom>
          <a:noFill/>
          <a:ln/>
        </p:spPr>
        <p:txBody>
          <a:bodyPr wrap="square" lIns="0" tIns="0" rIns="0" bIns="0" rtlCol="0" anchor="ctr"/>
          <a:lstStyle/>
          <a:p>
            <a:pPr algn="l" indent="0" marL="0">
              <a:buNone/>
            </a:pPr>
            <a:r>
              <a:rPr lang="en-US" sz="2000" b="1" dirty="0">
                <a:solidFill>
                  <a:srgbClr val="C8553D"/>
                </a:solidFill>
                <a:latin typeface="Yu Gothic" pitchFamily="34" charset="0"/>
                <a:ea typeface="Yu Gothic" pitchFamily="34" charset="-122"/>
                <a:cs typeface="Yu Gothic" pitchFamily="34" charset="-120"/>
              </a:rPr>
              <a:t>まだできていないこと</a:t>
            </a:r>
            <a:endParaRPr lang="en-US" sz="2000" dirty="0"/>
          </a:p>
        </p:txBody>
      </p:sp>
      <p:sp>
        <p:nvSpPr>
          <p:cNvPr id="11" name="Text 9"/>
          <p:cNvSpPr txBox="1"/>
          <p:nvPr/>
        </p:nvSpPr>
        <p:spPr>
          <a:xfrm>
            <a:off x="6438900" y="1771650"/>
            <a:ext cx="4953000" cy="1905000"/>
          </a:xfrm>
          <a:prstGeom prst="rect">
            <a:avLst/>
          </a:prstGeom>
          <a:noFill/>
          <a:ln/>
        </p:spPr>
        <p:txBody>
          <a:bodyPr wrap="square" lIns="0" tIns="0" rIns="0" bIns="0" rtlCol="0" anchor="t"/>
          <a:lstStyle/>
          <a:p>
            <a:pPr algn="l" marL="342900" indent="-342900">
              <a:spcAft>
                <a:spcPts val="1000"/>
              </a:spcAft>
              <a:buSzPct val="100000"/>
              <a:buChar char="•"/>
            </a:pPr>
            <a:r>
              <a:rPr lang="en-US" sz="1800" dirty="0">
                <a:solidFill>
                  <a:srgbClr val="17212B"/>
                </a:solidFill>
                <a:latin typeface="Yu Gothic" pitchFamily="34" charset="0"/>
                <a:ea typeface="Yu Gothic" pitchFamily="34" charset="-122"/>
                <a:cs typeface="Yu Gothic" pitchFamily="34" charset="-120"/>
              </a:rPr>
              <a:t>床の上で歩き続けること</a:t>
            </a:r>
            <a:endParaRPr lang="en-US" sz="1800" dirty="0"/>
          </a:p>
          <a:p>
            <a:pPr algn="l" marL="342900" indent="-342900">
              <a:spcAft>
                <a:spcPts val="1000"/>
              </a:spcAft>
              <a:buSzPct val="100000"/>
              <a:buChar char="•"/>
            </a:pPr>
            <a:r>
              <a:rPr lang="en-US" sz="1800" dirty="0">
                <a:solidFill>
                  <a:srgbClr val="17212B"/>
                </a:solidFill>
                <a:latin typeface="Yu Gothic" pitchFamily="34" charset="0"/>
                <a:ea typeface="Yu Gothic" pitchFamily="34" charset="-122"/>
                <a:cs typeface="Yu Gothic" pitchFamily="34" charset="-120"/>
              </a:rPr>
              <a:t>プロコンで操作して歩くこと</a:t>
            </a:r>
            <a:endParaRPr lang="en-US" sz="1800" dirty="0"/>
          </a:p>
        </p:txBody>
      </p:sp>
      <p:sp>
        <p:nvSpPr>
          <p:cNvPr id="12" name="Shape 10"/>
          <p:cNvSpPr/>
          <p:nvPr/>
        </p:nvSpPr>
        <p:spPr>
          <a:xfrm>
            <a:off x="628650" y="3943350"/>
            <a:ext cx="10934700" cy="2286000"/>
          </a:xfrm>
          <a:prstGeom prst="rect">
            <a:avLst/>
          </a:prstGeom>
          <a:solidFill>
            <a:srgbClr val="E8F1F5"/>
          </a:solidFill>
          <a:ln w="12700">
            <a:solidFill>
              <a:srgbClr val="32A5B5"/>
            </a:solidFill>
            <a:prstDash val="solid"/>
          </a:ln>
        </p:spPr>
      </p:sp>
      <p:sp>
        <p:nvSpPr>
          <p:cNvPr id="13" name="Text 11"/>
          <p:cNvSpPr txBox="1"/>
          <p:nvPr/>
        </p:nvSpPr>
        <p:spPr>
          <a:xfrm>
            <a:off x="857250" y="4057650"/>
            <a:ext cx="2857500" cy="304800"/>
          </a:xfrm>
          <a:prstGeom prst="rect">
            <a:avLst/>
          </a:prstGeom>
          <a:noFill/>
          <a:ln/>
        </p:spPr>
        <p:txBody>
          <a:bodyPr wrap="square" lIns="0" tIns="0" rIns="0" bIns="0" rtlCol="0" anchor="ctr"/>
          <a:lstStyle/>
          <a:p>
            <a:pPr algn="l" indent="0" marL="0">
              <a:buNone/>
            </a:pPr>
            <a:r>
              <a:rPr lang="en-US" sz="2000" b="1" dirty="0">
                <a:solidFill>
                  <a:srgbClr val="32A5B5"/>
                </a:solidFill>
                <a:latin typeface="Yu Gothic" pitchFamily="34" charset="0"/>
                <a:ea typeface="Yu Gothic" pitchFamily="34" charset="-122"/>
                <a:cs typeface="Yu Gothic" pitchFamily="34" charset="-120"/>
              </a:rPr>
              <a:t>考察</a:t>
            </a:r>
            <a:endParaRPr lang="en-US" sz="2000" dirty="0"/>
          </a:p>
        </p:txBody>
      </p:sp>
      <p:sp>
        <p:nvSpPr>
          <p:cNvPr id="14" name="Text 12"/>
          <p:cNvSpPr txBox="1"/>
          <p:nvPr/>
        </p:nvSpPr>
        <p:spPr>
          <a:xfrm>
            <a:off x="857250" y="4419600"/>
            <a:ext cx="10477500" cy="1752600"/>
          </a:xfrm>
          <a:prstGeom prst="rect">
            <a:avLst/>
          </a:prstGeom>
          <a:noFill/>
          <a:ln/>
        </p:spPr>
        <p:txBody>
          <a:bodyPr wrap="square" lIns="0" tIns="0" rIns="0" bIns="0" rtlCol="0" anchor="t"/>
          <a:lstStyle/>
          <a:p>
            <a:pPr algn="l" marL="342900" indent="-342900">
              <a:spcAft>
                <a:spcPts val="800"/>
              </a:spcAft>
              <a:buSzPct val="100000"/>
              <a:buChar char="•"/>
            </a:pPr>
            <a:r>
              <a:rPr lang="en-US" sz="1700" dirty="0">
                <a:solidFill>
                  <a:srgbClr val="17212B"/>
                </a:solidFill>
                <a:latin typeface="Yu Gothic" pitchFamily="34" charset="0"/>
                <a:ea typeface="Yu Gothic" pitchFamily="34" charset="-122"/>
                <a:cs typeface="Yu Gothic" pitchFamily="34" charset="-120"/>
              </a:rPr>
              <a:t>吊ると歩けるのに床では続かない → 方策やプログラムではなく、足が床や相手の足に触れたときの違いが原因</a:t>
            </a:r>
            <a:endParaRPr lang="en-US" sz="1700" dirty="0"/>
          </a:p>
          <a:p>
            <a:pPr algn="l" marL="342900" indent="-342900">
              <a:spcAft>
                <a:spcPts val="800"/>
              </a:spcAft>
              <a:buSzPct val="100000"/>
              <a:buChar char="•"/>
            </a:pPr>
            <a:r>
              <a:rPr lang="en-US" sz="1700" dirty="0">
                <a:solidFill>
                  <a:srgbClr val="17212B"/>
                </a:solidFill>
                <a:latin typeface="Yu Gothic" pitchFamily="34" charset="0"/>
                <a:ea typeface="Yu Gothic" pitchFamily="34" charset="-122"/>
                <a:cs typeface="Yu Gothic" pitchFamily="34" charset="-120"/>
              </a:rPr>
              <a:t>方策の歩き方は股を内側に寄せる。シミュレーターでは足どうしがぶつからないが、実機ではぶつかって止まる</a:t>
            </a:r>
            <a:endParaRPr lang="en-US" sz="1700" dirty="0"/>
          </a:p>
          <a:p>
            <a:pPr algn="l" marL="342900" indent="-342900">
              <a:spcAft>
                <a:spcPts val="800"/>
              </a:spcAft>
              <a:buSzPct val="100000"/>
              <a:buChar char="•"/>
            </a:pPr>
            <a:r>
              <a:rPr lang="en-US" sz="1700" dirty="0">
                <a:solidFill>
                  <a:srgbClr val="17212B"/>
                </a:solidFill>
                <a:latin typeface="Yu Gothic" pitchFamily="34" charset="0"/>
                <a:ea typeface="Yu Gothic" pitchFamily="34" charset="-122"/>
                <a:cs typeface="Yu Gothic" pitchFamily="34" charset="-120"/>
              </a:rPr>
              <a:t>プログラム側での補正はやり尽くした。次はシミュレーターを実機に合わせて学習し直す</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今後の展望</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08</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857250" y="1733550"/>
            <a:ext cx="533400" cy="533400"/>
          </a:xfrm>
          <a:prstGeom prst="ellipse">
            <a:avLst/>
          </a:prstGeom>
          <a:solidFill>
            <a:srgbClr val="E8783F"/>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7" name="Shape 5"/>
          <p:cNvSpPr/>
          <p:nvPr/>
        </p:nvSpPr>
        <p:spPr>
          <a:xfrm>
            <a:off x="1619250" y="1428750"/>
            <a:ext cx="9944100" cy="1143000"/>
          </a:xfrm>
          <a:prstGeom prst="roundRect">
            <a:avLst>
              <a:gd name="adj" fmla="val 4800"/>
            </a:avLst>
          </a:prstGeom>
          <a:solidFill>
            <a:srgbClr val="F3EEE6"/>
          </a:solidFill>
          <a:ln w="25400">
            <a:solidFill>
              <a:srgbClr val="E8783F"/>
            </a:solidFill>
            <a:prstDash val="solid"/>
          </a:ln>
        </p:spPr>
      </p:sp>
      <p:sp>
        <p:nvSpPr>
          <p:cNvPr id="8" name="Text 6"/>
          <p:cNvSpPr txBox="1"/>
          <p:nvPr/>
        </p:nvSpPr>
        <p:spPr>
          <a:xfrm>
            <a:off x="1866900" y="1543050"/>
            <a:ext cx="9334500" cy="419100"/>
          </a:xfrm>
          <a:prstGeom prst="rect">
            <a:avLst/>
          </a:prstGeom>
          <a:noFill/>
          <a:ln/>
        </p:spPr>
        <p:txBody>
          <a:bodyPr wrap="square" lIns="0" tIns="0" rIns="0" bIns="0" rtlCol="0" anchor="ctr"/>
          <a:lstStyle/>
          <a:p>
            <a:pPr algn="l" indent="0" marL="0">
              <a:buNone/>
            </a:pPr>
            <a:r>
              <a:rPr lang="en-US" sz="2400" b="1" dirty="0">
                <a:solidFill>
                  <a:srgbClr val="102B46"/>
                </a:solidFill>
                <a:latin typeface="Yu Gothic" pitchFamily="34" charset="0"/>
                <a:ea typeface="Yu Gothic" pitchFamily="34" charset="-122"/>
                <a:cs typeface="Yu Gothic" pitchFamily="34" charset="-120"/>
              </a:rPr>
              <a:t>平地で歩かせる</a:t>
            </a:r>
            <a:endParaRPr lang="en-US" sz="2400" dirty="0"/>
          </a:p>
        </p:txBody>
      </p:sp>
      <p:sp>
        <p:nvSpPr>
          <p:cNvPr id="9" name="Text 7"/>
          <p:cNvSpPr txBox="1"/>
          <p:nvPr/>
        </p:nvSpPr>
        <p:spPr>
          <a:xfrm>
            <a:off x="1866900" y="2019300"/>
            <a:ext cx="9334500" cy="419100"/>
          </a:xfrm>
          <a:prstGeom prst="rect">
            <a:avLst/>
          </a:prstGeom>
          <a:noFill/>
          <a:ln/>
        </p:spPr>
        <p:txBody>
          <a:bodyPr wrap="square" lIns="0" tIns="0" rIns="0" bIns="0" rtlCol="0" anchor="ctr"/>
          <a:lstStyle/>
          <a:p>
            <a:pPr algn="l" indent="0" marL="0">
              <a:buNone/>
            </a:pPr>
            <a:r>
              <a:rPr lang="en-US" sz="1700" dirty="0">
                <a:solidFill>
                  <a:srgbClr val="17212B"/>
                </a:solidFill>
                <a:latin typeface="Yu Gothic" pitchFamily="34" charset="0"/>
                <a:ea typeface="Yu Gothic" pitchFamily="34" charset="-122"/>
                <a:cs typeface="Yu Gothic" pitchFamily="34" charset="-120"/>
              </a:rPr>
              <a:t>足どうしの衝突・立った状態からの開始をシミュレーターに入れて学習し直す</a:t>
            </a:r>
            <a:endParaRPr lang="en-US" sz="1700" dirty="0"/>
          </a:p>
        </p:txBody>
      </p:sp>
      <p:sp>
        <p:nvSpPr>
          <p:cNvPr id="10" name="Shape 8"/>
          <p:cNvSpPr/>
          <p:nvPr/>
        </p:nvSpPr>
        <p:spPr>
          <a:xfrm>
            <a:off x="1123950" y="2305050"/>
            <a:ext cx="95" cy="819150"/>
          </a:xfrm>
          <a:prstGeom prst="line">
            <a:avLst/>
          </a:prstGeom>
          <a:noFill/>
          <a:ln w="31750">
            <a:solidFill>
              <a:srgbClr val="B7C7D1"/>
            </a:solidFill>
            <a:prstDash val="solid"/>
            <a:tailEnd type="triangle"/>
          </a:ln>
        </p:spPr>
      </p:sp>
      <p:sp>
        <p:nvSpPr>
          <p:cNvPr id="11" name="Text 9"/>
          <p:cNvSpPr txBox="1"/>
          <p:nvPr/>
        </p:nvSpPr>
        <p:spPr>
          <a:xfrm>
            <a:off x="857250" y="3162300"/>
            <a:ext cx="533400" cy="533400"/>
          </a:xfrm>
          <a:prstGeom prst="ellipse">
            <a:avLst/>
          </a:prstGeom>
          <a:solidFill>
            <a:srgbClr val="32A5B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2" name="Shape 10"/>
          <p:cNvSpPr/>
          <p:nvPr/>
        </p:nvSpPr>
        <p:spPr>
          <a:xfrm>
            <a:off x="1619250" y="2857500"/>
            <a:ext cx="9944100" cy="1143000"/>
          </a:xfrm>
          <a:prstGeom prst="roundRect">
            <a:avLst>
              <a:gd name="adj" fmla="val 4800"/>
            </a:avLst>
          </a:prstGeom>
          <a:solidFill>
            <a:srgbClr val="FFFFFF"/>
          </a:solidFill>
          <a:ln w="25400">
            <a:solidFill>
              <a:srgbClr val="32A5B5"/>
            </a:solidFill>
            <a:prstDash val="solid"/>
          </a:ln>
        </p:spPr>
      </p:sp>
      <p:sp>
        <p:nvSpPr>
          <p:cNvPr id="13" name="Text 11"/>
          <p:cNvSpPr txBox="1"/>
          <p:nvPr/>
        </p:nvSpPr>
        <p:spPr>
          <a:xfrm>
            <a:off x="1866900" y="2971800"/>
            <a:ext cx="9334500" cy="419100"/>
          </a:xfrm>
          <a:prstGeom prst="rect">
            <a:avLst/>
          </a:prstGeom>
          <a:noFill/>
          <a:ln/>
        </p:spPr>
        <p:txBody>
          <a:bodyPr wrap="square" lIns="0" tIns="0" rIns="0" bIns="0" rtlCol="0" anchor="ctr"/>
          <a:lstStyle/>
          <a:p>
            <a:pPr algn="l" indent="0" marL="0">
              <a:buNone/>
            </a:pPr>
            <a:r>
              <a:rPr lang="en-US" sz="2400" b="1" dirty="0">
                <a:solidFill>
                  <a:srgbClr val="102B46"/>
                </a:solidFill>
                <a:latin typeface="Yu Gothic" pitchFamily="34" charset="0"/>
                <a:ea typeface="Yu Gothic" pitchFamily="34" charset="-122"/>
                <a:cs typeface="Yu Gothic" pitchFamily="34" charset="-120"/>
              </a:rPr>
              <a:t>坂・でこぼこでも歩かせる</a:t>
            </a:r>
            <a:endParaRPr lang="en-US" sz="2400" dirty="0"/>
          </a:p>
        </p:txBody>
      </p:sp>
      <p:sp>
        <p:nvSpPr>
          <p:cNvPr id="14" name="Text 12"/>
          <p:cNvSpPr txBox="1"/>
          <p:nvPr/>
        </p:nvSpPr>
        <p:spPr>
          <a:xfrm>
            <a:off x="1866900" y="3448050"/>
            <a:ext cx="9334500" cy="419100"/>
          </a:xfrm>
          <a:prstGeom prst="rect">
            <a:avLst/>
          </a:prstGeom>
          <a:noFill/>
          <a:ln/>
        </p:spPr>
        <p:txBody>
          <a:bodyPr wrap="square" lIns="0" tIns="0" rIns="0" bIns="0" rtlCol="0" anchor="ctr"/>
          <a:lstStyle/>
          <a:p>
            <a:pPr algn="l" indent="0" marL="0">
              <a:buNone/>
            </a:pPr>
            <a:r>
              <a:rPr lang="en-US" sz="1700" dirty="0">
                <a:solidFill>
                  <a:srgbClr val="17212B"/>
                </a:solidFill>
                <a:latin typeface="Yu Gothic" pitchFamily="34" charset="0"/>
                <a:ea typeface="Yu Gothic" pitchFamily="34" charset="-122"/>
                <a:cs typeface="Yu Gothic" pitchFamily="34" charset="-120"/>
              </a:rPr>
              <a:t>シミュレーションではできているので、実機でも</a:t>
            </a:r>
            <a:endParaRPr lang="en-US" sz="1700" dirty="0"/>
          </a:p>
        </p:txBody>
      </p:sp>
      <p:sp>
        <p:nvSpPr>
          <p:cNvPr id="15" name="Shape 13"/>
          <p:cNvSpPr/>
          <p:nvPr/>
        </p:nvSpPr>
        <p:spPr>
          <a:xfrm>
            <a:off x="1123950" y="3733800"/>
            <a:ext cx="95" cy="819150"/>
          </a:xfrm>
          <a:prstGeom prst="line">
            <a:avLst/>
          </a:prstGeom>
          <a:noFill/>
          <a:ln w="31750">
            <a:solidFill>
              <a:srgbClr val="B7C7D1"/>
            </a:solidFill>
            <a:prstDash val="solid"/>
            <a:tailEnd type="triangle"/>
          </a:ln>
        </p:spPr>
      </p:sp>
      <p:sp>
        <p:nvSpPr>
          <p:cNvPr id="16" name="Text 14"/>
          <p:cNvSpPr txBox="1"/>
          <p:nvPr/>
        </p:nvSpPr>
        <p:spPr>
          <a:xfrm>
            <a:off x="857250" y="4591050"/>
            <a:ext cx="533400" cy="533400"/>
          </a:xfrm>
          <a:prstGeom prst="ellipse">
            <a:avLst/>
          </a:prstGeom>
          <a:solidFill>
            <a:srgbClr val="102B46"/>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7" name="Shape 15"/>
          <p:cNvSpPr/>
          <p:nvPr/>
        </p:nvSpPr>
        <p:spPr>
          <a:xfrm>
            <a:off x="1619250" y="4286250"/>
            <a:ext cx="9944100" cy="1143000"/>
          </a:xfrm>
          <a:prstGeom prst="roundRect">
            <a:avLst>
              <a:gd name="adj" fmla="val 4800"/>
            </a:avLst>
          </a:prstGeom>
          <a:solidFill>
            <a:srgbClr val="FFFFFF"/>
          </a:solidFill>
          <a:ln w="25400">
            <a:solidFill>
              <a:srgbClr val="102B46"/>
            </a:solidFill>
            <a:prstDash val="solid"/>
          </a:ln>
        </p:spPr>
      </p:sp>
      <p:sp>
        <p:nvSpPr>
          <p:cNvPr id="18" name="Text 16"/>
          <p:cNvSpPr txBox="1"/>
          <p:nvPr/>
        </p:nvSpPr>
        <p:spPr>
          <a:xfrm>
            <a:off x="1866900" y="4400550"/>
            <a:ext cx="9334500" cy="419100"/>
          </a:xfrm>
          <a:prstGeom prst="rect">
            <a:avLst/>
          </a:prstGeom>
          <a:noFill/>
          <a:ln/>
        </p:spPr>
        <p:txBody>
          <a:bodyPr wrap="square" lIns="0" tIns="0" rIns="0" bIns="0" rtlCol="0" anchor="ctr"/>
          <a:lstStyle/>
          <a:p>
            <a:pPr algn="l" indent="0" marL="0">
              <a:buNone/>
            </a:pPr>
            <a:r>
              <a:rPr lang="en-US" sz="2400" b="1" dirty="0">
                <a:solidFill>
                  <a:srgbClr val="102B46"/>
                </a:solidFill>
                <a:latin typeface="Yu Gothic" pitchFamily="34" charset="0"/>
                <a:ea typeface="Yu Gothic" pitchFamily="34" charset="-122"/>
                <a:cs typeface="Yu Gothic" pitchFamily="34" charset="-120"/>
              </a:rPr>
              <a:t>プロコンで操作する</a:t>
            </a:r>
            <a:endParaRPr lang="en-US" sz="2400" dirty="0"/>
          </a:p>
        </p:txBody>
      </p:sp>
      <p:sp>
        <p:nvSpPr>
          <p:cNvPr id="19" name="Text 17"/>
          <p:cNvSpPr txBox="1"/>
          <p:nvPr/>
        </p:nvSpPr>
        <p:spPr>
          <a:xfrm>
            <a:off x="1866900" y="4876800"/>
            <a:ext cx="9334500" cy="419100"/>
          </a:xfrm>
          <a:prstGeom prst="rect">
            <a:avLst/>
          </a:prstGeom>
          <a:noFill/>
          <a:ln/>
        </p:spPr>
        <p:txBody>
          <a:bodyPr wrap="square" lIns="0" tIns="0" rIns="0" bIns="0" rtlCol="0" anchor="ctr"/>
          <a:lstStyle/>
          <a:p>
            <a:pPr algn="l" indent="0" marL="0">
              <a:buNone/>
            </a:pPr>
            <a:r>
              <a:rPr lang="en-US" sz="1700" dirty="0">
                <a:solidFill>
                  <a:srgbClr val="17212B"/>
                </a:solidFill>
                <a:latin typeface="Yu Gothic" pitchFamily="34" charset="0"/>
                <a:ea typeface="Yu Gothic" pitchFamily="34" charset="-122"/>
                <a:cs typeface="Yu Gothic" pitchFamily="34" charset="-120"/>
              </a:rPr>
              <a:t>好きな方向へ歩かせ、災害現場のような場所へ</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まとめ・今後の展望</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あと</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428750"/>
            <a:ext cx="10934700" cy="476250"/>
          </a:xfrm>
          <a:prstGeom prst="rect">
            <a:avLst/>
          </a:prstGeom>
          <a:noFill/>
          <a:ln/>
        </p:spPr>
        <p:txBody>
          <a:bodyPr wrap="square" lIns="0" tIns="0" rIns="0" bIns="0" rtlCol="0" anchor="ctr"/>
          <a:lstStyle/>
          <a:p>
            <a:pPr algn="l" indent="0" marL="0">
              <a:buNone/>
            </a:pPr>
            <a:r>
              <a:rPr lang="en-US" sz="2600" b="1" dirty="0">
                <a:solidFill>
                  <a:srgbClr val="102B46"/>
                </a:solidFill>
                <a:latin typeface="Yu Gothic" pitchFamily="34" charset="0"/>
                <a:ea typeface="Yu Gothic" pitchFamily="34" charset="-122"/>
                <a:cs typeface="Yu Gothic" pitchFamily="34" charset="-120"/>
              </a:rPr>
              <a:t>二足歩行ロボットの移動基盤を、3つの担当から形にした</a:t>
            </a:r>
            <a:endParaRPr lang="en-US" sz="2600" dirty="0"/>
          </a:p>
        </p:txBody>
      </p:sp>
      <p:sp>
        <p:nvSpPr>
          <p:cNvPr id="7" name="Text 5"/>
          <p:cNvSpPr txBox="1"/>
          <p:nvPr/>
        </p:nvSpPr>
        <p:spPr>
          <a:xfrm>
            <a:off x="1333500" y="2381250"/>
            <a:ext cx="1428750" cy="533400"/>
          </a:xfrm>
          <a:prstGeom prst="rect">
            <a:avLst/>
          </a:prstGeom>
          <a:solidFill>
            <a:srgbClr val="E8783F"/>
          </a:solidFill>
          <a:ln/>
        </p:spPr>
        <p:txBody>
          <a:bodyPr wrap="square" lIns="0" tIns="0" rIns="0" bIns="0"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設計</a:t>
            </a:r>
            <a:endParaRPr lang="en-US" sz="2200" dirty="0"/>
          </a:p>
        </p:txBody>
      </p:sp>
      <p:sp>
        <p:nvSpPr>
          <p:cNvPr id="8" name="Text 6"/>
          <p:cNvSpPr txBox="1"/>
          <p:nvPr/>
        </p:nvSpPr>
        <p:spPr>
          <a:xfrm>
            <a:off x="3048000" y="2381250"/>
            <a:ext cx="8191500" cy="533400"/>
          </a:xfrm>
          <a:prstGeom prst="rect">
            <a:avLst/>
          </a:prstGeom>
          <a:noFill/>
          <a:ln/>
        </p:spPr>
        <p:txBody>
          <a:bodyPr wrap="square" lIns="0" tIns="0" rIns="0" bIns="0" rtlCol="0" anchor="ctr"/>
          <a:lstStyle/>
          <a:p>
            <a:pPr algn="l" indent="0" marL="0">
              <a:buNone/>
            </a:pPr>
            <a:r>
              <a:rPr lang="en-US" sz="1900" dirty="0">
                <a:solidFill>
                  <a:srgbClr val="17212B"/>
                </a:solidFill>
                <a:latin typeface="Yu Gothic" pitchFamily="34" charset="0"/>
                <a:ea typeface="Yu Gothic" pitchFamily="34" charset="-122"/>
                <a:cs typeface="Yu Gothic" pitchFamily="34" charset="-120"/>
              </a:rPr>
              <a:t>足裏の接地と重心配置を起点に脚構造を考えた</a:t>
            </a:r>
            <a:endParaRPr lang="en-US" sz="1900" dirty="0"/>
          </a:p>
        </p:txBody>
      </p:sp>
      <p:sp>
        <p:nvSpPr>
          <p:cNvPr id="9" name="Text 7"/>
          <p:cNvSpPr txBox="1"/>
          <p:nvPr/>
        </p:nvSpPr>
        <p:spPr>
          <a:xfrm>
            <a:off x="1333500" y="3333750"/>
            <a:ext cx="1428750" cy="533400"/>
          </a:xfrm>
          <a:prstGeom prst="rect">
            <a:avLst/>
          </a:prstGeom>
          <a:solidFill>
            <a:srgbClr val="1C5A85"/>
          </a:solidFill>
          <a:ln/>
        </p:spPr>
        <p:txBody>
          <a:bodyPr wrap="square" lIns="0" tIns="0" rIns="0" bIns="0"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配線</a:t>
            </a:r>
            <a:endParaRPr lang="en-US" sz="2200" dirty="0"/>
          </a:p>
        </p:txBody>
      </p:sp>
      <p:sp>
        <p:nvSpPr>
          <p:cNvPr id="10" name="Text 8"/>
          <p:cNvSpPr txBox="1"/>
          <p:nvPr/>
        </p:nvSpPr>
        <p:spPr>
          <a:xfrm>
            <a:off x="3048000" y="3333750"/>
            <a:ext cx="8191500" cy="533400"/>
          </a:xfrm>
          <a:prstGeom prst="rect">
            <a:avLst/>
          </a:prstGeom>
          <a:noFill/>
          <a:ln/>
        </p:spPr>
        <p:txBody>
          <a:bodyPr wrap="square" lIns="0" tIns="0" rIns="0" bIns="0" rtlCol="0" anchor="ctr"/>
          <a:lstStyle/>
          <a:p>
            <a:pPr algn="l" indent="0" marL="0">
              <a:buNone/>
            </a:pPr>
            <a:r>
              <a:rPr lang="en-US" sz="1900" dirty="0">
                <a:solidFill>
                  <a:srgbClr val="17212B"/>
                </a:solidFill>
                <a:latin typeface="Yu Gothic" pitchFamily="34" charset="0"/>
                <a:ea typeface="Yu Gothic" pitchFamily="34" charset="-122"/>
                <a:cs typeface="Yu Gothic" pitchFamily="34" charset="-120"/>
              </a:rPr>
              <a:t>電源とCAN通信を分け、確認しやすい経路を整理した</a:t>
            </a:r>
            <a:endParaRPr lang="en-US" sz="1900" dirty="0"/>
          </a:p>
        </p:txBody>
      </p:sp>
      <p:sp>
        <p:nvSpPr>
          <p:cNvPr id="11" name="Text 9"/>
          <p:cNvSpPr txBox="1"/>
          <p:nvPr/>
        </p:nvSpPr>
        <p:spPr>
          <a:xfrm>
            <a:off x="1333500" y="4286250"/>
            <a:ext cx="1428750" cy="533400"/>
          </a:xfrm>
          <a:prstGeom prst="rect">
            <a:avLst/>
          </a:prstGeom>
          <a:solidFill>
            <a:srgbClr val="32A5B5"/>
          </a:solidFill>
          <a:ln/>
        </p:spPr>
        <p:txBody>
          <a:bodyPr wrap="square" lIns="0" tIns="0" rIns="0" bIns="0"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制御</a:t>
            </a:r>
            <a:endParaRPr lang="en-US" sz="2200" dirty="0"/>
          </a:p>
        </p:txBody>
      </p:sp>
      <p:sp>
        <p:nvSpPr>
          <p:cNvPr id="12" name="Text 10"/>
          <p:cNvSpPr txBox="1"/>
          <p:nvPr/>
        </p:nvSpPr>
        <p:spPr>
          <a:xfrm>
            <a:off x="3048000" y="4286250"/>
            <a:ext cx="8191500" cy="533400"/>
          </a:xfrm>
          <a:prstGeom prst="rect">
            <a:avLst/>
          </a:prstGeom>
          <a:noFill/>
          <a:ln/>
        </p:spPr>
        <p:txBody>
          <a:bodyPr wrap="square" lIns="0" tIns="0" rIns="0" bIns="0" rtlCol="0" anchor="ctr"/>
          <a:lstStyle/>
          <a:p>
            <a:pPr algn="l" indent="0" marL="0">
              <a:buNone/>
            </a:pPr>
            <a:r>
              <a:rPr lang="en-US" sz="1900" dirty="0">
                <a:solidFill>
                  <a:srgbClr val="17212B"/>
                </a:solidFill>
                <a:latin typeface="Yu Gothic" pitchFamily="34" charset="0"/>
                <a:ea typeface="Yu Gothic" pitchFamily="34" charset="-122"/>
                <a:cs typeface="Yu Gothic" pitchFamily="34" charset="-120"/>
              </a:rPr>
              <a:t>シミュレーションで坂・旋回まで歩ける方策を作り、実機で立つ・歩こうとするところまで進めた</a:t>
            </a:r>
            <a:endParaRPr lang="en-US" sz="1900" dirty="0"/>
          </a:p>
        </p:txBody>
      </p:sp>
      <p:sp>
        <p:nvSpPr>
          <p:cNvPr id="13" name="Text 11"/>
          <p:cNvSpPr txBox="1"/>
          <p:nvPr/>
        </p:nvSpPr>
        <p:spPr>
          <a:xfrm>
            <a:off x="1047750" y="5619750"/>
            <a:ext cx="10096500" cy="476250"/>
          </a:xfrm>
          <a:prstGeom prst="rect">
            <a:avLst/>
          </a:prstGeom>
          <a:solidFill>
            <a:srgbClr val="F3EEE6"/>
          </a:solidFill>
          <a:ln/>
        </p:spPr>
        <p:txBody>
          <a:bodyPr wrap="square" lIns="0" tIns="0" rIns="0" bIns="0" rtlCol="0" anchor="ctr"/>
          <a:lstStyle/>
          <a:p>
            <a:pPr algn="ctr" indent="0" marL="0">
              <a:buNone/>
            </a:pPr>
            <a:r>
              <a:rPr lang="en-US" sz="1900" b="1" dirty="0">
                <a:solidFill>
                  <a:srgbClr val="102B46"/>
                </a:solidFill>
                <a:latin typeface="Yu Gothic" pitchFamily="34" charset="0"/>
                <a:ea typeface="Yu Gothic" pitchFamily="34" charset="-122"/>
                <a:cs typeface="Yu Gothic" pitchFamily="34" charset="-120"/>
              </a:rPr>
              <a:t>次の段階：実機で平地を歩かせ、坂・でこぼこへ広げる</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制御パート ver3</dc:title>
  <dc:subject>PptxGenJS Presentation</dc:subject>
  <dc:creator>PptxGenJS</dc:creator>
  <cp:lastModifiedBy>PptxGenJS</cp:lastModifiedBy>
  <cp:revision>1</cp:revision>
  <dcterms:created xsi:type="dcterms:W3CDTF">2026-09-24T10:51:02Z</dcterms:created>
  <dcterms:modified xsi:type="dcterms:W3CDTF">2026-09-24T10:51:02Z</dcterms:modified>
</cp:coreProperties>
</file>