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02B46"/>
                </a:solidFill>
                <a:latin typeface="Yu Gothic"/>
              </a:defRPr>
            </a:pPr>
            <a:r>
              <a:rPr sz="1500" b="0" i="0" u="none" strike="noStrike">
                <a:solidFill>
                  <a:srgbClr val="102B46"/>
                </a:solidFill>
                <a:latin typeface="Yu Gothic"/>
              </a:rPr>
              <a:t>「0.5 m/s で進め」と指示したときの速さ [m/s]</a:t>
            </a:r>
          </a:p>
        </c:rich>
      </c:tx>
      <c:layout/>
      <c:overlay val="0"/>
    </c:title>
    <c:autoTitleDeleted val="0"/>
    <c:plotArea>
      <c:layout/>
      <c:barChart>
        <c:barDir val="col"/>
        <c:grouping val="clustered"/>
        <c:varyColors val="0"/>
        <c:ser>
          <c:idx val="0"/>
          <c:order val="0"/>
          <c:tx>
            <c:strRef>
              <c:f>Sheet1!$B$1</c:f>
              <c:strCache>
                <c:ptCount val="1"/>
                <c:pt idx="0">
                  <c:v>前進速度</c:v>
                </c:pt>
              </c:strCache>
            </c:strRef>
          </c:tx>
          <c:spPr>
            <a:solidFill>
              <a:srgbClr val="B7C7D1"/>
            </a:solidFill>
            <a:effectLst/>
          </c:spPr>
          <c:invertIfNegative val="0"/>
          <c:dLbls>
            <c:numFmt formatCode="0.00" sourceLinked="0"/>
            <c:txPr>
              <a:bodyPr/>
              <a:lstStyle/>
              <a:p>
                <a:pPr>
                  <a:defRPr b="0" i="0" strike="noStrike" sz="1800" u="none">
                    <a:solidFill>
                      <a:srgbClr val="102B46"/>
                    </a:solidFill>
                    <a:latin typeface="Arial"/>
                  </a:defRPr>
                </a:pPr>
              </a:p>
            </c:txPr>
            <c:showLegendKey val="0"/>
            <c:showVal val="1"/>
            <c:showCatName val="0"/>
            <c:showSerName val="0"/>
            <c:showPercent val="0"/>
            <c:showBubbleSize val="0"/>
            <c:showLeaderLines val="0"/>
          </c:dLbls>
          <c:dPt>
            <c:idx val="0"/>
            <c:invertIfNegative val="0"/>
            <c:bubble3D val="0"/>
            <c:spPr>
              <a:solidFill>
                <a:srgbClr val="B7C7D1"/>
              </a:solidFill>
              <a:effectLst/>
            </c:spPr>
          </c:dPt>
          <c:dPt>
            <c:idx val="1"/>
            <c:invertIfNegative val="0"/>
            <c:bubble3D val="0"/>
            <c:spPr>
              <a:solidFill>
                <a:srgbClr val="32A5B5"/>
              </a:solidFill>
              <a:effectLst/>
            </c:spPr>
          </c:dPt>
          <c:cat>
            <c:multiLvlStrRef>
              <c:f>Sheet1!$A$2:$A$3</c:f>
              <c:multiLvlStrCache>
                <c:ptCount val="2"/>
                <c:lvl>
                  <c:pt idx="0">
                    <c:v>見本の設定</c:v>
                  </c:pt>
                  <c:pt idx="1">
                    <c:v>報酬を修正</c:v>
                  </c:pt>
                </c:lvl>
              </c:multiLvlStrCache>
            </c:multiLvlStrRef>
          </c:cat>
          <c:val>
            <c:numRef>
              <c:f>Sheet1!$B$2:$B$3</c:f>
              <c:numCache>
                <c:formatCode>General</c:formatCode>
                <c:ptCount val="2"/>
                <c:pt idx="0">
                  <c:v>0</c:v>
                </c:pt>
                <c:pt idx="1">
                  <c:v>0.42</c:v>
                </c:pt>
              </c:numCache>
            </c:numRef>
          </c:val>
        </c:ser>
        <c:dLbls>
          <c:numFmt formatCode="0.00" sourceLinked="0"/>
          <c:txPr>
            <a:bodyPr/>
            <a:lstStyle/>
            <a:p>
              <a:pPr>
                <a:defRPr b="0" i="0" strike="noStrike" sz="1800" u="none">
                  <a:solidFill>
                    <a:srgbClr val="102B46"/>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600" b="0" i="0" u="none" strike="noStrike">
                <a:solidFill>
                  <a:srgbClr val="17212B"/>
                </a:solidFill>
                <a:latin typeface="Arial"/>
              </a:defRPr>
            </a:pPr>
            <a:endParaRPr lang="en-US"/>
          </a:p>
        </c:txPr>
        <c:crossAx val="2094734552"/>
        <c:crosses val="autoZero"/>
        <c:auto val="1"/>
        <c:lblAlgn val="ctr"/>
        <c:noMultiLvlLbl val="1"/>
      </c:catAx>
      <c:valAx>
        <c:axId val="2094734552"/>
        <c:scaling>
          <c:orientation val="minMax"/>
          <c:max val="0.6"/>
          <c:min val="0"/>
        </c:scaling>
        <c:delete val="0"/>
        <c:axPos val="l"/>
        <c:majorGridlines>
          <c:spPr>
            <a:ln w="6350" cap="flat">
              <a:solidFill>
                <a:srgbClr val="E5E9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6A7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制御の全体像です。歩き方を人が1つずつプログラムするのではなく、シミュレーターの中でロボットに練習させて覚えさせました。できあがったものを「方策」と呼び、これは歩き方を決めるニューラルネットです。この方策をロボットのJetsonにコピーして、センサの値から1秒間に50回モーターへの指令を計算します。人はプロコンで、どちらへどれくらいの速さで進むかだけを指示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ロボットの中では、T265が胴体の傾きと速さを測り、プロコンからは進む向きと速さが無線で届きます。Jetsonはこれらとモーターから返ってきた関節の角度を集めて、方策で10個の関節の目標角を計算し、USB-CAN変換を通してモーターに送ります。モーターが動くと体が動き、その変化をまた測る、という一周を1秒間に50回くり返しています。（注記）今の実機試験では同じプログラムをノートPCで動かし、速度は固定の値で与えています。プロコンでの操作はJetson単体で確認済み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強化学習は、犬のしつけに似ています。ロボットがやってみて、良い動きならほめ、悪い動きなら叱り、点数が上がる方へ少しずつ直す。これを何百万回もくり返します。人が用意するのは、ロボットのモデル、練習する環境、そして何をほめて何を叱るかという「報酬」の3つだけで、関節をどう動かせば歩けるかは教え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学習には NVIDIA の Isaac Sim というシミュレーターと、その上で強化学習をするための Isaac Lab を使いました。GPUで4096体のロボットを同時に動かせるので、現実なら約68日かかる量の練習を約2時間で終えられます。さらに、床の滑りやすさや体の重さ、外から押す力を毎回変えて練習させ、多少条件が違っても歩けるようにしています。（68日：4096体×24ステップ×3000回×0.02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シミュレーターにロボットを入れるには、設計班がOnshapeで作ったCADを、URDFというロボット用のファイルに変換し、さらにIsaac Simの形式に変換します。URDFには形、重さ、関節の位置と回る向きが入っています。CADから出したままだと前後と左右が入れ替わっていたり、左右の脚で関節の回る向きが逆になっていたりしたので、10個の関節を1つずつ動かして確認してそろえ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報酬関数は13項目の点数の合計です。ほめる項目は3つで、指令どおりの速さと向きに進むこと、指令どおりに回ること、足をしっかり浮かせてから着地することです。叱る項目は、胴体が揺れる・傾く、足が滑る、指令をガタガタ変える、足以外が地面に当たる、関節の限界に近づく、などです。数字は重みで、項目ごとに値の大きさが違うので、数字の大小がそのまま重要度ではありません。転んだらその回は終わってやり直し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報酬関数は3段階で変わりました。初期は、参考にしたロボットの設定のままで、3000回練習しても全員が立ち止まってしまいました。途中の段階では足上げの報酬を作り直して平地だけで練習させ、平地を前に歩けるようになりましたが、その場で回れず、10度の坂では転んでしまいました。最終形では回る練習を増やし、坂やでこぼこのある地形で練習させて、平地・坂・でこぼこ・その場旋回まで転ばずにできるようになりました。次から、それぞれの壁を説明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つ目の壁は、足を上げると損をする報酬だったことです。見本の報酬は、足を0.2秒以上浮かせないと減点される式でした。このロボットが自然に歩くと足は0.1秒ほどしか浮かないので、足を上げるほど損をして、立ち止まるのが一番得になっていました。そこで片足で立っている時間をほめる形に変え、平地だけで練習させたところ、0.5 m/s の指示に対して 0.42 m/s で歩けるようになりました。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つ目の壁は、その場で回れないことと、坂で転ぶことです。その場で回れない原因を調べると、練習中に『その場で回れ』という指示がほとんど出ておらず、しかもその指示のときは足上げの報酬が0になっていました。そこで指示の割合を決めて出し、回る指示でも足上げをほめるようにしました。坂については、平地だけで練習した方策は10度の坂で半分以上が転倒したので、坂やでこぼこのある地形で練習させ、うまく歩けたらより難しい地形に進めるようにしました。どちらも、報酬の重みを上げるより、どんな練習をさせるかを変える方が効きました。なお、坂で練習した方策をその後平地だけで練習させ続けると、坂を登る能力が消えてしまうことも分かり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学習した方策をロボットで動かすことをデプロイと呼びます。まず方策をどの計算機でも動く形式で書き出し、学習時と同じ入力を入れて同じ答えが出るかを確認しました。次にモーター1台ずつ、吊った状態で全身、と段階的に進め、今は床に立たせて方策に任せる段階です。プロコンでの操作はその次です。安全のため、傾きや電流が上限を超えたら自動で止め、最後は人が主電源を切る体制で試験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デプロイを進める中で、シミュレーターと実機の違いがたくさん見つかりました。関節の回る向き、方策に渡す角度の基準、CADで『まっすぐ』のつもりだった姿勢が実は膝が曲がっていたこと、計算の周期のばらつき、モーターの摩擦、安全停止の電流の値などです。どれも記録データで原因を確かめてから直してきました。まだ残っている違いが、次の結果につなが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シミュレーションの結果です。最終形の方策は、平地の前進、10度と15度の坂、6センチのでこぼこ、その場での旋回、歩きながらの旋回のすべてで、16体中1体も転びませんでした。前進は0.5 m/sを指示して15秒で6〜7 m進んでおり、坂でも速度はあまり落ちていません。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実機の結果です。センサから方策、モーターまでのループは1秒50回で安定して回り、吊った状態では方策が10秒間止まらずに動きました。また、姿勢を保つだけなら床の上で20秒立てました。一方、床の上で方策に任せると、約0.3秒で前へ倒れ始め、長くても1.6秒で止まってしまいます。9月24日だけで約20回試しましたが、まだ床の上で歩くところまでは届いてい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なぜ床の上で立てないのかを考えました。どの補正をしても、方策は最初に膝を伸ばし、つま先を踏み込み、0.3秒で前へ倒れます。原因の候補は3つです。1つ目が一番有力で、シミュレーターでは毎回ロボットを空中から落とし、揺らした状態から練習を始めていて、止まって立った状態から始めたことが一度もありませんでした。実機の静かに立った状態は、方策にとって見慣れない状態です。2つ目は、実機の重さの位置がモデルと違う可能性です。3つ目は、モーターの摩擦がシミュレーターの2〜3倍ある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後の課題です。まず、止まって立った状態から始める練習をシミュレーションに加えます。並行して、摩擦を実機並みにばらつかせた学習を進めていて、実機の重さと重心も測ってモデルを直します。床の試験中に左脚の5台と通信が2回切れたので、その原因も調べます。これらが片付けば、床で歩く、プロコンで操作する、そして最終目標の坂を登る、へ進み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【差し替え案】元のまとめの制御の行と、次の段階の文言を更新したもの。設計・配線の行は元のまま。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制御の全体像</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628650" y="1257300"/>
            <a:ext cx="10934700" cy="419100"/>
          </a:xfrm>
          <a:prstGeom prst="rect">
            <a:avLst/>
          </a:prstGeom>
          <a:noFill/>
          <a:ln/>
        </p:spPr>
        <p:txBody>
          <a:bodyPr wrap="square" lIns="0" tIns="0" rIns="0" bIns="0" rtlCol="0" anchor="ctr"/>
          <a:lstStyle/>
          <a:p>
            <a:pPr algn="l" indent="0" marL="0">
              <a:buNone/>
            </a:pPr>
            <a:r>
              <a:rPr lang="en-US" sz="2200" b="1" dirty="0">
                <a:solidFill>
                  <a:srgbClr val="102B46"/>
                </a:solidFill>
                <a:latin typeface="Yu Gothic" pitchFamily="34" charset="0"/>
                <a:ea typeface="Yu Gothic" pitchFamily="34" charset="-122"/>
                <a:cs typeface="Yu Gothic" pitchFamily="34" charset="-120"/>
              </a:rPr>
              <a:t>シミュレーターの中で歩き方を学習し、その「脳」をロボットに載せて動かす</a:t>
            </a:r>
            <a:endParaRPr lang="en-US" sz="2200" dirty="0"/>
          </a:p>
        </p:txBody>
      </p:sp>
      <p:sp>
        <p:nvSpPr>
          <p:cNvPr id="7" name="Shape 5"/>
          <p:cNvSpPr/>
          <p:nvPr/>
        </p:nvSpPr>
        <p:spPr>
          <a:xfrm>
            <a:off x="628650" y="1905000"/>
            <a:ext cx="4762500" cy="3429000"/>
          </a:xfrm>
          <a:prstGeom prst="roundRect">
            <a:avLst>
              <a:gd name="adj" fmla="val 2133"/>
            </a:avLst>
          </a:prstGeom>
          <a:solidFill>
            <a:srgbClr val="E8F1F5"/>
          </a:solidFill>
          <a:ln w="25400">
            <a:solidFill>
              <a:srgbClr val="32A5B5"/>
            </a:solidFill>
            <a:prstDash val="solid"/>
          </a:ln>
        </p:spPr>
      </p:sp>
      <p:sp>
        <p:nvSpPr>
          <p:cNvPr id="8" name="Text 6"/>
          <p:cNvSpPr txBox="1"/>
          <p:nvPr/>
        </p:nvSpPr>
        <p:spPr>
          <a:xfrm>
            <a:off x="857250" y="2057400"/>
            <a:ext cx="4381500" cy="323850"/>
          </a:xfrm>
          <a:prstGeom prst="rect">
            <a:avLst/>
          </a:prstGeom>
          <a:noFill/>
          <a:ln/>
        </p:spPr>
        <p:txBody>
          <a:bodyPr wrap="square" lIns="0" tIns="0" rIns="0" bIns="0" rtlCol="0" anchor="ctr"/>
          <a:lstStyle/>
          <a:p>
            <a:pPr algn="l" indent="0" marL="0">
              <a:buNone/>
            </a:pPr>
            <a:r>
              <a:rPr lang="en-US" sz="2100" b="1" dirty="0">
                <a:solidFill>
                  <a:srgbClr val="32A5B5"/>
                </a:solidFill>
                <a:latin typeface="Yu Gothic" pitchFamily="34" charset="0"/>
                <a:ea typeface="Yu Gothic" pitchFamily="34" charset="-122"/>
                <a:cs typeface="Yu Gothic" pitchFamily="34" charset="-120"/>
              </a:rPr>
              <a:t>学習用PC（シミュレーション）</a:t>
            </a:r>
            <a:endParaRPr lang="en-US" sz="2100" dirty="0"/>
          </a:p>
        </p:txBody>
      </p:sp>
      <p:sp>
        <p:nvSpPr>
          <p:cNvPr id="9" name="Text 7"/>
          <p:cNvSpPr txBox="1"/>
          <p:nvPr/>
        </p:nvSpPr>
        <p:spPr>
          <a:xfrm>
            <a:off x="857250" y="2495550"/>
            <a:ext cx="4381500" cy="1428750"/>
          </a:xfrm>
          <a:prstGeom prst="rect">
            <a:avLst/>
          </a:prstGeom>
          <a:noFill/>
          <a:ln/>
        </p:spPr>
        <p:txBody>
          <a:bodyPr wrap="square" lIns="0" tIns="0" rIns="0" bIns="0" rtlCol="0" anchor="t"/>
          <a:lstStyle/>
          <a:p>
            <a:pPr algn="l" marL="342900" indent="-342900">
              <a:spcAft>
                <a:spcPts val="800"/>
              </a:spcAft>
              <a:buSzPct val="100000"/>
              <a:buChar char="•"/>
            </a:pPr>
            <a:r>
              <a:rPr lang="en-US" sz="1900" dirty="0">
                <a:solidFill>
                  <a:srgbClr val="17212B"/>
                </a:solidFill>
                <a:latin typeface="Yu Gothic" pitchFamily="34" charset="0"/>
                <a:ea typeface="Yu Gothic" pitchFamily="34" charset="-122"/>
                <a:cs typeface="Yu Gothic" pitchFamily="34" charset="-120"/>
              </a:rPr>
              <a:t>Isaac Sim / Isaac Lab</a:t>
            </a:r>
            <a:endParaRPr lang="en-US" sz="1900" dirty="0"/>
          </a:p>
          <a:p>
            <a:pPr algn="l" marL="342900" indent="-342900">
              <a:spcAft>
                <a:spcPts val="800"/>
              </a:spcAft>
              <a:buSzPct val="100000"/>
              <a:buChar char="•"/>
            </a:pPr>
            <a:r>
              <a:rPr lang="en-US" sz="1900" dirty="0">
                <a:solidFill>
                  <a:srgbClr val="17212B"/>
                </a:solidFill>
                <a:latin typeface="Yu Gothic" pitchFamily="34" charset="0"/>
                <a:ea typeface="Yu Gothic" pitchFamily="34" charset="-122"/>
                <a:cs typeface="Yu Gothic" pitchFamily="34" charset="-120"/>
              </a:rPr>
              <a:t>4096体のロボットが同時に練習</a:t>
            </a:r>
            <a:endParaRPr lang="en-US" sz="1900" dirty="0"/>
          </a:p>
          <a:p>
            <a:pPr algn="l" marL="342900" indent="-342900">
              <a:spcAft>
                <a:spcPts val="800"/>
              </a:spcAft>
              <a:buSzPct val="100000"/>
              <a:buChar char="•"/>
            </a:pPr>
            <a:r>
              <a:rPr lang="en-US" sz="1900" dirty="0">
                <a:solidFill>
                  <a:srgbClr val="17212B"/>
                </a:solidFill>
                <a:latin typeface="Yu Gothic" pitchFamily="34" charset="0"/>
                <a:ea typeface="Yu Gothic" pitchFamily="34" charset="-122"/>
                <a:cs typeface="Yu Gothic" pitchFamily="34" charset="-120"/>
              </a:rPr>
              <a:t>報酬（ほめる・叱る）で歩き方が上達</a:t>
            </a:r>
            <a:endParaRPr lang="en-US" sz="1900" dirty="0"/>
          </a:p>
        </p:txBody>
      </p:sp>
      <p:sp>
        <p:nvSpPr>
          <p:cNvPr id="10" name="Text 8"/>
          <p:cNvSpPr txBox="1"/>
          <p:nvPr/>
        </p:nvSpPr>
        <p:spPr>
          <a:xfrm>
            <a:off x="857250" y="4191000"/>
            <a:ext cx="4305300" cy="857250"/>
          </a:xfrm>
          <a:prstGeom prst="roundRect">
            <a:avLst>
              <a:gd name="adj" fmla="val 10667"/>
            </a:avLst>
          </a:prstGeom>
          <a:solidFill>
            <a:srgbClr val="1C5A85"/>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できあがるもの：方策</a:t>
            </a:r>
            <a:endParaRPr lang="en-US" sz="1800" dirty="0"/>
          </a:p>
          <a:p>
            <a:pPr algn="ctr" indent="0" marL="0">
              <a:buNone/>
            </a:pPr>
            <a:r>
              <a:rPr lang="en-US" sz="1800" b="1" dirty="0">
                <a:solidFill>
                  <a:srgbClr val="FFFFFF"/>
                </a:solidFill>
                <a:latin typeface="Yu Gothic" pitchFamily="34" charset="0"/>
                <a:ea typeface="Yu Gothic" pitchFamily="34" charset="-122"/>
                <a:cs typeface="Yu Gothic" pitchFamily="34" charset="-120"/>
              </a:rPr>
              <a:t>（歩き方を決めるニューラルネット）</a:t>
            </a:r>
            <a:endParaRPr lang="en-US" sz="1800" dirty="0"/>
          </a:p>
        </p:txBody>
      </p:sp>
      <p:sp>
        <p:nvSpPr>
          <p:cNvPr id="11" name="Shape 9"/>
          <p:cNvSpPr/>
          <p:nvPr/>
        </p:nvSpPr>
        <p:spPr>
          <a:xfrm>
            <a:off x="5448300" y="3619500"/>
            <a:ext cx="1257300" cy="95"/>
          </a:xfrm>
          <a:prstGeom prst="line">
            <a:avLst/>
          </a:prstGeom>
          <a:noFill/>
          <a:ln w="50800">
            <a:solidFill>
              <a:srgbClr val="E8783F"/>
            </a:solidFill>
            <a:prstDash val="solid"/>
            <a:tailEnd type="triangle"/>
          </a:ln>
        </p:spPr>
      </p:sp>
      <p:sp>
        <p:nvSpPr>
          <p:cNvPr id="12" name="Text 10"/>
          <p:cNvSpPr txBox="1"/>
          <p:nvPr/>
        </p:nvSpPr>
        <p:spPr>
          <a:xfrm>
            <a:off x="5429250" y="2857500"/>
            <a:ext cx="1333500" cy="609600"/>
          </a:xfrm>
          <a:prstGeom prst="rect">
            <a:avLst/>
          </a:prstGeom>
          <a:noFill/>
          <a:ln/>
        </p:spPr>
        <p:txBody>
          <a:bodyPr wrap="square" lIns="0" tIns="0" rIns="0" bIns="0" rtlCol="0" anchor="ctr"/>
          <a:lstStyle/>
          <a:p>
            <a:pPr algn="ctr" indent="0" marL="0">
              <a:buNone/>
            </a:pPr>
            <a:r>
              <a:rPr lang="en-US" sz="1600" b="1" dirty="0">
                <a:solidFill>
                  <a:srgbClr val="E8783F"/>
                </a:solidFill>
                <a:latin typeface="Yu Gothic" pitchFamily="34" charset="0"/>
                <a:ea typeface="Yu Gothic" pitchFamily="34" charset="-122"/>
                <a:cs typeface="Yu Gothic" pitchFamily="34" charset="-120"/>
              </a:rPr>
              <a:t>書き出して</a:t>
            </a:r>
            <a:endParaRPr lang="en-US" sz="1600" dirty="0"/>
          </a:p>
          <a:p>
            <a:pPr algn="ctr" indent="0" marL="0">
              <a:buNone/>
            </a:pPr>
            <a:r>
              <a:rPr lang="en-US" sz="1600" b="1" dirty="0">
                <a:solidFill>
                  <a:srgbClr val="E8783F"/>
                </a:solidFill>
                <a:latin typeface="Yu Gothic" pitchFamily="34" charset="0"/>
                <a:ea typeface="Yu Gothic" pitchFamily="34" charset="-122"/>
                <a:cs typeface="Yu Gothic" pitchFamily="34" charset="-120"/>
              </a:rPr>
              <a:t>ロボットへ</a:t>
            </a:r>
            <a:endParaRPr lang="en-US" sz="1600" dirty="0"/>
          </a:p>
        </p:txBody>
      </p:sp>
      <p:sp>
        <p:nvSpPr>
          <p:cNvPr id="13" name="Shape 11"/>
          <p:cNvSpPr/>
          <p:nvPr/>
        </p:nvSpPr>
        <p:spPr>
          <a:xfrm>
            <a:off x="6800850" y="1905000"/>
            <a:ext cx="4762500" cy="3429000"/>
          </a:xfrm>
          <a:prstGeom prst="roundRect">
            <a:avLst>
              <a:gd name="adj" fmla="val 2133"/>
            </a:avLst>
          </a:prstGeom>
          <a:solidFill>
            <a:srgbClr val="F3EEE6"/>
          </a:solidFill>
          <a:ln w="25400">
            <a:solidFill>
              <a:srgbClr val="E8783F"/>
            </a:solidFill>
            <a:prstDash val="solid"/>
          </a:ln>
        </p:spPr>
      </p:sp>
      <p:sp>
        <p:nvSpPr>
          <p:cNvPr id="14" name="Text 12"/>
          <p:cNvSpPr txBox="1"/>
          <p:nvPr/>
        </p:nvSpPr>
        <p:spPr>
          <a:xfrm>
            <a:off x="7029450" y="2057400"/>
            <a:ext cx="4381500" cy="323850"/>
          </a:xfrm>
          <a:prstGeom prst="rect">
            <a:avLst/>
          </a:prstGeom>
          <a:noFill/>
          <a:ln/>
        </p:spPr>
        <p:txBody>
          <a:bodyPr wrap="square" lIns="0" tIns="0" rIns="0" bIns="0" rtlCol="0" anchor="ctr"/>
          <a:lstStyle/>
          <a:p>
            <a:pPr algn="l" indent="0" marL="0">
              <a:buNone/>
            </a:pPr>
            <a:r>
              <a:rPr lang="en-US" sz="2100" b="1" dirty="0">
                <a:solidFill>
                  <a:srgbClr val="E8783F"/>
                </a:solidFill>
                <a:latin typeface="Yu Gothic" pitchFamily="34" charset="0"/>
                <a:ea typeface="Yu Gothic" pitchFamily="34" charset="-122"/>
                <a:cs typeface="Yu Gothic" pitchFamily="34" charset="-120"/>
              </a:rPr>
              <a:t>ロボット（実機）</a:t>
            </a:r>
            <a:endParaRPr lang="en-US" sz="2100" dirty="0"/>
          </a:p>
        </p:txBody>
      </p:sp>
      <p:sp>
        <p:nvSpPr>
          <p:cNvPr id="15" name="Text 13"/>
          <p:cNvSpPr txBox="1"/>
          <p:nvPr/>
        </p:nvSpPr>
        <p:spPr>
          <a:xfrm>
            <a:off x="7029450" y="2495550"/>
            <a:ext cx="4381500" cy="2571750"/>
          </a:xfrm>
          <a:prstGeom prst="rect">
            <a:avLst/>
          </a:prstGeom>
          <a:noFill/>
          <a:ln/>
        </p:spPr>
        <p:txBody>
          <a:bodyPr wrap="square" lIns="0" tIns="0" rIns="0" bIns="0" rtlCol="0" anchor="t"/>
          <a:lstStyle/>
          <a:p>
            <a:pPr algn="l" marL="342900" indent="-342900">
              <a:spcAft>
                <a:spcPts val="800"/>
              </a:spcAft>
              <a:buSzPct val="100000"/>
              <a:buChar char="•"/>
            </a:pPr>
            <a:r>
              <a:rPr lang="en-US" sz="1900" dirty="0">
                <a:solidFill>
                  <a:srgbClr val="17212B"/>
                </a:solidFill>
                <a:latin typeface="Yu Gothic" pitchFamily="34" charset="0"/>
                <a:ea typeface="Yu Gothic" pitchFamily="34" charset="-122"/>
                <a:cs typeface="Yu Gothic" pitchFamily="34" charset="-120"/>
              </a:rPr>
              <a:t>Jetson が方策を1秒間に50回計算</a:t>
            </a:r>
            <a:endParaRPr lang="en-US" sz="1900" dirty="0"/>
          </a:p>
          <a:p>
            <a:pPr algn="l" marL="342900" indent="-342900">
              <a:spcAft>
                <a:spcPts val="800"/>
              </a:spcAft>
              <a:buSzPct val="100000"/>
              <a:buChar char="•"/>
            </a:pPr>
            <a:r>
              <a:rPr lang="en-US" sz="1900" dirty="0">
                <a:solidFill>
                  <a:srgbClr val="17212B"/>
                </a:solidFill>
                <a:latin typeface="Yu Gothic" pitchFamily="34" charset="0"/>
                <a:ea typeface="Yu Gothic" pitchFamily="34" charset="-122"/>
                <a:cs typeface="Yu Gothic" pitchFamily="34" charset="-120"/>
              </a:rPr>
              <a:t>T265 で胴体の傾き・速さを測る</a:t>
            </a:r>
            <a:endParaRPr lang="en-US" sz="1900" dirty="0"/>
          </a:p>
          <a:p>
            <a:pPr algn="l" marL="342900" indent="-342900">
              <a:spcAft>
                <a:spcPts val="800"/>
              </a:spcAft>
              <a:buSzPct val="100000"/>
              <a:buChar char="•"/>
            </a:pPr>
            <a:r>
              <a:rPr lang="en-US" sz="1900" dirty="0">
                <a:solidFill>
                  <a:srgbClr val="17212B"/>
                </a:solidFill>
                <a:latin typeface="Yu Gothic" pitchFamily="34" charset="0"/>
                <a:ea typeface="Yu Gothic" pitchFamily="34" charset="-122"/>
                <a:cs typeface="Yu Gothic" pitchFamily="34" charset="-120"/>
              </a:rPr>
              <a:t>10個のモーターを CAN 通信で動かす</a:t>
            </a:r>
            <a:endParaRPr lang="en-US" sz="1900" dirty="0"/>
          </a:p>
          <a:p>
            <a:pPr algn="l" marL="342900" indent="-342900">
              <a:spcAft>
                <a:spcPts val="800"/>
              </a:spcAft>
              <a:buSzPct val="100000"/>
              <a:buChar char="•"/>
            </a:pPr>
            <a:r>
              <a:rPr lang="en-US" sz="1900" dirty="0">
                <a:solidFill>
                  <a:srgbClr val="17212B"/>
                </a:solidFill>
                <a:latin typeface="Yu Gothic" pitchFamily="34" charset="0"/>
                <a:ea typeface="Yu Gothic" pitchFamily="34" charset="-122"/>
                <a:cs typeface="Yu Gothic" pitchFamily="34" charset="-120"/>
              </a:rPr>
              <a:t>プロコン（無線）で進む向き・速さを指示</a:t>
            </a:r>
            <a:endParaRPr lang="en-US" sz="1900" dirty="0"/>
          </a:p>
        </p:txBody>
      </p:sp>
      <p:sp>
        <p:nvSpPr>
          <p:cNvPr id="16" name="Text 14"/>
          <p:cNvSpPr txBox="1"/>
          <p:nvPr/>
        </p:nvSpPr>
        <p:spPr>
          <a:xfrm>
            <a:off x="628650" y="5657850"/>
            <a:ext cx="10934700" cy="419100"/>
          </a:xfrm>
          <a:prstGeom prst="rect">
            <a:avLst/>
          </a:prstGeom>
          <a:solidFill>
            <a:srgbClr val="E8F1F5"/>
          </a:solidFill>
          <a:ln/>
        </p:spPr>
        <p:txBody>
          <a:bodyPr wrap="square" lIns="0" tIns="0" rIns="0" bIns="0" rtlCol="0" anchor="ctr"/>
          <a:lstStyle/>
          <a:p>
            <a:pPr algn="ctr" indent="0" marL="0">
              <a:buNone/>
            </a:pPr>
            <a:r>
              <a:rPr lang="en-US" sz="1700" b="1" dirty="0">
                <a:solidFill>
                  <a:srgbClr val="102B46"/>
                </a:solidFill>
                <a:latin typeface="Yu Gothic" pitchFamily="34" charset="0"/>
                <a:ea typeface="Yu Gothic" pitchFamily="34" charset="-122"/>
                <a:cs typeface="Yu Gothic" pitchFamily="34" charset="-120"/>
              </a:rPr>
              <a:t>この後の流れ：② 強化学習と Isaac Lab → ③④ 報酬関数 → ⑤ デプロイ → ⑥ 結果と課題</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ロボットの中の制御ループ</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628650" y="1257300"/>
            <a:ext cx="10934700" cy="419100"/>
          </a:xfrm>
          <a:prstGeom prst="rect">
            <a:avLst/>
          </a:prstGeom>
          <a:noFill/>
          <a:ln/>
        </p:spPr>
        <p:txBody>
          <a:bodyPr wrap="square" lIns="0" tIns="0" rIns="0" bIns="0" rtlCol="0" anchor="ctr"/>
          <a:lstStyle/>
          <a:p>
            <a:pPr algn="l" indent="0" marL="0">
              <a:buNone/>
            </a:pPr>
            <a:r>
              <a:rPr lang="en-US" sz="2200" b="1" dirty="0">
                <a:solidFill>
                  <a:srgbClr val="102B46"/>
                </a:solidFill>
                <a:latin typeface="Yu Gothic" pitchFamily="34" charset="0"/>
                <a:ea typeface="Yu Gothic" pitchFamily="34" charset="-122"/>
                <a:cs typeface="Yu Gothic" pitchFamily="34" charset="-120"/>
              </a:rPr>
              <a:t>測る → 計算する → 動かす → また測る を 1 秒間に 50 回くり返す</a:t>
            </a:r>
            <a:endParaRPr lang="en-US" sz="2200" dirty="0"/>
          </a:p>
        </p:txBody>
      </p:sp>
      <p:sp>
        <p:nvSpPr>
          <p:cNvPr id="7" name="Text 5"/>
          <p:cNvSpPr txBox="1"/>
          <p:nvPr/>
        </p:nvSpPr>
        <p:spPr>
          <a:xfrm>
            <a:off x="4476750" y="1714500"/>
            <a:ext cx="3238500" cy="666750"/>
          </a:xfrm>
          <a:prstGeom prst="roundRect">
            <a:avLst>
              <a:gd name="adj" fmla="val 13714"/>
            </a:avLst>
          </a:prstGeom>
          <a:solidFill>
            <a:srgbClr val="1C5A85"/>
          </a:solidFill>
          <a:ln/>
        </p:spPr>
        <p:txBody>
          <a:bodyPr wrap="square" lIns="0" tIns="0" rIns="0" bIns="0" rtlCol="0" anchor="ctr"/>
          <a:lstStyle/>
          <a:p>
            <a:pPr algn="ctr" indent="0" marL="0">
              <a:buNone/>
            </a:pPr>
            <a:r>
              <a:rPr lang="en-US" sz="1700" b="1" dirty="0">
                <a:solidFill>
                  <a:srgbClr val="FFFFFF"/>
                </a:solidFill>
                <a:latin typeface="Yu Gothic" pitchFamily="34" charset="0"/>
                <a:ea typeface="Yu Gothic" pitchFamily="34" charset="-122"/>
                <a:cs typeface="Yu Gothic" pitchFamily="34" charset="-120"/>
              </a:rPr>
              <a:t>プロコン</a:t>
            </a:r>
            <a:endParaRPr lang="en-US" sz="1700" dirty="0"/>
          </a:p>
          <a:p>
            <a:pPr algn="ctr" indent="0" marL="0">
              <a:buNone/>
            </a:pPr>
            <a:r>
              <a:rPr lang="en-US" sz="1700" b="1" dirty="0">
                <a:solidFill>
                  <a:srgbClr val="FFFFFF"/>
                </a:solidFill>
                <a:latin typeface="Yu Gothic" pitchFamily="34" charset="0"/>
                <a:ea typeface="Yu Gothic" pitchFamily="34" charset="-122"/>
                <a:cs typeface="Yu Gothic" pitchFamily="34" charset="-120"/>
              </a:rPr>
              <a:t>（Bluetooth 無線）</a:t>
            </a:r>
            <a:endParaRPr lang="en-US" sz="1700" dirty="0"/>
          </a:p>
        </p:txBody>
      </p:sp>
      <p:sp>
        <p:nvSpPr>
          <p:cNvPr id="8" name="Text 6"/>
          <p:cNvSpPr txBox="1"/>
          <p:nvPr/>
        </p:nvSpPr>
        <p:spPr>
          <a:xfrm>
            <a:off x="628650" y="2857500"/>
            <a:ext cx="2190750" cy="914400"/>
          </a:xfrm>
          <a:prstGeom prst="roundRect">
            <a:avLst>
              <a:gd name="adj" fmla="val 10000"/>
            </a:avLst>
          </a:prstGeom>
          <a:solidFill>
            <a:srgbClr val="32A5B5"/>
          </a:solidFill>
          <a:ln/>
        </p:spPr>
        <p:txBody>
          <a:bodyPr wrap="square" lIns="0" tIns="0" rIns="0" bIns="0" rtlCol="0" anchor="ctr"/>
          <a:lstStyle/>
          <a:p>
            <a:pPr algn="ctr" indent="0" marL="0">
              <a:buNone/>
            </a:pPr>
            <a:r>
              <a:rPr lang="en-US" sz="1700" b="1" dirty="0">
                <a:solidFill>
                  <a:srgbClr val="FFFFFF"/>
                </a:solidFill>
                <a:latin typeface="Yu Gothic" pitchFamily="34" charset="0"/>
                <a:ea typeface="Yu Gothic" pitchFamily="34" charset="-122"/>
                <a:cs typeface="Yu Gothic" pitchFamily="34" charset="-120"/>
              </a:rPr>
              <a:t>T265</a:t>
            </a:r>
            <a:endParaRPr lang="en-US" sz="1700" dirty="0"/>
          </a:p>
          <a:p>
            <a:pPr algn="ctr" indent="0" marL="0">
              <a:buNone/>
            </a:pPr>
            <a:r>
              <a:rPr lang="en-US" sz="1700" b="1" dirty="0">
                <a:solidFill>
                  <a:srgbClr val="FFFFFF"/>
                </a:solidFill>
                <a:latin typeface="Yu Gothic" pitchFamily="34" charset="0"/>
                <a:ea typeface="Yu Gothic" pitchFamily="34" charset="-122"/>
                <a:cs typeface="Yu Gothic" pitchFamily="34" charset="-120"/>
              </a:rPr>
              <a:t>胴体の傾き・速さ</a:t>
            </a:r>
            <a:endParaRPr lang="en-US" sz="1700" dirty="0"/>
          </a:p>
        </p:txBody>
      </p:sp>
      <p:sp>
        <p:nvSpPr>
          <p:cNvPr id="9" name="Text 7"/>
          <p:cNvSpPr txBox="1"/>
          <p:nvPr/>
        </p:nvSpPr>
        <p:spPr>
          <a:xfrm>
            <a:off x="4000500" y="2762250"/>
            <a:ext cx="4191000" cy="1104900"/>
          </a:xfrm>
          <a:prstGeom prst="roundRect">
            <a:avLst>
              <a:gd name="adj" fmla="val 8276"/>
            </a:avLst>
          </a:prstGeom>
          <a:solidFill>
            <a:srgbClr val="102B46"/>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Jetson</a:t>
            </a:r>
            <a:endParaRPr lang="en-US" sz="1800" dirty="0"/>
          </a:p>
          <a:p>
            <a:pPr algn="ctr" indent="0" marL="0">
              <a:buNone/>
            </a:pPr>
            <a:r>
              <a:rPr lang="en-US" sz="1800" b="1" dirty="0">
                <a:solidFill>
                  <a:srgbClr val="FFFFFF"/>
                </a:solidFill>
                <a:latin typeface="Yu Gothic" pitchFamily="34" charset="0"/>
                <a:ea typeface="Yu Gothic" pitchFamily="34" charset="-122"/>
                <a:cs typeface="Yu Gothic" pitchFamily="34" charset="-120"/>
              </a:rPr>
              <a:t>方策（ニューラルネット）で</a:t>
            </a:r>
            <a:endParaRPr lang="en-US" sz="1800" dirty="0"/>
          </a:p>
          <a:p>
            <a:pPr algn="ctr" indent="0" marL="0">
              <a:buNone/>
            </a:pPr>
            <a:r>
              <a:rPr lang="en-US" sz="1800" b="1" dirty="0">
                <a:solidFill>
                  <a:srgbClr val="FFFFFF"/>
                </a:solidFill>
                <a:latin typeface="Yu Gothic" pitchFamily="34" charset="0"/>
                <a:ea typeface="Yu Gothic" pitchFamily="34" charset="-122"/>
                <a:cs typeface="Yu Gothic" pitchFamily="34" charset="-120"/>
              </a:rPr>
              <a:t>10個の関節の目標角を計算</a:t>
            </a:r>
            <a:endParaRPr lang="en-US" sz="1800" dirty="0"/>
          </a:p>
        </p:txBody>
      </p:sp>
      <p:sp>
        <p:nvSpPr>
          <p:cNvPr id="10" name="Text 8"/>
          <p:cNvSpPr txBox="1"/>
          <p:nvPr/>
        </p:nvSpPr>
        <p:spPr>
          <a:xfrm>
            <a:off x="9372600" y="2857500"/>
            <a:ext cx="2190750" cy="914400"/>
          </a:xfrm>
          <a:prstGeom prst="roundRect">
            <a:avLst>
              <a:gd name="adj" fmla="val 10000"/>
            </a:avLst>
          </a:prstGeom>
          <a:solidFill>
            <a:srgbClr val="E8783F"/>
          </a:solidFill>
          <a:ln/>
        </p:spPr>
        <p:txBody>
          <a:bodyPr wrap="square" lIns="0" tIns="0" rIns="0" bIns="0" rtlCol="0" anchor="ctr"/>
          <a:lstStyle/>
          <a:p>
            <a:pPr algn="ctr" indent="0" marL="0">
              <a:buNone/>
            </a:pPr>
            <a:r>
              <a:rPr lang="en-US" sz="1700" b="1" dirty="0">
                <a:solidFill>
                  <a:srgbClr val="FFFFFF"/>
                </a:solidFill>
                <a:latin typeface="Yu Gothic" pitchFamily="34" charset="0"/>
                <a:ea typeface="Yu Gothic" pitchFamily="34" charset="-122"/>
                <a:cs typeface="Yu Gothic" pitchFamily="34" charset="-120"/>
              </a:rPr>
              <a:t>USB-CAN</a:t>
            </a:r>
            <a:endParaRPr lang="en-US" sz="1700" dirty="0"/>
          </a:p>
          <a:p>
            <a:pPr algn="ctr" indent="0" marL="0">
              <a:buNone/>
            </a:pPr>
            <a:r>
              <a:rPr lang="en-US" sz="1700" b="1" dirty="0">
                <a:solidFill>
                  <a:srgbClr val="FFFFFF"/>
                </a:solidFill>
                <a:latin typeface="Yu Gothic" pitchFamily="34" charset="0"/>
                <a:ea typeface="Yu Gothic" pitchFamily="34" charset="-122"/>
                <a:cs typeface="Yu Gothic" pitchFamily="34" charset="-120"/>
              </a:rPr>
              <a:t>変換</a:t>
            </a:r>
            <a:endParaRPr lang="en-US" sz="1700" dirty="0"/>
          </a:p>
        </p:txBody>
      </p:sp>
      <p:sp>
        <p:nvSpPr>
          <p:cNvPr id="11" name="Text 9"/>
          <p:cNvSpPr txBox="1"/>
          <p:nvPr/>
        </p:nvSpPr>
        <p:spPr>
          <a:xfrm>
            <a:off x="9372600" y="4762500"/>
            <a:ext cx="2190750" cy="762000"/>
          </a:xfrm>
          <a:prstGeom prst="roundRect">
            <a:avLst>
              <a:gd name="adj" fmla="val 12000"/>
            </a:avLst>
          </a:prstGeom>
          <a:solidFill>
            <a:srgbClr val="102B46"/>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モーター × 10</a:t>
            </a:r>
            <a:endParaRPr lang="en-US" sz="1800" dirty="0"/>
          </a:p>
        </p:txBody>
      </p:sp>
      <p:sp>
        <p:nvSpPr>
          <p:cNvPr id="12" name="Text 10"/>
          <p:cNvSpPr txBox="1"/>
          <p:nvPr/>
        </p:nvSpPr>
        <p:spPr>
          <a:xfrm>
            <a:off x="4476750" y="4857750"/>
            <a:ext cx="3238500" cy="571500"/>
          </a:xfrm>
          <a:prstGeom prst="roundRect">
            <a:avLst>
              <a:gd name="adj" fmla="val 16000"/>
            </a:avLst>
          </a:prstGeom>
          <a:solidFill>
            <a:srgbClr val="F3EEE6"/>
          </a:solidFill>
          <a:ln w="12700">
            <a:solidFill>
              <a:srgbClr val="E8783F"/>
            </a:solidFill>
          </a:ln>
        </p:spPr>
        <p:txBody>
          <a:bodyPr wrap="square" lIns="0" tIns="0" rIns="0" bIns="0" rtlCol="0" anchor="ctr"/>
          <a:lstStyle/>
          <a:p>
            <a:pPr algn="ctr" indent="0" marL="0">
              <a:buNone/>
            </a:pPr>
            <a:r>
              <a:rPr lang="en-US" sz="1800" b="1" dirty="0">
                <a:solidFill>
                  <a:srgbClr val="102B46"/>
                </a:solidFill>
                <a:latin typeface="Yu Gothic" pitchFamily="34" charset="0"/>
                <a:ea typeface="Yu Gothic" pitchFamily="34" charset="-122"/>
                <a:cs typeface="Yu Gothic" pitchFamily="34" charset="-120"/>
              </a:rPr>
              <a:t>ロボットの体が動く</a:t>
            </a:r>
            <a:endParaRPr lang="en-US" sz="1800" dirty="0"/>
          </a:p>
        </p:txBody>
      </p:sp>
      <p:sp>
        <p:nvSpPr>
          <p:cNvPr id="13" name="Shape 11"/>
          <p:cNvSpPr/>
          <p:nvPr/>
        </p:nvSpPr>
        <p:spPr>
          <a:xfrm>
            <a:off x="6096000" y="2400300"/>
            <a:ext cx="95" cy="323850"/>
          </a:xfrm>
          <a:prstGeom prst="line">
            <a:avLst/>
          </a:prstGeom>
          <a:noFill/>
          <a:ln w="38100">
            <a:solidFill>
              <a:srgbClr val="1C5A85"/>
            </a:solidFill>
            <a:prstDash val="solid"/>
            <a:tailEnd type="triangle"/>
          </a:ln>
        </p:spPr>
      </p:sp>
      <p:sp>
        <p:nvSpPr>
          <p:cNvPr id="14" name="Text 12"/>
          <p:cNvSpPr txBox="1"/>
          <p:nvPr/>
        </p:nvSpPr>
        <p:spPr>
          <a:xfrm>
            <a:off x="6191250" y="2438400"/>
            <a:ext cx="1714500" cy="247650"/>
          </a:xfrm>
          <a:prstGeom prst="rect">
            <a:avLst/>
          </a:prstGeom>
          <a:noFill/>
          <a:ln/>
        </p:spPr>
        <p:txBody>
          <a:bodyPr wrap="square" lIns="0" tIns="0" rIns="0" bIns="0" rtlCol="0" anchor="ctr"/>
          <a:lstStyle/>
          <a:p>
            <a:pPr algn="l" indent="0" marL="0">
              <a:buNone/>
            </a:pPr>
            <a:r>
              <a:rPr lang="en-US" sz="1300" b="1" dirty="0">
                <a:solidFill>
                  <a:srgbClr val="1C5A85"/>
                </a:solidFill>
                <a:latin typeface="Yu Gothic" pitchFamily="34" charset="0"/>
                <a:ea typeface="Yu Gothic" pitchFamily="34" charset="-122"/>
                <a:cs typeface="Yu Gothic" pitchFamily="34" charset="-120"/>
              </a:rPr>
              <a:t>進む向き・速さ</a:t>
            </a:r>
            <a:endParaRPr lang="en-US" sz="1300" dirty="0"/>
          </a:p>
        </p:txBody>
      </p:sp>
      <p:sp>
        <p:nvSpPr>
          <p:cNvPr id="15" name="Shape 13"/>
          <p:cNvSpPr/>
          <p:nvPr/>
        </p:nvSpPr>
        <p:spPr>
          <a:xfrm>
            <a:off x="2838450" y="3314700"/>
            <a:ext cx="1123950" cy="95"/>
          </a:xfrm>
          <a:prstGeom prst="line">
            <a:avLst/>
          </a:prstGeom>
          <a:noFill/>
          <a:ln w="38100">
            <a:solidFill>
              <a:srgbClr val="32A5B5"/>
            </a:solidFill>
            <a:prstDash val="solid"/>
            <a:tailEnd type="triangle"/>
          </a:ln>
        </p:spPr>
      </p:sp>
      <p:sp>
        <p:nvSpPr>
          <p:cNvPr id="16" name="Shape 14"/>
          <p:cNvSpPr/>
          <p:nvPr/>
        </p:nvSpPr>
        <p:spPr>
          <a:xfrm>
            <a:off x="8210550" y="3314700"/>
            <a:ext cx="1123950" cy="95"/>
          </a:xfrm>
          <a:prstGeom prst="line">
            <a:avLst/>
          </a:prstGeom>
          <a:noFill/>
          <a:ln w="38100">
            <a:solidFill>
              <a:srgbClr val="E8783F"/>
            </a:solidFill>
            <a:prstDash val="solid"/>
            <a:tailEnd type="triangle"/>
          </a:ln>
        </p:spPr>
      </p:sp>
      <p:sp>
        <p:nvSpPr>
          <p:cNvPr id="17" name="Shape 15"/>
          <p:cNvSpPr/>
          <p:nvPr/>
        </p:nvSpPr>
        <p:spPr>
          <a:xfrm>
            <a:off x="10467975" y="3790950"/>
            <a:ext cx="95" cy="933450"/>
          </a:xfrm>
          <a:prstGeom prst="line">
            <a:avLst/>
          </a:prstGeom>
          <a:noFill/>
          <a:ln w="38100">
            <a:solidFill>
              <a:srgbClr val="E8783F"/>
            </a:solidFill>
            <a:prstDash val="solid"/>
            <a:tailEnd type="triangle"/>
          </a:ln>
        </p:spPr>
      </p:sp>
      <p:sp>
        <p:nvSpPr>
          <p:cNvPr id="18" name="Text 16"/>
          <p:cNvSpPr txBox="1"/>
          <p:nvPr/>
        </p:nvSpPr>
        <p:spPr>
          <a:xfrm>
            <a:off x="10572750" y="4114800"/>
            <a:ext cx="952500" cy="247650"/>
          </a:xfrm>
          <a:prstGeom prst="rect">
            <a:avLst/>
          </a:prstGeom>
          <a:noFill/>
          <a:ln/>
        </p:spPr>
        <p:txBody>
          <a:bodyPr wrap="square" lIns="0" tIns="0" rIns="0" bIns="0" rtlCol="0" anchor="ctr"/>
          <a:lstStyle/>
          <a:p>
            <a:pPr algn="l" indent="0" marL="0">
              <a:buNone/>
            </a:pPr>
            <a:r>
              <a:rPr lang="en-US" sz="1400" b="1" dirty="0">
                <a:solidFill>
                  <a:srgbClr val="E8783F"/>
                </a:solidFill>
                <a:latin typeface="Yu Gothic" pitchFamily="34" charset="0"/>
                <a:ea typeface="Yu Gothic" pitchFamily="34" charset="-122"/>
                <a:cs typeface="Yu Gothic" pitchFamily="34" charset="-120"/>
              </a:rPr>
              <a:t>目標角</a:t>
            </a:r>
            <a:endParaRPr lang="en-US" sz="1400" dirty="0"/>
          </a:p>
        </p:txBody>
      </p:sp>
      <p:sp>
        <p:nvSpPr>
          <p:cNvPr id="19" name="Shape 17"/>
          <p:cNvSpPr/>
          <p:nvPr/>
        </p:nvSpPr>
        <p:spPr>
          <a:xfrm flipH="1">
            <a:off x="7753350" y="5143500"/>
            <a:ext cx="1581150" cy="95"/>
          </a:xfrm>
          <a:prstGeom prst="line">
            <a:avLst/>
          </a:prstGeom>
          <a:noFill/>
          <a:ln w="38100">
            <a:solidFill>
              <a:srgbClr val="102B46"/>
            </a:solidFill>
            <a:prstDash val="solid"/>
            <a:tailEnd type="triangle"/>
          </a:ln>
        </p:spPr>
      </p:sp>
      <p:sp>
        <p:nvSpPr>
          <p:cNvPr id="20" name="Shape 18"/>
          <p:cNvSpPr/>
          <p:nvPr/>
        </p:nvSpPr>
        <p:spPr>
          <a:xfrm flipH="1">
            <a:off x="8572500" y="5410200"/>
            <a:ext cx="800100" cy="95"/>
          </a:xfrm>
          <a:prstGeom prst="line">
            <a:avLst/>
          </a:prstGeom>
          <a:noFill/>
          <a:ln w="31750">
            <a:solidFill>
              <a:srgbClr val="E8783F"/>
            </a:solidFill>
            <a:prstDash val="dash"/>
          </a:ln>
        </p:spPr>
      </p:sp>
      <p:sp>
        <p:nvSpPr>
          <p:cNvPr id="21" name="Shape 19"/>
          <p:cNvSpPr/>
          <p:nvPr/>
        </p:nvSpPr>
        <p:spPr>
          <a:xfrm flipV="1">
            <a:off x="8572500" y="4191000"/>
            <a:ext cx="95" cy="1219200"/>
          </a:xfrm>
          <a:prstGeom prst="line">
            <a:avLst/>
          </a:prstGeom>
          <a:noFill/>
          <a:ln w="31750">
            <a:solidFill>
              <a:srgbClr val="E8783F"/>
            </a:solidFill>
            <a:prstDash val="dash"/>
          </a:ln>
        </p:spPr>
      </p:sp>
      <p:sp>
        <p:nvSpPr>
          <p:cNvPr id="22" name="Shape 20"/>
          <p:cNvSpPr/>
          <p:nvPr/>
        </p:nvSpPr>
        <p:spPr>
          <a:xfrm flipH="1">
            <a:off x="6667500" y="4191000"/>
            <a:ext cx="1905000" cy="95"/>
          </a:xfrm>
          <a:prstGeom prst="line">
            <a:avLst/>
          </a:prstGeom>
          <a:noFill/>
          <a:ln w="31750">
            <a:solidFill>
              <a:srgbClr val="E8783F"/>
            </a:solidFill>
            <a:prstDash val="dash"/>
          </a:ln>
        </p:spPr>
      </p:sp>
      <p:sp>
        <p:nvSpPr>
          <p:cNvPr id="23" name="Shape 21"/>
          <p:cNvSpPr/>
          <p:nvPr/>
        </p:nvSpPr>
        <p:spPr>
          <a:xfrm flipV="1">
            <a:off x="6667500" y="3905250"/>
            <a:ext cx="95" cy="285750"/>
          </a:xfrm>
          <a:prstGeom prst="line">
            <a:avLst/>
          </a:prstGeom>
          <a:noFill/>
          <a:ln w="31750">
            <a:solidFill>
              <a:srgbClr val="E8783F"/>
            </a:solidFill>
            <a:prstDash val="dash"/>
            <a:tailEnd type="triangle"/>
          </a:ln>
        </p:spPr>
      </p:sp>
      <p:sp>
        <p:nvSpPr>
          <p:cNvPr id="24" name="Text 22"/>
          <p:cNvSpPr txBox="1"/>
          <p:nvPr/>
        </p:nvSpPr>
        <p:spPr>
          <a:xfrm>
            <a:off x="6858000" y="4229100"/>
            <a:ext cx="1619250" cy="247650"/>
          </a:xfrm>
          <a:prstGeom prst="rect">
            <a:avLst/>
          </a:prstGeom>
          <a:noFill/>
          <a:ln/>
        </p:spPr>
        <p:txBody>
          <a:bodyPr wrap="square" lIns="0" tIns="0" rIns="0" bIns="0" rtlCol="0" anchor="ctr"/>
          <a:lstStyle/>
          <a:p>
            <a:pPr algn="l" indent="0" marL="0">
              <a:buNone/>
            </a:pPr>
            <a:r>
              <a:rPr lang="en-US" sz="1300" b="1" dirty="0">
                <a:solidFill>
                  <a:srgbClr val="E8783F"/>
                </a:solidFill>
                <a:latin typeface="Yu Gothic" pitchFamily="34" charset="0"/>
                <a:ea typeface="Yu Gothic" pitchFamily="34" charset="-122"/>
                <a:cs typeface="Yu Gothic" pitchFamily="34" charset="-120"/>
              </a:rPr>
              <a:t>今の角度を返す</a:t>
            </a:r>
            <a:endParaRPr lang="en-US" sz="1300" dirty="0"/>
          </a:p>
        </p:txBody>
      </p:sp>
      <p:sp>
        <p:nvSpPr>
          <p:cNvPr id="25" name="Shape 23"/>
          <p:cNvSpPr/>
          <p:nvPr/>
        </p:nvSpPr>
        <p:spPr>
          <a:xfrm flipH="1">
            <a:off x="1724025" y="5143500"/>
            <a:ext cx="2714625" cy="95"/>
          </a:xfrm>
          <a:prstGeom prst="line">
            <a:avLst/>
          </a:prstGeom>
          <a:noFill/>
          <a:ln w="31750">
            <a:solidFill>
              <a:srgbClr val="32A5B5"/>
            </a:solidFill>
            <a:prstDash val="dash"/>
          </a:ln>
        </p:spPr>
      </p:sp>
      <p:sp>
        <p:nvSpPr>
          <p:cNvPr id="26" name="Shape 24"/>
          <p:cNvSpPr/>
          <p:nvPr/>
        </p:nvSpPr>
        <p:spPr>
          <a:xfrm flipV="1">
            <a:off x="1724025" y="3810000"/>
            <a:ext cx="95" cy="1333500"/>
          </a:xfrm>
          <a:prstGeom prst="line">
            <a:avLst/>
          </a:prstGeom>
          <a:noFill/>
          <a:ln w="31750">
            <a:solidFill>
              <a:srgbClr val="32A5B5"/>
            </a:solidFill>
            <a:prstDash val="dash"/>
            <a:tailEnd type="triangle"/>
          </a:ln>
        </p:spPr>
      </p:sp>
      <p:sp>
        <p:nvSpPr>
          <p:cNvPr id="27" name="Text 25"/>
          <p:cNvSpPr txBox="1"/>
          <p:nvPr/>
        </p:nvSpPr>
        <p:spPr>
          <a:xfrm>
            <a:off x="1866900" y="5200650"/>
            <a:ext cx="2476500" cy="247650"/>
          </a:xfrm>
          <a:prstGeom prst="rect">
            <a:avLst/>
          </a:prstGeom>
          <a:noFill/>
          <a:ln/>
        </p:spPr>
        <p:txBody>
          <a:bodyPr wrap="square" lIns="0" tIns="0" rIns="0" bIns="0" rtlCol="0" anchor="ctr"/>
          <a:lstStyle/>
          <a:p>
            <a:pPr algn="l" indent="0" marL="0">
              <a:buNone/>
            </a:pPr>
            <a:r>
              <a:rPr lang="en-US" sz="1300" b="1" dirty="0">
                <a:solidFill>
                  <a:srgbClr val="32A5B5"/>
                </a:solidFill>
                <a:latin typeface="Yu Gothic" pitchFamily="34" charset="0"/>
                <a:ea typeface="Yu Gothic" pitchFamily="34" charset="-122"/>
                <a:cs typeface="Yu Gothic" pitchFamily="34" charset="-120"/>
              </a:rPr>
              <a:t>体の動きを T265 が測る</a:t>
            </a:r>
            <a:endParaRPr lang="en-US" sz="1300" dirty="0"/>
          </a:p>
        </p:txBody>
      </p:sp>
      <p:sp>
        <p:nvSpPr>
          <p:cNvPr id="28" name="Text 26"/>
          <p:cNvSpPr txBox="1"/>
          <p:nvPr/>
        </p:nvSpPr>
        <p:spPr>
          <a:xfrm>
            <a:off x="628650" y="5810250"/>
            <a:ext cx="3810000" cy="228600"/>
          </a:xfrm>
          <a:prstGeom prst="rect">
            <a:avLst/>
          </a:prstGeom>
          <a:noFill/>
          <a:ln/>
        </p:spPr>
        <p:txBody>
          <a:bodyPr wrap="square" lIns="0" tIns="0" rIns="0" bIns="0" rtlCol="0" anchor="ctr"/>
          <a:lstStyle/>
          <a:p>
            <a:pPr algn="l" indent="0" marL="0">
              <a:buNone/>
            </a:pPr>
            <a:r>
              <a:rPr lang="en-US" sz="1300" dirty="0">
                <a:solidFill>
                  <a:srgbClr val="5E6A73"/>
                </a:solidFill>
                <a:latin typeface="Yu Gothic" pitchFamily="34" charset="0"/>
                <a:ea typeface="Yu Gothic" pitchFamily="34" charset="-122"/>
                <a:cs typeface="Yu Gothic" pitchFamily="34" charset="-120"/>
              </a:rPr>
              <a:t>実線：指令　破線：フィードバック</a:t>
            </a:r>
            <a:endParaRPr lang="en-US" sz="1300" dirty="0"/>
          </a:p>
        </p:txBody>
      </p:sp>
      <p:sp>
        <p:nvSpPr>
          <p:cNvPr id="29" name="Text 27"/>
          <p:cNvSpPr txBox="1"/>
          <p:nvPr/>
        </p:nvSpPr>
        <p:spPr>
          <a:xfrm>
            <a:off x="628650" y="6057900"/>
            <a:ext cx="10934700" cy="381000"/>
          </a:xfrm>
          <a:prstGeom prst="rect">
            <a:avLst/>
          </a:prstGeom>
          <a:noFill/>
          <a:ln/>
        </p:spPr>
        <p:txBody>
          <a:bodyPr wrap="square" lIns="0" tIns="0" rIns="0" bIns="0" rtlCol="0" anchor="t"/>
          <a:lstStyle/>
          <a:p>
            <a:pPr algn="l" indent="0" marL="0">
              <a:buNone/>
            </a:pPr>
            <a:r>
              <a:rPr lang="en-US" sz="1200" dirty="0">
                <a:solidFill>
                  <a:srgbClr val="5E6A73"/>
                </a:solidFill>
                <a:latin typeface="Yu Gothic" pitchFamily="34" charset="0"/>
                <a:ea typeface="Yu Gothic" pitchFamily="34" charset="-122"/>
                <a:cs typeface="Yu Gothic" pitchFamily="34" charset="-120"/>
              </a:rPr>
              <a:t>※ 現在の実機試験はノートPCで同じプログラムを動かし、速度は固定値で指示。プロコン操作は Jetson 単体で確認済み</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強化学習とは：ほめる・叱るで歩き方を覚えさせる</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1047750" y="1619250"/>
            <a:ext cx="2095500" cy="476250"/>
          </a:xfrm>
          <a:prstGeom prst="roundRect">
            <a:avLst>
              <a:gd name="adj" fmla="val 38400"/>
            </a:avLst>
          </a:prstGeom>
          <a:solidFill>
            <a:srgbClr val="1C5A85"/>
          </a:solidFill>
          <a:ln/>
        </p:spPr>
        <p:txBody>
          <a:bodyPr wrap="square" lIns="0" tIns="0" rIns="0" bIns="0" rtlCol="0" anchor="ctr"/>
          <a:lstStyle/>
          <a:p>
            <a:pPr algn="ctr" indent="0" marL="0">
              <a:buNone/>
            </a:pPr>
            <a:r>
              <a:rPr lang="en-US" sz="2100" b="1" dirty="0">
                <a:solidFill>
                  <a:srgbClr val="FFFFFF"/>
                </a:solidFill>
                <a:latin typeface="Yu Gothic" pitchFamily="34" charset="0"/>
                <a:ea typeface="Yu Gothic" pitchFamily="34" charset="-122"/>
                <a:cs typeface="Yu Gothic" pitchFamily="34" charset="-120"/>
              </a:rPr>
              <a:t>やってみる</a:t>
            </a:r>
            <a:endParaRPr lang="en-US" sz="2100" dirty="0"/>
          </a:p>
        </p:txBody>
      </p:sp>
      <p:sp>
        <p:nvSpPr>
          <p:cNvPr id="7" name="Text 5"/>
          <p:cNvSpPr txBox="1"/>
          <p:nvPr/>
        </p:nvSpPr>
        <p:spPr>
          <a:xfrm>
            <a:off x="857250" y="2133600"/>
            <a:ext cx="2476500" cy="285750"/>
          </a:xfrm>
          <a:prstGeom prst="rect">
            <a:avLst/>
          </a:prstGeom>
          <a:noFill/>
          <a:ln/>
        </p:spPr>
        <p:txBody>
          <a:bodyPr wrap="square" lIns="0" tIns="0" rIns="0" bIns="0" rtlCol="0" anchor="ctr"/>
          <a:lstStyle/>
          <a:p>
            <a:pPr algn="ctr" indent="0" marL="0">
              <a:buNone/>
            </a:pPr>
            <a:r>
              <a:rPr lang="en-US" sz="1400" dirty="0">
                <a:solidFill>
                  <a:srgbClr val="17212B"/>
                </a:solidFill>
                <a:latin typeface="Yu Gothic" pitchFamily="34" charset="0"/>
                <a:ea typeface="Yu Gothic" pitchFamily="34" charset="-122"/>
                <a:cs typeface="Yu Gothic" pitchFamily="34" charset="-120"/>
              </a:rPr>
              <a:t>方策が関節を動かす</a:t>
            </a:r>
            <a:endParaRPr lang="en-US" sz="1400" dirty="0"/>
          </a:p>
        </p:txBody>
      </p:sp>
      <p:sp>
        <p:nvSpPr>
          <p:cNvPr id="8" name="Text 6"/>
          <p:cNvSpPr txBox="1"/>
          <p:nvPr/>
        </p:nvSpPr>
        <p:spPr>
          <a:xfrm>
            <a:off x="1047750" y="4191000"/>
            <a:ext cx="2095500" cy="476250"/>
          </a:xfrm>
          <a:prstGeom prst="roundRect">
            <a:avLst>
              <a:gd name="adj" fmla="val 38400"/>
            </a:avLst>
          </a:prstGeom>
          <a:solidFill>
            <a:srgbClr val="E8783F"/>
          </a:solidFill>
          <a:ln/>
        </p:spPr>
        <p:txBody>
          <a:bodyPr wrap="square" lIns="0" tIns="0" rIns="0" bIns="0" rtlCol="0" anchor="ctr"/>
          <a:lstStyle/>
          <a:p>
            <a:pPr algn="ctr" indent="0" marL="0">
              <a:buNone/>
            </a:pPr>
            <a:r>
              <a:rPr lang="en-US" sz="2100" b="1" dirty="0">
                <a:solidFill>
                  <a:srgbClr val="FFFFFF"/>
                </a:solidFill>
                <a:latin typeface="Yu Gothic" pitchFamily="34" charset="0"/>
                <a:ea typeface="Yu Gothic" pitchFamily="34" charset="-122"/>
                <a:cs typeface="Yu Gothic" pitchFamily="34" charset="-120"/>
              </a:rPr>
              <a:t>採点する</a:t>
            </a:r>
            <a:endParaRPr lang="en-US" sz="2100" dirty="0"/>
          </a:p>
        </p:txBody>
      </p:sp>
      <p:sp>
        <p:nvSpPr>
          <p:cNvPr id="9" name="Text 7"/>
          <p:cNvSpPr txBox="1"/>
          <p:nvPr/>
        </p:nvSpPr>
        <p:spPr>
          <a:xfrm>
            <a:off x="857250" y="4705350"/>
            <a:ext cx="2476500" cy="285750"/>
          </a:xfrm>
          <a:prstGeom prst="rect">
            <a:avLst/>
          </a:prstGeom>
          <a:noFill/>
          <a:ln/>
        </p:spPr>
        <p:txBody>
          <a:bodyPr wrap="square" lIns="0" tIns="0" rIns="0" bIns="0" rtlCol="0" anchor="ctr"/>
          <a:lstStyle/>
          <a:p>
            <a:pPr algn="ctr" indent="0" marL="0">
              <a:buNone/>
            </a:pPr>
            <a:r>
              <a:rPr lang="en-US" sz="1400" dirty="0">
                <a:solidFill>
                  <a:srgbClr val="17212B"/>
                </a:solidFill>
                <a:latin typeface="Yu Gothic" pitchFamily="34" charset="0"/>
                <a:ea typeface="Yu Gothic" pitchFamily="34" charset="-122"/>
                <a:cs typeface="Yu Gothic" pitchFamily="34" charset="-120"/>
              </a:rPr>
              <a:t>報酬でほめる・叱る</a:t>
            </a:r>
            <a:endParaRPr lang="en-US" sz="1400" dirty="0"/>
          </a:p>
        </p:txBody>
      </p:sp>
      <p:sp>
        <p:nvSpPr>
          <p:cNvPr id="10" name="Text 8"/>
          <p:cNvSpPr txBox="1"/>
          <p:nvPr/>
        </p:nvSpPr>
        <p:spPr>
          <a:xfrm>
            <a:off x="4095750" y="2905125"/>
            <a:ext cx="2095500" cy="476250"/>
          </a:xfrm>
          <a:prstGeom prst="roundRect">
            <a:avLst>
              <a:gd name="adj" fmla="val 38400"/>
            </a:avLst>
          </a:prstGeom>
          <a:solidFill>
            <a:srgbClr val="32A5B5"/>
          </a:solidFill>
          <a:ln/>
        </p:spPr>
        <p:txBody>
          <a:bodyPr wrap="square" lIns="0" tIns="0" rIns="0" bIns="0" rtlCol="0" anchor="ctr"/>
          <a:lstStyle/>
          <a:p>
            <a:pPr algn="ctr" indent="0" marL="0">
              <a:buNone/>
            </a:pPr>
            <a:r>
              <a:rPr lang="en-US" sz="2100" b="1" dirty="0">
                <a:solidFill>
                  <a:srgbClr val="FFFFFF"/>
                </a:solidFill>
                <a:latin typeface="Yu Gothic" pitchFamily="34" charset="0"/>
                <a:ea typeface="Yu Gothic" pitchFamily="34" charset="-122"/>
                <a:cs typeface="Yu Gothic" pitchFamily="34" charset="-120"/>
              </a:rPr>
              <a:t>少し直す</a:t>
            </a:r>
            <a:endParaRPr lang="en-US" sz="2100" dirty="0"/>
          </a:p>
        </p:txBody>
      </p:sp>
      <p:sp>
        <p:nvSpPr>
          <p:cNvPr id="11" name="Text 9"/>
          <p:cNvSpPr txBox="1"/>
          <p:nvPr/>
        </p:nvSpPr>
        <p:spPr>
          <a:xfrm>
            <a:off x="3905250" y="2600325"/>
            <a:ext cx="2476500" cy="285750"/>
          </a:xfrm>
          <a:prstGeom prst="rect">
            <a:avLst/>
          </a:prstGeom>
          <a:noFill/>
          <a:ln/>
        </p:spPr>
        <p:txBody>
          <a:bodyPr wrap="square" lIns="0" tIns="0" rIns="0" bIns="0" rtlCol="0" anchor="ctr"/>
          <a:lstStyle/>
          <a:p>
            <a:pPr algn="ctr" indent="0" marL="0">
              <a:buNone/>
            </a:pPr>
            <a:r>
              <a:rPr lang="en-US" sz="1400" dirty="0">
                <a:solidFill>
                  <a:srgbClr val="17212B"/>
                </a:solidFill>
                <a:latin typeface="Yu Gothic" pitchFamily="34" charset="0"/>
                <a:ea typeface="Yu Gothic" pitchFamily="34" charset="-122"/>
                <a:cs typeface="Yu Gothic" pitchFamily="34" charset="-120"/>
              </a:rPr>
              <a:t>点が上がる方へ方策を修正</a:t>
            </a:r>
            <a:endParaRPr lang="en-US" sz="1400" dirty="0"/>
          </a:p>
        </p:txBody>
      </p:sp>
      <p:sp>
        <p:nvSpPr>
          <p:cNvPr id="12" name="Shape 10"/>
          <p:cNvSpPr/>
          <p:nvPr/>
        </p:nvSpPr>
        <p:spPr>
          <a:xfrm>
            <a:off x="2095500" y="2438400"/>
            <a:ext cx="95" cy="1695450"/>
          </a:xfrm>
          <a:prstGeom prst="line">
            <a:avLst/>
          </a:prstGeom>
          <a:noFill/>
          <a:ln w="38100">
            <a:solidFill>
              <a:srgbClr val="B7C7D1"/>
            </a:solidFill>
            <a:prstDash val="solid"/>
            <a:tailEnd type="triangle"/>
          </a:ln>
        </p:spPr>
      </p:sp>
      <p:sp>
        <p:nvSpPr>
          <p:cNvPr id="13" name="Shape 11"/>
          <p:cNvSpPr/>
          <p:nvPr/>
        </p:nvSpPr>
        <p:spPr>
          <a:xfrm flipV="1">
            <a:off x="3162300" y="3409950"/>
            <a:ext cx="1219200" cy="971550"/>
          </a:xfrm>
          <a:prstGeom prst="line">
            <a:avLst/>
          </a:prstGeom>
          <a:noFill/>
          <a:ln w="38100">
            <a:solidFill>
              <a:srgbClr val="B7C7D1"/>
            </a:solidFill>
            <a:prstDash val="solid"/>
            <a:tailEnd type="triangle"/>
          </a:ln>
        </p:spPr>
      </p:sp>
      <p:sp>
        <p:nvSpPr>
          <p:cNvPr id="14" name="Shape 12"/>
          <p:cNvSpPr/>
          <p:nvPr/>
        </p:nvSpPr>
        <p:spPr>
          <a:xfrm flipH="1" flipV="1">
            <a:off x="3162300" y="1952625"/>
            <a:ext cx="914400" cy="1076325"/>
          </a:xfrm>
          <a:prstGeom prst="line">
            <a:avLst/>
          </a:prstGeom>
          <a:noFill/>
          <a:ln w="38100">
            <a:solidFill>
              <a:srgbClr val="B7C7D1"/>
            </a:solidFill>
            <a:prstDash val="solid"/>
            <a:tailEnd type="triangle"/>
          </a:ln>
        </p:spPr>
      </p:sp>
      <p:sp>
        <p:nvSpPr>
          <p:cNvPr id="15" name="Text 13"/>
          <p:cNvSpPr txBox="1"/>
          <p:nvPr/>
        </p:nvSpPr>
        <p:spPr>
          <a:xfrm>
            <a:off x="2247900" y="3048000"/>
            <a:ext cx="1428750" cy="571500"/>
          </a:xfrm>
          <a:prstGeom prst="rect">
            <a:avLst/>
          </a:prstGeom>
          <a:noFill/>
          <a:ln/>
        </p:spPr>
        <p:txBody>
          <a:bodyPr wrap="square" lIns="0" tIns="0" rIns="0" bIns="0" rtlCol="0" anchor="ctr"/>
          <a:lstStyle/>
          <a:p>
            <a:pPr algn="ctr" indent="0" marL="0">
              <a:buNone/>
            </a:pPr>
            <a:r>
              <a:rPr lang="en-US" sz="1500" b="1" dirty="0">
                <a:solidFill>
                  <a:srgbClr val="5E6A73"/>
                </a:solidFill>
                <a:latin typeface="Yu Gothic" pitchFamily="34" charset="0"/>
                <a:ea typeface="Yu Gothic" pitchFamily="34" charset="-122"/>
                <a:cs typeface="Yu Gothic" pitchFamily="34" charset="-120"/>
              </a:rPr>
              <a:t>何百万回も</a:t>
            </a:r>
            <a:endParaRPr lang="en-US" sz="1500" dirty="0"/>
          </a:p>
          <a:p>
            <a:pPr algn="ctr" indent="0" marL="0">
              <a:buNone/>
            </a:pPr>
            <a:r>
              <a:rPr lang="en-US" sz="1500" b="1" dirty="0">
                <a:solidFill>
                  <a:srgbClr val="5E6A73"/>
                </a:solidFill>
                <a:latin typeface="Yu Gothic" pitchFamily="34" charset="0"/>
                <a:ea typeface="Yu Gothic" pitchFamily="34" charset="-122"/>
                <a:cs typeface="Yu Gothic" pitchFamily="34" charset="-120"/>
              </a:rPr>
              <a:t>くり返す</a:t>
            </a:r>
            <a:endParaRPr lang="en-US" sz="1500" dirty="0"/>
          </a:p>
        </p:txBody>
      </p:sp>
      <p:sp>
        <p:nvSpPr>
          <p:cNvPr id="16" name="Text 14"/>
          <p:cNvSpPr txBox="1"/>
          <p:nvPr/>
        </p:nvSpPr>
        <p:spPr>
          <a:xfrm>
            <a:off x="6858000" y="1428750"/>
            <a:ext cx="4705350" cy="323850"/>
          </a:xfrm>
          <a:prstGeom prst="rect">
            <a:avLst/>
          </a:prstGeom>
          <a:noFill/>
          <a:ln/>
        </p:spPr>
        <p:txBody>
          <a:bodyPr wrap="square" lIns="0" tIns="0" rIns="0" bIns="0" rtlCol="0" anchor="ctr"/>
          <a:lstStyle/>
          <a:p>
            <a:pPr algn="l" indent="0" marL="0">
              <a:buNone/>
            </a:pPr>
            <a:r>
              <a:rPr lang="en-US" sz="2100" b="1" dirty="0">
                <a:solidFill>
                  <a:srgbClr val="102B46"/>
                </a:solidFill>
                <a:latin typeface="Yu Gothic" pitchFamily="34" charset="0"/>
                <a:ea typeface="Yu Gothic" pitchFamily="34" charset="-122"/>
                <a:cs typeface="Yu Gothic" pitchFamily="34" charset="-120"/>
              </a:rPr>
              <a:t>人が用意するのは3つだけ</a:t>
            </a:r>
            <a:endParaRPr lang="en-US" sz="2100" dirty="0"/>
          </a:p>
        </p:txBody>
      </p:sp>
      <p:sp>
        <p:nvSpPr>
          <p:cNvPr id="17" name="Shape 15"/>
          <p:cNvSpPr/>
          <p:nvPr/>
        </p:nvSpPr>
        <p:spPr>
          <a:xfrm>
            <a:off x="6858000" y="1905000"/>
            <a:ext cx="4705350" cy="971550"/>
          </a:xfrm>
          <a:prstGeom prst="rect">
            <a:avLst/>
          </a:prstGeom>
          <a:solidFill>
            <a:srgbClr val="E8F1F5"/>
          </a:solidFill>
          <a:ln w="12700">
            <a:solidFill>
              <a:srgbClr val="B7C7D1"/>
            </a:solidFill>
            <a:prstDash val="solid"/>
          </a:ln>
        </p:spPr>
      </p:sp>
      <p:sp>
        <p:nvSpPr>
          <p:cNvPr id="18" name="Text 16"/>
          <p:cNvSpPr txBox="1"/>
          <p:nvPr/>
        </p:nvSpPr>
        <p:spPr>
          <a:xfrm>
            <a:off x="7029450" y="2171700"/>
            <a:ext cx="419100" cy="419100"/>
          </a:xfrm>
          <a:prstGeom prst="ellipse">
            <a:avLst/>
          </a:prstGeom>
          <a:solidFill>
            <a:srgbClr val="1C5A85"/>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1</a:t>
            </a:r>
            <a:endParaRPr lang="en-US" sz="1800" dirty="0"/>
          </a:p>
        </p:txBody>
      </p:sp>
      <p:sp>
        <p:nvSpPr>
          <p:cNvPr id="19" name="Text 17"/>
          <p:cNvSpPr txBox="1"/>
          <p:nvPr/>
        </p:nvSpPr>
        <p:spPr>
          <a:xfrm>
            <a:off x="7581900" y="2019300"/>
            <a:ext cx="3810000" cy="342900"/>
          </a:xfrm>
          <a:prstGeom prst="rect">
            <a:avLst/>
          </a:prstGeom>
          <a:noFill/>
          <a:ln/>
        </p:spPr>
        <p:txBody>
          <a:bodyPr wrap="square" lIns="0" tIns="0" rIns="0" bIns="0" rtlCol="0" anchor="ctr"/>
          <a:lstStyle/>
          <a:p>
            <a:pPr algn="l" indent="0" marL="0">
              <a:buNone/>
            </a:pPr>
            <a:r>
              <a:rPr lang="en-US" sz="2000" b="1" dirty="0">
                <a:solidFill>
                  <a:srgbClr val="102B46"/>
                </a:solidFill>
                <a:latin typeface="Yu Gothic" pitchFamily="34" charset="0"/>
                <a:ea typeface="Yu Gothic" pitchFamily="34" charset="-122"/>
                <a:cs typeface="Yu Gothic" pitchFamily="34" charset="-120"/>
              </a:rPr>
              <a:t>ロボットのモデル</a:t>
            </a:r>
            <a:endParaRPr lang="en-US" sz="2000" dirty="0"/>
          </a:p>
        </p:txBody>
      </p:sp>
      <p:sp>
        <p:nvSpPr>
          <p:cNvPr id="20" name="Text 18"/>
          <p:cNvSpPr txBox="1"/>
          <p:nvPr/>
        </p:nvSpPr>
        <p:spPr>
          <a:xfrm>
            <a:off x="7581900" y="2400300"/>
            <a:ext cx="3810000" cy="342900"/>
          </a:xfrm>
          <a:prstGeom prst="rect">
            <a:avLst/>
          </a:prstGeom>
          <a:noFill/>
          <a:ln/>
        </p:spPr>
        <p:txBody>
          <a:bodyPr wrap="square" lIns="0" tIns="0" rIns="0" bIns="0" rtlCol="0" anchor="ctr"/>
          <a:lstStyle/>
          <a:p>
            <a:pPr algn="l" indent="0" marL="0">
              <a:buNone/>
            </a:pPr>
            <a:r>
              <a:rPr lang="en-US" sz="1600" dirty="0">
                <a:solidFill>
                  <a:srgbClr val="17212B"/>
                </a:solidFill>
                <a:latin typeface="Yu Gothic" pitchFamily="34" charset="0"/>
                <a:ea typeface="Yu Gothic" pitchFamily="34" charset="-122"/>
                <a:cs typeface="Yu Gothic" pitchFamily="34" charset="-120"/>
              </a:rPr>
              <a:t>CADから作った形・重さ・関節</a:t>
            </a:r>
            <a:endParaRPr lang="en-US" sz="1600" dirty="0"/>
          </a:p>
        </p:txBody>
      </p:sp>
      <p:sp>
        <p:nvSpPr>
          <p:cNvPr id="21" name="Shape 19"/>
          <p:cNvSpPr/>
          <p:nvPr/>
        </p:nvSpPr>
        <p:spPr>
          <a:xfrm>
            <a:off x="6858000" y="3028950"/>
            <a:ext cx="4705350" cy="971550"/>
          </a:xfrm>
          <a:prstGeom prst="rect">
            <a:avLst/>
          </a:prstGeom>
          <a:solidFill>
            <a:srgbClr val="E8F1F5"/>
          </a:solidFill>
          <a:ln w="12700">
            <a:solidFill>
              <a:srgbClr val="B7C7D1"/>
            </a:solidFill>
            <a:prstDash val="solid"/>
          </a:ln>
        </p:spPr>
      </p:sp>
      <p:sp>
        <p:nvSpPr>
          <p:cNvPr id="22" name="Text 20"/>
          <p:cNvSpPr txBox="1"/>
          <p:nvPr/>
        </p:nvSpPr>
        <p:spPr>
          <a:xfrm>
            <a:off x="7029450" y="3295650"/>
            <a:ext cx="419100" cy="419100"/>
          </a:xfrm>
          <a:prstGeom prst="ellipse">
            <a:avLst/>
          </a:prstGeom>
          <a:solidFill>
            <a:srgbClr val="1C5A85"/>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2</a:t>
            </a:r>
            <a:endParaRPr lang="en-US" sz="1800" dirty="0"/>
          </a:p>
        </p:txBody>
      </p:sp>
      <p:sp>
        <p:nvSpPr>
          <p:cNvPr id="23" name="Text 21"/>
          <p:cNvSpPr txBox="1"/>
          <p:nvPr/>
        </p:nvSpPr>
        <p:spPr>
          <a:xfrm>
            <a:off x="7581900" y="3143250"/>
            <a:ext cx="3810000" cy="342900"/>
          </a:xfrm>
          <a:prstGeom prst="rect">
            <a:avLst/>
          </a:prstGeom>
          <a:noFill/>
          <a:ln/>
        </p:spPr>
        <p:txBody>
          <a:bodyPr wrap="square" lIns="0" tIns="0" rIns="0" bIns="0" rtlCol="0" anchor="ctr"/>
          <a:lstStyle/>
          <a:p>
            <a:pPr algn="l" indent="0" marL="0">
              <a:buNone/>
            </a:pPr>
            <a:r>
              <a:rPr lang="en-US" sz="2000" b="1" dirty="0">
                <a:solidFill>
                  <a:srgbClr val="102B46"/>
                </a:solidFill>
                <a:latin typeface="Yu Gothic" pitchFamily="34" charset="0"/>
                <a:ea typeface="Yu Gothic" pitchFamily="34" charset="-122"/>
                <a:cs typeface="Yu Gothic" pitchFamily="34" charset="-120"/>
              </a:rPr>
              <a:t>練習する環境</a:t>
            </a:r>
            <a:endParaRPr lang="en-US" sz="2000" dirty="0"/>
          </a:p>
        </p:txBody>
      </p:sp>
      <p:sp>
        <p:nvSpPr>
          <p:cNvPr id="24" name="Text 22"/>
          <p:cNvSpPr txBox="1"/>
          <p:nvPr/>
        </p:nvSpPr>
        <p:spPr>
          <a:xfrm>
            <a:off x="7581900" y="3524250"/>
            <a:ext cx="3810000" cy="342900"/>
          </a:xfrm>
          <a:prstGeom prst="rect">
            <a:avLst/>
          </a:prstGeom>
          <a:noFill/>
          <a:ln/>
        </p:spPr>
        <p:txBody>
          <a:bodyPr wrap="square" lIns="0" tIns="0" rIns="0" bIns="0" rtlCol="0" anchor="ctr"/>
          <a:lstStyle/>
          <a:p>
            <a:pPr algn="l" indent="0" marL="0">
              <a:buNone/>
            </a:pPr>
            <a:r>
              <a:rPr lang="en-US" sz="1600" dirty="0">
                <a:solidFill>
                  <a:srgbClr val="17212B"/>
                </a:solidFill>
                <a:latin typeface="Yu Gothic" pitchFamily="34" charset="0"/>
                <a:ea typeface="Yu Gothic" pitchFamily="34" charset="-122"/>
                <a:cs typeface="Yu Gothic" pitchFamily="34" charset="-120"/>
              </a:rPr>
              <a:t>地形（平地・坂・でこぼこ）、押される力</a:t>
            </a:r>
            <a:endParaRPr lang="en-US" sz="1600" dirty="0"/>
          </a:p>
        </p:txBody>
      </p:sp>
      <p:sp>
        <p:nvSpPr>
          <p:cNvPr id="25" name="Shape 23"/>
          <p:cNvSpPr/>
          <p:nvPr/>
        </p:nvSpPr>
        <p:spPr>
          <a:xfrm>
            <a:off x="6858000" y="4152900"/>
            <a:ext cx="4705350" cy="971550"/>
          </a:xfrm>
          <a:prstGeom prst="rect">
            <a:avLst/>
          </a:prstGeom>
          <a:solidFill>
            <a:srgbClr val="F3EEE6"/>
          </a:solidFill>
          <a:ln w="12700">
            <a:solidFill>
              <a:srgbClr val="E8783F"/>
            </a:solidFill>
            <a:prstDash val="solid"/>
          </a:ln>
        </p:spPr>
      </p:sp>
      <p:sp>
        <p:nvSpPr>
          <p:cNvPr id="26" name="Text 24"/>
          <p:cNvSpPr txBox="1"/>
          <p:nvPr/>
        </p:nvSpPr>
        <p:spPr>
          <a:xfrm>
            <a:off x="7029450" y="4419600"/>
            <a:ext cx="419100" cy="419100"/>
          </a:xfrm>
          <a:prstGeom prst="ellipse">
            <a:avLst/>
          </a:prstGeom>
          <a:solidFill>
            <a:srgbClr val="E8783F"/>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3</a:t>
            </a:r>
            <a:endParaRPr lang="en-US" sz="1800" dirty="0"/>
          </a:p>
        </p:txBody>
      </p:sp>
      <p:sp>
        <p:nvSpPr>
          <p:cNvPr id="27" name="Text 25"/>
          <p:cNvSpPr txBox="1"/>
          <p:nvPr/>
        </p:nvSpPr>
        <p:spPr>
          <a:xfrm>
            <a:off x="7581900" y="4267200"/>
            <a:ext cx="3810000" cy="342900"/>
          </a:xfrm>
          <a:prstGeom prst="rect">
            <a:avLst/>
          </a:prstGeom>
          <a:noFill/>
          <a:ln/>
        </p:spPr>
        <p:txBody>
          <a:bodyPr wrap="square" lIns="0" tIns="0" rIns="0" bIns="0" rtlCol="0" anchor="ctr"/>
          <a:lstStyle/>
          <a:p>
            <a:pPr algn="l" indent="0" marL="0">
              <a:buNone/>
            </a:pPr>
            <a:r>
              <a:rPr lang="en-US" sz="2000" b="1" dirty="0">
                <a:solidFill>
                  <a:srgbClr val="102B46"/>
                </a:solidFill>
                <a:latin typeface="Yu Gothic" pitchFamily="34" charset="0"/>
                <a:ea typeface="Yu Gothic" pitchFamily="34" charset="-122"/>
                <a:cs typeface="Yu Gothic" pitchFamily="34" charset="-120"/>
              </a:rPr>
              <a:t>報酬</a:t>
            </a:r>
            <a:endParaRPr lang="en-US" sz="2000" dirty="0"/>
          </a:p>
        </p:txBody>
      </p:sp>
      <p:sp>
        <p:nvSpPr>
          <p:cNvPr id="28" name="Text 26"/>
          <p:cNvSpPr txBox="1"/>
          <p:nvPr/>
        </p:nvSpPr>
        <p:spPr>
          <a:xfrm>
            <a:off x="7581900" y="4648200"/>
            <a:ext cx="3810000" cy="342900"/>
          </a:xfrm>
          <a:prstGeom prst="rect">
            <a:avLst/>
          </a:prstGeom>
          <a:noFill/>
          <a:ln/>
        </p:spPr>
        <p:txBody>
          <a:bodyPr wrap="square" lIns="0" tIns="0" rIns="0" bIns="0" rtlCol="0" anchor="ctr"/>
          <a:lstStyle/>
          <a:p>
            <a:pPr algn="l" indent="0" marL="0">
              <a:buNone/>
            </a:pPr>
            <a:r>
              <a:rPr lang="en-US" sz="1600" dirty="0">
                <a:solidFill>
                  <a:srgbClr val="17212B"/>
                </a:solidFill>
                <a:latin typeface="Yu Gothic" pitchFamily="34" charset="0"/>
                <a:ea typeface="Yu Gothic" pitchFamily="34" charset="-122"/>
                <a:cs typeface="Yu Gothic" pitchFamily="34" charset="-120"/>
              </a:rPr>
              <a:t>何をほめて、何を叱るか</a:t>
            </a:r>
            <a:endParaRPr lang="en-US" sz="1600" dirty="0"/>
          </a:p>
        </p:txBody>
      </p:sp>
      <p:sp>
        <p:nvSpPr>
          <p:cNvPr id="29" name="Text 27"/>
          <p:cNvSpPr txBox="1"/>
          <p:nvPr/>
        </p:nvSpPr>
        <p:spPr>
          <a:xfrm>
            <a:off x="628650" y="5619750"/>
            <a:ext cx="10934700" cy="476250"/>
          </a:xfrm>
          <a:prstGeom prst="rect">
            <a:avLst/>
          </a:prstGeom>
          <a:solidFill>
            <a:srgbClr val="F3EEE6"/>
          </a:solidFill>
          <a:ln/>
        </p:spPr>
        <p:txBody>
          <a:bodyPr wrap="square" lIns="0" tIns="0" rIns="0" bIns="0" rtlCol="0" anchor="ctr"/>
          <a:lstStyle/>
          <a:p>
            <a:pPr algn="ctr" indent="0" marL="0">
              <a:buNone/>
            </a:pPr>
            <a:r>
              <a:rPr lang="en-US" sz="1800" b="1" dirty="0">
                <a:solidFill>
                  <a:srgbClr val="102B46"/>
                </a:solidFill>
                <a:latin typeface="Yu Gothic" pitchFamily="34" charset="0"/>
                <a:ea typeface="Yu Gothic" pitchFamily="34" charset="-122"/>
                <a:cs typeface="Yu Gothic" pitchFamily="34" charset="-120"/>
              </a:rPr>
              <a:t>「どう関節を動かせば歩けるか」は教えない。点数だけを手がかりに、ロボットが自分で見つける</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Isaac Lab：シミュレーターの中で 4096 体が同時に練習</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Shape 4"/>
          <p:cNvSpPr/>
          <p:nvPr/>
        </p:nvSpPr>
        <p:spPr>
          <a:xfrm>
            <a:off x="628650" y="1238250"/>
            <a:ext cx="6858000" cy="5048250"/>
          </a:xfrm>
          <a:prstGeom prst="rect">
            <a:avLst/>
          </a:prstGeom>
          <a:solidFill>
            <a:srgbClr val="FBF7F3"/>
          </a:solidFill>
          <a:ln w="22225">
            <a:solidFill>
              <a:srgbClr val="E8783F"/>
            </a:solidFill>
            <a:prstDash val="dash"/>
          </a:ln>
        </p:spPr>
      </p:sp>
      <p:sp>
        <p:nvSpPr>
          <p:cNvPr id="7" name="Text 5"/>
          <p:cNvSpPr txBox="1"/>
          <p:nvPr/>
        </p:nvSpPr>
        <p:spPr>
          <a:xfrm>
            <a:off x="762000" y="1352550"/>
            <a:ext cx="6591300" cy="247650"/>
          </a:xfrm>
          <a:prstGeom prst="rect">
            <a:avLst/>
          </a:prstGeom>
          <a:noFill/>
          <a:ln/>
        </p:spPr>
        <p:txBody>
          <a:bodyPr wrap="square" lIns="0" tIns="0" rIns="0" bIns="0" rtlCol="0" anchor="ctr"/>
          <a:lstStyle/>
          <a:p>
            <a:pPr algn="l" indent="0" marL="0">
              <a:buNone/>
            </a:pPr>
            <a:r>
              <a:rPr lang="en-US" sz="1500" b="1" dirty="0">
                <a:solidFill>
                  <a:srgbClr val="E8783F"/>
                </a:solidFill>
                <a:latin typeface="Yu Gothic" pitchFamily="34" charset="0"/>
                <a:ea typeface="Yu Gothic" pitchFamily="34" charset="-122"/>
                <a:cs typeface="Yu Gothic" pitchFamily="34" charset="-120"/>
              </a:rPr>
              <a:t>▶ ここに動画を貼る</a:t>
            </a:r>
            <a:endParaRPr lang="en-US" sz="1500" dirty="0"/>
          </a:p>
        </p:txBody>
      </p:sp>
      <p:sp>
        <p:nvSpPr>
          <p:cNvPr id="8" name="Text 6"/>
          <p:cNvSpPr txBox="1"/>
          <p:nvPr/>
        </p:nvSpPr>
        <p:spPr>
          <a:xfrm>
            <a:off x="762000" y="1638300"/>
            <a:ext cx="6591300" cy="4533900"/>
          </a:xfrm>
          <a:prstGeom prst="rect">
            <a:avLst/>
          </a:prstGeom>
          <a:noFill/>
          <a:ln/>
        </p:spPr>
        <p:txBody>
          <a:bodyPr wrap="square" lIns="0" tIns="0" rIns="0" bIns="0" rtlCol="0" anchor="t"/>
          <a:lstStyle/>
          <a:p>
            <a:pPr algn="l" indent="0" marL="0">
              <a:lnSpc>
                <a:spcPct val="110000"/>
              </a:lnSpc>
              <a:buNone/>
            </a:pPr>
            <a:r>
              <a:rPr lang="en-US" sz="1500" dirty="0">
                <a:solidFill>
                  <a:srgbClr val="5E6A73"/>
                </a:solidFill>
                <a:latin typeface="Yu Gothic" pitchFamily="34" charset="0"/>
                <a:ea typeface="Yu Gothic" pitchFamily="34" charset="-122"/>
                <a:cs typeface="Yu Gothic" pitchFamily="34" charset="-120"/>
              </a:rPr>
              <a:t>学習中の画面の動画（引きの画）。たくさんのロボットが格子状に並んで一斉に歩こうとしている様子。10〜20秒。</a:t>
            </a:r>
            <a:endParaRPr lang="en-US" sz="1500" dirty="0"/>
          </a:p>
        </p:txBody>
      </p:sp>
      <p:sp>
        <p:nvSpPr>
          <p:cNvPr id="9" name="Shape 7"/>
          <p:cNvSpPr/>
          <p:nvPr/>
        </p:nvSpPr>
        <p:spPr>
          <a:xfrm>
            <a:off x="7772400" y="1238250"/>
            <a:ext cx="3790950" cy="1562100"/>
          </a:xfrm>
          <a:prstGeom prst="rect">
            <a:avLst/>
          </a:prstGeom>
          <a:solidFill>
            <a:srgbClr val="E8F1F5"/>
          </a:solidFill>
          <a:ln w="12700">
            <a:solidFill>
              <a:srgbClr val="B7C7D1"/>
            </a:solidFill>
            <a:prstDash val="solid"/>
          </a:ln>
        </p:spPr>
      </p:sp>
      <p:sp>
        <p:nvSpPr>
          <p:cNvPr id="10" name="Text 8"/>
          <p:cNvSpPr txBox="1"/>
          <p:nvPr/>
        </p:nvSpPr>
        <p:spPr>
          <a:xfrm>
            <a:off x="7981950" y="1371600"/>
            <a:ext cx="3429000" cy="609600"/>
          </a:xfrm>
          <a:prstGeom prst="rect">
            <a:avLst/>
          </a:prstGeom>
          <a:noFill/>
          <a:ln/>
        </p:spPr>
        <p:txBody>
          <a:bodyPr wrap="square" lIns="0" tIns="0" rIns="0" bIns="0" rtlCol="0" anchor="ctr"/>
          <a:lstStyle/>
          <a:p>
            <a:pPr algn="l" indent="0" marL="0">
              <a:buNone/>
            </a:pPr>
            <a:r>
              <a:rPr lang="en-US" sz="4000" b="1" dirty="0">
                <a:solidFill>
                  <a:srgbClr val="102B46"/>
                </a:solidFill>
                <a:latin typeface="Yu Gothic" pitchFamily="34" charset="0"/>
                <a:ea typeface="Yu Gothic" pitchFamily="34" charset="-122"/>
                <a:cs typeface="Yu Gothic" pitchFamily="34" charset="-120"/>
              </a:rPr>
              <a:t>4,096</a:t>
            </a:r>
            <a:pPr algn="l" indent="0" marL="0">
              <a:buNone/>
            </a:pPr>
            <a:r>
              <a:rPr lang="en-US" sz="2000" b="1" dirty="0">
                <a:solidFill>
                  <a:srgbClr val="102B46"/>
                </a:solidFill>
                <a:latin typeface="Yu Gothic" pitchFamily="34" charset="0"/>
                <a:ea typeface="Yu Gothic" pitchFamily="34" charset="-122"/>
                <a:cs typeface="Yu Gothic" pitchFamily="34" charset="-120"/>
              </a:rPr>
              <a:t> 体</a:t>
            </a:r>
            <a:endParaRPr lang="en-US" sz="1800" dirty="0"/>
          </a:p>
        </p:txBody>
      </p:sp>
      <p:sp>
        <p:nvSpPr>
          <p:cNvPr id="11" name="Text 9"/>
          <p:cNvSpPr txBox="1"/>
          <p:nvPr/>
        </p:nvSpPr>
        <p:spPr>
          <a:xfrm>
            <a:off x="7981950" y="2038350"/>
            <a:ext cx="3429000" cy="609600"/>
          </a:xfrm>
          <a:prstGeom prst="rect">
            <a:avLst/>
          </a:prstGeom>
          <a:noFill/>
          <a:ln/>
        </p:spPr>
        <p:txBody>
          <a:bodyPr wrap="square" lIns="0" tIns="0" rIns="0" bIns="0" rtlCol="0" anchor="t"/>
          <a:lstStyle/>
          <a:p>
            <a:pPr algn="l" indent="0" marL="0">
              <a:buNone/>
            </a:pPr>
            <a:r>
              <a:rPr lang="en-US" sz="1600" dirty="0">
                <a:solidFill>
                  <a:srgbClr val="17212B"/>
                </a:solidFill>
                <a:latin typeface="Yu Gothic" pitchFamily="34" charset="0"/>
                <a:ea typeface="Yu Gothic" pitchFamily="34" charset="-122"/>
                <a:cs typeface="Yu Gothic" pitchFamily="34" charset="-120"/>
              </a:rPr>
              <a:t>を同時に動かす（GPU で計算）</a:t>
            </a:r>
            <a:endParaRPr lang="en-US" sz="1600" dirty="0"/>
          </a:p>
        </p:txBody>
      </p:sp>
      <p:sp>
        <p:nvSpPr>
          <p:cNvPr id="12" name="Shape 10"/>
          <p:cNvSpPr/>
          <p:nvPr/>
        </p:nvSpPr>
        <p:spPr>
          <a:xfrm>
            <a:off x="7772400" y="2952750"/>
            <a:ext cx="3790950" cy="1562100"/>
          </a:xfrm>
          <a:prstGeom prst="rect">
            <a:avLst/>
          </a:prstGeom>
          <a:solidFill>
            <a:srgbClr val="F3EEE6"/>
          </a:solidFill>
          <a:ln w="12700">
            <a:solidFill>
              <a:srgbClr val="B7C7D1"/>
            </a:solidFill>
            <a:prstDash val="solid"/>
          </a:ln>
        </p:spPr>
      </p:sp>
      <p:sp>
        <p:nvSpPr>
          <p:cNvPr id="13" name="Text 11"/>
          <p:cNvSpPr txBox="1"/>
          <p:nvPr/>
        </p:nvSpPr>
        <p:spPr>
          <a:xfrm>
            <a:off x="7981950" y="3086100"/>
            <a:ext cx="3429000" cy="609600"/>
          </a:xfrm>
          <a:prstGeom prst="rect">
            <a:avLst/>
          </a:prstGeom>
          <a:noFill/>
          <a:ln/>
        </p:spPr>
        <p:txBody>
          <a:bodyPr wrap="square" lIns="0" tIns="0" rIns="0" bIns="0" rtlCol="0" anchor="ctr"/>
          <a:lstStyle/>
          <a:p>
            <a:pPr algn="l" indent="0" marL="0">
              <a:buNone/>
            </a:pPr>
            <a:r>
              <a:rPr lang="en-US" sz="4000" b="1" dirty="0">
                <a:solidFill>
                  <a:srgbClr val="102B46"/>
                </a:solidFill>
                <a:latin typeface="Yu Gothic" pitchFamily="34" charset="0"/>
                <a:ea typeface="Yu Gothic" pitchFamily="34" charset="-122"/>
                <a:cs typeface="Yu Gothic" pitchFamily="34" charset="-120"/>
              </a:rPr>
              <a:t>約68</a:t>
            </a:r>
            <a:pPr algn="l" indent="0" marL="0">
              <a:buNone/>
            </a:pPr>
            <a:r>
              <a:rPr lang="en-US" sz="2000" b="1" dirty="0">
                <a:solidFill>
                  <a:srgbClr val="102B46"/>
                </a:solidFill>
                <a:latin typeface="Yu Gothic" pitchFamily="34" charset="0"/>
                <a:ea typeface="Yu Gothic" pitchFamily="34" charset="-122"/>
                <a:cs typeface="Yu Gothic" pitchFamily="34" charset="-120"/>
              </a:rPr>
              <a:t> 日分</a:t>
            </a:r>
            <a:endParaRPr lang="en-US" sz="1800" dirty="0"/>
          </a:p>
        </p:txBody>
      </p:sp>
      <p:sp>
        <p:nvSpPr>
          <p:cNvPr id="14" name="Text 12"/>
          <p:cNvSpPr txBox="1"/>
          <p:nvPr/>
        </p:nvSpPr>
        <p:spPr>
          <a:xfrm>
            <a:off x="7981950" y="3752850"/>
            <a:ext cx="3429000" cy="609600"/>
          </a:xfrm>
          <a:prstGeom prst="rect">
            <a:avLst/>
          </a:prstGeom>
          <a:noFill/>
          <a:ln/>
        </p:spPr>
        <p:txBody>
          <a:bodyPr wrap="square" lIns="0" tIns="0" rIns="0" bIns="0" rtlCol="0" anchor="t"/>
          <a:lstStyle/>
          <a:p>
            <a:pPr algn="l" indent="0" marL="0">
              <a:buNone/>
            </a:pPr>
            <a:r>
              <a:rPr lang="en-US" sz="1600" dirty="0">
                <a:solidFill>
                  <a:srgbClr val="17212B"/>
                </a:solidFill>
                <a:latin typeface="Yu Gothic" pitchFamily="34" charset="0"/>
                <a:ea typeface="Yu Gothic" pitchFamily="34" charset="-122"/>
                <a:cs typeface="Yu Gothic" pitchFamily="34" charset="-120"/>
              </a:rPr>
              <a:t>の練習量を、約 2 時間で（最初の学習）</a:t>
            </a:r>
            <a:endParaRPr lang="en-US" sz="1600" dirty="0"/>
          </a:p>
        </p:txBody>
      </p:sp>
      <p:sp>
        <p:nvSpPr>
          <p:cNvPr id="15" name="Shape 13"/>
          <p:cNvSpPr/>
          <p:nvPr/>
        </p:nvSpPr>
        <p:spPr>
          <a:xfrm>
            <a:off x="7772400" y="4667250"/>
            <a:ext cx="3790950" cy="1562100"/>
          </a:xfrm>
          <a:prstGeom prst="rect">
            <a:avLst/>
          </a:prstGeom>
          <a:solidFill>
            <a:srgbClr val="E8F1F5"/>
          </a:solidFill>
          <a:ln w="12700">
            <a:solidFill>
              <a:srgbClr val="B7C7D1"/>
            </a:solidFill>
            <a:prstDash val="solid"/>
          </a:ln>
        </p:spPr>
      </p:sp>
      <p:sp>
        <p:nvSpPr>
          <p:cNvPr id="16" name="Text 14"/>
          <p:cNvSpPr txBox="1"/>
          <p:nvPr/>
        </p:nvSpPr>
        <p:spPr>
          <a:xfrm>
            <a:off x="7981950" y="4800600"/>
            <a:ext cx="3429000" cy="609600"/>
          </a:xfrm>
          <a:prstGeom prst="rect">
            <a:avLst/>
          </a:prstGeom>
          <a:noFill/>
          <a:ln/>
        </p:spPr>
        <p:txBody>
          <a:bodyPr wrap="square" lIns="0" tIns="0" rIns="0" bIns="0" rtlCol="0" anchor="ctr"/>
          <a:lstStyle/>
          <a:p>
            <a:pPr algn="l" indent="0" marL="0">
              <a:buNone/>
            </a:pPr>
            <a:r>
              <a:rPr lang="en-US" sz="4000" b="1" dirty="0">
                <a:solidFill>
                  <a:srgbClr val="102B46"/>
                </a:solidFill>
                <a:latin typeface="Yu Gothic" pitchFamily="34" charset="0"/>
                <a:ea typeface="Yu Gothic" pitchFamily="34" charset="-122"/>
                <a:cs typeface="Yu Gothic" pitchFamily="34" charset="-120"/>
              </a:rPr>
              <a:t>毎回</a:t>
            </a:r>
            <a:pPr algn="l" indent="0" marL="0">
              <a:buNone/>
            </a:pPr>
            <a:endParaRPr lang="en-US" sz="1800" dirty="0"/>
          </a:p>
        </p:txBody>
      </p:sp>
      <p:sp>
        <p:nvSpPr>
          <p:cNvPr id="17" name="Text 15"/>
          <p:cNvSpPr txBox="1"/>
          <p:nvPr/>
        </p:nvSpPr>
        <p:spPr>
          <a:xfrm>
            <a:off x="7981950" y="5467350"/>
            <a:ext cx="3429000" cy="609600"/>
          </a:xfrm>
          <a:prstGeom prst="rect">
            <a:avLst/>
          </a:prstGeom>
          <a:noFill/>
          <a:ln/>
        </p:spPr>
        <p:txBody>
          <a:bodyPr wrap="square" lIns="0" tIns="0" rIns="0" bIns="0" rtlCol="0" anchor="t"/>
          <a:lstStyle/>
          <a:p>
            <a:pPr algn="l" indent="0" marL="0">
              <a:buNone/>
            </a:pPr>
            <a:r>
              <a:rPr lang="en-US" sz="1600" dirty="0">
                <a:solidFill>
                  <a:srgbClr val="17212B"/>
                </a:solidFill>
                <a:latin typeface="Yu Gothic" pitchFamily="34" charset="0"/>
                <a:ea typeface="Yu Gothic" pitchFamily="34" charset="-122"/>
                <a:cs typeface="Yu Gothic" pitchFamily="34" charset="-120"/>
              </a:rPr>
              <a:t>床の滑りやすさ・重さ・押される力を変えて練習</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ロボットをシミュレーターに入れる</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628650" y="1257300"/>
            <a:ext cx="3467100" cy="323850"/>
          </a:xfrm>
          <a:prstGeom prst="rect">
            <a:avLst/>
          </a:prstGeom>
          <a:noFill/>
          <a:ln/>
        </p:spPr>
        <p:txBody>
          <a:bodyPr wrap="square" lIns="0" tIns="0" rIns="0" bIns="0" rtlCol="0" anchor="ctr"/>
          <a:lstStyle/>
          <a:p>
            <a:pPr algn="ctr" indent="0" marL="0">
              <a:buNone/>
            </a:pPr>
            <a:r>
              <a:rPr lang="en-US" sz="2000" b="1" dirty="0">
                <a:solidFill>
                  <a:srgbClr val="E8783F"/>
                </a:solidFill>
                <a:latin typeface="Yu Gothic" pitchFamily="34" charset="0"/>
                <a:ea typeface="Yu Gothic" pitchFamily="34" charset="-122"/>
                <a:cs typeface="Yu Gothic" pitchFamily="34" charset="-120"/>
              </a:rPr>
              <a:t>CAD（Onshape）</a:t>
            </a:r>
            <a:endParaRPr lang="en-US" sz="2000" dirty="0"/>
          </a:p>
        </p:txBody>
      </p:sp>
      <p:sp>
        <p:nvSpPr>
          <p:cNvPr id="7" name="Shape 5"/>
          <p:cNvSpPr/>
          <p:nvPr/>
        </p:nvSpPr>
        <p:spPr>
          <a:xfrm>
            <a:off x="628650" y="1638300"/>
            <a:ext cx="3467100" cy="2762250"/>
          </a:xfrm>
          <a:prstGeom prst="rect">
            <a:avLst/>
          </a:prstGeom>
          <a:solidFill>
            <a:srgbClr val="FBF7F3"/>
          </a:solidFill>
          <a:ln w="22225">
            <a:solidFill>
              <a:srgbClr val="E8783F"/>
            </a:solidFill>
            <a:prstDash val="dash"/>
          </a:ln>
        </p:spPr>
      </p:sp>
      <p:sp>
        <p:nvSpPr>
          <p:cNvPr id="8" name="Text 6"/>
          <p:cNvSpPr txBox="1"/>
          <p:nvPr/>
        </p:nvSpPr>
        <p:spPr>
          <a:xfrm>
            <a:off x="762000" y="1752600"/>
            <a:ext cx="3200400" cy="247650"/>
          </a:xfrm>
          <a:prstGeom prst="rect">
            <a:avLst/>
          </a:prstGeom>
          <a:noFill/>
          <a:ln/>
        </p:spPr>
        <p:txBody>
          <a:bodyPr wrap="square" lIns="0" tIns="0" rIns="0" bIns="0" rtlCol="0" anchor="ctr"/>
          <a:lstStyle/>
          <a:p>
            <a:pPr algn="l" indent="0" marL="0">
              <a:buNone/>
            </a:pPr>
            <a:r>
              <a:rPr lang="en-US" sz="1500" b="1" dirty="0">
                <a:solidFill>
                  <a:srgbClr val="E8783F"/>
                </a:solidFill>
                <a:latin typeface="Yu Gothic" pitchFamily="34" charset="0"/>
                <a:ea typeface="Yu Gothic" pitchFamily="34" charset="-122"/>
                <a:cs typeface="Yu Gothic" pitchFamily="34" charset="-120"/>
              </a:rPr>
              <a:t>■ ここに画像を貼る</a:t>
            </a:r>
            <a:endParaRPr lang="en-US" sz="1500" dirty="0"/>
          </a:p>
        </p:txBody>
      </p:sp>
      <p:sp>
        <p:nvSpPr>
          <p:cNvPr id="9" name="Text 7"/>
          <p:cNvSpPr txBox="1"/>
          <p:nvPr/>
        </p:nvSpPr>
        <p:spPr>
          <a:xfrm>
            <a:off x="762000" y="2038350"/>
            <a:ext cx="3200400" cy="2247900"/>
          </a:xfrm>
          <a:prstGeom prst="rect">
            <a:avLst/>
          </a:prstGeom>
          <a:noFill/>
          <a:ln/>
        </p:spPr>
        <p:txBody>
          <a:bodyPr wrap="square" lIns="0" tIns="0" rIns="0" bIns="0" rtlCol="0" anchor="t"/>
          <a:lstStyle/>
          <a:p>
            <a:pPr algn="l" indent="0" marL="0">
              <a:lnSpc>
                <a:spcPct val="110000"/>
              </a:lnSpc>
              <a:buNone/>
            </a:pPr>
            <a:r>
              <a:rPr lang="en-US" sz="1500" dirty="0">
                <a:solidFill>
                  <a:srgbClr val="5E6A73"/>
                </a:solidFill>
                <a:latin typeface="Yu Gothic" pitchFamily="34" charset="0"/>
                <a:ea typeface="Yu Gothic" pitchFamily="34" charset="-122"/>
                <a:cs typeface="Yu Gothic" pitchFamily="34" charset="-120"/>
              </a:rPr>
              <a:t>設計班の3Dモデルの画面。</a:t>
            </a:r>
            <a:endParaRPr lang="en-US" sz="1500" dirty="0"/>
          </a:p>
        </p:txBody>
      </p:sp>
      <p:sp>
        <p:nvSpPr>
          <p:cNvPr id="10" name="Shape 8"/>
          <p:cNvSpPr/>
          <p:nvPr/>
        </p:nvSpPr>
        <p:spPr>
          <a:xfrm>
            <a:off x="4133850" y="3019425"/>
            <a:ext cx="190500" cy="95"/>
          </a:xfrm>
          <a:prstGeom prst="line">
            <a:avLst/>
          </a:prstGeom>
          <a:noFill/>
          <a:ln w="38100">
            <a:solidFill>
              <a:srgbClr val="102B46"/>
            </a:solidFill>
            <a:prstDash val="solid"/>
            <a:tailEnd type="triangle"/>
          </a:ln>
        </p:spPr>
      </p:sp>
      <p:sp>
        <p:nvSpPr>
          <p:cNvPr id="11" name="Text 9"/>
          <p:cNvSpPr txBox="1"/>
          <p:nvPr/>
        </p:nvSpPr>
        <p:spPr>
          <a:xfrm>
            <a:off x="4362450" y="1257300"/>
            <a:ext cx="3467100" cy="323850"/>
          </a:xfrm>
          <a:prstGeom prst="rect">
            <a:avLst/>
          </a:prstGeom>
          <a:noFill/>
          <a:ln/>
        </p:spPr>
        <p:txBody>
          <a:bodyPr wrap="square" lIns="0" tIns="0" rIns="0" bIns="0" rtlCol="0" anchor="ctr"/>
          <a:lstStyle/>
          <a:p>
            <a:pPr algn="ctr" indent="0" marL="0">
              <a:buNone/>
            </a:pPr>
            <a:r>
              <a:rPr lang="en-US" sz="2000" b="1" dirty="0">
                <a:solidFill>
                  <a:srgbClr val="1C5A85"/>
                </a:solidFill>
                <a:latin typeface="Yu Gothic" pitchFamily="34" charset="0"/>
                <a:ea typeface="Yu Gothic" pitchFamily="34" charset="-122"/>
                <a:cs typeface="Yu Gothic" pitchFamily="34" charset="-120"/>
              </a:rPr>
              <a:t>URDF</a:t>
            </a:r>
            <a:endParaRPr lang="en-US" sz="2000" dirty="0"/>
          </a:p>
        </p:txBody>
      </p:sp>
      <p:sp>
        <p:nvSpPr>
          <p:cNvPr id="12" name="Shape 10"/>
          <p:cNvSpPr/>
          <p:nvPr/>
        </p:nvSpPr>
        <p:spPr>
          <a:xfrm>
            <a:off x="4362450" y="1638300"/>
            <a:ext cx="3467100" cy="2762250"/>
          </a:xfrm>
          <a:prstGeom prst="rect">
            <a:avLst/>
          </a:prstGeom>
          <a:solidFill>
            <a:srgbClr val="FBF7F3"/>
          </a:solidFill>
          <a:ln w="22225">
            <a:solidFill>
              <a:srgbClr val="E8783F"/>
            </a:solidFill>
            <a:prstDash val="dash"/>
          </a:ln>
        </p:spPr>
      </p:sp>
      <p:sp>
        <p:nvSpPr>
          <p:cNvPr id="13" name="Text 11"/>
          <p:cNvSpPr txBox="1"/>
          <p:nvPr/>
        </p:nvSpPr>
        <p:spPr>
          <a:xfrm>
            <a:off x="4495800" y="1752600"/>
            <a:ext cx="3200400" cy="247650"/>
          </a:xfrm>
          <a:prstGeom prst="rect">
            <a:avLst/>
          </a:prstGeom>
          <a:noFill/>
          <a:ln/>
        </p:spPr>
        <p:txBody>
          <a:bodyPr wrap="square" lIns="0" tIns="0" rIns="0" bIns="0" rtlCol="0" anchor="ctr"/>
          <a:lstStyle/>
          <a:p>
            <a:pPr algn="l" indent="0" marL="0">
              <a:buNone/>
            </a:pPr>
            <a:r>
              <a:rPr lang="en-US" sz="1500" b="1" dirty="0">
                <a:solidFill>
                  <a:srgbClr val="E8783F"/>
                </a:solidFill>
                <a:latin typeface="Yu Gothic" pitchFamily="34" charset="0"/>
                <a:ea typeface="Yu Gothic" pitchFamily="34" charset="-122"/>
                <a:cs typeface="Yu Gothic" pitchFamily="34" charset="-120"/>
              </a:rPr>
              <a:t>■ ここに画像を貼る</a:t>
            </a:r>
            <a:endParaRPr lang="en-US" sz="1500" dirty="0"/>
          </a:p>
        </p:txBody>
      </p:sp>
      <p:sp>
        <p:nvSpPr>
          <p:cNvPr id="14" name="Text 12"/>
          <p:cNvSpPr txBox="1"/>
          <p:nvPr/>
        </p:nvSpPr>
        <p:spPr>
          <a:xfrm>
            <a:off x="4495800" y="2038350"/>
            <a:ext cx="3200400" cy="2247900"/>
          </a:xfrm>
          <a:prstGeom prst="rect">
            <a:avLst/>
          </a:prstGeom>
          <a:noFill/>
          <a:ln/>
        </p:spPr>
        <p:txBody>
          <a:bodyPr wrap="square" lIns="0" tIns="0" rIns="0" bIns="0" rtlCol="0" anchor="t"/>
          <a:lstStyle/>
          <a:p>
            <a:pPr algn="l" indent="0" marL="0">
              <a:lnSpc>
                <a:spcPct val="110000"/>
              </a:lnSpc>
              <a:buNone/>
            </a:pPr>
            <a:r>
              <a:rPr lang="en-US" sz="1500" dirty="0">
                <a:solidFill>
                  <a:srgbClr val="5E6A73"/>
                </a:solidFill>
                <a:latin typeface="Yu Gothic" pitchFamily="34" charset="0"/>
                <a:ea typeface="Yu Gothic" pitchFamily="34" charset="-122"/>
                <a:cs typeface="Yu Gothic" pitchFamily="34" charset="-120"/>
              </a:rPr>
              <a:t>関節とリンクのつながり（ツリー図や一覧）の画面。</a:t>
            </a:r>
            <a:endParaRPr lang="en-US" sz="1500" dirty="0"/>
          </a:p>
        </p:txBody>
      </p:sp>
      <p:sp>
        <p:nvSpPr>
          <p:cNvPr id="15" name="Shape 13"/>
          <p:cNvSpPr/>
          <p:nvPr/>
        </p:nvSpPr>
        <p:spPr>
          <a:xfrm>
            <a:off x="7867650" y="3019425"/>
            <a:ext cx="190500" cy="95"/>
          </a:xfrm>
          <a:prstGeom prst="line">
            <a:avLst/>
          </a:prstGeom>
          <a:noFill/>
          <a:ln w="38100">
            <a:solidFill>
              <a:srgbClr val="102B46"/>
            </a:solidFill>
            <a:prstDash val="solid"/>
            <a:tailEnd type="triangle"/>
          </a:ln>
        </p:spPr>
      </p:sp>
      <p:sp>
        <p:nvSpPr>
          <p:cNvPr id="16" name="Text 14"/>
          <p:cNvSpPr txBox="1"/>
          <p:nvPr/>
        </p:nvSpPr>
        <p:spPr>
          <a:xfrm>
            <a:off x="8096250" y="1257300"/>
            <a:ext cx="3467100" cy="323850"/>
          </a:xfrm>
          <a:prstGeom prst="rect">
            <a:avLst/>
          </a:prstGeom>
          <a:noFill/>
          <a:ln/>
        </p:spPr>
        <p:txBody>
          <a:bodyPr wrap="square" lIns="0" tIns="0" rIns="0" bIns="0" rtlCol="0" anchor="ctr"/>
          <a:lstStyle/>
          <a:p>
            <a:pPr algn="ctr" indent="0" marL="0">
              <a:buNone/>
            </a:pPr>
            <a:r>
              <a:rPr lang="en-US" sz="2000" b="1" dirty="0">
                <a:solidFill>
                  <a:srgbClr val="32A5B5"/>
                </a:solidFill>
                <a:latin typeface="Yu Gothic" pitchFamily="34" charset="0"/>
                <a:ea typeface="Yu Gothic" pitchFamily="34" charset="-122"/>
                <a:cs typeface="Yu Gothic" pitchFamily="34" charset="-120"/>
              </a:rPr>
              <a:t>Isaac Sim</a:t>
            </a:r>
            <a:endParaRPr lang="en-US" sz="2000" dirty="0"/>
          </a:p>
        </p:txBody>
      </p:sp>
      <p:sp>
        <p:nvSpPr>
          <p:cNvPr id="17" name="Shape 15"/>
          <p:cNvSpPr/>
          <p:nvPr/>
        </p:nvSpPr>
        <p:spPr>
          <a:xfrm>
            <a:off x="8096250" y="1638300"/>
            <a:ext cx="3467100" cy="2762250"/>
          </a:xfrm>
          <a:prstGeom prst="rect">
            <a:avLst/>
          </a:prstGeom>
          <a:solidFill>
            <a:srgbClr val="FBF7F3"/>
          </a:solidFill>
          <a:ln w="22225">
            <a:solidFill>
              <a:srgbClr val="E8783F"/>
            </a:solidFill>
            <a:prstDash val="dash"/>
          </a:ln>
        </p:spPr>
      </p:sp>
      <p:sp>
        <p:nvSpPr>
          <p:cNvPr id="18" name="Text 16"/>
          <p:cNvSpPr txBox="1"/>
          <p:nvPr/>
        </p:nvSpPr>
        <p:spPr>
          <a:xfrm>
            <a:off x="8229600" y="1752600"/>
            <a:ext cx="3200400" cy="247650"/>
          </a:xfrm>
          <a:prstGeom prst="rect">
            <a:avLst/>
          </a:prstGeom>
          <a:noFill/>
          <a:ln/>
        </p:spPr>
        <p:txBody>
          <a:bodyPr wrap="square" lIns="0" tIns="0" rIns="0" bIns="0" rtlCol="0" anchor="ctr"/>
          <a:lstStyle/>
          <a:p>
            <a:pPr algn="l" indent="0" marL="0">
              <a:buNone/>
            </a:pPr>
            <a:r>
              <a:rPr lang="en-US" sz="1500" b="1" dirty="0">
                <a:solidFill>
                  <a:srgbClr val="E8783F"/>
                </a:solidFill>
                <a:latin typeface="Yu Gothic" pitchFamily="34" charset="0"/>
                <a:ea typeface="Yu Gothic" pitchFamily="34" charset="-122"/>
                <a:cs typeface="Yu Gothic" pitchFamily="34" charset="-120"/>
              </a:rPr>
              <a:t>■ ここに画像を貼る</a:t>
            </a:r>
            <a:endParaRPr lang="en-US" sz="1500" dirty="0"/>
          </a:p>
        </p:txBody>
      </p:sp>
      <p:sp>
        <p:nvSpPr>
          <p:cNvPr id="19" name="Text 17"/>
          <p:cNvSpPr txBox="1"/>
          <p:nvPr/>
        </p:nvSpPr>
        <p:spPr>
          <a:xfrm>
            <a:off x="8229600" y="2038350"/>
            <a:ext cx="3200400" cy="2247900"/>
          </a:xfrm>
          <a:prstGeom prst="rect">
            <a:avLst/>
          </a:prstGeom>
          <a:noFill/>
          <a:ln/>
        </p:spPr>
        <p:txBody>
          <a:bodyPr wrap="square" lIns="0" tIns="0" rIns="0" bIns="0" rtlCol="0" anchor="t"/>
          <a:lstStyle/>
          <a:p>
            <a:pPr algn="l" indent="0" marL="0">
              <a:lnSpc>
                <a:spcPct val="110000"/>
              </a:lnSpc>
              <a:buNone/>
            </a:pPr>
            <a:r>
              <a:rPr lang="en-US" sz="1500" dirty="0">
                <a:solidFill>
                  <a:srgbClr val="5E6A73"/>
                </a:solidFill>
                <a:latin typeface="Yu Gothic" pitchFamily="34" charset="0"/>
                <a:ea typeface="Yu Gothic" pitchFamily="34" charset="-122"/>
                <a:cs typeface="Yu Gothic" pitchFamily="34" charset="-120"/>
              </a:rPr>
              <a:t>シミュレーター上に立っている自分たちのロボット。</a:t>
            </a:r>
            <a:endParaRPr lang="en-US" sz="1500" dirty="0"/>
          </a:p>
        </p:txBody>
      </p:sp>
      <p:sp>
        <p:nvSpPr>
          <p:cNvPr id="20" name="Text 18"/>
          <p:cNvSpPr txBox="1"/>
          <p:nvPr/>
        </p:nvSpPr>
        <p:spPr>
          <a:xfrm>
            <a:off x="628650" y="4591050"/>
            <a:ext cx="10934700" cy="323850"/>
          </a:xfrm>
          <a:prstGeom prst="rect">
            <a:avLst/>
          </a:prstGeom>
          <a:noFill/>
          <a:ln/>
        </p:spPr>
        <p:txBody>
          <a:bodyPr wrap="square" lIns="0" tIns="0" rIns="0" bIns="0" rtlCol="0" anchor="ctr"/>
          <a:lstStyle/>
          <a:p>
            <a:pPr algn="l" indent="0" marL="0">
              <a:buNone/>
            </a:pPr>
            <a:r>
              <a:rPr lang="en-US" sz="1600" dirty="0">
                <a:solidFill>
                  <a:srgbClr val="17212B"/>
                </a:solidFill>
                <a:latin typeface="Yu Gothic" pitchFamily="34" charset="0"/>
                <a:ea typeface="Yu Gothic" pitchFamily="34" charset="-122"/>
                <a:cs typeface="Yu Gothic" pitchFamily="34" charset="-120"/>
              </a:rPr>
              <a:t>URDF：ロボットの形・重さ・関節の位置と回る向きを書いたファイル。質量や重心は CAD の材質から自動で計算</a:t>
            </a:r>
            <a:endParaRPr lang="en-US" sz="1600" dirty="0"/>
          </a:p>
        </p:txBody>
      </p:sp>
      <p:sp>
        <p:nvSpPr>
          <p:cNvPr id="21" name="Shape 19"/>
          <p:cNvSpPr/>
          <p:nvPr/>
        </p:nvSpPr>
        <p:spPr>
          <a:xfrm>
            <a:off x="628650" y="5048250"/>
            <a:ext cx="10934700" cy="1143000"/>
          </a:xfrm>
          <a:prstGeom prst="rect">
            <a:avLst/>
          </a:prstGeom>
          <a:solidFill>
            <a:srgbClr val="F3EEE6"/>
          </a:solidFill>
          <a:ln w="12700">
            <a:solidFill>
              <a:srgbClr val="E8783F"/>
            </a:solidFill>
            <a:prstDash val="solid"/>
          </a:ln>
        </p:spPr>
      </p:sp>
      <p:sp>
        <p:nvSpPr>
          <p:cNvPr id="22" name="Text 20"/>
          <p:cNvSpPr txBox="1"/>
          <p:nvPr/>
        </p:nvSpPr>
        <p:spPr>
          <a:xfrm>
            <a:off x="857250" y="5143500"/>
            <a:ext cx="2857500" cy="285750"/>
          </a:xfrm>
          <a:prstGeom prst="rect">
            <a:avLst/>
          </a:prstGeom>
          <a:noFill/>
          <a:ln/>
        </p:spPr>
        <p:txBody>
          <a:bodyPr wrap="square" lIns="0" tIns="0" rIns="0" bIns="0" rtlCol="0" anchor="ctr"/>
          <a:lstStyle/>
          <a:p>
            <a:pPr algn="l" indent="0" marL="0">
              <a:buNone/>
            </a:pPr>
            <a:r>
              <a:rPr lang="en-US" sz="1700" b="1" dirty="0">
                <a:solidFill>
                  <a:srgbClr val="E8783F"/>
                </a:solidFill>
                <a:latin typeface="Yu Gothic" pitchFamily="34" charset="0"/>
                <a:ea typeface="Yu Gothic" pitchFamily="34" charset="-122"/>
                <a:cs typeface="Yu Gothic" pitchFamily="34" charset="-120"/>
              </a:rPr>
              <a:t>つまずいた点</a:t>
            </a:r>
            <a:endParaRPr lang="en-US" sz="1700" dirty="0"/>
          </a:p>
        </p:txBody>
      </p:sp>
      <p:sp>
        <p:nvSpPr>
          <p:cNvPr id="23" name="Text 21"/>
          <p:cNvSpPr txBox="1"/>
          <p:nvPr/>
        </p:nvSpPr>
        <p:spPr>
          <a:xfrm>
            <a:off x="857250" y="5467350"/>
            <a:ext cx="10477500" cy="666750"/>
          </a:xfrm>
          <a:prstGeom prst="rect">
            <a:avLst/>
          </a:prstGeom>
          <a:noFill/>
          <a:ln/>
        </p:spPr>
        <p:txBody>
          <a:bodyPr wrap="square" lIns="0" tIns="0" rIns="0" bIns="0" rtlCol="0" anchor="t"/>
          <a:lstStyle/>
          <a:p>
            <a:pPr algn="l" indent="0" marL="0">
              <a:buNone/>
            </a:pPr>
            <a:r>
              <a:rPr lang="en-US" sz="1600" dirty="0">
                <a:solidFill>
                  <a:srgbClr val="17212B"/>
                </a:solidFill>
                <a:latin typeface="Yu Gothic" pitchFamily="34" charset="0"/>
                <a:ea typeface="Yu Gothic" pitchFamily="34" charset="-122"/>
                <a:cs typeface="Yu Gothic" pitchFamily="34" charset="-120"/>
              </a:rPr>
              <a:t>CAD から出したままだと「前後と左右の向きが入れ替わる」「左右の脚で関節の回る向きが逆になる」ことが分かり、10個の関節を1つずつ動かして確かめ、そろえた</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報酬関数の全体像（最終形）</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628650" y="1257300"/>
            <a:ext cx="10934700" cy="419100"/>
          </a:xfrm>
          <a:prstGeom prst="rect">
            <a:avLst/>
          </a:prstGeom>
          <a:noFill/>
          <a:ln/>
        </p:spPr>
        <p:txBody>
          <a:bodyPr wrap="square" lIns="0" tIns="0" rIns="0" bIns="0" rtlCol="0" anchor="ctr"/>
          <a:lstStyle/>
          <a:p>
            <a:pPr algn="l" indent="0" marL="0">
              <a:buNone/>
            </a:pPr>
            <a:r>
              <a:rPr lang="en-US" sz="2200" b="1" dirty="0">
                <a:solidFill>
                  <a:srgbClr val="102B46"/>
                </a:solidFill>
                <a:latin typeface="Yu Gothic" pitchFamily="34" charset="0"/>
                <a:ea typeface="Yu Gothic" pitchFamily="34" charset="-122"/>
                <a:cs typeface="Yu Gothic" pitchFamily="34" charset="-120"/>
              </a:rPr>
              <a:t>13 項目の点数を毎回足し合わせる。＋はほめる、−は叱る</a:t>
            </a:r>
            <a:endParaRPr lang="en-US" sz="2200" dirty="0"/>
          </a:p>
        </p:txBody>
      </p:sp>
      <p:sp>
        <p:nvSpPr>
          <p:cNvPr id="7" name="Shape 5"/>
          <p:cNvSpPr/>
          <p:nvPr/>
        </p:nvSpPr>
        <p:spPr>
          <a:xfrm>
            <a:off x="628650" y="1809750"/>
            <a:ext cx="3505200" cy="3810000"/>
          </a:xfrm>
          <a:prstGeom prst="rect">
            <a:avLst/>
          </a:prstGeom>
          <a:solidFill>
            <a:srgbClr val="E8F1F5"/>
          </a:solidFill>
          <a:ln w="19050">
            <a:solidFill>
              <a:srgbClr val="32A5B5"/>
            </a:solidFill>
            <a:prstDash val="solid"/>
          </a:ln>
        </p:spPr>
      </p:sp>
      <p:sp>
        <p:nvSpPr>
          <p:cNvPr id="8" name="Text 6"/>
          <p:cNvSpPr txBox="1"/>
          <p:nvPr/>
        </p:nvSpPr>
        <p:spPr>
          <a:xfrm>
            <a:off x="800100" y="1943100"/>
            <a:ext cx="2286000" cy="304800"/>
          </a:xfrm>
          <a:prstGeom prst="rect">
            <a:avLst/>
          </a:prstGeom>
          <a:noFill/>
          <a:ln/>
        </p:spPr>
        <p:txBody>
          <a:bodyPr wrap="square" lIns="0" tIns="0" rIns="0" bIns="0" rtlCol="0" anchor="ctr"/>
          <a:lstStyle/>
          <a:p>
            <a:pPr algn="l" indent="0" marL="0">
              <a:buNone/>
            </a:pPr>
            <a:r>
              <a:rPr lang="en-US" sz="2000" b="1" dirty="0">
                <a:solidFill>
                  <a:srgbClr val="32A5B5"/>
                </a:solidFill>
                <a:latin typeface="Yu Gothic" pitchFamily="34" charset="0"/>
                <a:ea typeface="Yu Gothic" pitchFamily="34" charset="-122"/>
                <a:cs typeface="Yu Gothic" pitchFamily="34" charset="-120"/>
              </a:rPr>
              <a:t>目的を達成する</a:t>
            </a:r>
            <a:endParaRPr lang="en-US" sz="2000" dirty="0"/>
          </a:p>
        </p:txBody>
      </p:sp>
      <p:sp>
        <p:nvSpPr>
          <p:cNvPr id="9" name="Text 7"/>
          <p:cNvSpPr txBox="1"/>
          <p:nvPr/>
        </p:nvSpPr>
        <p:spPr>
          <a:xfrm>
            <a:off x="3200400" y="1962150"/>
            <a:ext cx="762000" cy="266700"/>
          </a:xfrm>
          <a:prstGeom prst="rect">
            <a:avLst/>
          </a:prstGeom>
          <a:solidFill>
            <a:srgbClr val="32A5B5"/>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ほめる</a:t>
            </a:r>
            <a:endParaRPr lang="en-US" sz="1400" dirty="0"/>
          </a:p>
        </p:txBody>
      </p:sp>
      <p:sp>
        <p:nvSpPr>
          <p:cNvPr id="10" name="Text 8"/>
          <p:cNvSpPr txBox="1"/>
          <p:nvPr/>
        </p:nvSpPr>
        <p:spPr>
          <a:xfrm>
            <a:off x="800100" y="2381250"/>
            <a:ext cx="2438400" cy="4191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指令どおりの速さで進む</a:t>
            </a:r>
            <a:endParaRPr lang="en-US" sz="1500" dirty="0"/>
          </a:p>
        </p:txBody>
      </p:sp>
      <p:sp>
        <p:nvSpPr>
          <p:cNvPr id="11" name="Text 9"/>
          <p:cNvSpPr txBox="1"/>
          <p:nvPr/>
        </p:nvSpPr>
        <p:spPr>
          <a:xfrm>
            <a:off x="3200400" y="2381250"/>
            <a:ext cx="762000" cy="419100"/>
          </a:xfrm>
          <a:prstGeom prst="rect">
            <a:avLst/>
          </a:prstGeom>
          <a:noFill/>
          <a:ln/>
        </p:spPr>
        <p:txBody>
          <a:bodyPr wrap="square" lIns="0" tIns="0" rIns="0" bIns="0" rtlCol="0" anchor="ctr"/>
          <a:lstStyle/>
          <a:p>
            <a:pPr algn="r" indent="0" marL="0">
              <a:buNone/>
            </a:pPr>
            <a:r>
              <a:rPr lang="en-US" sz="1700" b="1" dirty="0">
                <a:solidFill>
                  <a:srgbClr val="32A5B5"/>
                </a:solidFill>
                <a:latin typeface="Yu Gothic" pitchFamily="34" charset="0"/>
                <a:ea typeface="Yu Gothic" pitchFamily="34" charset="-122"/>
                <a:cs typeface="Yu Gothic" pitchFamily="34" charset="-120"/>
              </a:rPr>
              <a:t>+1.0</a:t>
            </a:r>
            <a:endParaRPr lang="en-US" sz="1700" dirty="0"/>
          </a:p>
        </p:txBody>
      </p:sp>
      <p:sp>
        <p:nvSpPr>
          <p:cNvPr id="12" name="Shape 10"/>
          <p:cNvSpPr/>
          <p:nvPr/>
        </p:nvSpPr>
        <p:spPr>
          <a:xfrm>
            <a:off x="800100" y="2838450"/>
            <a:ext cx="3162300" cy="0"/>
          </a:xfrm>
          <a:prstGeom prst="line">
            <a:avLst/>
          </a:prstGeom>
          <a:noFill/>
          <a:ln w="9525">
            <a:solidFill>
              <a:srgbClr val="B7C7D1"/>
            </a:solidFill>
            <a:prstDash val="solid"/>
          </a:ln>
        </p:spPr>
      </p:sp>
      <p:sp>
        <p:nvSpPr>
          <p:cNvPr id="13" name="Text 11"/>
          <p:cNvSpPr txBox="1"/>
          <p:nvPr/>
        </p:nvSpPr>
        <p:spPr>
          <a:xfrm>
            <a:off x="800100" y="2895600"/>
            <a:ext cx="2438400" cy="4191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指令どおりに回る</a:t>
            </a:r>
            <a:endParaRPr lang="en-US" sz="1500" dirty="0"/>
          </a:p>
        </p:txBody>
      </p:sp>
      <p:sp>
        <p:nvSpPr>
          <p:cNvPr id="14" name="Text 12"/>
          <p:cNvSpPr txBox="1"/>
          <p:nvPr/>
        </p:nvSpPr>
        <p:spPr>
          <a:xfrm>
            <a:off x="3200400" y="2895600"/>
            <a:ext cx="762000" cy="419100"/>
          </a:xfrm>
          <a:prstGeom prst="rect">
            <a:avLst/>
          </a:prstGeom>
          <a:noFill/>
          <a:ln/>
        </p:spPr>
        <p:txBody>
          <a:bodyPr wrap="square" lIns="0" tIns="0" rIns="0" bIns="0" rtlCol="0" anchor="ctr"/>
          <a:lstStyle/>
          <a:p>
            <a:pPr algn="r" indent="0" marL="0">
              <a:buNone/>
            </a:pPr>
            <a:r>
              <a:rPr lang="en-US" sz="1700" b="1" dirty="0">
                <a:solidFill>
                  <a:srgbClr val="32A5B5"/>
                </a:solidFill>
                <a:latin typeface="Yu Gothic" pitchFamily="34" charset="0"/>
                <a:ea typeface="Yu Gothic" pitchFamily="34" charset="-122"/>
                <a:cs typeface="Yu Gothic" pitchFamily="34" charset="-120"/>
              </a:rPr>
              <a:t>+1.0</a:t>
            </a:r>
            <a:endParaRPr lang="en-US" sz="1700" dirty="0"/>
          </a:p>
        </p:txBody>
      </p:sp>
      <p:sp>
        <p:nvSpPr>
          <p:cNvPr id="15" name="Shape 13"/>
          <p:cNvSpPr/>
          <p:nvPr/>
        </p:nvSpPr>
        <p:spPr>
          <a:xfrm>
            <a:off x="800100" y="3352800"/>
            <a:ext cx="3162300" cy="0"/>
          </a:xfrm>
          <a:prstGeom prst="line">
            <a:avLst/>
          </a:prstGeom>
          <a:noFill/>
          <a:ln w="9525">
            <a:solidFill>
              <a:srgbClr val="B7C7D1"/>
            </a:solidFill>
            <a:prstDash val="solid"/>
          </a:ln>
        </p:spPr>
      </p:sp>
      <p:sp>
        <p:nvSpPr>
          <p:cNvPr id="16" name="Text 14"/>
          <p:cNvSpPr txBox="1"/>
          <p:nvPr/>
        </p:nvSpPr>
        <p:spPr>
          <a:xfrm>
            <a:off x="800100" y="3409950"/>
            <a:ext cx="2438400" cy="4191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足を浮かせてから着地する</a:t>
            </a:r>
            <a:endParaRPr lang="en-US" sz="1500" dirty="0"/>
          </a:p>
        </p:txBody>
      </p:sp>
      <p:sp>
        <p:nvSpPr>
          <p:cNvPr id="17" name="Text 15"/>
          <p:cNvSpPr txBox="1"/>
          <p:nvPr/>
        </p:nvSpPr>
        <p:spPr>
          <a:xfrm>
            <a:off x="3200400" y="3409950"/>
            <a:ext cx="762000" cy="419100"/>
          </a:xfrm>
          <a:prstGeom prst="rect">
            <a:avLst/>
          </a:prstGeom>
          <a:noFill/>
          <a:ln/>
        </p:spPr>
        <p:txBody>
          <a:bodyPr wrap="square" lIns="0" tIns="0" rIns="0" bIns="0" rtlCol="0" anchor="ctr"/>
          <a:lstStyle/>
          <a:p>
            <a:pPr algn="r" indent="0" marL="0">
              <a:buNone/>
            </a:pPr>
            <a:r>
              <a:rPr lang="en-US" sz="1700" b="1" dirty="0">
                <a:solidFill>
                  <a:srgbClr val="32A5B5"/>
                </a:solidFill>
                <a:latin typeface="Yu Gothic" pitchFamily="34" charset="0"/>
                <a:ea typeface="Yu Gothic" pitchFamily="34" charset="-122"/>
                <a:cs typeface="Yu Gothic" pitchFamily="34" charset="-120"/>
              </a:rPr>
              <a:t>+2.0</a:t>
            </a:r>
            <a:endParaRPr lang="en-US" sz="1700" dirty="0"/>
          </a:p>
        </p:txBody>
      </p:sp>
      <p:sp>
        <p:nvSpPr>
          <p:cNvPr id="18" name="Shape 16"/>
          <p:cNvSpPr/>
          <p:nvPr/>
        </p:nvSpPr>
        <p:spPr>
          <a:xfrm>
            <a:off x="4343400" y="1809750"/>
            <a:ext cx="3505200" cy="3810000"/>
          </a:xfrm>
          <a:prstGeom prst="rect">
            <a:avLst/>
          </a:prstGeom>
          <a:solidFill>
            <a:srgbClr val="F3EEE6"/>
          </a:solidFill>
          <a:ln w="19050">
            <a:solidFill>
              <a:srgbClr val="E8783F"/>
            </a:solidFill>
            <a:prstDash val="solid"/>
          </a:ln>
        </p:spPr>
      </p:sp>
      <p:sp>
        <p:nvSpPr>
          <p:cNvPr id="19" name="Text 17"/>
          <p:cNvSpPr txBox="1"/>
          <p:nvPr/>
        </p:nvSpPr>
        <p:spPr>
          <a:xfrm>
            <a:off x="4514850" y="1943100"/>
            <a:ext cx="2286000" cy="304800"/>
          </a:xfrm>
          <a:prstGeom prst="rect">
            <a:avLst/>
          </a:prstGeom>
          <a:noFill/>
          <a:ln/>
        </p:spPr>
        <p:txBody>
          <a:bodyPr wrap="square" lIns="0" tIns="0" rIns="0" bIns="0" rtlCol="0" anchor="ctr"/>
          <a:lstStyle/>
          <a:p>
            <a:pPr algn="l" indent="0" marL="0">
              <a:buNone/>
            </a:pPr>
            <a:r>
              <a:rPr lang="en-US" sz="2000" b="1" dirty="0">
                <a:solidFill>
                  <a:srgbClr val="E8783F"/>
                </a:solidFill>
                <a:latin typeface="Yu Gothic" pitchFamily="34" charset="0"/>
                <a:ea typeface="Yu Gothic" pitchFamily="34" charset="-122"/>
                <a:cs typeface="Yu Gothic" pitchFamily="34" charset="-120"/>
              </a:rPr>
              <a:t>きれいに歩く</a:t>
            </a:r>
            <a:endParaRPr lang="en-US" sz="2000" dirty="0"/>
          </a:p>
        </p:txBody>
      </p:sp>
      <p:sp>
        <p:nvSpPr>
          <p:cNvPr id="20" name="Text 18"/>
          <p:cNvSpPr txBox="1"/>
          <p:nvPr/>
        </p:nvSpPr>
        <p:spPr>
          <a:xfrm>
            <a:off x="6915150" y="1962150"/>
            <a:ext cx="762000" cy="266700"/>
          </a:xfrm>
          <a:prstGeom prst="rect">
            <a:avLst/>
          </a:prstGeom>
          <a:solidFill>
            <a:srgbClr val="E8783F"/>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叱る</a:t>
            </a:r>
            <a:endParaRPr lang="en-US" sz="1400" dirty="0"/>
          </a:p>
        </p:txBody>
      </p:sp>
      <p:sp>
        <p:nvSpPr>
          <p:cNvPr id="21" name="Text 19"/>
          <p:cNvSpPr txBox="1"/>
          <p:nvPr/>
        </p:nvSpPr>
        <p:spPr>
          <a:xfrm>
            <a:off x="4514850" y="2381250"/>
            <a:ext cx="2438400" cy="4191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胴体が上下に揺れる</a:t>
            </a:r>
            <a:endParaRPr lang="en-US" sz="1500" dirty="0"/>
          </a:p>
        </p:txBody>
      </p:sp>
      <p:sp>
        <p:nvSpPr>
          <p:cNvPr id="22" name="Text 20"/>
          <p:cNvSpPr txBox="1"/>
          <p:nvPr/>
        </p:nvSpPr>
        <p:spPr>
          <a:xfrm>
            <a:off x="6915150" y="2381250"/>
            <a:ext cx="762000" cy="419100"/>
          </a:xfrm>
          <a:prstGeom prst="rect">
            <a:avLst/>
          </a:prstGeom>
          <a:noFill/>
          <a:ln/>
        </p:spPr>
        <p:txBody>
          <a:bodyPr wrap="square" lIns="0" tIns="0" rIns="0" bIns="0" rtlCol="0" anchor="ctr"/>
          <a:lstStyle/>
          <a:p>
            <a:pPr algn="r" indent="0" marL="0">
              <a:buNone/>
            </a:pPr>
            <a:r>
              <a:rPr lang="en-US" sz="1700" b="1" dirty="0">
                <a:solidFill>
                  <a:srgbClr val="E8783F"/>
                </a:solidFill>
                <a:latin typeface="Yu Gothic" pitchFamily="34" charset="0"/>
                <a:ea typeface="Yu Gothic" pitchFamily="34" charset="-122"/>
                <a:cs typeface="Yu Gothic" pitchFamily="34" charset="-120"/>
              </a:rPr>
              <a:t>−2.0</a:t>
            </a:r>
            <a:endParaRPr lang="en-US" sz="1700" dirty="0"/>
          </a:p>
        </p:txBody>
      </p:sp>
      <p:sp>
        <p:nvSpPr>
          <p:cNvPr id="23" name="Shape 21"/>
          <p:cNvSpPr/>
          <p:nvPr/>
        </p:nvSpPr>
        <p:spPr>
          <a:xfrm>
            <a:off x="4514850" y="2838450"/>
            <a:ext cx="3162300" cy="0"/>
          </a:xfrm>
          <a:prstGeom prst="line">
            <a:avLst/>
          </a:prstGeom>
          <a:noFill/>
          <a:ln w="9525">
            <a:solidFill>
              <a:srgbClr val="B7C7D1"/>
            </a:solidFill>
            <a:prstDash val="solid"/>
          </a:ln>
        </p:spPr>
      </p:sp>
      <p:sp>
        <p:nvSpPr>
          <p:cNvPr id="24" name="Text 22"/>
          <p:cNvSpPr txBox="1"/>
          <p:nvPr/>
        </p:nvSpPr>
        <p:spPr>
          <a:xfrm>
            <a:off x="4514850" y="2895600"/>
            <a:ext cx="2438400" cy="4191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胴体が傾く</a:t>
            </a:r>
            <a:endParaRPr lang="en-US" sz="1500" dirty="0"/>
          </a:p>
        </p:txBody>
      </p:sp>
      <p:sp>
        <p:nvSpPr>
          <p:cNvPr id="25" name="Text 23"/>
          <p:cNvSpPr txBox="1"/>
          <p:nvPr/>
        </p:nvSpPr>
        <p:spPr>
          <a:xfrm>
            <a:off x="6915150" y="2895600"/>
            <a:ext cx="762000" cy="419100"/>
          </a:xfrm>
          <a:prstGeom prst="rect">
            <a:avLst/>
          </a:prstGeom>
          <a:noFill/>
          <a:ln/>
        </p:spPr>
        <p:txBody>
          <a:bodyPr wrap="square" lIns="0" tIns="0" rIns="0" bIns="0" rtlCol="0" anchor="ctr"/>
          <a:lstStyle/>
          <a:p>
            <a:pPr algn="r" indent="0" marL="0">
              <a:buNone/>
            </a:pPr>
            <a:r>
              <a:rPr lang="en-US" sz="1700" b="1" dirty="0">
                <a:solidFill>
                  <a:srgbClr val="E8783F"/>
                </a:solidFill>
                <a:latin typeface="Yu Gothic" pitchFamily="34" charset="0"/>
                <a:ea typeface="Yu Gothic" pitchFamily="34" charset="-122"/>
                <a:cs typeface="Yu Gothic" pitchFamily="34" charset="-120"/>
              </a:rPr>
              <a:t>−0.5</a:t>
            </a:r>
            <a:endParaRPr lang="en-US" sz="1700" dirty="0"/>
          </a:p>
        </p:txBody>
      </p:sp>
      <p:sp>
        <p:nvSpPr>
          <p:cNvPr id="26" name="Shape 24"/>
          <p:cNvSpPr/>
          <p:nvPr/>
        </p:nvSpPr>
        <p:spPr>
          <a:xfrm>
            <a:off x="4514850" y="3352800"/>
            <a:ext cx="3162300" cy="0"/>
          </a:xfrm>
          <a:prstGeom prst="line">
            <a:avLst/>
          </a:prstGeom>
          <a:noFill/>
          <a:ln w="9525">
            <a:solidFill>
              <a:srgbClr val="B7C7D1"/>
            </a:solidFill>
            <a:prstDash val="solid"/>
          </a:ln>
        </p:spPr>
      </p:sp>
      <p:sp>
        <p:nvSpPr>
          <p:cNvPr id="27" name="Text 25"/>
          <p:cNvSpPr txBox="1"/>
          <p:nvPr/>
        </p:nvSpPr>
        <p:spPr>
          <a:xfrm>
            <a:off x="4514850" y="3409950"/>
            <a:ext cx="2438400" cy="4191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足が地面を滑る</a:t>
            </a:r>
            <a:endParaRPr lang="en-US" sz="1500" dirty="0"/>
          </a:p>
        </p:txBody>
      </p:sp>
      <p:sp>
        <p:nvSpPr>
          <p:cNvPr id="28" name="Text 26"/>
          <p:cNvSpPr txBox="1"/>
          <p:nvPr/>
        </p:nvSpPr>
        <p:spPr>
          <a:xfrm>
            <a:off x="6915150" y="3409950"/>
            <a:ext cx="762000" cy="419100"/>
          </a:xfrm>
          <a:prstGeom prst="rect">
            <a:avLst/>
          </a:prstGeom>
          <a:noFill/>
          <a:ln/>
        </p:spPr>
        <p:txBody>
          <a:bodyPr wrap="square" lIns="0" tIns="0" rIns="0" bIns="0" rtlCol="0" anchor="ctr"/>
          <a:lstStyle/>
          <a:p>
            <a:pPr algn="r" indent="0" marL="0">
              <a:buNone/>
            </a:pPr>
            <a:r>
              <a:rPr lang="en-US" sz="1700" b="1" dirty="0">
                <a:solidFill>
                  <a:srgbClr val="E8783F"/>
                </a:solidFill>
                <a:latin typeface="Yu Gothic" pitchFamily="34" charset="0"/>
                <a:ea typeface="Yu Gothic" pitchFamily="34" charset="-122"/>
                <a:cs typeface="Yu Gothic" pitchFamily="34" charset="-120"/>
              </a:rPr>
              <a:t>−0.25</a:t>
            </a:r>
            <a:endParaRPr lang="en-US" sz="1700" dirty="0"/>
          </a:p>
        </p:txBody>
      </p:sp>
      <p:sp>
        <p:nvSpPr>
          <p:cNvPr id="29" name="Shape 27"/>
          <p:cNvSpPr/>
          <p:nvPr/>
        </p:nvSpPr>
        <p:spPr>
          <a:xfrm>
            <a:off x="4514850" y="3867150"/>
            <a:ext cx="3162300" cy="0"/>
          </a:xfrm>
          <a:prstGeom prst="line">
            <a:avLst/>
          </a:prstGeom>
          <a:noFill/>
          <a:ln w="9525">
            <a:solidFill>
              <a:srgbClr val="B7C7D1"/>
            </a:solidFill>
            <a:prstDash val="solid"/>
          </a:ln>
        </p:spPr>
      </p:sp>
      <p:sp>
        <p:nvSpPr>
          <p:cNvPr id="30" name="Text 28"/>
          <p:cNvSpPr txBox="1"/>
          <p:nvPr/>
        </p:nvSpPr>
        <p:spPr>
          <a:xfrm>
            <a:off x="4514850" y="3924300"/>
            <a:ext cx="2438400" cy="4191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胴体が左右・前後に揺れる</a:t>
            </a:r>
            <a:endParaRPr lang="en-US" sz="1500" dirty="0"/>
          </a:p>
        </p:txBody>
      </p:sp>
      <p:sp>
        <p:nvSpPr>
          <p:cNvPr id="31" name="Text 29"/>
          <p:cNvSpPr txBox="1"/>
          <p:nvPr/>
        </p:nvSpPr>
        <p:spPr>
          <a:xfrm>
            <a:off x="6915150" y="3924300"/>
            <a:ext cx="762000" cy="419100"/>
          </a:xfrm>
          <a:prstGeom prst="rect">
            <a:avLst/>
          </a:prstGeom>
          <a:noFill/>
          <a:ln/>
        </p:spPr>
        <p:txBody>
          <a:bodyPr wrap="square" lIns="0" tIns="0" rIns="0" bIns="0" rtlCol="0" anchor="ctr"/>
          <a:lstStyle/>
          <a:p>
            <a:pPr algn="r" indent="0" marL="0">
              <a:buNone/>
            </a:pPr>
            <a:r>
              <a:rPr lang="en-US" sz="1700" b="1" dirty="0">
                <a:solidFill>
                  <a:srgbClr val="E8783F"/>
                </a:solidFill>
                <a:latin typeface="Yu Gothic" pitchFamily="34" charset="0"/>
                <a:ea typeface="Yu Gothic" pitchFamily="34" charset="-122"/>
                <a:cs typeface="Yu Gothic" pitchFamily="34" charset="-120"/>
              </a:rPr>
              <a:t>−0.05</a:t>
            </a:r>
            <a:endParaRPr lang="en-US" sz="1700" dirty="0"/>
          </a:p>
        </p:txBody>
      </p:sp>
      <p:sp>
        <p:nvSpPr>
          <p:cNvPr id="32" name="Shape 30"/>
          <p:cNvSpPr/>
          <p:nvPr/>
        </p:nvSpPr>
        <p:spPr>
          <a:xfrm>
            <a:off x="4514850" y="4381500"/>
            <a:ext cx="3162300" cy="0"/>
          </a:xfrm>
          <a:prstGeom prst="line">
            <a:avLst/>
          </a:prstGeom>
          <a:noFill/>
          <a:ln w="9525">
            <a:solidFill>
              <a:srgbClr val="B7C7D1"/>
            </a:solidFill>
            <a:prstDash val="solid"/>
          </a:ln>
        </p:spPr>
      </p:sp>
      <p:sp>
        <p:nvSpPr>
          <p:cNvPr id="33" name="Text 31"/>
          <p:cNvSpPr txBox="1"/>
          <p:nvPr/>
        </p:nvSpPr>
        <p:spPr>
          <a:xfrm>
            <a:off x="4514850" y="4438650"/>
            <a:ext cx="2438400" cy="4191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指令を急に変える</a:t>
            </a:r>
            <a:endParaRPr lang="en-US" sz="1500" dirty="0"/>
          </a:p>
        </p:txBody>
      </p:sp>
      <p:sp>
        <p:nvSpPr>
          <p:cNvPr id="34" name="Text 32"/>
          <p:cNvSpPr txBox="1"/>
          <p:nvPr/>
        </p:nvSpPr>
        <p:spPr>
          <a:xfrm>
            <a:off x="6915150" y="4438650"/>
            <a:ext cx="762000" cy="419100"/>
          </a:xfrm>
          <a:prstGeom prst="rect">
            <a:avLst/>
          </a:prstGeom>
          <a:noFill/>
          <a:ln/>
        </p:spPr>
        <p:txBody>
          <a:bodyPr wrap="square" lIns="0" tIns="0" rIns="0" bIns="0" rtlCol="0" anchor="ctr"/>
          <a:lstStyle/>
          <a:p>
            <a:pPr algn="r" indent="0" marL="0">
              <a:buNone/>
            </a:pPr>
            <a:r>
              <a:rPr lang="en-US" sz="1700" b="1" dirty="0">
                <a:solidFill>
                  <a:srgbClr val="E8783F"/>
                </a:solidFill>
                <a:latin typeface="Yu Gothic" pitchFamily="34" charset="0"/>
                <a:ea typeface="Yu Gothic" pitchFamily="34" charset="-122"/>
                <a:cs typeface="Yu Gothic" pitchFamily="34" charset="-120"/>
              </a:rPr>
              <a:t>−0.01</a:t>
            </a:r>
            <a:endParaRPr lang="en-US" sz="1700" dirty="0"/>
          </a:p>
        </p:txBody>
      </p:sp>
      <p:sp>
        <p:nvSpPr>
          <p:cNvPr id="35" name="Shape 33"/>
          <p:cNvSpPr/>
          <p:nvPr/>
        </p:nvSpPr>
        <p:spPr>
          <a:xfrm>
            <a:off x="4514850" y="4895850"/>
            <a:ext cx="3162300" cy="0"/>
          </a:xfrm>
          <a:prstGeom prst="line">
            <a:avLst/>
          </a:prstGeom>
          <a:noFill/>
          <a:ln w="9525">
            <a:solidFill>
              <a:srgbClr val="B7C7D1"/>
            </a:solidFill>
            <a:prstDash val="solid"/>
          </a:ln>
        </p:spPr>
      </p:sp>
      <p:sp>
        <p:nvSpPr>
          <p:cNvPr id="36" name="Text 34"/>
          <p:cNvSpPr txBox="1"/>
          <p:nvPr/>
        </p:nvSpPr>
        <p:spPr>
          <a:xfrm>
            <a:off x="4514850" y="4953000"/>
            <a:ext cx="2438400" cy="4191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力を使いすぎる</a:t>
            </a:r>
            <a:endParaRPr lang="en-US" sz="1500" dirty="0"/>
          </a:p>
        </p:txBody>
      </p:sp>
      <p:sp>
        <p:nvSpPr>
          <p:cNvPr id="37" name="Text 35"/>
          <p:cNvSpPr txBox="1"/>
          <p:nvPr/>
        </p:nvSpPr>
        <p:spPr>
          <a:xfrm>
            <a:off x="6915150" y="4953000"/>
            <a:ext cx="762000" cy="419100"/>
          </a:xfrm>
          <a:prstGeom prst="rect">
            <a:avLst/>
          </a:prstGeom>
          <a:noFill/>
          <a:ln/>
        </p:spPr>
        <p:txBody>
          <a:bodyPr wrap="square" lIns="0" tIns="0" rIns="0" bIns="0" rtlCol="0" anchor="ctr"/>
          <a:lstStyle/>
          <a:p>
            <a:pPr algn="r" indent="0" marL="0">
              <a:buNone/>
            </a:pPr>
            <a:r>
              <a:rPr lang="en-US" sz="1700" b="1" dirty="0">
                <a:solidFill>
                  <a:srgbClr val="E8783F"/>
                </a:solidFill>
                <a:latin typeface="Yu Gothic" pitchFamily="34" charset="0"/>
                <a:ea typeface="Yu Gothic" pitchFamily="34" charset="-122"/>
                <a:cs typeface="Yu Gothic" pitchFamily="34" charset="-120"/>
              </a:rPr>
              <a:t>ごく小</a:t>
            </a:r>
            <a:endParaRPr lang="en-US" sz="1700" dirty="0"/>
          </a:p>
        </p:txBody>
      </p:sp>
      <p:sp>
        <p:nvSpPr>
          <p:cNvPr id="38" name="Shape 36"/>
          <p:cNvSpPr/>
          <p:nvPr/>
        </p:nvSpPr>
        <p:spPr>
          <a:xfrm>
            <a:off x="8058150" y="1809750"/>
            <a:ext cx="3505200" cy="3810000"/>
          </a:xfrm>
          <a:prstGeom prst="rect">
            <a:avLst/>
          </a:prstGeom>
          <a:solidFill>
            <a:srgbClr val="F3EEE6"/>
          </a:solidFill>
          <a:ln w="19050">
            <a:solidFill>
              <a:srgbClr val="102B46"/>
            </a:solidFill>
            <a:prstDash val="solid"/>
          </a:ln>
        </p:spPr>
      </p:sp>
      <p:sp>
        <p:nvSpPr>
          <p:cNvPr id="39" name="Text 37"/>
          <p:cNvSpPr txBox="1"/>
          <p:nvPr/>
        </p:nvSpPr>
        <p:spPr>
          <a:xfrm>
            <a:off x="8229600" y="1943100"/>
            <a:ext cx="2286000" cy="304800"/>
          </a:xfrm>
          <a:prstGeom prst="rect">
            <a:avLst/>
          </a:prstGeom>
          <a:noFill/>
          <a:ln/>
        </p:spPr>
        <p:txBody>
          <a:bodyPr wrap="square" lIns="0" tIns="0" rIns="0" bIns="0" rtlCol="0" anchor="ctr"/>
          <a:lstStyle/>
          <a:p>
            <a:pPr algn="l" indent="0" marL="0">
              <a:buNone/>
            </a:pPr>
            <a:r>
              <a:rPr lang="en-US" sz="2000" b="1" dirty="0">
                <a:solidFill>
                  <a:srgbClr val="102B46"/>
                </a:solidFill>
                <a:latin typeface="Yu Gothic" pitchFamily="34" charset="0"/>
                <a:ea typeface="Yu Gothic" pitchFamily="34" charset="-122"/>
                <a:cs typeface="Yu Gothic" pitchFamily="34" charset="-120"/>
              </a:rPr>
              <a:t>安全に動く</a:t>
            </a:r>
            <a:endParaRPr lang="en-US" sz="2000" dirty="0"/>
          </a:p>
        </p:txBody>
      </p:sp>
      <p:sp>
        <p:nvSpPr>
          <p:cNvPr id="40" name="Text 38"/>
          <p:cNvSpPr txBox="1"/>
          <p:nvPr/>
        </p:nvSpPr>
        <p:spPr>
          <a:xfrm>
            <a:off x="10629900" y="1962150"/>
            <a:ext cx="762000" cy="266700"/>
          </a:xfrm>
          <a:prstGeom prst="rect">
            <a:avLst/>
          </a:prstGeom>
          <a:solidFill>
            <a:srgbClr val="102B46"/>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叱る</a:t>
            </a:r>
            <a:endParaRPr lang="en-US" sz="1400" dirty="0"/>
          </a:p>
        </p:txBody>
      </p:sp>
      <p:sp>
        <p:nvSpPr>
          <p:cNvPr id="41" name="Text 39"/>
          <p:cNvSpPr txBox="1"/>
          <p:nvPr/>
        </p:nvSpPr>
        <p:spPr>
          <a:xfrm>
            <a:off x="8229600" y="2381250"/>
            <a:ext cx="2438400" cy="4191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足以外が地面に当たる</a:t>
            </a:r>
            <a:endParaRPr lang="en-US" sz="1500" dirty="0"/>
          </a:p>
        </p:txBody>
      </p:sp>
      <p:sp>
        <p:nvSpPr>
          <p:cNvPr id="42" name="Text 40"/>
          <p:cNvSpPr txBox="1"/>
          <p:nvPr/>
        </p:nvSpPr>
        <p:spPr>
          <a:xfrm>
            <a:off x="10629900" y="2381250"/>
            <a:ext cx="762000" cy="419100"/>
          </a:xfrm>
          <a:prstGeom prst="rect">
            <a:avLst/>
          </a:prstGeom>
          <a:noFill/>
          <a:ln/>
        </p:spPr>
        <p:txBody>
          <a:bodyPr wrap="square" lIns="0" tIns="0" rIns="0" bIns="0" rtlCol="0" anchor="ctr"/>
          <a:lstStyle/>
          <a:p>
            <a:pPr algn="r" indent="0" marL="0">
              <a:buNone/>
            </a:pPr>
            <a:r>
              <a:rPr lang="en-US" sz="1700" b="1" dirty="0">
                <a:solidFill>
                  <a:srgbClr val="102B46"/>
                </a:solidFill>
                <a:latin typeface="Yu Gothic" pitchFamily="34" charset="0"/>
                <a:ea typeface="Yu Gothic" pitchFamily="34" charset="-122"/>
                <a:cs typeface="Yu Gothic" pitchFamily="34" charset="-120"/>
              </a:rPr>
              <a:t>−1.0</a:t>
            </a:r>
            <a:endParaRPr lang="en-US" sz="1700" dirty="0"/>
          </a:p>
        </p:txBody>
      </p:sp>
      <p:sp>
        <p:nvSpPr>
          <p:cNvPr id="43" name="Shape 41"/>
          <p:cNvSpPr/>
          <p:nvPr/>
        </p:nvSpPr>
        <p:spPr>
          <a:xfrm>
            <a:off x="8229600" y="2838450"/>
            <a:ext cx="3162300" cy="0"/>
          </a:xfrm>
          <a:prstGeom prst="line">
            <a:avLst/>
          </a:prstGeom>
          <a:noFill/>
          <a:ln w="9525">
            <a:solidFill>
              <a:srgbClr val="B7C7D1"/>
            </a:solidFill>
            <a:prstDash val="solid"/>
          </a:ln>
        </p:spPr>
      </p:sp>
      <p:sp>
        <p:nvSpPr>
          <p:cNvPr id="44" name="Text 42"/>
          <p:cNvSpPr txBox="1"/>
          <p:nvPr/>
        </p:nvSpPr>
        <p:spPr>
          <a:xfrm>
            <a:off x="8229600" y="2895600"/>
            <a:ext cx="2438400" cy="4191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関節の限界に近づく</a:t>
            </a:r>
            <a:endParaRPr lang="en-US" sz="1500" dirty="0"/>
          </a:p>
        </p:txBody>
      </p:sp>
      <p:sp>
        <p:nvSpPr>
          <p:cNvPr id="45" name="Text 43"/>
          <p:cNvSpPr txBox="1"/>
          <p:nvPr/>
        </p:nvSpPr>
        <p:spPr>
          <a:xfrm>
            <a:off x="10629900" y="2895600"/>
            <a:ext cx="762000" cy="419100"/>
          </a:xfrm>
          <a:prstGeom prst="rect">
            <a:avLst/>
          </a:prstGeom>
          <a:noFill/>
          <a:ln/>
        </p:spPr>
        <p:txBody>
          <a:bodyPr wrap="square" lIns="0" tIns="0" rIns="0" bIns="0" rtlCol="0" anchor="ctr"/>
          <a:lstStyle/>
          <a:p>
            <a:pPr algn="r" indent="0" marL="0">
              <a:buNone/>
            </a:pPr>
            <a:r>
              <a:rPr lang="en-US" sz="1700" b="1" dirty="0">
                <a:solidFill>
                  <a:srgbClr val="102B46"/>
                </a:solidFill>
                <a:latin typeface="Yu Gothic" pitchFamily="34" charset="0"/>
                <a:ea typeface="Yu Gothic" pitchFamily="34" charset="-122"/>
                <a:cs typeface="Yu Gothic" pitchFamily="34" charset="-120"/>
              </a:rPr>
              <a:t>−1.0</a:t>
            </a:r>
            <a:endParaRPr lang="en-US" sz="1700" dirty="0"/>
          </a:p>
        </p:txBody>
      </p:sp>
      <p:sp>
        <p:nvSpPr>
          <p:cNvPr id="46" name="Shape 44"/>
          <p:cNvSpPr/>
          <p:nvPr/>
        </p:nvSpPr>
        <p:spPr>
          <a:xfrm>
            <a:off x="8229600" y="3352800"/>
            <a:ext cx="3162300" cy="0"/>
          </a:xfrm>
          <a:prstGeom prst="line">
            <a:avLst/>
          </a:prstGeom>
          <a:noFill/>
          <a:ln w="9525">
            <a:solidFill>
              <a:srgbClr val="B7C7D1"/>
            </a:solidFill>
            <a:prstDash val="solid"/>
          </a:ln>
        </p:spPr>
      </p:sp>
      <p:sp>
        <p:nvSpPr>
          <p:cNvPr id="47" name="Text 45"/>
          <p:cNvSpPr txBox="1"/>
          <p:nvPr/>
        </p:nvSpPr>
        <p:spPr>
          <a:xfrm>
            <a:off x="8229600" y="3409950"/>
            <a:ext cx="2438400" cy="4191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股の開き・ひねりがずれる</a:t>
            </a:r>
            <a:endParaRPr lang="en-US" sz="1500" dirty="0"/>
          </a:p>
        </p:txBody>
      </p:sp>
      <p:sp>
        <p:nvSpPr>
          <p:cNvPr id="48" name="Text 46"/>
          <p:cNvSpPr txBox="1"/>
          <p:nvPr/>
        </p:nvSpPr>
        <p:spPr>
          <a:xfrm>
            <a:off x="10629900" y="3409950"/>
            <a:ext cx="762000" cy="419100"/>
          </a:xfrm>
          <a:prstGeom prst="rect">
            <a:avLst/>
          </a:prstGeom>
          <a:noFill/>
          <a:ln/>
        </p:spPr>
        <p:txBody>
          <a:bodyPr wrap="square" lIns="0" tIns="0" rIns="0" bIns="0" rtlCol="0" anchor="ctr"/>
          <a:lstStyle/>
          <a:p>
            <a:pPr algn="r" indent="0" marL="0">
              <a:buNone/>
            </a:pPr>
            <a:r>
              <a:rPr lang="en-US" sz="1700" b="1" dirty="0">
                <a:solidFill>
                  <a:srgbClr val="102B46"/>
                </a:solidFill>
                <a:latin typeface="Yu Gothic" pitchFamily="34" charset="0"/>
                <a:ea typeface="Yu Gothic" pitchFamily="34" charset="-122"/>
                <a:cs typeface="Yu Gothic" pitchFamily="34" charset="-120"/>
              </a:rPr>
              <a:t>−0.1</a:t>
            </a:r>
            <a:endParaRPr lang="en-US" sz="1700" dirty="0"/>
          </a:p>
        </p:txBody>
      </p:sp>
      <p:sp>
        <p:nvSpPr>
          <p:cNvPr id="49" name="Shape 47"/>
          <p:cNvSpPr/>
          <p:nvPr/>
        </p:nvSpPr>
        <p:spPr>
          <a:xfrm>
            <a:off x="8229600" y="3867150"/>
            <a:ext cx="3162300" cy="0"/>
          </a:xfrm>
          <a:prstGeom prst="line">
            <a:avLst/>
          </a:prstGeom>
          <a:noFill/>
          <a:ln w="9525">
            <a:solidFill>
              <a:srgbClr val="B7C7D1"/>
            </a:solidFill>
            <a:prstDash val="solid"/>
          </a:ln>
        </p:spPr>
      </p:sp>
      <p:sp>
        <p:nvSpPr>
          <p:cNvPr id="50" name="Text 48"/>
          <p:cNvSpPr txBox="1"/>
          <p:nvPr/>
        </p:nvSpPr>
        <p:spPr>
          <a:xfrm>
            <a:off x="8229600" y="3924300"/>
            <a:ext cx="2438400" cy="4191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膝の曲げ方がずれる</a:t>
            </a:r>
            <a:endParaRPr lang="en-US" sz="1500" dirty="0"/>
          </a:p>
        </p:txBody>
      </p:sp>
      <p:sp>
        <p:nvSpPr>
          <p:cNvPr id="51" name="Text 49"/>
          <p:cNvSpPr txBox="1"/>
          <p:nvPr/>
        </p:nvSpPr>
        <p:spPr>
          <a:xfrm>
            <a:off x="10629900" y="3924300"/>
            <a:ext cx="762000" cy="419100"/>
          </a:xfrm>
          <a:prstGeom prst="rect">
            <a:avLst/>
          </a:prstGeom>
          <a:noFill/>
          <a:ln/>
        </p:spPr>
        <p:txBody>
          <a:bodyPr wrap="square" lIns="0" tIns="0" rIns="0" bIns="0" rtlCol="0" anchor="ctr"/>
          <a:lstStyle/>
          <a:p>
            <a:pPr algn="r" indent="0" marL="0">
              <a:buNone/>
            </a:pPr>
            <a:r>
              <a:rPr lang="en-US" sz="1700" b="1" dirty="0">
                <a:solidFill>
                  <a:srgbClr val="102B46"/>
                </a:solidFill>
                <a:latin typeface="Yu Gothic" pitchFamily="34" charset="0"/>
                <a:ea typeface="Yu Gothic" pitchFamily="34" charset="-122"/>
                <a:cs typeface="Yu Gothic" pitchFamily="34" charset="-120"/>
              </a:rPr>
              <a:t>−0.01</a:t>
            </a:r>
            <a:endParaRPr lang="en-US" sz="1700" dirty="0"/>
          </a:p>
        </p:txBody>
      </p:sp>
      <p:sp>
        <p:nvSpPr>
          <p:cNvPr id="52" name="Text 50"/>
          <p:cNvSpPr txBox="1"/>
          <p:nvPr/>
        </p:nvSpPr>
        <p:spPr>
          <a:xfrm>
            <a:off x="628650" y="5810250"/>
            <a:ext cx="10934700" cy="381000"/>
          </a:xfrm>
          <a:prstGeom prst="rect">
            <a:avLst/>
          </a:prstGeom>
          <a:solidFill>
            <a:srgbClr val="E8F1F5"/>
          </a:solidFill>
          <a:ln/>
        </p:spPr>
        <p:txBody>
          <a:bodyPr wrap="square" lIns="0" tIns="0" rIns="0" bIns="0" rtlCol="0" anchor="ctr"/>
          <a:lstStyle/>
          <a:p>
            <a:pPr algn="ctr" indent="0" marL="0">
              <a:buNone/>
            </a:pPr>
            <a:r>
              <a:rPr lang="en-US" sz="1600" b="1" dirty="0">
                <a:solidFill>
                  <a:srgbClr val="102B46"/>
                </a:solidFill>
                <a:latin typeface="Yu Gothic" pitchFamily="34" charset="0"/>
                <a:ea typeface="Yu Gothic" pitchFamily="34" charset="-122"/>
                <a:cs typeface="Yu Gothic" pitchFamily="34" charset="-120"/>
              </a:rPr>
              <a:t>転んだら（胴体が地面に触れる・大きく傾く）その回は終わり、最初からやり直し</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報酬関数の変遷：初期 → 途中 → 最終形</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Shape 4"/>
          <p:cNvSpPr/>
          <p:nvPr/>
        </p:nvSpPr>
        <p:spPr>
          <a:xfrm>
            <a:off x="628650" y="1333500"/>
            <a:ext cx="3467100" cy="4476750"/>
          </a:xfrm>
          <a:prstGeom prst="roundRect">
            <a:avLst>
              <a:gd name="adj" fmla="val 1319"/>
            </a:avLst>
          </a:prstGeom>
          <a:solidFill>
            <a:srgbClr val="FBEDEA"/>
          </a:solidFill>
          <a:ln w="25400">
            <a:solidFill>
              <a:srgbClr val="C8553D"/>
            </a:solidFill>
            <a:prstDash val="solid"/>
          </a:ln>
        </p:spPr>
      </p:sp>
      <p:sp>
        <p:nvSpPr>
          <p:cNvPr id="7" name="Text 5"/>
          <p:cNvSpPr txBox="1"/>
          <p:nvPr/>
        </p:nvSpPr>
        <p:spPr>
          <a:xfrm>
            <a:off x="819150" y="1485900"/>
            <a:ext cx="3086100" cy="381000"/>
          </a:xfrm>
          <a:prstGeom prst="rect">
            <a:avLst/>
          </a:prstGeom>
          <a:noFill/>
          <a:ln/>
        </p:spPr>
        <p:txBody>
          <a:bodyPr wrap="square" lIns="0" tIns="0" rIns="0" bIns="0" rtlCol="0" anchor="ctr"/>
          <a:lstStyle/>
          <a:p>
            <a:pPr algn="l" indent="0" marL="0">
              <a:buNone/>
            </a:pPr>
            <a:r>
              <a:rPr lang="en-US" sz="2600" b="1" dirty="0">
                <a:solidFill>
                  <a:srgbClr val="C8553D"/>
                </a:solidFill>
                <a:latin typeface="Yu Gothic" pitchFamily="34" charset="0"/>
                <a:ea typeface="Yu Gothic" pitchFamily="34" charset="-122"/>
                <a:cs typeface="Yu Gothic" pitchFamily="34" charset="-120"/>
              </a:rPr>
              <a:t>初期</a:t>
            </a:r>
            <a:endParaRPr lang="en-US" sz="2600" dirty="0"/>
          </a:p>
        </p:txBody>
      </p:sp>
      <p:sp>
        <p:nvSpPr>
          <p:cNvPr id="8" name="Text 6"/>
          <p:cNvSpPr txBox="1"/>
          <p:nvPr/>
        </p:nvSpPr>
        <p:spPr>
          <a:xfrm>
            <a:off x="819150" y="1943100"/>
            <a:ext cx="3086100" cy="571500"/>
          </a:xfrm>
          <a:prstGeom prst="rect">
            <a:avLst/>
          </a:prstGeom>
          <a:noFill/>
          <a:ln/>
        </p:spPr>
        <p:txBody>
          <a:bodyPr wrap="square" lIns="0" tIns="0" rIns="0" bIns="0" rtlCol="0" anchor="t"/>
          <a:lstStyle/>
          <a:p>
            <a:pPr algn="l" indent="0" marL="0">
              <a:buNone/>
            </a:pPr>
            <a:r>
              <a:rPr lang="en-US" sz="1600" dirty="0">
                <a:solidFill>
                  <a:srgbClr val="5E6A73"/>
                </a:solidFill>
                <a:latin typeface="Yu Gothic" pitchFamily="34" charset="0"/>
                <a:ea typeface="Yu Gothic" pitchFamily="34" charset="-122"/>
                <a:cs typeface="Yu Gothic" pitchFamily="34" charset="-120"/>
              </a:rPr>
              <a:t>見本の設定のまま</a:t>
            </a:r>
            <a:endParaRPr lang="en-US" sz="1600" dirty="0"/>
          </a:p>
        </p:txBody>
      </p:sp>
      <p:sp>
        <p:nvSpPr>
          <p:cNvPr id="9" name="Shape 7"/>
          <p:cNvSpPr/>
          <p:nvPr/>
        </p:nvSpPr>
        <p:spPr>
          <a:xfrm>
            <a:off x="819150" y="2590800"/>
            <a:ext cx="3086100" cy="0"/>
          </a:xfrm>
          <a:prstGeom prst="line">
            <a:avLst/>
          </a:prstGeom>
          <a:noFill/>
          <a:ln w="12700">
            <a:solidFill>
              <a:srgbClr val="B7C7D1"/>
            </a:solidFill>
            <a:prstDash val="solid"/>
          </a:ln>
        </p:spPr>
      </p:sp>
      <p:sp>
        <p:nvSpPr>
          <p:cNvPr id="10" name="Text 8"/>
          <p:cNvSpPr txBox="1"/>
          <p:nvPr/>
        </p:nvSpPr>
        <p:spPr>
          <a:xfrm>
            <a:off x="819150" y="2705100"/>
            <a:ext cx="3086100" cy="161925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7212B"/>
                </a:solidFill>
                <a:latin typeface="Yu Gothic" pitchFamily="34" charset="0"/>
                <a:ea typeface="Yu Gothic" pitchFamily="34" charset="-122"/>
                <a:cs typeface="Yu Gothic" pitchFamily="34" charset="-120"/>
              </a:rPr>
              <a:t>3000回練習しても</a:t>
            </a:r>
            <a:endParaRPr lang="en-US" sz="1800" dirty="0"/>
          </a:p>
          <a:p>
            <a:pPr algn="l" marL="342900" indent="-342900">
              <a:spcAft>
                <a:spcPts val="800"/>
              </a:spcAft>
              <a:buSzPct val="100000"/>
              <a:buChar char="•"/>
            </a:pPr>
            <a:r>
              <a:rPr lang="en-US" sz="1800" dirty="0">
                <a:solidFill>
                  <a:srgbClr val="17212B"/>
                </a:solidFill>
                <a:latin typeface="Yu Gothic" pitchFamily="34" charset="0"/>
                <a:ea typeface="Yu Gothic" pitchFamily="34" charset="-122"/>
                <a:cs typeface="Yu Gothic" pitchFamily="34" charset="-120"/>
              </a:rPr>
              <a:t>全員その場で立ち止まる</a:t>
            </a:r>
            <a:endParaRPr lang="en-US" sz="1800" dirty="0"/>
          </a:p>
        </p:txBody>
      </p:sp>
      <p:sp>
        <p:nvSpPr>
          <p:cNvPr id="11" name="Text 9"/>
          <p:cNvSpPr txBox="1"/>
          <p:nvPr/>
        </p:nvSpPr>
        <p:spPr>
          <a:xfrm>
            <a:off x="819150" y="4953000"/>
            <a:ext cx="3086100" cy="609600"/>
          </a:xfrm>
          <a:prstGeom prst="rect">
            <a:avLst/>
          </a:prstGeom>
          <a:solidFill>
            <a:srgbClr val="C8553D"/>
          </a:solidFill>
          <a:ln/>
        </p:spPr>
        <p:txBody>
          <a:bodyPr wrap="square" lIns="0" tIns="0" rIns="0" bIns="0" rtlCol="0" anchor="ctr"/>
          <a:lstStyle/>
          <a:p>
            <a:pPr algn="ctr" indent="0" marL="0">
              <a:buNone/>
            </a:pPr>
            <a:r>
              <a:rPr lang="en-US" sz="2400" b="1" dirty="0">
                <a:solidFill>
                  <a:srgbClr val="FFFFFF"/>
                </a:solidFill>
                <a:latin typeface="Yu Gothic" pitchFamily="34" charset="0"/>
                <a:ea typeface="Yu Gothic" pitchFamily="34" charset="-122"/>
                <a:cs typeface="Yu Gothic" pitchFamily="34" charset="-120"/>
              </a:rPr>
              <a:t>前進 0.00 m/s</a:t>
            </a:r>
            <a:endParaRPr lang="en-US" sz="2400" dirty="0"/>
          </a:p>
        </p:txBody>
      </p:sp>
      <p:sp>
        <p:nvSpPr>
          <p:cNvPr id="12" name="Shape 10"/>
          <p:cNvSpPr/>
          <p:nvPr/>
        </p:nvSpPr>
        <p:spPr>
          <a:xfrm>
            <a:off x="4114800" y="3571875"/>
            <a:ext cx="228600" cy="95"/>
          </a:xfrm>
          <a:prstGeom prst="line">
            <a:avLst/>
          </a:prstGeom>
          <a:noFill/>
          <a:ln w="38100">
            <a:solidFill>
              <a:srgbClr val="102B46"/>
            </a:solidFill>
            <a:prstDash val="solid"/>
            <a:tailEnd type="triangle"/>
          </a:ln>
        </p:spPr>
      </p:sp>
      <p:sp>
        <p:nvSpPr>
          <p:cNvPr id="13" name="Shape 11"/>
          <p:cNvSpPr/>
          <p:nvPr/>
        </p:nvSpPr>
        <p:spPr>
          <a:xfrm>
            <a:off x="4362450" y="1333500"/>
            <a:ext cx="3467100" cy="4476750"/>
          </a:xfrm>
          <a:prstGeom prst="roundRect">
            <a:avLst>
              <a:gd name="adj" fmla="val 1319"/>
            </a:avLst>
          </a:prstGeom>
          <a:solidFill>
            <a:srgbClr val="E8F1F5"/>
          </a:solidFill>
          <a:ln w="25400">
            <a:solidFill>
              <a:srgbClr val="1C5A85"/>
            </a:solidFill>
            <a:prstDash val="solid"/>
          </a:ln>
        </p:spPr>
      </p:sp>
      <p:sp>
        <p:nvSpPr>
          <p:cNvPr id="14" name="Text 12"/>
          <p:cNvSpPr txBox="1"/>
          <p:nvPr/>
        </p:nvSpPr>
        <p:spPr>
          <a:xfrm>
            <a:off x="4552950" y="1485900"/>
            <a:ext cx="3086100" cy="381000"/>
          </a:xfrm>
          <a:prstGeom prst="rect">
            <a:avLst/>
          </a:prstGeom>
          <a:noFill/>
          <a:ln/>
        </p:spPr>
        <p:txBody>
          <a:bodyPr wrap="square" lIns="0" tIns="0" rIns="0" bIns="0" rtlCol="0" anchor="ctr"/>
          <a:lstStyle/>
          <a:p>
            <a:pPr algn="l" indent="0" marL="0">
              <a:buNone/>
            </a:pPr>
            <a:r>
              <a:rPr lang="en-US" sz="2600" b="1" dirty="0">
                <a:solidFill>
                  <a:srgbClr val="1C5A85"/>
                </a:solidFill>
                <a:latin typeface="Yu Gothic" pitchFamily="34" charset="0"/>
                <a:ea typeface="Yu Gothic" pitchFamily="34" charset="-122"/>
                <a:cs typeface="Yu Gothic" pitchFamily="34" charset="-120"/>
              </a:rPr>
              <a:t>途中</a:t>
            </a:r>
            <a:endParaRPr lang="en-US" sz="2600" dirty="0"/>
          </a:p>
        </p:txBody>
      </p:sp>
      <p:sp>
        <p:nvSpPr>
          <p:cNvPr id="15" name="Text 13"/>
          <p:cNvSpPr txBox="1"/>
          <p:nvPr/>
        </p:nvSpPr>
        <p:spPr>
          <a:xfrm>
            <a:off x="4552950" y="1943100"/>
            <a:ext cx="3086100" cy="571500"/>
          </a:xfrm>
          <a:prstGeom prst="rect">
            <a:avLst/>
          </a:prstGeom>
          <a:noFill/>
          <a:ln/>
        </p:spPr>
        <p:txBody>
          <a:bodyPr wrap="square" lIns="0" tIns="0" rIns="0" bIns="0" rtlCol="0" anchor="t"/>
          <a:lstStyle/>
          <a:p>
            <a:pPr algn="l" indent="0" marL="0">
              <a:buNone/>
            </a:pPr>
            <a:r>
              <a:rPr lang="en-US" sz="1600" dirty="0">
                <a:solidFill>
                  <a:srgbClr val="5E6A73"/>
                </a:solidFill>
                <a:latin typeface="Yu Gothic" pitchFamily="34" charset="0"/>
                <a:ea typeface="Yu Gothic" pitchFamily="34" charset="-122"/>
                <a:cs typeface="Yu Gothic" pitchFamily="34" charset="-120"/>
              </a:rPr>
              <a:t>足上げの報酬を作り直し、平地だけで練習</a:t>
            </a:r>
            <a:endParaRPr lang="en-US" sz="1600" dirty="0"/>
          </a:p>
        </p:txBody>
      </p:sp>
      <p:sp>
        <p:nvSpPr>
          <p:cNvPr id="16" name="Shape 14"/>
          <p:cNvSpPr/>
          <p:nvPr/>
        </p:nvSpPr>
        <p:spPr>
          <a:xfrm>
            <a:off x="4552950" y="2590800"/>
            <a:ext cx="3086100" cy="0"/>
          </a:xfrm>
          <a:prstGeom prst="line">
            <a:avLst/>
          </a:prstGeom>
          <a:noFill/>
          <a:ln w="12700">
            <a:solidFill>
              <a:srgbClr val="B7C7D1"/>
            </a:solidFill>
            <a:prstDash val="solid"/>
          </a:ln>
        </p:spPr>
      </p:sp>
      <p:sp>
        <p:nvSpPr>
          <p:cNvPr id="17" name="Text 15"/>
          <p:cNvSpPr txBox="1"/>
          <p:nvPr/>
        </p:nvSpPr>
        <p:spPr>
          <a:xfrm>
            <a:off x="4552950" y="2705100"/>
            <a:ext cx="3086100" cy="161925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7212B"/>
                </a:solidFill>
                <a:latin typeface="Yu Gothic" pitchFamily="34" charset="0"/>
                <a:ea typeface="Yu Gothic" pitchFamily="34" charset="-122"/>
                <a:cs typeface="Yu Gothic" pitchFamily="34" charset="-120"/>
              </a:rPr>
              <a:t>平地を前に歩けた</a:t>
            </a:r>
            <a:endParaRPr lang="en-US" sz="1800" dirty="0"/>
          </a:p>
          <a:p>
            <a:pPr algn="l" marL="342900" indent="-342900">
              <a:spcAft>
                <a:spcPts val="800"/>
              </a:spcAft>
              <a:buSzPct val="100000"/>
              <a:buChar char="•"/>
            </a:pPr>
            <a:r>
              <a:rPr lang="en-US" sz="1800" dirty="0">
                <a:solidFill>
                  <a:srgbClr val="17212B"/>
                </a:solidFill>
                <a:latin typeface="Yu Gothic" pitchFamily="34" charset="0"/>
                <a:ea typeface="Yu Gothic" pitchFamily="34" charset="-122"/>
                <a:cs typeface="Yu Gothic" pitchFamily="34" charset="-120"/>
              </a:rPr>
              <a:t>その場で回れない</a:t>
            </a:r>
            <a:endParaRPr lang="en-US" sz="1800" dirty="0"/>
          </a:p>
          <a:p>
            <a:pPr algn="l" marL="342900" indent="-342900">
              <a:spcAft>
                <a:spcPts val="800"/>
              </a:spcAft>
              <a:buSzPct val="100000"/>
              <a:buChar char="•"/>
            </a:pPr>
            <a:r>
              <a:rPr lang="en-US" sz="1800" dirty="0">
                <a:solidFill>
                  <a:srgbClr val="17212B"/>
                </a:solidFill>
                <a:latin typeface="Yu Gothic" pitchFamily="34" charset="0"/>
                <a:ea typeface="Yu Gothic" pitchFamily="34" charset="-122"/>
                <a:cs typeface="Yu Gothic" pitchFamily="34" charset="-120"/>
              </a:rPr>
              <a:t>10°の坂で転ぶ</a:t>
            </a:r>
            <a:endParaRPr lang="en-US" sz="1800" dirty="0"/>
          </a:p>
        </p:txBody>
      </p:sp>
      <p:sp>
        <p:nvSpPr>
          <p:cNvPr id="18" name="Text 16"/>
          <p:cNvSpPr txBox="1"/>
          <p:nvPr/>
        </p:nvSpPr>
        <p:spPr>
          <a:xfrm>
            <a:off x="4552950" y="4953000"/>
            <a:ext cx="3086100" cy="609600"/>
          </a:xfrm>
          <a:prstGeom prst="rect">
            <a:avLst/>
          </a:prstGeom>
          <a:solidFill>
            <a:srgbClr val="1C5A85"/>
          </a:solidFill>
          <a:ln/>
        </p:spPr>
        <p:txBody>
          <a:bodyPr wrap="square" lIns="0" tIns="0" rIns="0" bIns="0" rtlCol="0" anchor="ctr"/>
          <a:lstStyle/>
          <a:p>
            <a:pPr algn="ctr" indent="0" marL="0">
              <a:buNone/>
            </a:pPr>
            <a:r>
              <a:rPr lang="en-US" sz="2400" b="1" dirty="0">
                <a:solidFill>
                  <a:srgbClr val="FFFFFF"/>
                </a:solidFill>
                <a:latin typeface="Yu Gothic" pitchFamily="34" charset="0"/>
                <a:ea typeface="Yu Gothic" pitchFamily="34" charset="-122"/>
                <a:cs typeface="Yu Gothic" pitchFamily="34" charset="-120"/>
              </a:rPr>
              <a:t>前進 0.42 m/s</a:t>
            </a:r>
            <a:endParaRPr lang="en-US" sz="2400" dirty="0"/>
          </a:p>
        </p:txBody>
      </p:sp>
      <p:sp>
        <p:nvSpPr>
          <p:cNvPr id="19" name="Shape 17"/>
          <p:cNvSpPr/>
          <p:nvPr/>
        </p:nvSpPr>
        <p:spPr>
          <a:xfrm>
            <a:off x="7848600" y="3571875"/>
            <a:ext cx="228600" cy="95"/>
          </a:xfrm>
          <a:prstGeom prst="line">
            <a:avLst/>
          </a:prstGeom>
          <a:noFill/>
          <a:ln w="38100">
            <a:solidFill>
              <a:srgbClr val="102B46"/>
            </a:solidFill>
            <a:prstDash val="solid"/>
            <a:tailEnd type="triangle"/>
          </a:ln>
        </p:spPr>
      </p:sp>
      <p:sp>
        <p:nvSpPr>
          <p:cNvPr id="20" name="Shape 18"/>
          <p:cNvSpPr/>
          <p:nvPr/>
        </p:nvSpPr>
        <p:spPr>
          <a:xfrm>
            <a:off x="8096250" y="1333500"/>
            <a:ext cx="3467100" cy="4476750"/>
          </a:xfrm>
          <a:prstGeom prst="roundRect">
            <a:avLst>
              <a:gd name="adj" fmla="val 1319"/>
            </a:avLst>
          </a:prstGeom>
          <a:solidFill>
            <a:srgbClr val="EAF4EE"/>
          </a:solidFill>
          <a:ln w="25400">
            <a:solidFill>
              <a:srgbClr val="2E8B57"/>
            </a:solidFill>
            <a:prstDash val="solid"/>
          </a:ln>
        </p:spPr>
      </p:sp>
      <p:sp>
        <p:nvSpPr>
          <p:cNvPr id="21" name="Text 19"/>
          <p:cNvSpPr txBox="1"/>
          <p:nvPr/>
        </p:nvSpPr>
        <p:spPr>
          <a:xfrm>
            <a:off x="8286750" y="1485900"/>
            <a:ext cx="3086100" cy="381000"/>
          </a:xfrm>
          <a:prstGeom prst="rect">
            <a:avLst/>
          </a:prstGeom>
          <a:noFill/>
          <a:ln/>
        </p:spPr>
        <p:txBody>
          <a:bodyPr wrap="square" lIns="0" tIns="0" rIns="0" bIns="0" rtlCol="0" anchor="ctr"/>
          <a:lstStyle/>
          <a:p>
            <a:pPr algn="l" indent="0" marL="0">
              <a:buNone/>
            </a:pPr>
            <a:r>
              <a:rPr lang="en-US" sz="2600" b="1" dirty="0">
                <a:solidFill>
                  <a:srgbClr val="2E8B57"/>
                </a:solidFill>
                <a:latin typeface="Yu Gothic" pitchFamily="34" charset="0"/>
                <a:ea typeface="Yu Gothic" pitchFamily="34" charset="-122"/>
                <a:cs typeface="Yu Gothic" pitchFamily="34" charset="-120"/>
              </a:rPr>
              <a:t>最終形</a:t>
            </a:r>
            <a:endParaRPr lang="en-US" sz="2600" dirty="0"/>
          </a:p>
        </p:txBody>
      </p:sp>
      <p:sp>
        <p:nvSpPr>
          <p:cNvPr id="22" name="Text 20"/>
          <p:cNvSpPr txBox="1"/>
          <p:nvPr/>
        </p:nvSpPr>
        <p:spPr>
          <a:xfrm>
            <a:off x="8286750" y="1943100"/>
            <a:ext cx="3086100" cy="571500"/>
          </a:xfrm>
          <a:prstGeom prst="rect">
            <a:avLst/>
          </a:prstGeom>
          <a:noFill/>
          <a:ln/>
        </p:spPr>
        <p:txBody>
          <a:bodyPr wrap="square" lIns="0" tIns="0" rIns="0" bIns="0" rtlCol="0" anchor="t"/>
          <a:lstStyle/>
          <a:p>
            <a:pPr algn="l" indent="0" marL="0">
              <a:buNone/>
            </a:pPr>
            <a:r>
              <a:rPr lang="en-US" sz="1600" dirty="0">
                <a:solidFill>
                  <a:srgbClr val="5E6A73"/>
                </a:solidFill>
                <a:latin typeface="Yu Gothic" pitchFamily="34" charset="0"/>
                <a:ea typeface="Yu Gothic" pitchFamily="34" charset="-122"/>
                <a:cs typeface="Yu Gothic" pitchFamily="34" charset="-120"/>
              </a:rPr>
              <a:t>回る練習を増やし、坂・でこぼこで練習</a:t>
            </a:r>
            <a:endParaRPr lang="en-US" sz="1600" dirty="0"/>
          </a:p>
        </p:txBody>
      </p:sp>
      <p:sp>
        <p:nvSpPr>
          <p:cNvPr id="23" name="Shape 21"/>
          <p:cNvSpPr/>
          <p:nvPr/>
        </p:nvSpPr>
        <p:spPr>
          <a:xfrm>
            <a:off x="8286750" y="2590800"/>
            <a:ext cx="3086100" cy="0"/>
          </a:xfrm>
          <a:prstGeom prst="line">
            <a:avLst/>
          </a:prstGeom>
          <a:noFill/>
          <a:ln w="12700">
            <a:solidFill>
              <a:srgbClr val="B7C7D1"/>
            </a:solidFill>
            <a:prstDash val="solid"/>
          </a:ln>
        </p:spPr>
      </p:sp>
      <p:sp>
        <p:nvSpPr>
          <p:cNvPr id="24" name="Text 22"/>
          <p:cNvSpPr txBox="1"/>
          <p:nvPr/>
        </p:nvSpPr>
        <p:spPr>
          <a:xfrm>
            <a:off x="8286750" y="2705100"/>
            <a:ext cx="3086100" cy="161925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7212B"/>
                </a:solidFill>
                <a:latin typeface="Yu Gothic" pitchFamily="34" charset="0"/>
                <a:ea typeface="Yu Gothic" pitchFamily="34" charset="-122"/>
                <a:cs typeface="Yu Gothic" pitchFamily="34" charset="-120"/>
              </a:rPr>
              <a:t>平地・坂・でこぼこ</a:t>
            </a:r>
            <a:endParaRPr lang="en-US" sz="1800" dirty="0"/>
          </a:p>
          <a:p>
            <a:pPr algn="l" marL="342900" indent="-342900">
              <a:spcAft>
                <a:spcPts val="800"/>
              </a:spcAft>
              <a:buSzPct val="100000"/>
              <a:buChar char="•"/>
            </a:pPr>
            <a:r>
              <a:rPr lang="en-US" sz="1800" dirty="0">
                <a:solidFill>
                  <a:srgbClr val="17212B"/>
                </a:solidFill>
                <a:latin typeface="Yu Gothic" pitchFamily="34" charset="0"/>
                <a:ea typeface="Yu Gothic" pitchFamily="34" charset="-122"/>
                <a:cs typeface="Yu Gothic" pitchFamily="34" charset="-120"/>
              </a:rPr>
              <a:t>その場旋回まで</a:t>
            </a:r>
            <a:endParaRPr lang="en-US" sz="1800" dirty="0"/>
          </a:p>
          <a:p>
            <a:pPr algn="l" marL="342900" indent="-342900">
              <a:spcAft>
                <a:spcPts val="800"/>
              </a:spcAft>
              <a:buSzPct val="100000"/>
              <a:buChar char="•"/>
            </a:pPr>
            <a:r>
              <a:rPr lang="en-US" sz="1800" dirty="0">
                <a:solidFill>
                  <a:srgbClr val="17212B"/>
                </a:solidFill>
                <a:latin typeface="Yu Gothic" pitchFamily="34" charset="0"/>
                <a:ea typeface="Yu Gothic" pitchFamily="34" charset="-122"/>
                <a:cs typeface="Yu Gothic" pitchFamily="34" charset="-120"/>
              </a:rPr>
              <a:t>すべて転倒なし</a:t>
            </a:r>
            <a:endParaRPr lang="en-US" sz="1800" dirty="0"/>
          </a:p>
        </p:txBody>
      </p:sp>
      <p:sp>
        <p:nvSpPr>
          <p:cNvPr id="25" name="Text 23"/>
          <p:cNvSpPr txBox="1"/>
          <p:nvPr/>
        </p:nvSpPr>
        <p:spPr>
          <a:xfrm>
            <a:off x="8286750" y="4953000"/>
            <a:ext cx="3086100" cy="609600"/>
          </a:xfrm>
          <a:prstGeom prst="rect">
            <a:avLst/>
          </a:prstGeom>
          <a:solidFill>
            <a:srgbClr val="2E8B57"/>
          </a:solidFill>
          <a:ln/>
        </p:spPr>
        <p:txBody>
          <a:bodyPr wrap="square" lIns="0" tIns="0" rIns="0" bIns="0" rtlCol="0" anchor="ctr"/>
          <a:lstStyle/>
          <a:p>
            <a:pPr algn="ctr" indent="0" marL="0">
              <a:buNone/>
            </a:pPr>
            <a:r>
              <a:rPr lang="en-US" sz="2400" b="1" dirty="0">
                <a:solidFill>
                  <a:srgbClr val="FFFFFF"/>
                </a:solidFill>
                <a:latin typeface="Yu Gothic" pitchFamily="34" charset="0"/>
                <a:ea typeface="Yu Gothic" pitchFamily="34" charset="-122"/>
                <a:cs typeface="Yu Gothic" pitchFamily="34" charset="-120"/>
              </a:rPr>
              <a:t>坂 15°も登れた</a:t>
            </a:r>
            <a:endParaRPr lang="en-US" sz="2400" dirty="0"/>
          </a:p>
        </p:txBody>
      </p:sp>
      <p:sp>
        <p:nvSpPr>
          <p:cNvPr id="26" name="Text 24"/>
          <p:cNvSpPr txBox="1"/>
          <p:nvPr/>
        </p:nvSpPr>
        <p:spPr>
          <a:xfrm>
            <a:off x="628650" y="6000750"/>
            <a:ext cx="10934700" cy="285750"/>
          </a:xfrm>
          <a:prstGeom prst="rect">
            <a:avLst/>
          </a:prstGeom>
          <a:noFill/>
          <a:ln/>
        </p:spPr>
        <p:txBody>
          <a:bodyPr wrap="square" lIns="0" tIns="0" rIns="0" bIns="0" rtlCol="0" anchor="ctr"/>
          <a:lstStyle/>
          <a:p>
            <a:pPr algn="ctr" indent="0" marL="0">
              <a:buNone/>
            </a:pPr>
            <a:r>
              <a:rPr lang="en-US" sz="1500" dirty="0">
                <a:solidFill>
                  <a:srgbClr val="5E6A73"/>
                </a:solidFill>
                <a:latin typeface="Yu Gothic" pitchFamily="34" charset="0"/>
                <a:ea typeface="Yu Gothic" pitchFamily="34" charset="-122"/>
                <a:cs typeface="Yu Gothic" pitchFamily="34" charset="-120"/>
              </a:rPr>
              <a:t>同じ方策を続けて練習させ、合計 25,000 回で最終形</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苦労①：足を上げると「損」をする報酬だった</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628650" y="1333500"/>
            <a:ext cx="857250" cy="342900"/>
          </a:xfrm>
          <a:prstGeom prst="rect">
            <a:avLst/>
          </a:prstGeom>
          <a:solidFill>
            <a:srgbClr val="C8553D"/>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問題</a:t>
            </a:r>
            <a:endParaRPr lang="en-US" sz="1800" dirty="0"/>
          </a:p>
        </p:txBody>
      </p:sp>
      <p:sp>
        <p:nvSpPr>
          <p:cNvPr id="7" name="Text 5"/>
          <p:cNvSpPr txBox="1"/>
          <p:nvPr/>
        </p:nvSpPr>
        <p:spPr>
          <a:xfrm>
            <a:off x="1638300" y="1333500"/>
            <a:ext cx="4476750" cy="1047750"/>
          </a:xfrm>
          <a:prstGeom prst="rect">
            <a:avLst/>
          </a:prstGeom>
          <a:noFill/>
          <a:ln/>
        </p:spPr>
        <p:txBody>
          <a:bodyPr wrap="square" lIns="0" tIns="0" rIns="0" bIns="0" rtlCol="0" anchor="t"/>
          <a:lstStyle/>
          <a:p>
            <a:pPr algn="l" indent="0" marL="0">
              <a:buNone/>
            </a:pPr>
            <a:r>
              <a:rPr lang="en-US" sz="1700" dirty="0">
                <a:solidFill>
                  <a:srgbClr val="17212B"/>
                </a:solidFill>
                <a:latin typeface="Yu Gothic" pitchFamily="34" charset="0"/>
                <a:ea typeface="Yu Gothic" pitchFamily="34" charset="-122"/>
                <a:cs typeface="Yu Gothic" pitchFamily="34" charset="-120"/>
              </a:rPr>
              <a:t>3000 回練習しても、全員がその場で立ち止まった</a:t>
            </a:r>
            <a:endParaRPr lang="en-US" sz="1700" dirty="0"/>
          </a:p>
        </p:txBody>
      </p:sp>
      <p:sp>
        <p:nvSpPr>
          <p:cNvPr id="8" name="Text 6"/>
          <p:cNvSpPr txBox="1"/>
          <p:nvPr/>
        </p:nvSpPr>
        <p:spPr>
          <a:xfrm>
            <a:off x="628650" y="2762250"/>
            <a:ext cx="857250" cy="342900"/>
          </a:xfrm>
          <a:prstGeom prst="rect">
            <a:avLst/>
          </a:prstGeom>
          <a:solidFill>
            <a:srgbClr val="E8783F"/>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原因</a:t>
            </a:r>
            <a:endParaRPr lang="en-US" sz="1800" dirty="0"/>
          </a:p>
        </p:txBody>
      </p:sp>
      <p:sp>
        <p:nvSpPr>
          <p:cNvPr id="9" name="Text 7"/>
          <p:cNvSpPr txBox="1"/>
          <p:nvPr/>
        </p:nvSpPr>
        <p:spPr>
          <a:xfrm>
            <a:off x="1638300" y="2762250"/>
            <a:ext cx="4476750" cy="1047750"/>
          </a:xfrm>
          <a:prstGeom prst="rect">
            <a:avLst/>
          </a:prstGeom>
          <a:noFill/>
          <a:ln/>
        </p:spPr>
        <p:txBody>
          <a:bodyPr wrap="square" lIns="0" tIns="0" rIns="0" bIns="0" rtlCol="0" anchor="t"/>
          <a:lstStyle/>
          <a:p>
            <a:pPr algn="l" indent="0" marL="0">
              <a:buNone/>
            </a:pPr>
            <a:r>
              <a:rPr lang="en-US" sz="1700" dirty="0">
                <a:solidFill>
                  <a:srgbClr val="17212B"/>
                </a:solidFill>
                <a:latin typeface="Yu Gothic" pitchFamily="34" charset="0"/>
                <a:ea typeface="Yu Gothic" pitchFamily="34" charset="-122"/>
                <a:cs typeface="Yu Gothic" pitchFamily="34" charset="-120"/>
              </a:rPr>
              <a:t>見本の足上げ報酬は「0.2 秒以上浮かせないと減点」。このロボットの自然な歩幅では 0.1 秒ほどしか浮かないので、足を上げるほど損 → 立っているのが一番得になっていた</a:t>
            </a:r>
            <a:endParaRPr lang="en-US" sz="1700" dirty="0"/>
          </a:p>
        </p:txBody>
      </p:sp>
      <p:sp>
        <p:nvSpPr>
          <p:cNvPr id="10" name="Text 8"/>
          <p:cNvSpPr txBox="1"/>
          <p:nvPr/>
        </p:nvSpPr>
        <p:spPr>
          <a:xfrm>
            <a:off x="628650" y="4191000"/>
            <a:ext cx="857250" cy="342900"/>
          </a:xfrm>
          <a:prstGeom prst="rect">
            <a:avLst/>
          </a:prstGeom>
          <a:solidFill>
            <a:srgbClr val="2E8B57"/>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対策</a:t>
            </a:r>
            <a:endParaRPr lang="en-US" sz="1800" dirty="0"/>
          </a:p>
        </p:txBody>
      </p:sp>
      <p:sp>
        <p:nvSpPr>
          <p:cNvPr id="11" name="Text 9"/>
          <p:cNvSpPr txBox="1"/>
          <p:nvPr/>
        </p:nvSpPr>
        <p:spPr>
          <a:xfrm>
            <a:off x="1638300" y="4191000"/>
            <a:ext cx="4476750" cy="1047750"/>
          </a:xfrm>
          <a:prstGeom prst="rect">
            <a:avLst/>
          </a:prstGeom>
          <a:noFill/>
          <a:ln/>
        </p:spPr>
        <p:txBody>
          <a:bodyPr wrap="square" lIns="0" tIns="0" rIns="0" bIns="0" rtlCol="0" anchor="t"/>
          <a:lstStyle/>
          <a:p>
            <a:pPr algn="l" indent="0" marL="0">
              <a:buNone/>
            </a:pPr>
            <a:r>
              <a:rPr lang="en-US" sz="1700" dirty="0">
                <a:solidFill>
                  <a:srgbClr val="17212B"/>
                </a:solidFill>
                <a:latin typeface="Yu Gothic" pitchFamily="34" charset="0"/>
                <a:ea typeface="Yu Gothic" pitchFamily="34" charset="-122"/>
                <a:cs typeface="Yu Gothic" pitchFamily="34" charset="-120"/>
              </a:rPr>
              <a:t>「片足で立っている時間」をほめる形に変え、平地だけで練習させた</a:t>
            </a:r>
            <a:endParaRPr lang="en-US" sz="1700" dirty="0"/>
          </a:p>
        </p:txBody>
      </p:sp>
      <p:graphicFrame>
        <p:nvGraphicFramePr>
          <p:cNvPr id="12" name="Chart 0" descr=""/>
          <p:cNvGraphicFramePr/>
          <p:nvPr/>
        </p:nvGraphicFramePr>
        <p:xfrm>
          <a:off x="6477000" y="1333500"/>
          <a:ext cx="5086350" cy="40005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6477000" y="5391150"/>
            <a:ext cx="5086350" cy="247650"/>
          </a:xfrm>
          <a:prstGeom prst="rect">
            <a:avLst/>
          </a:prstGeom>
          <a:noFill/>
          <a:ln/>
        </p:spPr>
        <p:txBody>
          <a:bodyPr wrap="square" lIns="0" tIns="0" rIns="0" bIns="0" rtlCol="0" anchor="ctr"/>
          <a:lstStyle/>
          <a:p>
            <a:pPr algn="ctr" indent="0" marL="0">
              <a:buNone/>
            </a:pPr>
            <a:r>
              <a:rPr lang="en-US" sz="1300" dirty="0">
                <a:solidFill>
                  <a:srgbClr val="5E6A73"/>
                </a:solidFill>
                <a:latin typeface="Yu Gothic" pitchFamily="34" charset="0"/>
                <a:ea typeface="Yu Gothic" pitchFamily="34" charset="-122"/>
                <a:cs typeface="Yu Gothic" pitchFamily="34" charset="-120"/>
              </a:rPr>
              <a:t>シミュレーション・平地・64 体の平均</a:t>
            </a:r>
            <a:endParaRPr lang="en-US" sz="1300" dirty="0"/>
          </a:p>
        </p:txBody>
      </p:sp>
      <p:sp>
        <p:nvSpPr>
          <p:cNvPr id="14" name="Text 11"/>
          <p:cNvSpPr txBox="1"/>
          <p:nvPr/>
        </p:nvSpPr>
        <p:spPr>
          <a:xfrm>
            <a:off x="628650" y="5829300"/>
            <a:ext cx="10934700" cy="419100"/>
          </a:xfrm>
          <a:prstGeom prst="rect">
            <a:avLst/>
          </a:prstGeom>
          <a:solidFill>
            <a:srgbClr val="F3EEE6"/>
          </a:solidFill>
          <a:ln/>
        </p:spPr>
        <p:txBody>
          <a:bodyPr wrap="square" lIns="0" tIns="0" rIns="0" bIns="0" rtlCol="0" anchor="ctr"/>
          <a:lstStyle/>
          <a:p>
            <a:pPr algn="ctr" indent="0" marL="0">
              <a:buNone/>
            </a:pPr>
            <a:r>
              <a:rPr lang="en-US" sz="1700" b="1" dirty="0">
                <a:solidFill>
                  <a:srgbClr val="102B46"/>
                </a:solidFill>
                <a:latin typeface="Yu Gothic" pitchFamily="34" charset="0"/>
                <a:ea typeface="Yu Gothic" pitchFamily="34" charset="-122"/>
                <a:cs typeface="Yu Gothic" pitchFamily="34" charset="-120"/>
              </a:rPr>
              <a:t>報酬は「こうしてほしい」と書くだけでは足りない。ロボットにとって何が得かを確かめる必要がある</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苦労②：その場で回れない・坂で転ぶ</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Shape 4"/>
          <p:cNvSpPr/>
          <p:nvPr/>
        </p:nvSpPr>
        <p:spPr>
          <a:xfrm>
            <a:off x="628650" y="1257300"/>
            <a:ext cx="5334000" cy="4286250"/>
          </a:xfrm>
          <a:prstGeom prst="roundRect">
            <a:avLst>
              <a:gd name="adj" fmla="val 853"/>
            </a:avLst>
          </a:prstGeom>
          <a:solidFill>
            <a:srgbClr val="FFFFFF"/>
          </a:solidFill>
          <a:ln w="19050">
            <a:solidFill>
              <a:srgbClr val="1C5A85"/>
            </a:solidFill>
            <a:prstDash val="solid"/>
          </a:ln>
        </p:spPr>
      </p:sp>
      <p:sp>
        <p:nvSpPr>
          <p:cNvPr id="7" name="Text 5"/>
          <p:cNvSpPr txBox="1"/>
          <p:nvPr/>
        </p:nvSpPr>
        <p:spPr>
          <a:xfrm>
            <a:off x="819150" y="1371600"/>
            <a:ext cx="4953000" cy="342900"/>
          </a:xfrm>
          <a:prstGeom prst="rect">
            <a:avLst/>
          </a:prstGeom>
          <a:noFill/>
          <a:ln/>
        </p:spPr>
        <p:txBody>
          <a:bodyPr wrap="square" lIns="0" tIns="0" rIns="0" bIns="0" rtlCol="0" anchor="ctr"/>
          <a:lstStyle/>
          <a:p>
            <a:pPr algn="l" indent="0" marL="0">
              <a:buNone/>
            </a:pPr>
            <a:r>
              <a:rPr lang="en-US" sz="2200" b="1" dirty="0">
                <a:solidFill>
                  <a:srgbClr val="1C5A85"/>
                </a:solidFill>
                <a:latin typeface="Yu Gothic" pitchFamily="34" charset="0"/>
                <a:ea typeface="Yu Gothic" pitchFamily="34" charset="-122"/>
                <a:cs typeface="Yu Gothic" pitchFamily="34" charset="-120"/>
              </a:rPr>
              <a:t>その場で回れない</a:t>
            </a:r>
            <a:endParaRPr lang="en-US" sz="2200" dirty="0"/>
          </a:p>
        </p:txBody>
      </p:sp>
      <p:sp>
        <p:nvSpPr>
          <p:cNvPr id="8" name="Text 6"/>
          <p:cNvSpPr txBox="1"/>
          <p:nvPr/>
        </p:nvSpPr>
        <p:spPr>
          <a:xfrm>
            <a:off x="819150" y="1828800"/>
            <a:ext cx="666750" cy="266700"/>
          </a:xfrm>
          <a:prstGeom prst="rect">
            <a:avLst/>
          </a:prstGeom>
          <a:solidFill>
            <a:srgbClr val="C8553D"/>
          </a:solid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原因</a:t>
            </a:r>
            <a:endParaRPr lang="en-US" sz="1500" dirty="0"/>
          </a:p>
        </p:txBody>
      </p:sp>
      <p:sp>
        <p:nvSpPr>
          <p:cNvPr id="9" name="Text 7"/>
          <p:cNvSpPr txBox="1"/>
          <p:nvPr/>
        </p:nvSpPr>
        <p:spPr>
          <a:xfrm>
            <a:off x="1581150" y="1809750"/>
            <a:ext cx="4191000" cy="952500"/>
          </a:xfrm>
          <a:prstGeom prst="rect">
            <a:avLst/>
          </a:prstGeom>
          <a:noFill/>
          <a:ln/>
        </p:spPr>
        <p:txBody>
          <a:bodyPr wrap="square" lIns="0" tIns="0" rIns="0" bIns="0" rtlCol="0" anchor="t"/>
          <a:lstStyle/>
          <a:p>
            <a:pPr algn="l" indent="0" marL="0">
              <a:buNone/>
            </a:pPr>
            <a:r>
              <a:rPr lang="en-US" sz="1600" dirty="0">
                <a:solidFill>
                  <a:srgbClr val="17212B"/>
                </a:solidFill>
                <a:latin typeface="Yu Gothic" pitchFamily="34" charset="0"/>
                <a:ea typeface="Yu Gothic" pitchFamily="34" charset="-122"/>
                <a:cs typeface="Yu Gothic" pitchFamily="34" charset="-120"/>
              </a:rPr>
              <a:t>練習中に「その場で回れ」という指示がほとんど出ていなかった（約 0.4%）。しかもその指示では足上げの報酬が 0 になっていた</a:t>
            </a:r>
            <a:endParaRPr lang="en-US" sz="1600" dirty="0"/>
          </a:p>
        </p:txBody>
      </p:sp>
      <p:sp>
        <p:nvSpPr>
          <p:cNvPr id="10" name="Text 8"/>
          <p:cNvSpPr txBox="1"/>
          <p:nvPr/>
        </p:nvSpPr>
        <p:spPr>
          <a:xfrm>
            <a:off x="819150" y="2876550"/>
            <a:ext cx="666750" cy="266700"/>
          </a:xfrm>
          <a:prstGeom prst="rect">
            <a:avLst/>
          </a:prstGeom>
          <a:solidFill>
            <a:srgbClr val="E8783F"/>
          </a:solid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対策</a:t>
            </a:r>
            <a:endParaRPr lang="en-US" sz="1500" dirty="0"/>
          </a:p>
        </p:txBody>
      </p:sp>
      <p:sp>
        <p:nvSpPr>
          <p:cNvPr id="11" name="Text 9"/>
          <p:cNvSpPr txBox="1"/>
          <p:nvPr/>
        </p:nvSpPr>
        <p:spPr>
          <a:xfrm>
            <a:off x="1581150" y="2857500"/>
            <a:ext cx="4191000" cy="1428750"/>
          </a:xfrm>
          <a:prstGeom prst="rect">
            <a:avLst/>
          </a:prstGeom>
          <a:noFill/>
          <a:ln/>
        </p:spPr>
        <p:txBody>
          <a:bodyPr wrap="square" lIns="0" tIns="0" rIns="0" bIns="0" rtlCol="0" anchor="t"/>
          <a:lstStyle/>
          <a:p>
            <a:pPr algn="l" indent="0" marL="0">
              <a:buNone/>
            </a:pPr>
            <a:r>
              <a:rPr lang="en-US" sz="1600" dirty="0">
                <a:solidFill>
                  <a:srgbClr val="17212B"/>
                </a:solidFill>
                <a:latin typeface="Yu Gothic" pitchFamily="34" charset="0"/>
                <a:ea typeface="Yu Gothic" pitchFamily="34" charset="-122"/>
                <a:cs typeface="Yu Gothic" pitchFamily="34" charset="-120"/>
              </a:rPr>
              <a:t>指示の割合を決めて出す（その場で回る 38%・前進 30%・曲がりながら 30%・止まる 2%）。回る指示でも足上げをほめる</a:t>
            </a:r>
            <a:endParaRPr lang="en-US" sz="1600" dirty="0"/>
          </a:p>
        </p:txBody>
      </p:sp>
      <p:sp>
        <p:nvSpPr>
          <p:cNvPr id="12" name="Text 10"/>
          <p:cNvSpPr txBox="1"/>
          <p:nvPr/>
        </p:nvSpPr>
        <p:spPr>
          <a:xfrm>
            <a:off x="819150" y="4572000"/>
            <a:ext cx="4953000" cy="800100"/>
          </a:xfrm>
          <a:prstGeom prst="rect">
            <a:avLst/>
          </a:prstGeom>
          <a:solidFill>
            <a:srgbClr val="2E8B57"/>
          </a:solidFill>
          <a:ln/>
        </p:spPr>
        <p:txBody>
          <a:bodyPr wrap="square" lIns="0" tIns="0" rIns="0" bIns="0"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その場旋回：ほぼ 0 → 0.37 rad/s</a:t>
            </a:r>
            <a:endParaRPr lang="en-US" sz="2000" dirty="0"/>
          </a:p>
        </p:txBody>
      </p:sp>
      <p:sp>
        <p:nvSpPr>
          <p:cNvPr id="13" name="Shape 11"/>
          <p:cNvSpPr/>
          <p:nvPr/>
        </p:nvSpPr>
        <p:spPr>
          <a:xfrm>
            <a:off x="6229350" y="1257300"/>
            <a:ext cx="5334000" cy="4286250"/>
          </a:xfrm>
          <a:prstGeom prst="roundRect">
            <a:avLst>
              <a:gd name="adj" fmla="val 853"/>
            </a:avLst>
          </a:prstGeom>
          <a:solidFill>
            <a:srgbClr val="FFFFFF"/>
          </a:solidFill>
          <a:ln w="19050">
            <a:solidFill>
              <a:srgbClr val="32A5B5"/>
            </a:solidFill>
            <a:prstDash val="solid"/>
          </a:ln>
        </p:spPr>
      </p:sp>
      <p:sp>
        <p:nvSpPr>
          <p:cNvPr id="14" name="Text 12"/>
          <p:cNvSpPr txBox="1"/>
          <p:nvPr/>
        </p:nvSpPr>
        <p:spPr>
          <a:xfrm>
            <a:off x="6419850" y="1371600"/>
            <a:ext cx="4953000" cy="342900"/>
          </a:xfrm>
          <a:prstGeom prst="rect">
            <a:avLst/>
          </a:prstGeom>
          <a:noFill/>
          <a:ln/>
        </p:spPr>
        <p:txBody>
          <a:bodyPr wrap="square" lIns="0" tIns="0" rIns="0" bIns="0" rtlCol="0" anchor="ctr"/>
          <a:lstStyle/>
          <a:p>
            <a:pPr algn="l" indent="0" marL="0">
              <a:buNone/>
            </a:pPr>
            <a:r>
              <a:rPr lang="en-US" sz="2200" b="1" dirty="0">
                <a:solidFill>
                  <a:srgbClr val="32A5B5"/>
                </a:solidFill>
                <a:latin typeface="Yu Gothic" pitchFamily="34" charset="0"/>
                <a:ea typeface="Yu Gothic" pitchFamily="34" charset="-122"/>
                <a:cs typeface="Yu Gothic" pitchFamily="34" charset="-120"/>
              </a:rPr>
              <a:t>坂で転ぶ</a:t>
            </a:r>
            <a:endParaRPr lang="en-US" sz="2200" dirty="0"/>
          </a:p>
        </p:txBody>
      </p:sp>
      <p:sp>
        <p:nvSpPr>
          <p:cNvPr id="15" name="Text 13"/>
          <p:cNvSpPr txBox="1"/>
          <p:nvPr/>
        </p:nvSpPr>
        <p:spPr>
          <a:xfrm>
            <a:off x="6419850" y="1828800"/>
            <a:ext cx="666750" cy="266700"/>
          </a:xfrm>
          <a:prstGeom prst="rect">
            <a:avLst/>
          </a:prstGeom>
          <a:solidFill>
            <a:srgbClr val="C8553D"/>
          </a:solid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原因</a:t>
            </a:r>
            <a:endParaRPr lang="en-US" sz="1500" dirty="0"/>
          </a:p>
        </p:txBody>
      </p:sp>
      <p:sp>
        <p:nvSpPr>
          <p:cNvPr id="16" name="Text 14"/>
          <p:cNvSpPr txBox="1"/>
          <p:nvPr/>
        </p:nvSpPr>
        <p:spPr>
          <a:xfrm>
            <a:off x="7181850" y="1809750"/>
            <a:ext cx="4191000" cy="952500"/>
          </a:xfrm>
          <a:prstGeom prst="rect">
            <a:avLst/>
          </a:prstGeom>
          <a:noFill/>
          <a:ln/>
        </p:spPr>
        <p:txBody>
          <a:bodyPr wrap="square" lIns="0" tIns="0" rIns="0" bIns="0" rtlCol="0" anchor="t"/>
          <a:lstStyle/>
          <a:p>
            <a:pPr algn="l" indent="0" marL="0">
              <a:buNone/>
            </a:pPr>
            <a:r>
              <a:rPr lang="en-US" sz="1600" dirty="0">
                <a:solidFill>
                  <a:srgbClr val="17212B"/>
                </a:solidFill>
                <a:latin typeface="Yu Gothic" pitchFamily="34" charset="0"/>
                <a:ea typeface="Yu Gothic" pitchFamily="34" charset="-122"/>
                <a:cs typeface="Yu Gothic" pitchFamily="34" charset="-120"/>
              </a:rPr>
              <a:t>平地だけで練習した方策は、10°の坂で 59〜100% が転倒した</a:t>
            </a:r>
            <a:endParaRPr lang="en-US" sz="1600" dirty="0"/>
          </a:p>
        </p:txBody>
      </p:sp>
      <p:sp>
        <p:nvSpPr>
          <p:cNvPr id="17" name="Text 15"/>
          <p:cNvSpPr txBox="1"/>
          <p:nvPr/>
        </p:nvSpPr>
        <p:spPr>
          <a:xfrm>
            <a:off x="6419850" y="2876550"/>
            <a:ext cx="666750" cy="266700"/>
          </a:xfrm>
          <a:prstGeom prst="rect">
            <a:avLst/>
          </a:prstGeom>
          <a:solidFill>
            <a:srgbClr val="E8783F"/>
          </a:solid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対策</a:t>
            </a:r>
            <a:endParaRPr lang="en-US" sz="1500" dirty="0"/>
          </a:p>
        </p:txBody>
      </p:sp>
      <p:sp>
        <p:nvSpPr>
          <p:cNvPr id="18" name="Text 16"/>
          <p:cNvSpPr txBox="1"/>
          <p:nvPr/>
        </p:nvSpPr>
        <p:spPr>
          <a:xfrm>
            <a:off x="7181850" y="2857500"/>
            <a:ext cx="4191000" cy="1428750"/>
          </a:xfrm>
          <a:prstGeom prst="rect">
            <a:avLst/>
          </a:prstGeom>
          <a:noFill/>
          <a:ln/>
        </p:spPr>
        <p:txBody>
          <a:bodyPr wrap="square" lIns="0" tIns="0" rIns="0" bIns="0" rtlCol="0" anchor="t"/>
          <a:lstStyle/>
          <a:p>
            <a:pPr algn="l" indent="0" marL="0">
              <a:buNone/>
            </a:pPr>
            <a:r>
              <a:rPr lang="en-US" sz="1600" dirty="0">
                <a:solidFill>
                  <a:srgbClr val="17212B"/>
                </a:solidFill>
                <a:latin typeface="Yu Gothic" pitchFamily="34" charset="0"/>
                <a:ea typeface="Yu Gothic" pitchFamily="34" charset="-122"/>
                <a:cs typeface="Yu Gothic" pitchFamily="34" charset="-120"/>
              </a:rPr>
              <a:t>坂・でこぼこのある地形で練習。うまく歩けたら、より難しい地形へ進める（カリキュラム）</a:t>
            </a:r>
            <a:endParaRPr lang="en-US" sz="1600" dirty="0"/>
          </a:p>
        </p:txBody>
      </p:sp>
      <p:sp>
        <p:nvSpPr>
          <p:cNvPr id="19" name="Text 17"/>
          <p:cNvSpPr txBox="1"/>
          <p:nvPr/>
        </p:nvSpPr>
        <p:spPr>
          <a:xfrm>
            <a:off x="6419850" y="4572000"/>
            <a:ext cx="4953000" cy="800100"/>
          </a:xfrm>
          <a:prstGeom prst="rect">
            <a:avLst/>
          </a:prstGeom>
          <a:solidFill>
            <a:srgbClr val="2E8B57"/>
          </a:solidFill>
          <a:ln/>
        </p:spPr>
        <p:txBody>
          <a:bodyPr wrap="square" lIns="0" tIns="0" rIns="0" bIns="0"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10°・15°の坂で転倒 0</a:t>
            </a:r>
            <a:endParaRPr lang="en-US" sz="2000" dirty="0"/>
          </a:p>
        </p:txBody>
      </p:sp>
      <p:sp>
        <p:nvSpPr>
          <p:cNvPr id="20" name="Text 18"/>
          <p:cNvSpPr txBox="1"/>
          <p:nvPr/>
        </p:nvSpPr>
        <p:spPr>
          <a:xfrm>
            <a:off x="628650" y="5734050"/>
            <a:ext cx="10934700" cy="419100"/>
          </a:xfrm>
          <a:prstGeom prst="rect">
            <a:avLst/>
          </a:prstGeom>
          <a:solidFill>
            <a:srgbClr val="F3EEE6"/>
          </a:solidFill>
          <a:ln/>
        </p:spPr>
        <p:txBody>
          <a:bodyPr wrap="square" lIns="0" tIns="0" rIns="0" bIns="0" rtlCol="0" anchor="ctr"/>
          <a:lstStyle/>
          <a:p>
            <a:pPr algn="ctr" indent="0" marL="0">
              <a:buNone/>
            </a:pPr>
            <a:r>
              <a:rPr lang="en-US" sz="1700" b="1" dirty="0">
                <a:solidFill>
                  <a:srgbClr val="102B46"/>
                </a:solidFill>
                <a:latin typeface="Yu Gothic" pitchFamily="34" charset="0"/>
                <a:ea typeface="Yu Gothic" pitchFamily="34" charset="-122"/>
                <a:cs typeface="Yu Gothic" pitchFamily="34" charset="-120"/>
              </a:rPr>
              <a:t>報酬の重みを上げるより、「どんな練習をさせるか（指示・地形）」を変える方が効いた</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デプロイ：学習した方策をロボットで動かす</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628650" y="1257300"/>
            <a:ext cx="10934700" cy="419100"/>
          </a:xfrm>
          <a:prstGeom prst="rect">
            <a:avLst/>
          </a:prstGeom>
          <a:noFill/>
          <a:ln/>
        </p:spPr>
        <p:txBody>
          <a:bodyPr wrap="square" lIns="0" tIns="0" rIns="0" bIns="0" rtlCol="0" anchor="ctr"/>
          <a:lstStyle/>
          <a:p>
            <a:pPr algn="l" indent="0" marL="0">
              <a:buNone/>
            </a:pPr>
            <a:r>
              <a:rPr lang="en-US" sz="2200" b="1" dirty="0">
                <a:solidFill>
                  <a:srgbClr val="102B46"/>
                </a:solidFill>
                <a:latin typeface="Yu Gothic" pitchFamily="34" charset="0"/>
                <a:ea typeface="Yu Gothic" pitchFamily="34" charset="-122"/>
                <a:cs typeface="Yu Gothic" pitchFamily="34" charset="-120"/>
              </a:rPr>
              <a:t>いきなり床で歩かせず、小さく確かめてから全身へ進める</a:t>
            </a:r>
            <a:endParaRPr lang="en-US" sz="2200" dirty="0"/>
          </a:p>
        </p:txBody>
      </p:sp>
      <p:sp>
        <p:nvSpPr>
          <p:cNvPr id="7" name="Shape 5"/>
          <p:cNvSpPr/>
          <p:nvPr/>
        </p:nvSpPr>
        <p:spPr>
          <a:xfrm>
            <a:off x="628650" y="1905000"/>
            <a:ext cx="1676400" cy="2571750"/>
          </a:xfrm>
          <a:prstGeom prst="rect">
            <a:avLst/>
          </a:prstGeom>
          <a:solidFill>
            <a:srgbClr val="EAF4EE"/>
          </a:solidFill>
          <a:ln w="19050">
            <a:solidFill>
              <a:srgbClr val="2E8B57"/>
            </a:solidFill>
            <a:prstDash val="solid"/>
          </a:ln>
        </p:spPr>
      </p:sp>
      <p:sp>
        <p:nvSpPr>
          <p:cNvPr id="8" name="Text 6"/>
          <p:cNvSpPr txBox="1"/>
          <p:nvPr/>
        </p:nvSpPr>
        <p:spPr>
          <a:xfrm>
            <a:off x="1257300" y="2038350"/>
            <a:ext cx="419100" cy="419100"/>
          </a:xfrm>
          <a:prstGeom prst="ellipse">
            <a:avLst/>
          </a:prstGeom>
          <a:solidFill>
            <a:srgbClr val="2E8B57"/>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1</a:t>
            </a:r>
            <a:endParaRPr lang="en-US" sz="1800" dirty="0"/>
          </a:p>
        </p:txBody>
      </p:sp>
      <p:sp>
        <p:nvSpPr>
          <p:cNvPr id="9" name="Text 7"/>
          <p:cNvSpPr txBox="1"/>
          <p:nvPr/>
        </p:nvSpPr>
        <p:spPr>
          <a:xfrm>
            <a:off x="704850" y="2590800"/>
            <a:ext cx="1524000" cy="476250"/>
          </a:xfrm>
          <a:prstGeom prst="rect">
            <a:avLst/>
          </a:prstGeom>
          <a:noFill/>
          <a:ln/>
        </p:spPr>
        <p:txBody>
          <a:bodyPr wrap="square" lIns="0" tIns="0" rIns="0" bIns="0" rtlCol="0" anchor="ctr"/>
          <a:lstStyle/>
          <a:p>
            <a:pPr algn="ctr" indent="0" marL="0">
              <a:buNone/>
            </a:pPr>
            <a:r>
              <a:rPr lang="en-US" sz="1600" b="1" dirty="0">
                <a:solidFill>
                  <a:srgbClr val="102B46"/>
                </a:solidFill>
                <a:latin typeface="Yu Gothic" pitchFamily="34" charset="0"/>
                <a:ea typeface="Yu Gothic" pitchFamily="34" charset="-122"/>
                <a:cs typeface="Yu Gothic" pitchFamily="34" charset="-120"/>
              </a:rPr>
              <a:t>方策を書き出す</a:t>
            </a:r>
            <a:endParaRPr lang="en-US" sz="1600" dirty="0"/>
          </a:p>
        </p:txBody>
      </p:sp>
      <p:sp>
        <p:nvSpPr>
          <p:cNvPr id="10" name="Text 8"/>
          <p:cNvSpPr txBox="1"/>
          <p:nvPr/>
        </p:nvSpPr>
        <p:spPr>
          <a:xfrm>
            <a:off x="704850" y="3124200"/>
            <a:ext cx="1524000" cy="762000"/>
          </a:xfrm>
          <a:prstGeom prst="rect">
            <a:avLst/>
          </a:prstGeom>
          <a:noFill/>
          <a:ln/>
        </p:spPr>
        <p:txBody>
          <a:bodyPr wrap="square" lIns="0" tIns="0" rIns="0" bIns="0" rtlCol="0" anchor="t"/>
          <a:lstStyle/>
          <a:p>
            <a:pPr algn="ctr" indent="0" marL="0">
              <a:buNone/>
            </a:pPr>
            <a:r>
              <a:rPr lang="en-US" sz="1400" dirty="0">
                <a:solidFill>
                  <a:srgbClr val="17212B"/>
                </a:solidFill>
                <a:latin typeface="Yu Gothic" pitchFamily="34" charset="0"/>
                <a:ea typeface="Yu Gothic" pitchFamily="34" charset="-122"/>
                <a:cs typeface="Yu Gothic" pitchFamily="34" charset="-120"/>
              </a:rPr>
              <a:t>ONNX形式で</a:t>
            </a:r>
            <a:endParaRPr lang="en-US" sz="1400" dirty="0"/>
          </a:p>
          <a:p>
            <a:pPr algn="ctr" indent="0" marL="0">
              <a:buNone/>
            </a:pPr>
            <a:r>
              <a:rPr lang="en-US" sz="1400" dirty="0">
                <a:solidFill>
                  <a:srgbClr val="17212B"/>
                </a:solidFill>
                <a:latin typeface="Yu Gothic" pitchFamily="34" charset="0"/>
                <a:ea typeface="Yu Gothic" pitchFamily="34" charset="-122"/>
                <a:cs typeface="Yu Gothic" pitchFamily="34" charset="-120"/>
              </a:rPr>
              <a:t>保存</a:t>
            </a:r>
            <a:endParaRPr lang="en-US" sz="1400" dirty="0"/>
          </a:p>
        </p:txBody>
      </p:sp>
      <p:sp>
        <p:nvSpPr>
          <p:cNvPr id="11" name="Text 9"/>
          <p:cNvSpPr txBox="1"/>
          <p:nvPr/>
        </p:nvSpPr>
        <p:spPr>
          <a:xfrm>
            <a:off x="990600" y="4038600"/>
            <a:ext cx="952500" cy="304800"/>
          </a:xfrm>
          <a:prstGeom prst="rect">
            <a:avLst/>
          </a:prstGeom>
          <a:solidFill>
            <a:srgbClr val="2E8B57"/>
          </a:solid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完了</a:t>
            </a:r>
            <a:endParaRPr lang="en-US" sz="1500" dirty="0"/>
          </a:p>
        </p:txBody>
      </p:sp>
      <p:sp>
        <p:nvSpPr>
          <p:cNvPr id="12" name="Shape 10"/>
          <p:cNvSpPr/>
          <p:nvPr/>
        </p:nvSpPr>
        <p:spPr>
          <a:xfrm>
            <a:off x="2324100" y="3190875"/>
            <a:ext cx="114300" cy="95"/>
          </a:xfrm>
          <a:prstGeom prst="line">
            <a:avLst/>
          </a:prstGeom>
          <a:noFill/>
          <a:ln w="25400">
            <a:solidFill>
              <a:srgbClr val="B7C7D1"/>
            </a:solidFill>
            <a:prstDash val="solid"/>
            <a:tailEnd type="triangle"/>
          </a:ln>
        </p:spPr>
      </p:sp>
      <p:sp>
        <p:nvSpPr>
          <p:cNvPr id="13" name="Shape 11"/>
          <p:cNvSpPr/>
          <p:nvPr/>
        </p:nvSpPr>
        <p:spPr>
          <a:xfrm>
            <a:off x="2457450" y="1905000"/>
            <a:ext cx="1676400" cy="2571750"/>
          </a:xfrm>
          <a:prstGeom prst="rect">
            <a:avLst/>
          </a:prstGeom>
          <a:solidFill>
            <a:srgbClr val="EAF4EE"/>
          </a:solidFill>
          <a:ln w="19050">
            <a:solidFill>
              <a:srgbClr val="2E8B57"/>
            </a:solidFill>
            <a:prstDash val="solid"/>
          </a:ln>
        </p:spPr>
      </p:sp>
      <p:sp>
        <p:nvSpPr>
          <p:cNvPr id="14" name="Text 12"/>
          <p:cNvSpPr txBox="1"/>
          <p:nvPr/>
        </p:nvSpPr>
        <p:spPr>
          <a:xfrm>
            <a:off x="3086100" y="2038350"/>
            <a:ext cx="419100" cy="419100"/>
          </a:xfrm>
          <a:prstGeom prst="ellipse">
            <a:avLst/>
          </a:prstGeom>
          <a:solidFill>
            <a:srgbClr val="2E8B57"/>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2</a:t>
            </a:r>
            <a:endParaRPr lang="en-US" sz="1800" dirty="0"/>
          </a:p>
        </p:txBody>
      </p:sp>
      <p:sp>
        <p:nvSpPr>
          <p:cNvPr id="15" name="Text 13"/>
          <p:cNvSpPr txBox="1"/>
          <p:nvPr/>
        </p:nvSpPr>
        <p:spPr>
          <a:xfrm>
            <a:off x="2533650" y="2590800"/>
            <a:ext cx="1524000" cy="476250"/>
          </a:xfrm>
          <a:prstGeom prst="rect">
            <a:avLst/>
          </a:prstGeom>
          <a:noFill/>
          <a:ln/>
        </p:spPr>
        <p:txBody>
          <a:bodyPr wrap="square" lIns="0" tIns="0" rIns="0" bIns="0" rtlCol="0" anchor="ctr"/>
          <a:lstStyle/>
          <a:p>
            <a:pPr algn="ctr" indent="0" marL="0">
              <a:buNone/>
            </a:pPr>
            <a:r>
              <a:rPr lang="en-US" sz="1600" b="1" dirty="0">
                <a:solidFill>
                  <a:srgbClr val="102B46"/>
                </a:solidFill>
                <a:latin typeface="Yu Gothic" pitchFamily="34" charset="0"/>
                <a:ea typeface="Yu Gothic" pitchFamily="34" charset="-122"/>
                <a:cs typeface="Yu Gothic" pitchFamily="34" charset="-120"/>
              </a:rPr>
              <a:t>答えを確認</a:t>
            </a:r>
            <a:endParaRPr lang="en-US" sz="1600" dirty="0"/>
          </a:p>
        </p:txBody>
      </p:sp>
      <p:sp>
        <p:nvSpPr>
          <p:cNvPr id="16" name="Text 14"/>
          <p:cNvSpPr txBox="1"/>
          <p:nvPr/>
        </p:nvSpPr>
        <p:spPr>
          <a:xfrm>
            <a:off x="2533650" y="3124200"/>
            <a:ext cx="1524000" cy="762000"/>
          </a:xfrm>
          <a:prstGeom prst="rect">
            <a:avLst/>
          </a:prstGeom>
          <a:noFill/>
          <a:ln/>
        </p:spPr>
        <p:txBody>
          <a:bodyPr wrap="square" lIns="0" tIns="0" rIns="0" bIns="0" rtlCol="0" anchor="t"/>
          <a:lstStyle/>
          <a:p>
            <a:pPr algn="ctr" indent="0" marL="0">
              <a:buNone/>
            </a:pPr>
            <a:r>
              <a:rPr lang="en-US" sz="1400" dirty="0">
                <a:solidFill>
                  <a:srgbClr val="17212B"/>
                </a:solidFill>
                <a:latin typeface="Yu Gothic" pitchFamily="34" charset="0"/>
                <a:ea typeface="Yu Gothic" pitchFamily="34" charset="-122"/>
                <a:cs typeface="Yu Gothic" pitchFamily="34" charset="-120"/>
              </a:rPr>
              <a:t>学習時と同じ</a:t>
            </a:r>
            <a:endParaRPr lang="en-US" sz="1400" dirty="0"/>
          </a:p>
          <a:p>
            <a:pPr algn="ctr" indent="0" marL="0">
              <a:buNone/>
            </a:pPr>
            <a:r>
              <a:rPr lang="en-US" sz="1400" dirty="0">
                <a:solidFill>
                  <a:srgbClr val="17212B"/>
                </a:solidFill>
                <a:latin typeface="Yu Gothic" pitchFamily="34" charset="0"/>
                <a:ea typeface="Yu Gothic" pitchFamily="34" charset="-122"/>
                <a:cs typeface="Yu Gothic" pitchFamily="34" charset="-120"/>
              </a:rPr>
              <a:t>出力が出るか</a:t>
            </a:r>
            <a:endParaRPr lang="en-US" sz="1400" dirty="0"/>
          </a:p>
        </p:txBody>
      </p:sp>
      <p:sp>
        <p:nvSpPr>
          <p:cNvPr id="17" name="Text 15"/>
          <p:cNvSpPr txBox="1"/>
          <p:nvPr/>
        </p:nvSpPr>
        <p:spPr>
          <a:xfrm>
            <a:off x="2819400" y="4038600"/>
            <a:ext cx="952500" cy="304800"/>
          </a:xfrm>
          <a:prstGeom prst="rect">
            <a:avLst/>
          </a:prstGeom>
          <a:solidFill>
            <a:srgbClr val="2E8B57"/>
          </a:solid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完了</a:t>
            </a:r>
            <a:endParaRPr lang="en-US" sz="1500" dirty="0"/>
          </a:p>
        </p:txBody>
      </p:sp>
      <p:sp>
        <p:nvSpPr>
          <p:cNvPr id="18" name="Shape 16"/>
          <p:cNvSpPr/>
          <p:nvPr/>
        </p:nvSpPr>
        <p:spPr>
          <a:xfrm>
            <a:off x="4152900" y="3190875"/>
            <a:ext cx="114300" cy="95"/>
          </a:xfrm>
          <a:prstGeom prst="line">
            <a:avLst/>
          </a:prstGeom>
          <a:noFill/>
          <a:ln w="25400">
            <a:solidFill>
              <a:srgbClr val="B7C7D1"/>
            </a:solidFill>
            <a:prstDash val="solid"/>
            <a:tailEnd type="triangle"/>
          </a:ln>
        </p:spPr>
      </p:sp>
      <p:sp>
        <p:nvSpPr>
          <p:cNvPr id="19" name="Shape 17"/>
          <p:cNvSpPr/>
          <p:nvPr/>
        </p:nvSpPr>
        <p:spPr>
          <a:xfrm>
            <a:off x="4286250" y="1905000"/>
            <a:ext cx="1676400" cy="2571750"/>
          </a:xfrm>
          <a:prstGeom prst="rect">
            <a:avLst/>
          </a:prstGeom>
          <a:solidFill>
            <a:srgbClr val="EAF4EE"/>
          </a:solidFill>
          <a:ln w="19050">
            <a:solidFill>
              <a:srgbClr val="2E8B57"/>
            </a:solidFill>
            <a:prstDash val="solid"/>
          </a:ln>
        </p:spPr>
      </p:sp>
      <p:sp>
        <p:nvSpPr>
          <p:cNvPr id="20" name="Text 18"/>
          <p:cNvSpPr txBox="1"/>
          <p:nvPr/>
        </p:nvSpPr>
        <p:spPr>
          <a:xfrm>
            <a:off x="4914900" y="2038350"/>
            <a:ext cx="419100" cy="419100"/>
          </a:xfrm>
          <a:prstGeom prst="ellipse">
            <a:avLst/>
          </a:prstGeom>
          <a:solidFill>
            <a:srgbClr val="2E8B57"/>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3</a:t>
            </a:r>
            <a:endParaRPr lang="en-US" sz="1800" dirty="0"/>
          </a:p>
        </p:txBody>
      </p:sp>
      <p:sp>
        <p:nvSpPr>
          <p:cNvPr id="21" name="Text 19"/>
          <p:cNvSpPr txBox="1"/>
          <p:nvPr/>
        </p:nvSpPr>
        <p:spPr>
          <a:xfrm>
            <a:off x="4362450" y="2590800"/>
            <a:ext cx="1524000" cy="476250"/>
          </a:xfrm>
          <a:prstGeom prst="rect">
            <a:avLst/>
          </a:prstGeom>
          <a:noFill/>
          <a:ln/>
        </p:spPr>
        <p:txBody>
          <a:bodyPr wrap="square" lIns="0" tIns="0" rIns="0" bIns="0" rtlCol="0" anchor="ctr"/>
          <a:lstStyle/>
          <a:p>
            <a:pPr algn="ctr" indent="0" marL="0">
              <a:buNone/>
            </a:pPr>
            <a:r>
              <a:rPr lang="en-US" sz="1600" b="1" dirty="0">
                <a:solidFill>
                  <a:srgbClr val="102B46"/>
                </a:solidFill>
                <a:latin typeface="Yu Gothic" pitchFamily="34" charset="0"/>
                <a:ea typeface="Yu Gothic" pitchFamily="34" charset="-122"/>
                <a:cs typeface="Yu Gothic" pitchFamily="34" charset="-120"/>
              </a:rPr>
              <a:t>1台ずつ動かす</a:t>
            </a:r>
            <a:endParaRPr lang="en-US" sz="1600" dirty="0"/>
          </a:p>
        </p:txBody>
      </p:sp>
      <p:sp>
        <p:nvSpPr>
          <p:cNvPr id="22" name="Text 20"/>
          <p:cNvSpPr txBox="1"/>
          <p:nvPr/>
        </p:nvSpPr>
        <p:spPr>
          <a:xfrm>
            <a:off x="4362450" y="3124200"/>
            <a:ext cx="1524000" cy="762000"/>
          </a:xfrm>
          <a:prstGeom prst="rect">
            <a:avLst/>
          </a:prstGeom>
          <a:noFill/>
          <a:ln/>
        </p:spPr>
        <p:txBody>
          <a:bodyPr wrap="square" lIns="0" tIns="0" rIns="0" bIns="0" rtlCol="0" anchor="t"/>
          <a:lstStyle/>
          <a:p>
            <a:pPr algn="ctr" indent="0" marL="0">
              <a:buNone/>
            </a:pPr>
            <a:r>
              <a:rPr lang="en-US" sz="1400" dirty="0">
                <a:solidFill>
                  <a:srgbClr val="17212B"/>
                </a:solidFill>
                <a:latin typeface="Yu Gothic" pitchFamily="34" charset="0"/>
                <a:ea typeface="Yu Gothic" pitchFamily="34" charset="-122"/>
                <a:cs typeface="Yu Gothic" pitchFamily="34" charset="-120"/>
              </a:rPr>
              <a:t>指令どおりに</a:t>
            </a:r>
            <a:endParaRPr lang="en-US" sz="1400" dirty="0"/>
          </a:p>
          <a:p>
            <a:pPr algn="ctr" indent="0" marL="0">
              <a:buNone/>
            </a:pPr>
            <a:r>
              <a:rPr lang="en-US" sz="1400" dirty="0">
                <a:solidFill>
                  <a:srgbClr val="17212B"/>
                </a:solidFill>
                <a:latin typeface="Yu Gothic" pitchFamily="34" charset="0"/>
                <a:ea typeface="Yu Gothic" pitchFamily="34" charset="-122"/>
                <a:cs typeface="Yu Gothic" pitchFamily="34" charset="-120"/>
              </a:rPr>
              <a:t>回るか</a:t>
            </a:r>
            <a:endParaRPr lang="en-US" sz="1400" dirty="0"/>
          </a:p>
        </p:txBody>
      </p:sp>
      <p:sp>
        <p:nvSpPr>
          <p:cNvPr id="23" name="Text 21"/>
          <p:cNvSpPr txBox="1"/>
          <p:nvPr/>
        </p:nvSpPr>
        <p:spPr>
          <a:xfrm>
            <a:off x="4648200" y="4038600"/>
            <a:ext cx="952500" cy="304800"/>
          </a:xfrm>
          <a:prstGeom prst="rect">
            <a:avLst/>
          </a:prstGeom>
          <a:solidFill>
            <a:srgbClr val="2E8B57"/>
          </a:solid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完了</a:t>
            </a:r>
            <a:endParaRPr lang="en-US" sz="1500" dirty="0"/>
          </a:p>
        </p:txBody>
      </p:sp>
      <p:sp>
        <p:nvSpPr>
          <p:cNvPr id="24" name="Shape 22"/>
          <p:cNvSpPr/>
          <p:nvPr/>
        </p:nvSpPr>
        <p:spPr>
          <a:xfrm>
            <a:off x="5981700" y="3190875"/>
            <a:ext cx="114300" cy="95"/>
          </a:xfrm>
          <a:prstGeom prst="line">
            <a:avLst/>
          </a:prstGeom>
          <a:noFill/>
          <a:ln w="25400">
            <a:solidFill>
              <a:srgbClr val="B7C7D1"/>
            </a:solidFill>
            <a:prstDash val="solid"/>
            <a:tailEnd type="triangle"/>
          </a:ln>
        </p:spPr>
      </p:sp>
      <p:sp>
        <p:nvSpPr>
          <p:cNvPr id="25" name="Shape 23"/>
          <p:cNvSpPr/>
          <p:nvPr/>
        </p:nvSpPr>
        <p:spPr>
          <a:xfrm>
            <a:off x="6115050" y="1905000"/>
            <a:ext cx="1676400" cy="2571750"/>
          </a:xfrm>
          <a:prstGeom prst="rect">
            <a:avLst/>
          </a:prstGeom>
          <a:solidFill>
            <a:srgbClr val="EAF4EE"/>
          </a:solidFill>
          <a:ln w="19050">
            <a:solidFill>
              <a:srgbClr val="2E8B57"/>
            </a:solidFill>
            <a:prstDash val="solid"/>
          </a:ln>
        </p:spPr>
      </p:sp>
      <p:sp>
        <p:nvSpPr>
          <p:cNvPr id="26" name="Text 24"/>
          <p:cNvSpPr txBox="1"/>
          <p:nvPr/>
        </p:nvSpPr>
        <p:spPr>
          <a:xfrm>
            <a:off x="6743700" y="2038350"/>
            <a:ext cx="419100" cy="419100"/>
          </a:xfrm>
          <a:prstGeom prst="ellipse">
            <a:avLst/>
          </a:prstGeom>
          <a:solidFill>
            <a:srgbClr val="2E8B57"/>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4</a:t>
            </a:r>
            <a:endParaRPr lang="en-US" sz="1800" dirty="0"/>
          </a:p>
        </p:txBody>
      </p:sp>
      <p:sp>
        <p:nvSpPr>
          <p:cNvPr id="27" name="Text 25"/>
          <p:cNvSpPr txBox="1"/>
          <p:nvPr/>
        </p:nvSpPr>
        <p:spPr>
          <a:xfrm>
            <a:off x="6191250" y="2590800"/>
            <a:ext cx="1524000" cy="476250"/>
          </a:xfrm>
          <a:prstGeom prst="rect">
            <a:avLst/>
          </a:prstGeom>
          <a:noFill/>
          <a:ln/>
        </p:spPr>
        <p:txBody>
          <a:bodyPr wrap="square" lIns="0" tIns="0" rIns="0" bIns="0" rtlCol="0" anchor="ctr"/>
          <a:lstStyle/>
          <a:p>
            <a:pPr algn="ctr" indent="0" marL="0">
              <a:buNone/>
            </a:pPr>
            <a:r>
              <a:rPr lang="en-US" sz="1600" b="1" dirty="0">
                <a:solidFill>
                  <a:srgbClr val="102B46"/>
                </a:solidFill>
                <a:latin typeface="Yu Gothic" pitchFamily="34" charset="0"/>
                <a:ea typeface="Yu Gothic" pitchFamily="34" charset="-122"/>
                <a:cs typeface="Yu Gothic" pitchFamily="34" charset="-120"/>
              </a:rPr>
              <a:t>吊って全身</a:t>
            </a:r>
            <a:endParaRPr lang="en-US" sz="1600" dirty="0"/>
          </a:p>
        </p:txBody>
      </p:sp>
      <p:sp>
        <p:nvSpPr>
          <p:cNvPr id="28" name="Text 26"/>
          <p:cNvSpPr txBox="1"/>
          <p:nvPr/>
        </p:nvSpPr>
        <p:spPr>
          <a:xfrm>
            <a:off x="6191250" y="3124200"/>
            <a:ext cx="1524000" cy="762000"/>
          </a:xfrm>
          <a:prstGeom prst="rect">
            <a:avLst/>
          </a:prstGeom>
          <a:noFill/>
          <a:ln/>
        </p:spPr>
        <p:txBody>
          <a:bodyPr wrap="square" lIns="0" tIns="0" rIns="0" bIns="0" rtlCol="0" anchor="t"/>
          <a:lstStyle/>
          <a:p>
            <a:pPr algn="ctr" indent="0" marL="0">
              <a:buNone/>
            </a:pPr>
            <a:r>
              <a:rPr lang="en-US" sz="1400" dirty="0">
                <a:solidFill>
                  <a:srgbClr val="17212B"/>
                </a:solidFill>
                <a:latin typeface="Yu Gothic" pitchFamily="34" charset="0"/>
                <a:ea typeface="Yu Gothic" pitchFamily="34" charset="-122"/>
                <a:cs typeface="Yu Gothic" pitchFamily="34" charset="-120"/>
              </a:rPr>
              <a:t>10台すべてに</a:t>
            </a:r>
            <a:endParaRPr lang="en-US" sz="1400" dirty="0"/>
          </a:p>
          <a:p>
            <a:pPr algn="ctr" indent="0" marL="0">
              <a:buNone/>
            </a:pPr>
            <a:r>
              <a:rPr lang="en-US" sz="1400" dirty="0">
                <a:solidFill>
                  <a:srgbClr val="17212B"/>
                </a:solidFill>
                <a:latin typeface="Yu Gothic" pitchFamily="34" charset="0"/>
                <a:ea typeface="Yu Gothic" pitchFamily="34" charset="-122"/>
                <a:cs typeface="Yu Gothic" pitchFamily="34" charset="-120"/>
              </a:rPr>
              <a:t>方策の指令</a:t>
            </a:r>
            <a:endParaRPr lang="en-US" sz="1400" dirty="0"/>
          </a:p>
        </p:txBody>
      </p:sp>
      <p:sp>
        <p:nvSpPr>
          <p:cNvPr id="29" name="Text 27"/>
          <p:cNvSpPr txBox="1"/>
          <p:nvPr/>
        </p:nvSpPr>
        <p:spPr>
          <a:xfrm>
            <a:off x="6477000" y="4038600"/>
            <a:ext cx="952500" cy="304800"/>
          </a:xfrm>
          <a:prstGeom prst="rect">
            <a:avLst/>
          </a:prstGeom>
          <a:solidFill>
            <a:srgbClr val="2E8B57"/>
          </a:solid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完了</a:t>
            </a:r>
            <a:endParaRPr lang="en-US" sz="1500" dirty="0"/>
          </a:p>
        </p:txBody>
      </p:sp>
      <p:sp>
        <p:nvSpPr>
          <p:cNvPr id="30" name="Shape 28"/>
          <p:cNvSpPr/>
          <p:nvPr/>
        </p:nvSpPr>
        <p:spPr>
          <a:xfrm>
            <a:off x="7810500" y="3190875"/>
            <a:ext cx="114300" cy="95"/>
          </a:xfrm>
          <a:prstGeom prst="line">
            <a:avLst/>
          </a:prstGeom>
          <a:noFill/>
          <a:ln w="25400">
            <a:solidFill>
              <a:srgbClr val="B7C7D1"/>
            </a:solidFill>
            <a:prstDash val="solid"/>
            <a:tailEnd type="triangle"/>
          </a:ln>
        </p:spPr>
      </p:sp>
      <p:sp>
        <p:nvSpPr>
          <p:cNvPr id="31" name="Shape 29"/>
          <p:cNvSpPr/>
          <p:nvPr/>
        </p:nvSpPr>
        <p:spPr>
          <a:xfrm>
            <a:off x="7943850" y="1905000"/>
            <a:ext cx="1676400" cy="2571750"/>
          </a:xfrm>
          <a:prstGeom prst="rect">
            <a:avLst/>
          </a:prstGeom>
          <a:solidFill>
            <a:srgbClr val="F3EEE6"/>
          </a:solidFill>
          <a:ln w="19050">
            <a:solidFill>
              <a:srgbClr val="E8783F"/>
            </a:solidFill>
            <a:prstDash val="solid"/>
          </a:ln>
        </p:spPr>
      </p:sp>
      <p:sp>
        <p:nvSpPr>
          <p:cNvPr id="32" name="Text 30"/>
          <p:cNvSpPr txBox="1"/>
          <p:nvPr/>
        </p:nvSpPr>
        <p:spPr>
          <a:xfrm>
            <a:off x="8572500" y="2038350"/>
            <a:ext cx="419100" cy="419100"/>
          </a:xfrm>
          <a:prstGeom prst="ellipse">
            <a:avLst/>
          </a:prstGeom>
          <a:solidFill>
            <a:srgbClr val="E8783F"/>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5</a:t>
            </a:r>
            <a:endParaRPr lang="en-US" sz="1800" dirty="0"/>
          </a:p>
        </p:txBody>
      </p:sp>
      <p:sp>
        <p:nvSpPr>
          <p:cNvPr id="33" name="Text 31"/>
          <p:cNvSpPr txBox="1"/>
          <p:nvPr/>
        </p:nvSpPr>
        <p:spPr>
          <a:xfrm>
            <a:off x="8020050" y="2590800"/>
            <a:ext cx="1524000" cy="476250"/>
          </a:xfrm>
          <a:prstGeom prst="rect">
            <a:avLst/>
          </a:prstGeom>
          <a:noFill/>
          <a:ln/>
        </p:spPr>
        <p:txBody>
          <a:bodyPr wrap="square" lIns="0" tIns="0" rIns="0" bIns="0" rtlCol="0" anchor="ctr"/>
          <a:lstStyle/>
          <a:p>
            <a:pPr algn="ctr" indent="0" marL="0">
              <a:buNone/>
            </a:pPr>
            <a:r>
              <a:rPr lang="en-US" sz="1600" b="1" dirty="0">
                <a:solidFill>
                  <a:srgbClr val="102B46"/>
                </a:solidFill>
                <a:latin typeface="Yu Gothic" pitchFamily="34" charset="0"/>
                <a:ea typeface="Yu Gothic" pitchFamily="34" charset="-122"/>
                <a:cs typeface="Yu Gothic" pitchFamily="34" charset="-120"/>
              </a:rPr>
              <a:t>床に立たせる</a:t>
            </a:r>
            <a:endParaRPr lang="en-US" sz="1600" dirty="0"/>
          </a:p>
        </p:txBody>
      </p:sp>
      <p:sp>
        <p:nvSpPr>
          <p:cNvPr id="34" name="Text 32"/>
          <p:cNvSpPr txBox="1"/>
          <p:nvPr/>
        </p:nvSpPr>
        <p:spPr>
          <a:xfrm>
            <a:off x="8020050" y="3124200"/>
            <a:ext cx="1524000" cy="762000"/>
          </a:xfrm>
          <a:prstGeom prst="rect">
            <a:avLst/>
          </a:prstGeom>
          <a:noFill/>
          <a:ln/>
        </p:spPr>
        <p:txBody>
          <a:bodyPr wrap="square" lIns="0" tIns="0" rIns="0" bIns="0" rtlCol="0" anchor="t"/>
          <a:lstStyle/>
          <a:p>
            <a:pPr algn="ctr" indent="0" marL="0">
              <a:buNone/>
            </a:pPr>
            <a:r>
              <a:rPr lang="en-US" sz="1400" dirty="0">
                <a:solidFill>
                  <a:srgbClr val="17212B"/>
                </a:solidFill>
                <a:latin typeface="Yu Gothic" pitchFamily="34" charset="0"/>
                <a:ea typeface="Yu Gothic" pitchFamily="34" charset="-122"/>
                <a:cs typeface="Yu Gothic" pitchFamily="34" charset="-120"/>
              </a:rPr>
              <a:t>方策に任せて</a:t>
            </a:r>
            <a:endParaRPr lang="en-US" sz="1400" dirty="0"/>
          </a:p>
          <a:p>
            <a:pPr algn="ctr" indent="0" marL="0">
              <a:buNone/>
            </a:pPr>
            <a:r>
              <a:rPr lang="en-US" sz="1400" dirty="0">
                <a:solidFill>
                  <a:srgbClr val="17212B"/>
                </a:solidFill>
                <a:latin typeface="Yu Gothic" pitchFamily="34" charset="0"/>
                <a:ea typeface="Yu Gothic" pitchFamily="34" charset="-122"/>
                <a:cs typeface="Yu Gothic" pitchFamily="34" charset="-120"/>
              </a:rPr>
              <a:t>立つ・歩く</a:t>
            </a:r>
            <a:endParaRPr lang="en-US" sz="1400" dirty="0"/>
          </a:p>
        </p:txBody>
      </p:sp>
      <p:sp>
        <p:nvSpPr>
          <p:cNvPr id="35" name="Text 33"/>
          <p:cNvSpPr txBox="1"/>
          <p:nvPr/>
        </p:nvSpPr>
        <p:spPr>
          <a:xfrm>
            <a:off x="8305800" y="4038600"/>
            <a:ext cx="952500" cy="304800"/>
          </a:xfrm>
          <a:prstGeom prst="rect">
            <a:avLst/>
          </a:prstGeom>
          <a:solidFill>
            <a:srgbClr val="E8783F"/>
          </a:solid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実施中</a:t>
            </a:r>
            <a:endParaRPr lang="en-US" sz="1500" dirty="0"/>
          </a:p>
        </p:txBody>
      </p:sp>
      <p:sp>
        <p:nvSpPr>
          <p:cNvPr id="36" name="Shape 34"/>
          <p:cNvSpPr/>
          <p:nvPr/>
        </p:nvSpPr>
        <p:spPr>
          <a:xfrm>
            <a:off x="9639300" y="3190875"/>
            <a:ext cx="114300" cy="95"/>
          </a:xfrm>
          <a:prstGeom prst="line">
            <a:avLst/>
          </a:prstGeom>
          <a:noFill/>
          <a:ln w="25400">
            <a:solidFill>
              <a:srgbClr val="B7C7D1"/>
            </a:solidFill>
            <a:prstDash val="solid"/>
            <a:tailEnd type="triangle"/>
          </a:ln>
        </p:spPr>
      </p:sp>
      <p:sp>
        <p:nvSpPr>
          <p:cNvPr id="37" name="Shape 35"/>
          <p:cNvSpPr/>
          <p:nvPr/>
        </p:nvSpPr>
        <p:spPr>
          <a:xfrm>
            <a:off x="9772650" y="1905000"/>
            <a:ext cx="1676400" cy="2571750"/>
          </a:xfrm>
          <a:prstGeom prst="rect">
            <a:avLst/>
          </a:prstGeom>
          <a:solidFill>
            <a:srgbClr val="FFFFFF"/>
          </a:solidFill>
          <a:ln w="19050">
            <a:solidFill>
              <a:srgbClr val="5E6A73"/>
            </a:solidFill>
            <a:prstDash val="solid"/>
          </a:ln>
        </p:spPr>
      </p:sp>
      <p:sp>
        <p:nvSpPr>
          <p:cNvPr id="38" name="Text 36"/>
          <p:cNvSpPr txBox="1"/>
          <p:nvPr/>
        </p:nvSpPr>
        <p:spPr>
          <a:xfrm>
            <a:off x="10401300" y="2038350"/>
            <a:ext cx="419100" cy="419100"/>
          </a:xfrm>
          <a:prstGeom prst="ellipse">
            <a:avLst/>
          </a:prstGeom>
          <a:solidFill>
            <a:srgbClr val="5E6A73"/>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6</a:t>
            </a:r>
            <a:endParaRPr lang="en-US" sz="1800" dirty="0"/>
          </a:p>
        </p:txBody>
      </p:sp>
      <p:sp>
        <p:nvSpPr>
          <p:cNvPr id="39" name="Text 37"/>
          <p:cNvSpPr txBox="1"/>
          <p:nvPr/>
        </p:nvSpPr>
        <p:spPr>
          <a:xfrm>
            <a:off x="9848850" y="2590800"/>
            <a:ext cx="1524000" cy="476250"/>
          </a:xfrm>
          <a:prstGeom prst="rect">
            <a:avLst/>
          </a:prstGeom>
          <a:noFill/>
          <a:ln/>
        </p:spPr>
        <p:txBody>
          <a:bodyPr wrap="square" lIns="0" tIns="0" rIns="0" bIns="0" rtlCol="0" anchor="ctr"/>
          <a:lstStyle/>
          <a:p>
            <a:pPr algn="ctr" indent="0" marL="0">
              <a:buNone/>
            </a:pPr>
            <a:r>
              <a:rPr lang="en-US" sz="1600" b="1" dirty="0">
                <a:solidFill>
                  <a:srgbClr val="102B46"/>
                </a:solidFill>
                <a:latin typeface="Yu Gothic" pitchFamily="34" charset="0"/>
                <a:ea typeface="Yu Gothic" pitchFamily="34" charset="-122"/>
                <a:cs typeface="Yu Gothic" pitchFamily="34" charset="-120"/>
              </a:rPr>
              <a:t>プロコン操作</a:t>
            </a:r>
            <a:endParaRPr lang="en-US" sz="1600" dirty="0"/>
          </a:p>
        </p:txBody>
      </p:sp>
      <p:sp>
        <p:nvSpPr>
          <p:cNvPr id="40" name="Text 38"/>
          <p:cNvSpPr txBox="1"/>
          <p:nvPr/>
        </p:nvSpPr>
        <p:spPr>
          <a:xfrm>
            <a:off x="9848850" y="3124200"/>
            <a:ext cx="1524000" cy="762000"/>
          </a:xfrm>
          <a:prstGeom prst="rect">
            <a:avLst/>
          </a:prstGeom>
          <a:noFill/>
          <a:ln/>
        </p:spPr>
        <p:txBody>
          <a:bodyPr wrap="square" lIns="0" tIns="0" rIns="0" bIns="0" rtlCol="0" anchor="t"/>
          <a:lstStyle/>
          <a:p>
            <a:pPr algn="ctr" indent="0" marL="0">
              <a:buNone/>
            </a:pPr>
            <a:r>
              <a:rPr lang="en-US" sz="1400" dirty="0">
                <a:solidFill>
                  <a:srgbClr val="17212B"/>
                </a:solidFill>
                <a:latin typeface="Yu Gothic" pitchFamily="34" charset="0"/>
                <a:ea typeface="Yu Gothic" pitchFamily="34" charset="-122"/>
                <a:cs typeface="Yu Gothic" pitchFamily="34" charset="-120"/>
              </a:rPr>
              <a:t>Jetson＋無線で</a:t>
            </a:r>
            <a:endParaRPr lang="en-US" sz="1400" dirty="0"/>
          </a:p>
          <a:p>
            <a:pPr algn="ctr" indent="0" marL="0">
              <a:buNone/>
            </a:pPr>
            <a:r>
              <a:rPr lang="en-US" sz="1400" dirty="0">
                <a:solidFill>
                  <a:srgbClr val="17212B"/>
                </a:solidFill>
                <a:latin typeface="Yu Gothic" pitchFamily="34" charset="0"/>
                <a:ea typeface="Yu Gothic" pitchFamily="34" charset="-122"/>
                <a:cs typeface="Yu Gothic" pitchFamily="34" charset="-120"/>
              </a:rPr>
              <a:t>好きな方向へ</a:t>
            </a:r>
            <a:endParaRPr lang="en-US" sz="1400" dirty="0"/>
          </a:p>
        </p:txBody>
      </p:sp>
      <p:sp>
        <p:nvSpPr>
          <p:cNvPr id="41" name="Text 39"/>
          <p:cNvSpPr txBox="1"/>
          <p:nvPr/>
        </p:nvSpPr>
        <p:spPr>
          <a:xfrm>
            <a:off x="10134600" y="4038600"/>
            <a:ext cx="952500" cy="304800"/>
          </a:xfrm>
          <a:prstGeom prst="rect">
            <a:avLst/>
          </a:prstGeom>
          <a:solidFill>
            <a:srgbClr val="5E6A73"/>
          </a:solid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未実施</a:t>
            </a:r>
            <a:endParaRPr lang="en-US" sz="1500" dirty="0"/>
          </a:p>
        </p:txBody>
      </p:sp>
      <p:sp>
        <p:nvSpPr>
          <p:cNvPr id="42" name="Shape 40"/>
          <p:cNvSpPr/>
          <p:nvPr/>
        </p:nvSpPr>
        <p:spPr>
          <a:xfrm>
            <a:off x="628650" y="4762500"/>
            <a:ext cx="10934700" cy="1428750"/>
          </a:xfrm>
          <a:prstGeom prst="rect">
            <a:avLst/>
          </a:prstGeom>
          <a:solidFill>
            <a:srgbClr val="E8F1F5"/>
          </a:solidFill>
          <a:ln w="12700">
            <a:solidFill>
              <a:srgbClr val="32A5B5"/>
            </a:solidFill>
            <a:prstDash val="solid"/>
          </a:ln>
        </p:spPr>
      </p:sp>
      <p:sp>
        <p:nvSpPr>
          <p:cNvPr id="43" name="Text 41"/>
          <p:cNvSpPr txBox="1"/>
          <p:nvPr/>
        </p:nvSpPr>
        <p:spPr>
          <a:xfrm>
            <a:off x="857250" y="4876800"/>
            <a:ext cx="2857500" cy="285750"/>
          </a:xfrm>
          <a:prstGeom prst="rect">
            <a:avLst/>
          </a:prstGeom>
          <a:noFill/>
          <a:ln/>
        </p:spPr>
        <p:txBody>
          <a:bodyPr wrap="square" lIns="0" tIns="0" rIns="0" bIns="0" rtlCol="0" anchor="ctr"/>
          <a:lstStyle/>
          <a:p>
            <a:pPr algn="l" indent="0" marL="0">
              <a:buNone/>
            </a:pPr>
            <a:r>
              <a:rPr lang="en-US" sz="1800" b="1" dirty="0">
                <a:solidFill>
                  <a:srgbClr val="32A5B5"/>
                </a:solidFill>
                <a:latin typeface="Yu Gothic" pitchFamily="34" charset="0"/>
                <a:ea typeface="Yu Gothic" pitchFamily="34" charset="-122"/>
                <a:cs typeface="Yu Gothic" pitchFamily="34" charset="-120"/>
              </a:rPr>
              <a:t>安全のために</a:t>
            </a:r>
            <a:endParaRPr lang="en-US" sz="1800" dirty="0"/>
          </a:p>
        </p:txBody>
      </p:sp>
      <p:sp>
        <p:nvSpPr>
          <p:cNvPr id="44" name="Text 42"/>
          <p:cNvSpPr txBox="1"/>
          <p:nvPr/>
        </p:nvSpPr>
        <p:spPr>
          <a:xfrm>
            <a:off x="857250" y="5219700"/>
            <a:ext cx="10477500" cy="914400"/>
          </a:xfrm>
          <a:prstGeom prst="rect">
            <a:avLst/>
          </a:prstGeom>
          <a:noFill/>
          <a:ln/>
        </p:spPr>
        <p:txBody>
          <a:bodyPr wrap="square" lIns="0" tIns="0" rIns="0" bIns="0" rtlCol="0" anchor="t"/>
          <a:lstStyle/>
          <a:p>
            <a:pPr algn="l" marL="342900" indent="-342900">
              <a:spcAft>
                <a:spcPts val="600"/>
              </a:spcAft>
              <a:buSzPct val="100000"/>
              <a:buChar char="•"/>
            </a:pPr>
            <a:r>
              <a:rPr lang="en-US" sz="1600" dirty="0">
                <a:solidFill>
                  <a:srgbClr val="17212B"/>
                </a:solidFill>
                <a:latin typeface="Yu Gothic" pitchFamily="34" charset="0"/>
                <a:ea typeface="Yu Gothic" pitchFamily="34" charset="-122"/>
                <a:cs typeface="Yu Gothic" pitchFamily="34" charset="-120"/>
              </a:rPr>
              <a:t>傾きが 30°を超える・電流や速度が上限を超える・センサが止まる → 自動で止める</a:t>
            </a:r>
            <a:endParaRPr lang="en-US" sz="1600" dirty="0"/>
          </a:p>
          <a:p>
            <a:pPr algn="l" marL="342900" indent="-342900">
              <a:spcAft>
                <a:spcPts val="600"/>
              </a:spcAft>
              <a:buSzPct val="100000"/>
              <a:buChar char="•"/>
            </a:pPr>
            <a:r>
              <a:rPr lang="en-US" sz="1600" dirty="0">
                <a:solidFill>
                  <a:srgbClr val="17212B"/>
                </a:solidFill>
                <a:latin typeface="Yu Gothic" pitchFamily="34" charset="0"/>
                <a:ea typeface="Yu Gothic" pitchFamily="34" charset="-122"/>
                <a:cs typeface="Yu Gothic" pitchFamily="34" charset="-120"/>
              </a:rPr>
              <a:t>最後は人が主電源を切る。毎回の結果は記録データを解析して判定する</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デプロイで見つかった「シミュレーターとの違い」</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28650" y="1238250"/>
          <a:ext cx="10934700" cy="914400"/>
        </p:xfrm>
        <a:graphic>
          <a:graphicData uri="http://schemas.openxmlformats.org/drawingml/2006/table">
            <a:tbl>
              <a:tblPr/>
              <a:tblGrid>
                <a:gridCol w="5905500"/>
                <a:gridCol w="5029200"/>
              </a:tblGrid>
              <a:tr h="590550">
                <a:tc>
                  <a:txBody>
                    <a:bodyPr/>
                    <a:lstStyle/>
                    <a:p>
                      <a:pPr indent="0" marL="0">
                        <a:buNone/>
                      </a:pPr>
                      <a:r>
                        <a:rPr lang="en-US" sz="1600" b="1" dirty="0">
                          <a:solidFill>
                            <a:srgbClr val="FFFFFF"/>
                          </a:solidFill>
                          <a:latin typeface="Yu Gothic" pitchFamily="34" charset="0"/>
                          <a:ea typeface="Yu Gothic" pitchFamily="34" charset="-122"/>
                          <a:cs typeface="Yu Gothic" pitchFamily="34" charset="-120"/>
                        </a:rPr>
                        <a:t>見つかった違い</a:t>
                      </a:r>
                      <a:endParaRPr lang="en-US" sz="16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102B46"/>
                    </a:solidFill>
                  </a:tcPr>
                </a:tc>
                <a:tc>
                  <a:txBody>
                    <a:bodyPr/>
                    <a:lstStyle/>
                    <a:p>
                      <a:pPr indent="0" marL="0">
                        <a:buNone/>
                      </a:pPr>
                      <a:r>
                        <a:rPr lang="en-US" sz="1600" b="1" dirty="0">
                          <a:solidFill>
                            <a:srgbClr val="FFFFFF"/>
                          </a:solidFill>
                          <a:latin typeface="Yu Gothic" pitchFamily="34" charset="0"/>
                          <a:ea typeface="Yu Gothic" pitchFamily="34" charset="-122"/>
                          <a:cs typeface="Yu Gothic" pitchFamily="34" charset="-120"/>
                        </a:rPr>
                        <a:t>どう対応したか</a:t>
                      </a:r>
                      <a:endParaRPr lang="en-US" sz="16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102B46"/>
                    </a:solidFill>
                  </a:tcPr>
                </a:tc>
              </a:tr>
              <a:tr h="590550">
                <a:tc>
                  <a:txBody>
                    <a:bodyPr/>
                    <a:lstStyle/>
                    <a:p>
                      <a:pPr indent="0" marL="0">
                        <a:buNone/>
                      </a:pPr>
                      <a:r>
                        <a:rPr lang="en-US" sz="1600" dirty="0">
                          <a:solidFill>
                            <a:srgbClr val="17212B"/>
                          </a:solidFill>
                          <a:latin typeface="Yu Gothic" pitchFamily="34" charset="0"/>
                          <a:ea typeface="Yu Gothic" pitchFamily="34" charset="-122"/>
                          <a:cs typeface="Yu Gothic" pitchFamily="34" charset="-120"/>
                        </a:rPr>
                        <a:t>一部の関節の回る向きが逆</a:t>
                      </a:r>
                      <a:endParaRPr lang="en-US" sz="16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c>
                  <a:txBody>
                    <a:bodyPr/>
                    <a:lstStyle/>
                    <a:p>
                      <a:pPr indent="0" marL="0">
                        <a:buNone/>
                      </a:pPr>
                      <a:r>
                        <a:rPr lang="en-US" sz="1600" dirty="0">
                          <a:solidFill>
                            <a:srgbClr val="17212B"/>
                          </a:solidFill>
                          <a:latin typeface="Yu Gothic" pitchFamily="34" charset="0"/>
                          <a:ea typeface="Yu Gothic" pitchFamily="34" charset="-122"/>
                          <a:cs typeface="Yu Gothic" pitchFamily="34" charset="-120"/>
                        </a:rPr>
                        <a:t>関節ごとの向きを表にまとめて修正</a:t>
                      </a:r>
                      <a:endParaRPr lang="en-US" sz="16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r>
              <a:tr h="590550">
                <a:tc>
                  <a:txBody>
                    <a:bodyPr/>
                    <a:lstStyle/>
                    <a:p>
                      <a:pPr indent="0" marL="0">
                        <a:buNone/>
                      </a:pPr>
                      <a:r>
                        <a:rPr lang="en-US" sz="1600" dirty="0">
                          <a:solidFill>
                            <a:srgbClr val="17212B"/>
                          </a:solidFill>
                          <a:latin typeface="Yu Gothic" pitchFamily="34" charset="0"/>
                          <a:ea typeface="Yu Gothic" pitchFamily="34" charset="-122"/>
                          <a:cs typeface="Yu Gothic" pitchFamily="34" charset="-120"/>
                        </a:rPr>
                        <a:t>方策に渡す関節の角度の基準がずれていた</a:t>
                      </a:r>
                      <a:endParaRPr lang="en-US" sz="16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c>
                  <a:txBody>
                    <a:bodyPr/>
                    <a:lstStyle/>
                    <a:p>
                      <a:pPr indent="0" marL="0">
                        <a:buNone/>
                      </a:pPr>
                      <a:r>
                        <a:rPr lang="en-US" sz="1600" dirty="0">
                          <a:solidFill>
                            <a:srgbClr val="17212B"/>
                          </a:solidFill>
                          <a:latin typeface="Yu Gothic" pitchFamily="34" charset="0"/>
                          <a:ea typeface="Yu Gothic" pitchFamily="34" charset="-122"/>
                          <a:cs typeface="Yu Gothic" pitchFamily="34" charset="-120"/>
                        </a:rPr>
                        <a:t>記録データで入力を確かめて修正</a:t>
                      </a:r>
                      <a:endParaRPr lang="en-US" sz="16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r>
              <a:tr h="590550">
                <a:tc>
                  <a:txBody>
                    <a:bodyPr/>
                    <a:lstStyle/>
                    <a:p>
                      <a:pPr indent="0" marL="0">
                        <a:buNone/>
                      </a:pPr>
                      <a:r>
                        <a:rPr lang="en-US" sz="1600" dirty="0">
                          <a:solidFill>
                            <a:srgbClr val="17212B"/>
                          </a:solidFill>
                          <a:latin typeface="Yu Gothic" pitchFamily="34" charset="0"/>
                          <a:ea typeface="Yu Gothic" pitchFamily="34" charset="-122"/>
                          <a:cs typeface="Yu Gothic" pitchFamily="34" charset="-120"/>
                        </a:rPr>
                        <a:t>CAD の「まっすぐ」が実は膝の曲がった姿勢（左 12°・右 7°）</a:t>
                      </a:r>
                      <a:endParaRPr lang="en-US" sz="16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c>
                  <a:txBody>
                    <a:bodyPr/>
                    <a:lstStyle/>
                    <a:p>
                      <a:pPr indent="0" marL="0">
                        <a:buNone/>
                      </a:pPr>
                      <a:r>
                        <a:rPr lang="en-US" sz="1600" dirty="0">
                          <a:solidFill>
                            <a:srgbClr val="17212B"/>
                          </a:solidFill>
                          <a:latin typeface="Yu Gothic" pitchFamily="34" charset="0"/>
                          <a:ea typeface="Yu Gothic" pitchFamily="34" charset="-122"/>
                          <a:cs typeface="Yu Gothic" pitchFamily="34" charset="-120"/>
                        </a:rPr>
                        <a:t>読み替えを入れて、床で姿勢を保って立てた</a:t>
                      </a:r>
                      <a:endParaRPr lang="en-US" sz="16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r>
              <a:tr h="590550">
                <a:tc>
                  <a:txBody>
                    <a:bodyPr/>
                    <a:lstStyle/>
                    <a:p>
                      <a:pPr indent="0" marL="0">
                        <a:buNone/>
                      </a:pPr>
                      <a:r>
                        <a:rPr lang="en-US" sz="1600" dirty="0">
                          <a:solidFill>
                            <a:srgbClr val="17212B"/>
                          </a:solidFill>
                          <a:latin typeface="Yu Gothic" pitchFamily="34" charset="0"/>
                          <a:ea typeface="Yu Gothic" pitchFamily="34" charset="-122"/>
                          <a:cs typeface="Yu Gothic" pitchFamily="34" charset="-120"/>
                        </a:rPr>
                        <a:t>計算の周期が 16 ms 刻みでばらつく</a:t>
                      </a:r>
                      <a:endParaRPr lang="en-US" sz="16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c>
                  <a:txBody>
                    <a:bodyPr/>
                    <a:lstStyle/>
                    <a:p>
                      <a:pPr indent="0" marL="0">
                        <a:buNone/>
                      </a:pPr>
                      <a:r>
                        <a:rPr lang="en-US" sz="1600" dirty="0">
                          <a:solidFill>
                            <a:srgbClr val="17212B"/>
                          </a:solidFill>
                          <a:latin typeface="Yu Gothic" pitchFamily="34" charset="0"/>
                          <a:ea typeface="Yu Gothic" pitchFamily="34" charset="-122"/>
                          <a:cs typeface="Yu Gothic" pitchFamily="34" charset="-120"/>
                        </a:rPr>
                        <a:t>細かいタイマーに変えて、20 ms ちょうどに</a:t>
                      </a:r>
                      <a:endParaRPr lang="en-US" sz="16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r>
              <a:tr h="590550">
                <a:tc>
                  <a:txBody>
                    <a:bodyPr/>
                    <a:lstStyle/>
                    <a:p>
                      <a:pPr indent="0" marL="0">
                        <a:buNone/>
                      </a:pPr>
                      <a:r>
                        <a:rPr lang="en-US" sz="1600" dirty="0">
                          <a:solidFill>
                            <a:srgbClr val="17212B"/>
                          </a:solidFill>
                          <a:latin typeface="Yu Gothic" pitchFamily="34" charset="0"/>
                          <a:ea typeface="Yu Gothic" pitchFamily="34" charset="-122"/>
                          <a:cs typeface="Yu Gothic" pitchFamily="34" charset="-120"/>
                        </a:rPr>
                        <a:t>モーターの摩擦がシミュレーターの 2〜3 倍</a:t>
                      </a:r>
                      <a:endParaRPr lang="en-US" sz="16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c>
                  <a:txBody>
                    <a:bodyPr/>
                    <a:lstStyle/>
                    <a:p>
                      <a:pPr indent="0" marL="0">
                        <a:buNone/>
                      </a:pPr>
                      <a:r>
                        <a:rPr lang="en-US" sz="1600" dirty="0">
                          <a:solidFill>
                            <a:srgbClr val="17212B"/>
                          </a:solidFill>
                          <a:latin typeface="Yu Gothic" pitchFamily="34" charset="0"/>
                          <a:ea typeface="Yu Gothic" pitchFamily="34" charset="-122"/>
                          <a:cs typeface="Yu Gothic" pitchFamily="34" charset="-120"/>
                        </a:rPr>
                        <a:t>摩擦をばらつかせて学習し直し中</a:t>
                      </a:r>
                      <a:endParaRPr lang="en-US" sz="16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r>
              <a:tr h="590550">
                <a:tc>
                  <a:txBody>
                    <a:bodyPr/>
                    <a:lstStyle/>
                    <a:p>
                      <a:pPr indent="0" marL="0">
                        <a:buNone/>
                      </a:pPr>
                      <a:r>
                        <a:rPr lang="en-US" sz="1600" dirty="0">
                          <a:solidFill>
                            <a:srgbClr val="17212B"/>
                          </a:solidFill>
                          <a:latin typeface="Yu Gothic" pitchFamily="34" charset="0"/>
                          <a:ea typeface="Yu Gothic" pitchFamily="34" charset="-122"/>
                          <a:cs typeface="Yu Gothic" pitchFamily="34" charset="-120"/>
                        </a:rPr>
                        <a:t>安全停止の電流が、自分の重さを支える電流より小さかった</a:t>
                      </a:r>
                      <a:endParaRPr lang="en-US" sz="16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c>
                  <a:txBody>
                    <a:bodyPr/>
                    <a:lstStyle/>
                    <a:p>
                      <a:pPr indent="0" marL="0">
                        <a:buNone/>
                      </a:pPr>
                      <a:r>
                        <a:rPr lang="en-US" sz="1600" dirty="0">
                          <a:solidFill>
                            <a:srgbClr val="17212B"/>
                          </a:solidFill>
                          <a:latin typeface="Yu Gothic" pitchFamily="34" charset="0"/>
                          <a:ea typeface="Yu Gothic" pitchFamily="34" charset="-122"/>
                          <a:cs typeface="Yu Gothic" pitchFamily="34" charset="-120"/>
                        </a:rPr>
                        <a:t>関節ごとに実測して決め直した</a:t>
                      </a:r>
                      <a:endParaRPr lang="en-US" sz="16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r>
            </a:tbl>
          </a:graphicData>
        </a:graphic>
      </p:graphicFrame>
      <p:sp>
        <p:nvSpPr>
          <p:cNvPr id="7" name="Text 4"/>
          <p:cNvSpPr txBox="1"/>
          <p:nvPr/>
        </p:nvSpPr>
        <p:spPr>
          <a:xfrm>
            <a:off x="628650" y="5619750"/>
            <a:ext cx="10934700" cy="476250"/>
          </a:xfrm>
          <a:prstGeom prst="rect">
            <a:avLst/>
          </a:prstGeom>
          <a:solidFill>
            <a:srgbClr val="F3EEE6"/>
          </a:solidFill>
          <a:ln/>
        </p:spPr>
        <p:txBody>
          <a:bodyPr wrap="square" lIns="0" tIns="0" rIns="0" bIns="0" rtlCol="0" anchor="ctr"/>
          <a:lstStyle/>
          <a:p>
            <a:pPr algn="ctr" indent="0" marL="0">
              <a:buNone/>
            </a:pPr>
            <a:r>
              <a:rPr lang="en-US" sz="1700" b="1" dirty="0">
                <a:solidFill>
                  <a:srgbClr val="102B46"/>
                </a:solidFill>
                <a:latin typeface="Yu Gothic" pitchFamily="34" charset="0"/>
                <a:ea typeface="Yu Gothic" pitchFamily="34" charset="-122"/>
                <a:cs typeface="Yu Gothic" pitchFamily="34" charset="-120"/>
              </a:rPr>
              <a:t>1 つずつ記録データで原因を突き止めて直してきた。まだ残っている違いが次の結果につながる</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結果：シミュレーション</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Shape 4"/>
          <p:cNvSpPr/>
          <p:nvPr/>
        </p:nvSpPr>
        <p:spPr>
          <a:xfrm>
            <a:off x="628650" y="1219200"/>
            <a:ext cx="3467100" cy="1790700"/>
          </a:xfrm>
          <a:prstGeom prst="rect">
            <a:avLst/>
          </a:prstGeom>
          <a:solidFill>
            <a:srgbClr val="FBF7F3"/>
          </a:solidFill>
          <a:ln w="22225">
            <a:solidFill>
              <a:srgbClr val="E8783F"/>
            </a:solidFill>
            <a:prstDash val="dash"/>
          </a:ln>
        </p:spPr>
      </p:sp>
      <p:sp>
        <p:nvSpPr>
          <p:cNvPr id="7" name="Text 5"/>
          <p:cNvSpPr txBox="1"/>
          <p:nvPr/>
        </p:nvSpPr>
        <p:spPr>
          <a:xfrm>
            <a:off x="762000" y="1333500"/>
            <a:ext cx="3200400" cy="247650"/>
          </a:xfrm>
          <a:prstGeom prst="rect">
            <a:avLst/>
          </a:prstGeom>
          <a:noFill/>
          <a:ln/>
        </p:spPr>
        <p:txBody>
          <a:bodyPr wrap="square" lIns="0" tIns="0" rIns="0" bIns="0" rtlCol="0" anchor="ctr"/>
          <a:lstStyle/>
          <a:p>
            <a:pPr algn="l" indent="0" marL="0">
              <a:buNone/>
            </a:pPr>
            <a:r>
              <a:rPr lang="en-US" sz="1400" b="1" dirty="0">
                <a:solidFill>
                  <a:srgbClr val="E8783F"/>
                </a:solidFill>
                <a:latin typeface="Yu Gothic" pitchFamily="34" charset="0"/>
                <a:ea typeface="Yu Gothic" pitchFamily="34" charset="-122"/>
                <a:cs typeface="Yu Gothic" pitchFamily="34" charset="-120"/>
              </a:rPr>
              <a:t>▶ ここに動画を貼る</a:t>
            </a:r>
            <a:endParaRPr lang="en-US" sz="1400" dirty="0"/>
          </a:p>
        </p:txBody>
      </p:sp>
      <p:sp>
        <p:nvSpPr>
          <p:cNvPr id="8" name="Text 6"/>
          <p:cNvSpPr txBox="1"/>
          <p:nvPr/>
        </p:nvSpPr>
        <p:spPr>
          <a:xfrm>
            <a:off x="762000" y="1619250"/>
            <a:ext cx="3200400" cy="1276350"/>
          </a:xfrm>
          <a:prstGeom prst="rect">
            <a:avLst/>
          </a:prstGeom>
          <a:noFill/>
          <a:ln/>
        </p:spPr>
        <p:txBody>
          <a:bodyPr wrap="square" lIns="0" tIns="0" rIns="0" bIns="0" rtlCol="0" anchor="t"/>
          <a:lstStyle/>
          <a:p>
            <a:pPr algn="l" indent="0" marL="0">
              <a:lnSpc>
                <a:spcPct val="110000"/>
              </a:lnSpc>
              <a:buNone/>
            </a:pPr>
            <a:r>
              <a:rPr lang="en-US" sz="1300" dirty="0">
                <a:solidFill>
                  <a:srgbClr val="5E6A73"/>
                </a:solidFill>
                <a:latin typeface="Yu Gothic" pitchFamily="34" charset="0"/>
                <a:ea typeface="Yu Gothic" pitchFamily="34" charset="-122"/>
                <a:cs typeface="Yu Gothic" pitchFamily="34" charset="-120"/>
              </a:rPr>
              <a:t>平地を前進の動画（実験15の動画フォルダ videos_presentation_20260924 から）</a:t>
            </a:r>
            <a:endParaRPr lang="en-US" sz="1300" dirty="0"/>
          </a:p>
        </p:txBody>
      </p:sp>
      <p:sp>
        <p:nvSpPr>
          <p:cNvPr id="9" name="Text 7"/>
          <p:cNvSpPr txBox="1"/>
          <p:nvPr/>
        </p:nvSpPr>
        <p:spPr>
          <a:xfrm>
            <a:off x="628650" y="3086100"/>
            <a:ext cx="1619250" cy="419100"/>
          </a:xfrm>
          <a:prstGeom prst="rect">
            <a:avLst/>
          </a:prstGeom>
          <a:noFill/>
          <a:ln/>
        </p:spPr>
        <p:txBody>
          <a:bodyPr wrap="square" lIns="0" tIns="0" rIns="0" bIns="0" rtlCol="0" anchor="ctr"/>
          <a:lstStyle/>
          <a:p>
            <a:pPr algn="l" indent="0" marL="0">
              <a:buNone/>
            </a:pPr>
            <a:r>
              <a:rPr lang="en-US" sz="1700" b="1" dirty="0">
                <a:solidFill>
                  <a:srgbClr val="102B46"/>
                </a:solidFill>
                <a:latin typeface="Yu Gothic" pitchFamily="34" charset="0"/>
                <a:ea typeface="Yu Gothic" pitchFamily="34" charset="-122"/>
                <a:cs typeface="Yu Gothic" pitchFamily="34" charset="-120"/>
              </a:rPr>
              <a:t>平地を前進</a:t>
            </a:r>
            <a:endParaRPr lang="en-US" sz="1700" dirty="0"/>
          </a:p>
        </p:txBody>
      </p:sp>
      <p:sp>
        <p:nvSpPr>
          <p:cNvPr id="10" name="Text 8"/>
          <p:cNvSpPr txBox="1"/>
          <p:nvPr/>
        </p:nvSpPr>
        <p:spPr>
          <a:xfrm>
            <a:off x="2190750" y="3086100"/>
            <a:ext cx="1905000" cy="419100"/>
          </a:xfrm>
          <a:prstGeom prst="rect">
            <a:avLst/>
          </a:prstGeom>
          <a:noFill/>
          <a:ln/>
        </p:spPr>
        <p:txBody>
          <a:bodyPr wrap="square" lIns="0" tIns="0" rIns="0" bIns="0" rtlCol="0" anchor="ctr"/>
          <a:lstStyle/>
          <a:p>
            <a:pPr algn="r" indent="0" marL="0">
              <a:buNone/>
            </a:pPr>
            <a:r>
              <a:rPr lang="en-US" sz="1600" b="1" dirty="0">
                <a:solidFill>
                  <a:srgbClr val="32A5B5"/>
                </a:solidFill>
                <a:latin typeface="Yu Gothic" pitchFamily="34" charset="0"/>
                <a:ea typeface="Yu Gothic" pitchFamily="34" charset="-122"/>
                <a:cs typeface="Yu Gothic" pitchFamily="34" charset="-120"/>
              </a:rPr>
              <a:t>15 秒で 6.75 m</a:t>
            </a:r>
            <a:endParaRPr lang="en-US" sz="1600" dirty="0"/>
          </a:p>
        </p:txBody>
      </p:sp>
      <p:sp>
        <p:nvSpPr>
          <p:cNvPr id="11" name="Shape 9"/>
          <p:cNvSpPr/>
          <p:nvPr/>
        </p:nvSpPr>
        <p:spPr>
          <a:xfrm>
            <a:off x="4362450" y="1219200"/>
            <a:ext cx="3467100" cy="1790700"/>
          </a:xfrm>
          <a:prstGeom prst="rect">
            <a:avLst/>
          </a:prstGeom>
          <a:solidFill>
            <a:srgbClr val="FBF7F3"/>
          </a:solidFill>
          <a:ln w="22225">
            <a:solidFill>
              <a:srgbClr val="E8783F"/>
            </a:solidFill>
            <a:prstDash val="dash"/>
          </a:ln>
        </p:spPr>
      </p:sp>
      <p:sp>
        <p:nvSpPr>
          <p:cNvPr id="12" name="Text 10"/>
          <p:cNvSpPr txBox="1"/>
          <p:nvPr/>
        </p:nvSpPr>
        <p:spPr>
          <a:xfrm>
            <a:off x="4495800" y="1333500"/>
            <a:ext cx="3200400" cy="247650"/>
          </a:xfrm>
          <a:prstGeom prst="rect">
            <a:avLst/>
          </a:prstGeom>
          <a:noFill/>
          <a:ln/>
        </p:spPr>
        <p:txBody>
          <a:bodyPr wrap="square" lIns="0" tIns="0" rIns="0" bIns="0" rtlCol="0" anchor="ctr"/>
          <a:lstStyle/>
          <a:p>
            <a:pPr algn="l" indent="0" marL="0">
              <a:buNone/>
            </a:pPr>
            <a:r>
              <a:rPr lang="en-US" sz="1400" b="1" dirty="0">
                <a:solidFill>
                  <a:srgbClr val="E8783F"/>
                </a:solidFill>
                <a:latin typeface="Yu Gothic" pitchFamily="34" charset="0"/>
                <a:ea typeface="Yu Gothic" pitchFamily="34" charset="-122"/>
                <a:cs typeface="Yu Gothic" pitchFamily="34" charset="-120"/>
              </a:rPr>
              <a:t>▶ ここに動画を貼る</a:t>
            </a:r>
            <a:endParaRPr lang="en-US" sz="1400" dirty="0"/>
          </a:p>
        </p:txBody>
      </p:sp>
      <p:sp>
        <p:nvSpPr>
          <p:cNvPr id="13" name="Text 11"/>
          <p:cNvSpPr txBox="1"/>
          <p:nvPr/>
        </p:nvSpPr>
        <p:spPr>
          <a:xfrm>
            <a:off x="4495800" y="1619250"/>
            <a:ext cx="3200400" cy="1276350"/>
          </a:xfrm>
          <a:prstGeom prst="rect">
            <a:avLst/>
          </a:prstGeom>
          <a:noFill/>
          <a:ln/>
        </p:spPr>
        <p:txBody>
          <a:bodyPr wrap="square" lIns="0" tIns="0" rIns="0" bIns="0" rtlCol="0" anchor="t"/>
          <a:lstStyle/>
          <a:p>
            <a:pPr algn="l" indent="0" marL="0">
              <a:lnSpc>
                <a:spcPct val="110000"/>
              </a:lnSpc>
              <a:buNone/>
            </a:pPr>
            <a:r>
              <a:rPr lang="en-US" sz="1300" dirty="0">
                <a:solidFill>
                  <a:srgbClr val="5E6A73"/>
                </a:solidFill>
                <a:latin typeface="Yu Gothic" pitchFamily="34" charset="0"/>
                <a:ea typeface="Yu Gothic" pitchFamily="34" charset="-122"/>
                <a:cs typeface="Yu Gothic" pitchFamily="34" charset="-120"/>
              </a:rPr>
              <a:t>坂 10°を登るの動画（実験15の動画フォルダ videos_presentation_20260924 から）</a:t>
            </a:r>
            <a:endParaRPr lang="en-US" sz="1300" dirty="0"/>
          </a:p>
        </p:txBody>
      </p:sp>
      <p:sp>
        <p:nvSpPr>
          <p:cNvPr id="14" name="Text 12"/>
          <p:cNvSpPr txBox="1"/>
          <p:nvPr/>
        </p:nvSpPr>
        <p:spPr>
          <a:xfrm>
            <a:off x="4362450" y="3086100"/>
            <a:ext cx="1619250" cy="419100"/>
          </a:xfrm>
          <a:prstGeom prst="rect">
            <a:avLst/>
          </a:prstGeom>
          <a:noFill/>
          <a:ln/>
        </p:spPr>
        <p:txBody>
          <a:bodyPr wrap="square" lIns="0" tIns="0" rIns="0" bIns="0" rtlCol="0" anchor="ctr"/>
          <a:lstStyle/>
          <a:p>
            <a:pPr algn="l" indent="0" marL="0">
              <a:buNone/>
            </a:pPr>
            <a:r>
              <a:rPr lang="en-US" sz="1700" b="1" dirty="0">
                <a:solidFill>
                  <a:srgbClr val="102B46"/>
                </a:solidFill>
                <a:latin typeface="Yu Gothic" pitchFamily="34" charset="0"/>
                <a:ea typeface="Yu Gothic" pitchFamily="34" charset="-122"/>
                <a:cs typeface="Yu Gothic" pitchFamily="34" charset="-120"/>
              </a:rPr>
              <a:t>坂 10°を登る</a:t>
            </a:r>
            <a:endParaRPr lang="en-US" sz="1700" dirty="0"/>
          </a:p>
        </p:txBody>
      </p:sp>
      <p:sp>
        <p:nvSpPr>
          <p:cNvPr id="15" name="Text 13"/>
          <p:cNvSpPr txBox="1"/>
          <p:nvPr/>
        </p:nvSpPr>
        <p:spPr>
          <a:xfrm>
            <a:off x="5924550" y="3086100"/>
            <a:ext cx="1905000" cy="419100"/>
          </a:xfrm>
          <a:prstGeom prst="rect">
            <a:avLst/>
          </a:prstGeom>
          <a:noFill/>
          <a:ln/>
        </p:spPr>
        <p:txBody>
          <a:bodyPr wrap="square" lIns="0" tIns="0" rIns="0" bIns="0" rtlCol="0" anchor="ctr"/>
          <a:lstStyle/>
          <a:p>
            <a:pPr algn="r" indent="0" marL="0">
              <a:buNone/>
            </a:pPr>
            <a:r>
              <a:rPr lang="en-US" sz="1600" b="1" dirty="0">
                <a:solidFill>
                  <a:srgbClr val="32A5B5"/>
                </a:solidFill>
                <a:latin typeface="Yu Gothic" pitchFamily="34" charset="0"/>
                <a:ea typeface="Yu Gothic" pitchFamily="34" charset="-122"/>
                <a:cs typeface="Yu Gothic" pitchFamily="34" charset="-120"/>
              </a:rPr>
              <a:t>15 秒で 6.44 m</a:t>
            </a:r>
            <a:endParaRPr lang="en-US" sz="1600" dirty="0"/>
          </a:p>
        </p:txBody>
      </p:sp>
      <p:sp>
        <p:nvSpPr>
          <p:cNvPr id="16" name="Shape 14"/>
          <p:cNvSpPr/>
          <p:nvPr/>
        </p:nvSpPr>
        <p:spPr>
          <a:xfrm>
            <a:off x="8096250" y="1219200"/>
            <a:ext cx="3467100" cy="1790700"/>
          </a:xfrm>
          <a:prstGeom prst="rect">
            <a:avLst/>
          </a:prstGeom>
          <a:solidFill>
            <a:srgbClr val="FBF7F3"/>
          </a:solidFill>
          <a:ln w="22225">
            <a:solidFill>
              <a:srgbClr val="E8783F"/>
            </a:solidFill>
            <a:prstDash val="dash"/>
          </a:ln>
        </p:spPr>
      </p:sp>
      <p:sp>
        <p:nvSpPr>
          <p:cNvPr id="17" name="Text 15"/>
          <p:cNvSpPr txBox="1"/>
          <p:nvPr/>
        </p:nvSpPr>
        <p:spPr>
          <a:xfrm>
            <a:off x="8229600" y="1333500"/>
            <a:ext cx="3200400" cy="247650"/>
          </a:xfrm>
          <a:prstGeom prst="rect">
            <a:avLst/>
          </a:prstGeom>
          <a:noFill/>
          <a:ln/>
        </p:spPr>
        <p:txBody>
          <a:bodyPr wrap="square" lIns="0" tIns="0" rIns="0" bIns="0" rtlCol="0" anchor="ctr"/>
          <a:lstStyle/>
          <a:p>
            <a:pPr algn="l" indent="0" marL="0">
              <a:buNone/>
            </a:pPr>
            <a:r>
              <a:rPr lang="en-US" sz="1400" b="1" dirty="0">
                <a:solidFill>
                  <a:srgbClr val="E8783F"/>
                </a:solidFill>
                <a:latin typeface="Yu Gothic" pitchFamily="34" charset="0"/>
                <a:ea typeface="Yu Gothic" pitchFamily="34" charset="-122"/>
                <a:cs typeface="Yu Gothic" pitchFamily="34" charset="-120"/>
              </a:rPr>
              <a:t>▶ ここに動画を貼る</a:t>
            </a:r>
            <a:endParaRPr lang="en-US" sz="1400" dirty="0"/>
          </a:p>
        </p:txBody>
      </p:sp>
      <p:sp>
        <p:nvSpPr>
          <p:cNvPr id="18" name="Text 16"/>
          <p:cNvSpPr txBox="1"/>
          <p:nvPr/>
        </p:nvSpPr>
        <p:spPr>
          <a:xfrm>
            <a:off x="8229600" y="1619250"/>
            <a:ext cx="3200400" cy="1276350"/>
          </a:xfrm>
          <a:prstGeom prst="rect">
            <a:avLst/>
          </a:prstGeom>
          <a:noFill/>
          <a:ln/>
        </p:spPr>
        <p:txBody>
          <a:bodyPr wrap="square" lIns="0" tIns="0" rIns="0" bIns="0" rtlCol="0" anchor="t"/>
          <a:lstStyle/>
          <a:p>
            <a:pPr algn="l" indent="0" marL="0">
              <a:lnSpc>
                <a:spcPct val="110000"/>
              </a:lnSpc>
              <a:buNone/>
            </a:pPr>
            <a:r>
              <a:rPr lang="en-US" sz="1300" dirty="0">
                <a:solidFill>
                  <a:srgbClr val="5E6A73"/>
                </a:solidFill>
                <a:latin typeface="Yu Gothic" pitchFamily="34" charset="0"/>
                <a:ea typeface="Yu Gothic" pitchFamily="34" charset="-122"/>
                <a:cs typeface="Yu Gothic" pitchFamily="34" charset="-120"/>
              </a:rPr>
              <a:t>坂 15°を登るの動画（実験15の動画フォルダ videos_presentation_20260924 から）</a:t>
            </a:r>
            <a:endParaRPr lang="en-US" sz="1300" dirty="0"/>
          </a:p>
        </p:txBody>
      </p:sp>
      <p:sp>
        <p:nvSpPr>
          <p:cNvPr id="19" name="Text 17"/>
          <p:cNvSpPr txBox="1"/>
          <p:nvPr/>
        </p:nvSpPr>
        <p:spPr>
          <a:xfrm>
            <a:off x="8096250" y="3086100"/>
            <a:ext cx="1619250" cy="419100"/>
          </a:xfrm>
          <a:prstGeom prst="rect">
            <a:avLst/>
          </a:prstGeom>
          <a:noFill/>
          <a:ln/>
        </p:spPr>
        <p:txBody>
          <a:bodyPr wrap="square" lIns="0" tIns="0" rIns="0" bIns="0" rtlCol="0" anchor="ctr"/>
          <a:lstStyle/>
          <a:p>
            <a:pPr algn="l" indent="0" marL="0">
              <a:buNone/>
            </a:pPr>
            <a:r>
              <a:rPr lang="en-US" sz="1700" b="1" dirty="0">
                <a:solidFill>
                  <a:srgbClr val="102B46"/>
                </a:solidFill>
                <a:latin typeface="Yu Gothic" pitchFamily="34" charset="0"/>
                <a:ea typeface="Yu Gothic" pitchFamily="34" charset="-122"/>
                <a:cs typeface="Yu Gothic" pitchFamily="34" charset="-120"/>
              </a:rPr>
              <a:t>坂 15°を登る</a:t>
            </a:r>
            <a:endParaRPr lang="en-US" sz="1700" dirty="0"/>
          </a:p>
        </p:txBody>
      </p:sp>
      <p:sp>
        <p:nvSpPr>
          <p:cNvPr id="20" name="Text 18"/>
          <p:cNvSpPr txBox="1"/>
          <p:nvPr/>
        </p:nvSpPr>
        <p:spPr>
          <a:xfrm>
            <a:off x="9658350" y="3086100"/>
            <a:ext cx="1905000" cy="419100"/>
          </a:xfrm>
          <a:prstGeom prst="rect">
            <a:avLst/>
          </a:prstGeom>
          <a:noFill/>
          <a:ln/>
        </p:spPr>
        <p:txBody>
          <a:bodyPr wrap="square" lIns="0" tIns="0" rIns="0" bIns="0" rtlCol="0" anchor="ctr"/>
          <a:lstStyle/>
          <a:p>
            <a:pPr algn="r" indent="0" marL="0">
              <a:buNone/>
            </a:pPr>
            <a:r>
              <a:rPr lang="en-US" sz="1600" b="1" dirty="0">
                <a:solidFill>
                  <a:srgbClr val="32A5B5"/>
                </a:solidFill>
                <a:latin typeface="Yu Gothic" pitchFamily="34" charset="0"/>
                <a:ea typeface="Yu Gothic" pitchFamily="34" charset="-122"/>
                <a:cs typeface="Yu Gothic" pitchFamily="34" charset="-120"/>
              </a:rPr>
              <a:t>15 秒で 5.83 m</a:t>
            </a:r>
            <a:endParaRPr lang="en-US" sz="1600" dirty="0"/>
          </a:p>
        </p:txBody>
      </p:sp>
      <p:sp>
        <p:nvSpPr>
          <p:cNvPr id="21" name="Shape 19"/>
          <p:cNvSpPr/>
          <p:nvPr/>
        </p:nvSpPr>
        <p:spPr>
          <a:xfrm>
            <a:off x="628650" y="3714750"/>
            <a:ext cx="3467100" cy="1790700"/>
          </a:xfrm>
          <a:prstGeom prst="rect">
            <a:avLst/>
          </a:prstGeom>
          <a:solidFill>
            <a:srgbClr val="FBF7F3"/>
          </a:solidFill>
          <a:ln w="22225">
            <a:solidFill>
              <a:srgbClr val="E8783F"/>
            </a:solidFill>
            <a:prstDash val="dash"/>
          </a:ln>
        </p:spPr>
      </p:sp>
      <p:sp>
        <p:nvSpPr>
          <p:cNvPr id="22" name="Text 20"/>
          <p:cNvSpPr txBox="1"/>
          <p:nvPr/>
        </p:nvSpPr>
        <p:spPr>
          <a:xfrm>
            <a:off x="762000" y="3829050"/>
            <a:ext cx="3200400" cy="247650"/>
          </a:xfrm>
          <a:prstGeom prst="rect">
            <a:avLst/>
          </a:prstGeom>
          <a:noFill/>
          <a:ln/>
        </p:spPr>
        <p:txBody>
          <a:bodyPr wrap="square" lIns="0" tIns="0" rIns="0" bIns="0" rtlCol="0" anchor="ctr"/>
          <a:lstStyle/>
          <a:p>
            <a:pPr algn="l" indent="0" marL="0">
              <a:buNone/>
            </a:pPr>
            <a:r>
              <a:rPr lang="en-US" sz="1400" b="1" dirty="0">
                <a:solidFill>
                  <a:srgbClr val="E8783F"/>
                </a:solidFill>
                <a:latin typeface="Yu Gothic" pitchFamily="34" charset="0"/>
                <a:ea typeface="Yu Gothic" pitchFamily="34" charset="-122"/>
                <a:cs typeface="Yu Gothic" pitchFamily="34" charset="-120"/>
              </a:rPr>
              <a:t>▶ ここに動画を貼る</a:t>
            </a:r>
            <a:endParaRPr lang="en-US" sz="1400" dirty="0"/>
          </a:p>
        </p:txBody>
      </p:sp>
      <p:sp>
        <p:nvSpPr>
          <p:cNvPr id="23" name="Text 21"/>
          <p:cNvSpPr txBox="1"/>
          <p:nvPr/>
        </p:nvSpPr>
        <p:spPr>
          <a:xfrm>
            <a:off x="762000" y="4114800"/>
            <a:ext cx="3200400" cy="1276350"/>
          </a:xfrm>
          <a:prstGeom prst="rect">
            <a:avLst/>
          </a:prstGeom>
          <a:noFill/>
          <a:ln/>
        </p:spPr>
        <p:txBody>
          <a:bodyPr wrap="square" lIns="0" tIns="0" rIns="0" bIns="0" rtlCol="0" anchor="t"/>
          <a:lstStyle/>
          <a:p>
            <a:pPr algn="l" indent="0" marL="0">
              <a:lnSpc>
                <a:spcPct val="110000"/>
              </a:lnSpc>
              <a:buNone/>
            </a:pPr>
            <a:r>
              <a:rPr lang="en-US" sz="1300" dirty="0">
                <a:solidFill>
                  <a:srgbClr val="5E6A73"/>
                </a:solidFill>
                <a:latin typeface="Yu Gothic" pitchFamily="34" charset="0"/>
                <a:ea typeface="Yu Gothic" pitchFamily="34" charset="-122"/>
                <a:cs typeface="Yu Gothic" pitchFamily="34" charset="-120"/>
              </a:rPr>
              <a:t>でこぼこ 6 cmの動画（実験15の動画フォルダ videos_presentation_20260924 から）</a:t>
            </a:r>
            <a:endParaRPr lang="en-US" sz="1300" dirty="0"/>
          </a:p>
        </p:txBody>
      </p:sp>
      <p:sp>
        <p:nvSpPr>
          <p:cNvPr id="24" name="Text 22"/>
          <p:cNvSpPr txBox="1"/>
          <p:nvPr/>
        </p:nvSpPr>
        <p:spPr>
          <a:xfrm>
            <a:off x="628650" y="5581650"/>
            <a:ext cx="1619250" cy="419100"/>
          </a:xfrm>
          <a:prstGeom prst="rect">
            <a:avLst/>
          </a:prstGeom>
          <a:noFill/>
          <a:ln/>
        </p:spPr>
        <p:txBody>
          <a:bodyPr wrap="square" lIns="0" tIns="0" rIns="0" bIns="0" rtlCol="0" anchor="ctr"/>
          <a:lstStyle/>
          <a:p>
            <a:pPr algn="l" indent="0" marL="0">
              <a:buNone/>
            </a:pPr>
            <a:r>
              <a:rPr lang="en-US" sz="1700" b="1" dirty="0">
                <a:solidFill>
                  <a:srgbClr val="102B46"/>
                </a:solidFill>
                <a:latin typeface="Yu Gothic" pitchFamily="34" charset="0"/>
                <a:ea typeface="Yu Gothic" pitchFamily="34" charset="-122"/>
                <a:cs typeface="Yu Gothic" pitchFamily="34" charset="-120"/>
              </a:rPr>
              <a:t>でこぼこ 6 cm</a:t>
            </a:r>
            <a:endParaRPr lang="en-US" sz="1700" dirty="0"/>
          </a:p>
        </p:txBody>
      </p:sp>
      <p:sp>
        <p:nvSpPr>
          <p:cNvPr id="25" name="Text 23"/>
          <p:cNvSpPr txBox="1"/>
          <p:nvPr/>
        </p:nvSpPr>
        <p:spPr>
          <a:xfrm>
            <a:off x="2190750" y="5581650"/>
            <a:ext cx="1905000" cy="419100"/>
          </a:xfrm>
          <a:prstGeom prst="rect">
            <a:avLst/>
          </a:prstGeom>
          <a:noFill/>
          <a:ln/>
        </p:spPr>
        <p:txBody>
          <a:bodyPr wrap="square" lIns="0" tIns="0" rIns="0" bIns="0" rtlCol="0" anchor="ctr"/>
          <a:lstStyle/>
          <a:p>
            <a:pPr algn="r" indent="0" marL="0">
              <a:buNone/>
            </a:pPr>
            <a:r>
              <a:rPr lang="en-US" sz="1600" b="1" dirty="0">
                <a:solidFill>
                  <a:srgbClr val="32A5B5"/>
                </a:solidFill>
                <a:latin typeface="Yu Gothic" pitchFamily="34" charset="0"/>
                <a:ea typeface="Yu Gothic" pitchFamily="34" charset="-122"/>
                <a:cs typeface="Yu Gothic" pitchFamily="34" charset="-120"/>
              </a:rPr>
              <a:t>15 秒で 5.26 m</a:t>
            </a:r>
            <a:endParaRPr lang="en-US" sz="1600" dirty="0"/>
          </a:p>
        </p:txBody>
      </p:sp>
      <p:sp>
        <p:nvSpPr>
          <p:cNvPr id="26" name="Shape 24"/>
          <p:cNvSpPr/>
          <p:nvPr/>
        </p:nvSpPr>
        <p:spPr>
          <a:xfrm>
            <a:off x="4362450" y="3714750"/>
            <a:ext cx="3467100" cy="1790700"/>
          </a:xfrm>
          <a:prstGeom prst="rect">
            <a:avLst/>
          </a:prstGeom>
          <a:solidFill>
            <a:srgbClr val="FBF7F3"/>
          </a:solidFill>
          <a:ln w="22225">
            <a:solidFill>
              <a:srgbClr val="E8783F"/>
            </a:solidFill>
            <a:prstDash val="dash"/>
          </a:ln>
        </p:spPr>
      </p:sp>
      <p:sp>
        <p:nvSpPr>
          <p:cNvPr id="27" name="Text 25"/>
          <p:cNvSpPr txBox="1"/>
          <p:nvPr/>
        </p:nvSpPr>
        <p:spPr>
          <a:xfrm>
            <a:off x="4495800" y="3829050"/>
            <a:ext cx="3200400" cy="247650"/>
          </a:xfrm>
          <a:prstGeom prst="rect">
            <a:avLst/>
          </a:prstGeom>
          <a:noFill/>
          <a:ln/>
        </p:spPr>
        <p:txBody>
          <a:bodyPr wrap="square" lIns="0" tIns="0" rIns="0" bIns="0" rtlCol="0" anchor="ctr"/>
          <a:lstStyle/>
          <a:p>
            <a:pPr algn="l" indent="0" marL="0">
              <a:buNone/>
            </a:pPr>
            <a:r>
              <a:rPr lang="en-US" sz="1400" b="1" dirty="0">
                <a:solidFill>
                  <a:srgbClr val="E8783F"/>
                </a:solidFill>
                <a:latin typeface="Yu Gothic" pitchFamily="34" charset="0"/>
                <a:ea typeface="Yu Gothic" pitchFamily="34" charset="-122"/>
                <a:cs typeface="Yu Gothic" pitchFamily="34" charset="-120"/>
              </a:rPr>
              <a:t>▶ ここに動画を貼る</a:t>
            </a:r>
            <a:endParaRPr lang="en-US" sz="1400" dirty="0"/>
          </a:p>
        </p:txBody>
      </p:sp>
      <p:sp>
        <p:nvSpPr>
          <p:cNvPr id="28" name="Text 26"/>
          <p:cNvSpPr txBox="1"/>
          <p:nvPr/>
        </p:nvSpPr>
        <p:spPr>
          <a:xfrm>
            <a:off x="4495800" y="4114800"/>
            <a:ext cx="3200400" cy="1276350"/>
          </a:xfrm>
          <a:prstGeom prst="rect">
            <a:avLst/>
          </a:prstGeom>
          <a:noFill/>
          <a:ln/>
        </p:spPr>
        <p:txBody>
          <a:bodyPr wrap="square" lIns="0" tIns="0" rIns="0" bIns="0" rtlCol="0" anchor="t"/>
          <a:lstStyle/>
          <a:p>
            <a:pPr algn="l" indent="0" marL="0">
              <a:lnSpc>
                <a:spcPct val="110000"/>
              </a:lnSpc>
              <a:buNone/>
            </a:pPr>
            <a:r>
              <a:rPr lang="en-US" sz="1300" dirty="0">
                <a:solidFill>
                  <a:srgbClr val="5E6A73"/>
                </a:solidFill>
                <a:latin typeface="Yu Gothic" pitchFamily="34" charset="0"/>
                <a:ea typeface="Yu Gothic" pitchFamily="34" charset="-122"/>
                <a:cs typeface="Yu Gothic" pitchFamily="34" charset="-120"/>
              </a:rPr>
              <a:t>その場で旋回の動画（実験15の動画フォルダ videos_presentation_20260924 から）</a:t>
            </a:r>
            <a:endParaRPr lang="en-US" sz="1300" dirty="0"/>
          </a:p>
        </p:txBody>
      </p:sp>
      <p:sp>
        <p:nvSpPr>
          <p:cNvPr id="29" name="Text 27"/>
          <p:cNvSpPr txBox="1"/>
          <p:nvPr/>
        </p:nvSpPr>
        <p:spPr>
          <a:xfrm>
            <a:off x="4362450" y="5581650"/>
            <a:ext cx="1619250" cy="419100"/>
          </a:xfrm>
          <a:prstGeom prst="rect">
            <a:avLst/>
          </a:prstGeom>
          <a:noFill/>
          <a:ln/>
        </p:spPr>
        <p:txBody>
          <a:bodyPr wrap="square" lIns="0" tIns="0" rIns="0" bIns="0" rtlCol="0" anchor="ctr"/>
          <a:lstStyle/>
          <a:p>
            <a:pPr algn="l" indent="0" marL="0">
              <a:buNone/>
            </a:pPr>
            <a:r>
              <a:rPr lang="en-US" sz="1700" b="1" dirty="0">
                <a:solidFill>
                  <a:srgbClr val="102B46"/>
                </a:solidFill>
                <a:latin typeface="Yu Gothic" pitchFamily="34" charset="0"/>
                <a:ea typeface="Yu Gothic" pitchFamily="34" charset="-122"/>
                <a:cs typeface="Yu Gothic" pitchFamily="34" charset="-120"/>
              </a:rPr>
              <a:t>その場で旋回</a:t>
            </a:r>
            <a:endParaRPr lang="en-US" sz="1700" dirty="0"/>
          </a:p>
        </p:txBody>
      </p:sp>
      <p:sp>
        <p:nvSpPr>
          <p:cNvPr id="30" name="Text 28"/>
          <p:cNvSpPr txBox="1"/>
          <p:nvPr/>
        </p:nvSpPr>
        <p:spPr>
          <a:xfrm>
            <a:off x="5924550" y="5581650"/>
            <a:ext cx="1905000" cy="419100"/>
          </a:xfrm>
          <a:prstGeom prst="rect">
            <a:avLst/>
          </a:prstGeom>
          <a:noFill/>
          <a:ln/>
        </p:spPr>
        <p:txBody>
          <a:bodyPr wrap="square" lIns="0" tIns="0" rIns="0" bIns="0" rtlCol="0" anchor="ctr"/>
          <a:lstStyle/>
          <a:p>
            <a:pPr algn="r" indent="0" marL="0">
              <a:buNone/>
            </a:pPr>
            <a:r>
              <a:rPr lang="en-US" sz="1600" b="1" dirty="0">
                <a:solidFill>
                  <a:srgbClr val="32A5B5"/>
                </a:solidFill>
                <a:latin typeface="Yu Gothic" pitchFamily="34" charset="0"/>
                <a:ea typeface="Yu Gothic" pitchFamily="34" charset="-122"/>
                <a:cs typeface="Yu Gothic" pitchFamily="34" charset="-120"/>
              </a:rPr>
              <a:t>0.37 rad/s</a:t>
            </a:r>
            <a:endParaRPr lang="en-US" sz="1600" dirty="0"/>
          </a:p>
        </p:txBody>
      </p:sp>
      <p:sp>
        <p:nvSpPr>
          <p:cNvPr id="31" name="Shape 29"/>
          <p:cNvSpPr/>
          <p:nvPr/>
        </p:nvSpPr>
        <p:spPr>
          <a:xfrm>
            <a:off x="8096250" y="3714750"/>
            <a:ext cx="3467100" cy="1790700"/>
          </a:xfrm>
          <a:prstGeom prst="rect">
            <a:avLst/>
          </a:prstGeom>
          <a:solidFill>
            <a:srgbClr val="FBF7F3"/>
          </a:solidFill>
          <a:ln w="22225">
            <a:solidFill>
              <a:srgbClr val="E8783F"/>
            </a:solidFill>
            <a:prstDash val="dash"/>
          </a:ln>
        </p:spPr>
      </p:sp>
      <p:sp>
        <p:nvSpPr>
          <p:cNvPr id="32" name="Text 30"/>
          <p:cNvSpPr txBox="1"/>
          <p:nvPr/>
        </p:nvSpPr>
        <p:spPr>
          <a:xfrm>
            <a:off x="8229600" y="3829050"/>
            <a:ext cx="3200400" cy="247650"/>
          </a:xfrm>
          <a:prstGeom prst="rect">
            <a:avLst/>
          </a:prstGeom>
          <a:noFill/>
          <a:ln/>
        </p:spPr>
        <p:txBody>
          <a:bodyPr wrap="square" lIns="0" tIns="0" rIns="0" bIns="0" rtlCol="0" anchor="ctr"/>
          <a:lstStyle/>
          <a:p>
            <a:pPr algn="l" indent="0" marL="0">
              <a:buNone/>
            </a:pPr>
            <a:r>
              <a:rPr lang="en-US" sz="1400" b="1" dirty="0">
                <a:solidFill>
                  <a:srgbClr val="E8783F"/>
                </a:solidFill>
                <a:latin typeface="Yu Gothic" pitchFamily="34" charset="0"/>
                <a:ea typeface="Yu Gothic" pitchFamily="34" charset="-122"/>
                <a:cs typeface="Yu Gothic" pitchFamily="34" charset="-120"/>
              </a:rPr>
              <a:t>▶ ここに動画を貼る</a:t>
            </a:r>
            <a:endParaRPr lang="en-US" sz="1400" dirty="0"/>
          </a:p>
        </p:txBody>
      </p:sp>
      <p:sp>
        <p:nvSpPr>
          <p:cNvPr id="33" name="Text 31"/>
          <p:cNvSpPr txBox="1"/>
          <p:nvPr/>
        </p:nvSpPr>
        <p:spPr>
          <a:xfrm>
            <a:off x="8229600" y="4114800"/>
            <a:ext cx="3200400" cy="1276350"/>
          </a:xfrm>
          <a:prstGeom prst="rect">
            <a:avLst/>
          </a:prstGeom>
          <a:noFill/>
          <a:ln/>
        </p:spPr>
        <p:txBody>
          <a:bodyPr wrap="square" lIns="0" tIns="0" rIns="0" bIns="0" rtlCol="0" anchor="t"/>
          <a:lstStyle/>
          <a:p>
            <a:pPr algn="l" indent="0" marL="0">
              <a:lnSpc>
                <a:spcPct val="110000"/>
              </a:lnSpc>
              <a:buNone/>
            </a:pPr>
            <a:r>
              <a:rPr lang="en-US" sz="1300" dirty="0">
                <a:solidFill>
                  <a:srgbClr val="5E6A73"/>
                </a:solidFill>
                <a:latin typeface="Yu Gothic" pitchFamily="34" charset="0"/>
                <a:ea typeface="Yu Gothic" pitchFamily="34" charset="-122"/>
                <a:cs typeface="Yu Gothic" pitchFamily="34" charset="-120"/>
              </a:rPr>
              <a:t>歩きながら旋回の動画（実験15の動画フォルダ videos_presentation_20260924 から）</a:t>
            </a:r>
            <a:endParaRPr lang="en-US" sz="1300" dirty="0"/>
          </a:p>
        </p:txBody>
      </p:sp>
      <p:sp>
        <p:nvSpPr>
          <p:cNvPr id="34" name="Text 32"/>
          <p:cNvSpPr txBox="1"/>
          <p:nvPr/>
        </p:nvSpPr>
        <p:spPr>
          <a:xfrm>
            <a:off x="8096250" y="5581650"/>
            <a:ext cx="1619250" cy="419100"/>
          </a:xfrm>
          <a:prstGeom prst="rect">
            <a:avLst/>
          </a:prstGeom>
          <a:noFill/>
          <a:ln/>
        </p:spPr>
        <p:txBody>
          <a:bodyPr wrap="square" lIns="0" tIns="0" rIns="0" bIns="0" rtlCol="0" anchor="ctr"/>
          <a:lstStyle/>
          <a:p>
            <a:pPr algn="l" indent="0" marL="0">
              <a:buNone/>
            </a:pPr>
            <a:r>
              <a:rPr lang="en-US" sz="1700" b="1" dirty="0">
                <a:solidFill>
                  <a:srgbClr val="102B46"/>
                </a:solidFill>
                <a:latin typeface="Yu Gothic" pitchFamily="34" charset="0"/>
                <a:ea typeface="Yu Gothic" pitchFamily="34" charset="-122"/>
                <a:cs typeface="Yu Gothic" pitchFamily="34" charset="-120"/>
              </a:rPr>
              <a:t>歩きながら旋回</a:t>
            </a:r>
            <a:endParaRPr lang="en-US" sz="1700" dirty="0"/>
          </a:p>
        </p:txBody>
      </p:sp>
      <p:sp>
        <p:nvSpPr>
          <p:cNvPr id="35" name="Text 33"/>
          <p:cNvSpPr txBox="1"/>
          <p:nvPr/>
        </p:nvSpPr>
        <p:spPr>
          <a:xfrm>
            <a:off x="9658350" y="5581650"/>
            <a:ext cx="1905000" cy="419100"/>
          </a:xfrm>
          <a:prstGeom prst="rect">
            <a:avLst/>
          </a:prstGeom>
          <a:noFill/>
          <a:ln/>
        </p:spPr>
        <p:txBody>
          <a:bodyPr wrap="square" lIns="0" tIns="0" rIns="0" bIns="0" rtlCol="0" anchor="ctr"/>
          <a:lstStyle/>
          <a:p>
            <a:pPr algn="r" indent="0" marL="0">
              <a:buNone/>
            </a:pPr>
            <a:r>
              <a:rPr lang="en-US" sz="1600" b="1" dirty="0">
                <a:solidFill>
                  <a:srgbClr val="32A5B5"/>
                </a:solidFill>
                <a:latin typeface="Yu Gothic" pitchFamily="34" charset="0"/>
                <a:ea typeface="Yu Gothic" pitchFamily="34" charset="-122"/>
                <a:cs typeface="Yu Gothic" pitchFamily="34" charset="-120"/>
              </a:rPr>
              <a:t>0.39 rad/s</a:t>
            </a:r>
            <a:endParaRPr lang="en-US" sz="1600" dirty="0"/>
          </a:p>
        </p:txBody>
      </p:sp>
      <p:sp>
        <p:nvSpPr>
          <p:cNvPr id="36" name="Text 34"/>
          <p:cNvSpPr txBox="1"/>
          <p:nvPr/>
        </p:nvSpPr>
        <p:spPr>
          <a:xfrm>
            <a:off x="628650" y="6191250"/>
            <a:ext cx="10934700" cy="247650"/>
          </a:xfrm>
          <a:prstGeom prst="rect">
            <a:avLst/>
          </a:prstGeom>
          <a:noFill/>
          <a:ln/>
        </p:spPr>
        <p:txBody>
          <a:bodyPr wrap="square" lIns="0" tIns="0" rIns="0" bIns="0" rtlCol="0" anchor="ctr"/>
          <a:lstStyle/>
          <a:p>
            <a:pPr algn="ctr" indent="0" marL="0">
              <a:buNone/>
            </a:pPr>
            <a:r>
              <a:rPr lang="en-US" sz="1300" dirty="0">
                <a:solidFill>
                  <a:srgbClr val="5E6A73"/>
                </a:solidFill>
                <a:latin typeface="Yu Gothic" pitchFamily="34" charset="0"/>
                <a:ea typeface="Yu Gothic" pitchFamily="34" charset="-122"/>
                <a:cs typeface="Yu Gothic" pitchFamily="34" charset="-120"/>
              </a:rPr>
              <a:t>すべて転倒 0（16 体・15 秒・外乱なし）。前進は 0.5 m/s（でこぼこは 0.4 m/s）、旋回は 0.5 rad/s を指示</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結果：実機では、まだ床の上で歩けていない</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Shape 4"/>
          <p:cNvSpPr/>
          <p:nvPr/>
        </p:nvSpPr>
        <p:spPr>
          <a:xfrm>
            <a:off x="628650" y="1238250"/>
            <a:ext cx="5334000" cy="2381250"/>
          </a:xfrm>
          <a:prstGeom prst="rect">
            <a:avLst/>
          </a:prstGeom>
          <a:solidFill>
            <a:srgbClr val="EAF4EE"/>
          </a:solidFill>
          <a:ln w="12700">
            <a:solidFill>
              <a:srgbClr val="2E8B57"/>
            </a:solidFill>
            <a:prstDash val="solid"/>
          </a:ln>
        </p:spPr>
      </p:sp>
      <p:sp>
        <p:nvSpPr>
          <p:cNvPr id="7" name="Text 5"/>
          <p:cNvSpPr txBox="1"/>
          <p:nvPr/>
        </p:nvSpPr>
        <p:spPr>
          <a:xfrm>
            <a:off x="838200" y="1352550"/>
            <a:ext cx="4762500" cy="304800"/>
          </a:xfrm>
          <a:prstGeom prst="rect">
            <a:avLst/>
          </a:prstGeom>
          <a:noFill/>
          <a:ln/>
        </p:spPr>
        <p:txBody>
          <a:bodyPr wrap="square" lIns="0" tIns="0" rIns="0" bIns="0" rtlCol="0" anchor="ctr"/>
          <a:lstStyle/>
          <a:p>
            <a:pPr algn="l" indent="0" marL="0">
              <a:buNone/>
            </a:pPr>
            <a:r>
              <a:rPr lang="en-US" sz="2000" b="1" dirty="0">
                <a:solidFill>
                  <a:srgbClr val="2E8B57"/>
                </a:solidFill>
                <a:latin typeface="Yu Gothic" pitchFamily="34" charset="0"/>
                <a:ea typeface="Yu Gothic" pitchFamily="34" charset="-122"/>
                <a:cs typeface="Yu Gothic" pitchFamily="34" charset="-120"/>
              </a:rPr>
              <a:t>できたこと</a:t>
            </a:r>
            <a:endParaRPr lang="en-US" sz="2000" dirty="0"/>
          </a:p>
        </p:txBody>
      </p:sp>
      <p:sp>
        <p:nvSpPr>
          <p:cNvPr id="8" name="Text 6"/>
          <p:cNvSpPr txBox="1"/>
          <p:nvPr/>
        </p:nvSpPr>
        <p:spPr>
          <a:xfrm>
            <a:off x="838200" y="1733550"/>
            <a:ext cx="4953000" cy="1809750"/>
          </a:xfrm>
          <a:prstGeom prst="rect">
            <a:avLst/>
          </a:prstGeom>
          <a:noFill/>
          <a:ln/>
        </p:spPr>
        <p:txBody>
          <a:bodyPr wrap="square" lIns="0" tIns="0" rIns="0" bIns="0" rtlCol="0" anchor="t"/>
          <a:lstStyle/>
          <a:p>
            <a:pPr algn="l" marL="342900" indent="-342900">
              <a:spcAft>
                <a:spcPts val="800"/>
              </a:spcAft>
              <a:buSzPct val="100000"/>
              <a:buChar char="•"/>
            </a:pPr>
            <a:r>
              <a:rPr lang="en-US" sz="1700" dirty="0">
                <a:solidFill>
                  <a:srgbClr val="17212B"/>
                </a:solidFill>
                <a:latin typeface="Yu Gothic" pitchFamily="34" charset="0"/>
                <a:ea typeface="Yu Gothic" pitchFamily="34" charset="-122"/>
                <a:cs typeface="Yu Gothic" pitchFamily="34" charset="-120"/>
              </a:rPr>
              <a:t>センサ → 方策 → モーターのループが 1 秒 50 回で安定して回った</a:t>
            </a:r>
            <a:endParaRPr lang="en-US" sz="1700" dirty="0"/>
          </a:p>
          <a:p>
            <a:pPr algn="l" marL="342900" indent="-342900">
              <a:spcAft>
                <a:spcPts val="800"/>
              </a:spcAft>
              <a:buSzPct val="100000"/>
              <a:buChar char="•"/>
            </a:pPr>
            <a:r>
              <a:rPr lang="en-US" sz="1700" dirty="0">
                <a:solidFill>
                  <a:srgbClr val="17212B"/>
                </a:solidFill>
                <a:latin typeface="Yu Gothic" pitchFamily="34" charset="0"/>
                <a:ea typeface="Yu Gothic" pitchFamily="34" charset="-122"/>
                <a:cs typeface="Yu Gothic" pitchFamily="34" charset="-120"/>
              </a:rPr>
              <a:t>吊った状態で、方策が 10 秒間止まらずに動いた</a:t>
            </a:r>
            <a:endParaRPr lang="en-US" sz="1700" dirty="0"/>
          </a:p>
          <a:p>
            <a:pPr algn="l" marL="342900" indent="-342900">
              <a:spcAft>
                <a:spcPts val="800"/>
              </a:spcAft>
              <a:buSzPct val="100000"/>
              <a:buChar char="•"/>
            </a:pPr>
            <a:r>
              <a:rPr lang="en-US" sz="1700" dirty="0">
                <a:solidFill>
                  <a:srgbClr val="17212B"/>
                </a:solidFill>
                <a:latin typeface="Yu Gothic" pitchFamily="34" charset="0"/>
                <a:ea typeface="Yu Gothic" pitchFamily="34" charset="-122"/>
                <a:cs typeface="Yu Gothic" pitchFamily="34" charset="-120"/>
              </a:rPr>
              <a:t>姿勢を保つだけなら、床の上で 20 秒立てた</a:t>
            </a:r>
            <a:endParaRPr lang="en-US" sz="1700" dirty="0"/>
          </a:p>
        </p:txBody>
      </p:sp>
      <p:sp>
        <p:nvSpPr>
          <p:cNvPr id="9" name="Shape 7"/>
          <p:cNvSpPr/>
          <p:nvPr/>
        </p:nvSpPr>
        <p:spPr>
          <a:xfrm>
            <a:off x="6229350" y="1238250"/>
            <a:ext cx="5334000" cy="2381250"/>
          </a:xfrm>
          <a:prstGeom prst="rect">
            <a:avLst/>
          </a:prstGeom>
          <a:solidFill>
            <a:srgbClr val="FBEDEA"/>
          </a:solidFill>
          <a:ln w="12700">
            <a:solidFill>
              <a:srgbClr val="C8553D"/>
            </a:solidFill>
            <a:prstDash val="solid"/>
          </a:ln>
        </p:spPr>
      </p:sp>
      <p:sp>
        <p:nvSpPr>
          <p:cNvPr id="10" name="Text 8"/>
          <p:cNvSpPr txBox="1"/>
          <p:nvPr/>
        </p:nvSpPr>
        <p:spPr>
          <a:xfrm>
            <a:off x="6438900" y="1352550"/>
            <a:ext cx="4762500" cy="304800"/>
          </a:xfrm>
          <a:prstGeom prst="rect">
            <a:avLst/>
          </a:prstGeom>
          <a:noFill/>
          <a:ln/>
        </p:spPr>
        <p:txBody>
          <a:bodyPr wrap="square" lIns="0" tIns="0" rIns="0" bIns="0" rtlCol="0" anchor="ctr"/>
          <a:lstStyle/>
          <a:p>
            <a:pPr algn="l" indent="0" marL="0">
              <a:buNone/>
            </a:pPr>
            <a:r>
              <a:rPr lang="en-US" sz="2000" b="1" dirty="0">
                <a:solidFill>
                  <a:srgbClr val="C8553D"/>
                </a:solidFill>
                <a:latin typeface="Yu Gothic" pitchFamily="34" charset="0"/>
                <a:ea typeface="Yu Gothic" pitchFamily="34" charset="-122"/>
                <a:cs typeface="Yu Gothic" pitchFamily="34" charset="-120"/>
              </a:rPr>
              <a:t>できていないこと</a:t>
            </a:r>
            <a:endParaRPr lang="en-US" sz="2000" dirty="0"/>
          </a:p>
        </p:txBody>
      </p:sp>
      <p:sp>
        <p:nvSpPr>
          <p:cNvPr id="11" name="Text 9"/>
          <p:cNvSpPr txBox="1"/>
          <p:nvPr/>
        </p:nvSpPr>
        <p:spPr>
          <a:xfrm>
            <a:off x="6438900" y="1733550"/>
            <a:ext cx="4953000" cy="1809750"/>
          </a:xfrm>
          <a:prstGeom prst="rect">
            <a:avLst/>
          </a:prstGeom>
          <a:noFill/>
          <a:ln/>
        </p:spPr>
        <p:txBody>
          <a:bodyPr wrap="square" lIns="0" tIns="0" rIns="0" bIns="0" rtlCol="0" anchor="t"/>
          <a:lstStyle/>
          <a:p>
            <a:pPr algn="l" marL="342900" indent="-342900">
              <a:spcAft>
                <a:spcPts val="800"/>
              </a:spcAft>
              <a:buSzPct val="100000"/>
              <a:buChar char="•"/>
            </a:pPr>
            <a:r>
              <a:rPr lang="en-US" sz="1700" dirty="0">
                <a:solidFill>
                  <a:srgbClr val="17212B"/>
                </a:solidFill>
                <a:latin typeface="Yu Gothic" pitchFamily="34" charset="0"/>
                <a:ea typeface="Yu Gothic" pitchFamily="34" charset="-122"/>
                <a:cs typeface="Yu Gothic" pitchFamily="34" charset="-120"/>
              </a:rPr>
              <a:t>床で方策に任せると、約 0.3 秒で前へ倒れ始める</a:t>
            </a:r>
            <a:endParaRPr lang="en-US" sz="1700" dirty="0"/>
          </a:p>
          <a:p>
            <a:pPr algn="l" marL="342900" indent="-342900">
              <a:spcAft>
                <a:spcPts val="800"/>
              </a:spcAft>
              <a:buSzPct val="100000"/>
              <a:buChar char="•"/>
            </a:pPr>
            <a:r>
              <a:rPr lang="en-US" sz="1700" dirty="0">
                <a:solidFill>
                  <a:srgbClr val="17212B"/>
                </a:solidFill>
                <a:latin typeface="Yu Gothic" pitchFamily="34" charset="0"/>
                <a:ea typeface="Yu Gothic" pitchFamily="34" charset="-122"/>
                <a:cs typeface="Yu Gothic" pitchFamily="34" charset="-120"/>
              </a:rPr>
              <a:t>長くても 1.6 秒で止まる（9/24 だけで約 20 回試した）</a:t>
            </a:r>
            <a:endParaRPr lang="en-US" sz="1700" dirty="0"/>
          </a:p>
          <a:p>
            <a:pPr algn="l" marL="342900" indent="-342900">
              <a:spcAft>
                <a:spcPts val="800"/>
              </a:spcAft>
              <a:buSzPct val="100000"/>
              <a:buChar char="•"/>
            </a:pPr>
            <a:r>
              <a:rPr lang="en-US" sz="1700" dirty="0">
                <a:solidFill>
                  <a:srgbClr val="17212B"/>
                </a:solidFill>
                <a:latin typeface="Yu Gothic" pitchFamily="34" charset="0"/>
                <a:ea typeface="Yu Gothic" pitchFamily="34" charset="-122"/>
                <a:cs typeface="Yu Gothic" pitchFamily="34" charset="-120"/>
              </a:rPr>
              <a:t>床の上で歩く・プロコンで操作する段階には未到達</a:t>
            </a:r>
            <a:endParaRPr lang="en-US" sz="1700" dirty="0"/>
          </a:p>
        </p:txBody>
      </p:sp>
      <p:sp>
        <p:nvSpPr>
          <p:cNvPr id="12" name="Shape 10"/>
          <p:cNvSpPr/>
          <p:nvPr/>
        </p:nvSpPr>
        <p:spPr>
          <a:xfrm>
            <a:off x="628650" y="3810000"/>
            <a:ext cx="5334000" cy="2476500"/>
          </a:xfrm>
          <a:prstGeom prst="rect">
            <a:avLst/>
          </a:prstGeom>
          <a:solidFill>
            <a:srgbClr val="FBF7F3"/>
          </a:solidFill>
          <a:ln w="22225">
            <a:solidFill>
              <a:srgbClr val="E8783F"/>
            </a:solidFill>
            <a:prstDash val="dash"/>
          </a:ln>
        </p:spPr>
      </p:sp>
      <p:sp>
        <p:nvSpPr>
          <p:cNvPr id="13" name="Text 11"/>
          <p:cNvSpPr txBox="1"/>
          <p:nvPr/>
        </p:nvSpPr>
        <p:spPr>
          <a:xfrm>
            <a:off x="762000" y="3924300"/>
            <a:ext cx="5067300" cy="247650"/>
          </a:xfrm>
          <a:prstGeom prst="rect">
            <a:avLst/>
          </a:prstGeom>
          <a:noFill/>
          <a:ln/>
        </p:spPr>
        <p:txBody>
          <a:bodyPr wrap="square" lIns="0" tIns="0" rIns="0" bIns="0" rtlCol="0" anchor="ctr"/>
          <a:lstStyle/>
          <a:p>
            <a:pPr algn="l" indent="0" marL="0">
              <a:buNone/>
            </a:pPr>
            <a:r>
              <a:rPr lang="en-US" sz="1500" b="1" dirty="0">
                <a:solidFill>
                  <a:srgbClr val="E8783F"/>
                </a:solidFill>
                <a:latin typeface="Yu Gothic" pitchFamily="34" charset="0"/>
                <a:ea typeface="Yu Gothic" pitchFamily="34" charset="-122"/>
                <a:cs typeface="Yu Gothic" pitchFamily="34" charset="-120"/>
              </a:rPr>
              <a:t>▶ ここに動画を貼る</a:t>
            </a:r>
            <a:endParaRPr lang="en-US" sz="1500" dirty="0"/>
          </a:p>
        </p:txBody>
      </p:sp>
      <p:sp>
        <p:nvSpPr>
          <p:cNvPr id="14" name="Text 12"/>
          <p:cNvSpPr txBox="1"/>
          <p:nvPr/>
        </p:nvSpPr>
        <p:spPr>
          <a:xfrm>
            <a:off x="762000" y="4210050"/>
            <a:ext cx="5067300" cy="1962150"/>
          </a:xfrm>
          <a:prstGeom prst="rect">
            <a:avLst/>
          </a:prstGeom>
          <a:noFill/>
          <a:ln/>
        </p:spPr>
        <p:txBody>
          <a:bodyPr wrap="square" lIns="0" tIns="0" rIns="0" bIns="0" rtlCol="0" anchor="t"/>
          <a:lstStyle/>
          <a:p>
            <a:pPr algn="l" indent="0" marL="0">
              <a:lnSpc>
                <a:spcPct val="110000"/>
              </a:lnSpc>
              <a:buNone/>
            </a:pPr>
            <a:r>
              <a:rPr lang="en-US" sz="1500" dirty="0">
                <a:solidFill>
                  <a:srgbClr val="5E6A73"/>
                </a:solidFill>
                <a:latin typeface="Yu Gothic" pitchFamily="34" charset="0"/>
                <a:ea typeface="Yu Gothic" pitchFamily="34" charset="-122"/>
                <a:cs typeface="Yu Gothic" pitchFamily="34" charset="-120"/>
              </a:rPr>
              <a:t>吊った状態で方策が 10 秒動く動画（D10-13H）。</a:t>
            </a:r>
            <a:endParaRPr lang="en-US" sz="1500" dirty="0"/>
          </a:p>
        </p:txBody>
      </p:sp>
      <p:sp>
        <p:nvSpPr>
          <p:cNvPr id="15" name="Shape 13"/>
          <p:cNvSpPr/>
          <p:nvPr/>
        </p:nvSpPr>
        <p:spPr>
          <a:xfrm>
            <a:off x="6229350" y="3810000"/>
            <a:ext cx="5334000" cy="2476500"/>
          </a:xfrm>
          <a:prstGeom prst="rect">
            <a:avLst/>
          </a:prstGeom>
          <a:solidFill>
            <a:srgbClr val="FBF7F3"/>
          </a:solidFill>
          <a:ln w="22225">
            <a:solidFill>
              <a:srgbClr val="E8783F"/>
            </a:solidFill>
            <a:prstDash val="dash"/>
          </a:ln>
        </p:spPr>
      </p:sp>
      <p:sp>
        <p:nvSpPr>
          <p:cNvPr id="16" name="Text 14"/>
          <p:cNvSpPr txBox="1"/>
          <p:nvPr/>
        </p:nvSpPr>
        <p:spPr>
          <a:xfrm>
            <a:off x="6362700" y="3924300"/>
            <a:ext cx="5067300" cy="247650"/>
          </a:xfrm>
          <a:prstGeom prst="rect">
            <a:avLst/>
          </a:prstGeom>
          <a:noFill/>
          <a:ln/>
        </p:spPr>
        <p:txBody>
          <a:bodyPr wrap="square" lIns="0" tIns="0" rIns="0" bIns="0" rtlCol="0" anchor="ctr"/>
          <a:lstStyle/>
          <a:p>
            <a:pPr algn="l" indent="0" marL="0">
              <a:buNone/>
            </a:pPr>
            <a:r>
              <a:rPr lang="en-US" sz="1500" b="1" dirty="0">
                <a:solidFill>
                  <a:srgbClr val="E8783F"/>
                </a:solidFill>
                <a:latin typeface="Yu Gothic" pitchFamily="34" charset="0"/>
                <a:ea typeface="Yu Gothic" pitchFamily="34" charset="-122"/>
                <a:cs typeface="Yu Gothic" pitchFamily="34" charset="-120"/>
              </a:rPr>
              <a:t>▶ ここに動画を貼る</a:t>
            </a:r>
            <a:endParaRPr lang="en-US" sz="1500" dirty="0"/>
          </a:p>
        </p:txBody>
      </p:sp>
      <p:sp>
        <p:nvSpPr>
          <p:cNvPr id="17" name="Text 15"/>
          <p:cNvSpPr txBox="1"/>
          <p:nvPr/>
        </p:nvSpPr>
        <p:spPr>
          <a:xfrm>
            <a:off x="6362700" y="4210050"/>
            <a:ext cx="5067300" cy="1962150"/>
          </a:xfrm>
          <a:prstGeom prst="rect">
            <a:avLst/>
          </a:prstGeom>
          <a:noFill/>
          <a:ln/>
        </p:spPr>
        <p:txBody>
          <a:bodyPr wrap="square" lIns="0" tIns="0" rIns="0" bIns="0" rtlCol="0" anchor="t"/>
          <a:lstStyle/>
          <a:p>
            <a:pPr algn="l" indent="0" marL="0">
              <a:lnSpc>
                <a:spcPct val="110000"/>
              </a:lnSpc>
              <a:buNone/>
            </a:pPr>
            <a:r>
              <a:rPr lang="en-US" sz="1500" dirty="0">
                <a:solidFill>
                  <a:srgbClr val="5E6A73"/>
                </a:solidFill>
                <a:latin typeface="Yu Gothic" pitchFamily="34" charset="0"/>
                <a:ea typeface="Yu Gothic" pitchFamily="34" charset="-122"/>
                <a:cs typeface="Yu Gothic" pitchFamily="34" charset="-120"/>
              </a:rPr>
              <a:t>床の上で方策に任せ、前へ倒れかけて止まる動画（D10-13G など）。姿勢保持で立っている写真でもよい。</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考察：なぜ床の上で立てないのか</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08</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628650" y="1257300"/>
            <a:ext cx="10934700" cy="419100"/>
          </a:xfrm>
          <a:prstGeom prst="rect">
            <a:avLst/>
          </a:prstGeom>
          <a:noFill/>
          <a:ln/>
        </p:spPr>
        <p:txBody>
          <a:bodyPr wrap="square" lIns="0" tIns="0" rIns="0" bIns="0" rtlCol="0" anchor="ctr"/>
          <a:lstStyle/>
          <a:p>
            <a:pPr algn="l" indent="0" marL="0">
              <a:buNone/>
            </a:pPr>
            <a:r>
              <a:rPr lang="en-US" sz="2200" b="1" dirty="0">
                <a:solidFill>
                  <a:srgbClr val="102B46"/>
                </a:solidFill>
                <a:latin typeface="Yu Gothic" pitchFamily="34" charset="0"/>
                <a:ea typeface="Yu Gothic" pitchFamily="34" charset="-122"/>
                <a:cs typeface="Yu Gothic" pitchFamily="34" charset="-120"/>
              </a:rPr>
              <a:t>どの補正をしても、方策は最初に膝を伸ばし・つま先を踏み込み、0.3 秒で前へ倒れる</a:t>
            </a:r>
            <a:endParaRPr lang="en-US" sz="2200" dirty="0"/>
          </a:p>
        </p:txBody>
      </p:sp>
      <p:sp>
        <p:nvSpPr>
          <p:cNvPr id="7" name="Shape 5"/>
          <p:cNvSpPr/>
          <p:nvPr/>
        </p:nvSpPr>
        <p:spPr>
          <a:xfrm>
            <a:off x="628650" y="1866900"/>
            <a:ext cx="10934700" cy="1219200"/>
          </a:xfrm>
          <a:prstGeom prst="rect">
            <a:avLst/>
          </a:prstGeom>
          <a:solidFill>
            <a:srgbClr val="E8F1F5"/>
          </a:solidFill>
          <a:ln w="12700">
            <a:solidFill>
              <a:srgbClr val="B7C7D1"/>
            </a:solidFill>
            <a:prstDash val="solid"/>
          </a:ln>
        </p:spPr>
      </p:sp>
      <p:sp>
        <p:nvSpPr>
          <p:cNvPr id="8" name="Text 6"/>
          <p:cNvSpPr txBox="1"/>
          <p:nvPr/>
        </p:nvSpPr>
        <p:spPr>
          <a:xfrm>
            <a:off x="838200" y="2247900"/>
            <a:ext cx="457200" cy="457200"/>
          </a:xfrm>
          <a:prstGeom prst="ellipse">
            <a:avLst/>
          </a:prstGeom>
          <a:solidFill>
            <a:srgbClr val="E8783F"/>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1</a:t>
            </a:r>
            <a:endParaRPr lang="en-US" sz="1800" dirty="0"/>
          </a:p>
        </p:txBody>
      </p:sp>
      <p:sp>
        <p:nvSpPr>
          <p:cNvPr id="9" name="Text 7"/>
          <p:cNvSpPr txBox="1"/>
          <p:nvPr/>
        </p:nvSpPr>
        <p:spPr>
          <a:xfrm>
            <a:off x="1485900" y="2000250"/>
            <a:ext cx="7810500" cy="361950"/>
          </a:xfrm>
          <a:prstGeom prst="rect">
            <a:avLst/>
          </a:prstGeom>
          <a:noFill/>
          <a:ln/>
        </p:spPr>
        <p:txBody>
          <a:bodyPr wrap="square" lIns="0" tIns="0" rIns="0" bIns="0" rtlCol="0" anchor="ctr"/>
          <a:lstStyle/>
          <a:p>
            <a:pPr algn="l" indent="0" marL="0">
              <a:buNone/>
            </a:pPr>
            <a:r>
              <a:rPr lang="en-US" sz="2000" b="1" dirty="0">
                <a:solidFill>
                  <a:srgbClr val="102B46"/>
                </a:solidFill>
                <a:latin typeface="Yu Gothic" pitchFamily="34" charset="0"/>
                <a:ea typeface="Yu Gothic" pitchFamily="34" charset="-122"/>
                <a:cs typeface="Yu Gothic" pitchFamily="34" charset="-120"/>
              </a:rPr>
              <a:t>練習した「始まり方」が違う</a:t>
            </a:r>
            <a:endParaRPr lang="en-US" sz="2000" dirty="0"/>
          </a:p>
        </p:txBody>
      </p:sp>
      <p:sp>
        <p:nvSpPr>
          <p:cNvPr id="10" name="Text 8"/>
          <p:cNvSpPr txBox="1"/>
          <p:nvPr/>
        </p:nvSpPr>
        <p:spPr>
          <a:xfrm>
            <a:off x="1485900" y="2400300"/>
            <a:ext cx="8572500" cy="609600"/>
          </a:xfrm>
          <a:prstGeom prst="rect">
            <a:avLst/>
          </a:prstGeom>
          <a:noFill/>
          <a:ln/>
        </p:spPr>
        <p:txBody>
          <a:bodyPr wrap="square" lIns="0" tIns="0" rIns="0" bIns="0" rtlCol="0" anchor="t"/>
          <a:lstStyle/>
          <a:p>
            <a:pPr algn="l" indent="0" marL="0">
              <a:buNone/>
            </a:pPr>
            <a:r>
              <a:rPr lang="en-US" sz="1600" dirty="0">
                <a:solidFill>
                  <a:srgbClr val="17212B"/>
                </a:solidFill>
                <a:latin typeface="Yu Gothic" pitchFamily="34" charset="0"/>
                <a:ea typeface="Yu Gothic" pitchFamily="34" charset="-122"/>
                <a:cs typeface="Yu Gothic" pitchFamily="34" charset="-120"/>
              </a:rPr>
              <a:t>シミュレーターでは毎回、空中から落とし、揺らした状態から始めていた。止まって立った状態から始めたことが一度もない</a:t>
            </a:r>
            <a:endParaRPr lang="en-US" sz="1600" dirty="0"/>
          </a:p>
        </p:txBody>
      </p:sp>
      <p:sp>
        <p:nvSpPr>
          <p:cNvPr id="11" name="Text 9"/>
          <p:cNvSpPr txBox="1"/>
          <p:nvPr/>
        </p:nvSpPr>
        <p:spPr>
          <a:xfrm>
            <a:off x="10287000" y="2038350"/>
            <a:ext cx="1047750" cy="304800"/>
          </a:xfrm>
          <a:prstGeom prst="rect">
            <a:avLst/>
          </a:prstGeom>
          <a:solidFill>
            <a:srgbClr val="5E6A73"/>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有力</a:t>
            </a:r>
            <a:endParaRPr lang="en-US" sz="1400" dirty="0"/>
          </a:p>
        </p:txBody>
      </p:sp>
      <p:sp>
        <p:nvSpPr>
          <p:cNvPr id="12" name="Shape 10"/>
          <p:cNvSpPr/>
          <p:nvPr/>
        </p:nvSpPr>
        <p:spPr>
          <a:xfrm>
            <a:off x="628650" y="3257550"/>
            <a:ext cx="10934700" cy="1219200"/>
          </a:xfrm>
          <a:prstGeom prst="rect">
            <a:avLst/>
          </a:prstGeom>
          <a:solidFill>
            <a:srgbClr val="F3EEE6"/>
          </a:solidFill>
          <a:ln w="12700">
            <a:solidFill>
              <a:srgbClr val="B7C7D1"/>
            </a:solidFill>
            <a:prstDash val="solid"/>
          </a:ln>
        </p:spPr>
      </p:sp>
      <p:sp>
        <p:nvSpPr>
          <p:cNvPr id="13" name="Text 11"/>
          <p:cNvSpPr txBox="1"/>
          <p:nvPr/>
        </p:nvSpPr>
        <p:spPr>
          <a:xfrm>
            <a:off x="838200" y="3638550"/>
            <a:ext cx="457200" cy="457200"/>
          </a:xfrm>
          <a:prstGeom prst="ellipse">
            <a:avLst/>
          </a:prstGeom>
          <a:solidFill>
            <a:srgbClr val="1C5A85"/>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2</a:t>
            </a:r>
            <a:endParaRPr lang="en-US" sz="1800" dirty="0"/>
          </a:p>
        </p:txBody>
      </p:sp>
      <p:sp>
        <p:nvSpPr>
          <p:cNvPr id="14" name="Text 12"/>
          <p:cNvSpPr txBox="1"/>
          <p:nvPr/>
        </p:nvSpPr>
        <p:spPr>
          <a:xfrm>
            <a:off x="1485900" y="3390900"/>
            <a:ext cx="7810500" cy="361950"/>
          </a:xfrm>
          <a:prstGeom prst="rect">
            <a:avLst/>
          </a:prstGeom>
          <a:noFill/>
          <a:ln/>
        </p:spPr>
        <p:txBody>
          <a:bodyPr wrap="square" lIns="0" tIns="0" rIns="0" bIns="0" rtlCol="0" anchor="ctr"/>
          <a:lstStyle/>
          <a:p>
            <a:pPr algn="l" indent="0" marL="0">
              <a:buNone/>
            </a:pPr>
            <a:r>
              <a:rPr lang="en-US" sz="2000" b="1" dirty="0">
                <a:solidFill>
                  <a:srgbClr val="102B46"/>
                </a:solidFill>
                <a:latin typeface="Yu Gothic" pitchFamily="34" charset="0"/>
                <a:ea typeface="Yu Gothic" pitchFamily="34" charset="-122"/>
                <a:cs typeface="Yu Gothic" pitchFamily="34" charset="-120"/>
              </a:rPr>
              <a:t>実機の重さの位置がモデルと違う</a:t>
            </a:r>
            <a:endParaRPr lang="en-US" sz="2000" dirty="0"/>
          </a:p>
        </p:txBody>
      </p:sp>
      <p:sp>
        <p:nvSpPr>
          <p:cNvPr id="15" name="Text 13"/>
          <p:cNvSpPr txBox="1"/>
          <p:nvPr/>
        </p:nvSpPr>
        <p:spPr>
          <a:xfrm>
            <a:off x="1485900" y="3790950"/>
            <a:ext cx="8572500" cy="609600"/>
          </a:xfrm>
          <a:prstGeom prst="rect">
            <a:avLst/>
          </a:prstGeom>
          <a:noFill/>
          <a:ln/>
        </p:spPr>
        <p:txBody>
          <a:bodyPr wrap="square" lIns="0" tIns="0" rIns="0" bIns="0" rtlCol="0" anchor="t"/>
          <a:lstStyle/>
          <a:p>
            <a:pPr algn="l" indent="0" marL="0">
              <a:buNone/>
            </a:pPr>
            <a:r>
              <a:rPr lang="en-US" sz="1600" dirty="0">
                <a:solidFill>
                  <a:srgbClr val="17212B"/>
                </a:solidFill>
                <a:latin typeface="Yu Gothic" pitchFamily="34" charset="0"/>
                <a:ea typeface="Yu Gothic" pitchFamily="34" charset="-122"/>
                <a:cs typeface="Yu Gothic" pitchFamily="34" charset="-120"/>
              </a:rPr>
              <a:t>床に立つと足首が重さで 10〜17°たわむ（モデルの 2〜3 倍）。重心がモデルより前か、重い</a:t>
            </a:r>
            <a:endParaRPr lang="en-US" sz="1600" dirty="0"/>
          </a:p>
        </p:txBody>
      </p:sp>
      <p:sp>
        <p:nvSpPr>
          <p:cNvPr id="16" name="Text 14"/>
          <p:cNvSpPr txBox="1"/>
          <p:nvPr/>
        </p:nvSpPr>
        <p:spPr>
          <a:xfrm>
            <a:off x="10287000" y="3429000"/>
            <a:ext cx="1047750" cy="304800"/>
          </a:xfrm>
          <a:prstGeom prst="rect">
            <a:avLst/>
          </a:prstGeom>
          <a:solidFill>
            <a:srgbClr val="5E6A73"/>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推定</a:t>
            </a:r>
            <a:endParaRPr lang="en-US" sz="1400" dirty="0"/>
          </a:p>
        </p:txBody>
      </p:sp>
      <p:sp>
        <p:nvSpPr>
          <p:cNvPr id="17" name="Shape 15"/>
          <p:cNvSpPr/>
          <p:nvPr/>
        </p:nvSpPr>
        <p:spPr>
          <a:xfrm>
            <a:off x="628650" y="4648200"/>
            <a:ext cx="10934700" cy="1219200"/>
          </a:xfrm>
          <a:prstGeom prst="rect">
            <a:avLst/>
          </a:prstGeom>
          <a:solidFill>
            <a:srgbClr val="E8F1F5"/>
          </a:solidFill>
          <a:ln w="12700">
            <a:solidFill>
              <a:srgbClr val="B7C7D1"/>
            </a:solidFill>
            <a:prstDash val="solid"/>
          </a:ln>
        </p:spPr>
      </p:sp>
      <p:sp>
        <p:nvSpPr>
          <p:cNvPr id="18" name="Text 16"/>
          <p:cNvSpPr txBox="1"/>
          <p:nvPr/>
        </p:nvSpPr>
        <p:spPr>
          <a:xfrm>
            <a:off x="838200" y="5029200"/>
            <a:ext cx="457200" cy="457200"/>
          </a:xfrm>
          <a:prstGeom prst="ellipse">
            <a:avLst/>
          </a:prstGeom>
          <a:solidFill>
            <a:srgbClr val="32A5B5"/>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3</a:t>
            </a:r>
            <a:endParaRPr lang="en-US" sz="1800" dirty="0"/>
          </a:p>
        </p:txBody>
      </p:sp>
      <p:sp>
        <p:nvSpPr>
          <p:cNvPr id="19" name="Text 17"/>
          <p:cNvSpPr txBox="1"/>
          <p:nvPr/>
        </p:nvSpPr>
        <p:spPr>
          <a:xfrm>
            <a:off x="1485900" y="4781550"/>
            <a:ext cx="7810500" cy="361950"/>
          </a:xfrm>
          <a:prstGeom prst="rect">
            <a:avLst/>
          </a:prstGeom>
          <a:noFill/>
          <a:ln/>
        </p:spPr>
        <p:txBody>
          <a:bodyPr wrap="square" lIns="0" tIns="0" rIns="0" bIns="0" rtlCol="0" anchor="ctr"/>
          <a:lstStyle/>
          <a:p>
            <a:pPr algn="l" indent="0" marL="0">
              <a:buNone/>
            </a:pPr>
            <a:r>
              <a:rPr lang="en-US" sz="2000" b="1" dirty="0">
                <a:solidFill>
                  <a:srgbClr val="102B46"/>
                </a:solidFill>
                <a:latin typeface="Yu Gothic" pitchFamily="34" charset="0"/>
                <a:ea typeface="Yu Gothic" pitchFamily="34" charset="-122"/>
                <a:cs typeface="Yu Gothic" pitchFamily="34" charset="-120"/>
              </a:rPr>
              <a:t>モーターの動き出しが重い</a:t>
            </a:r>
            <a:endParaRPr lang="en-US" sz="2000" dirty="0"/>
          </a:p>
        </p:txBody>
      </p:sp>
      <p:sp>
        <p:nvSpPr>
          <p:cNvPr id="20" name="Text 18"/>
          <p:cNvSpPr txBox="1"/>
          <p:nvPr/>
        </p:nvSpPr>
        <p:spPr>
          <a:xfrm>
            <a:off x="1485900" y="5181600"/>
            <a:ext cx="8572500" cy="609600"/>
          </a:xfrm>
          <a:prstGeom prst="rect">
            <a:avLst/>
          </a:prstGeom>
          <a:noFill/>
          <a:ln/>
        </p:spPr>
        <p:txBody>
          <a:bodyPr wrap="square" lIns="0" tIns="0" rIns="0" bIns="0" rtlCol="0" anchor="t"/>
          <a:lstStyle/>
          <a:p>
            <a:pPr algn="l" indent="0" marL="0">
              <a:buNone/>
            </a:pPr>
            <a:r>
              <a:rPr lang="en-US" sz="1600" dirty="0">
                <a:solidFill>
                  <a:srgbClr val="17212B"/>
                </a:solidFill>
                <a:latin typeface="Yu Gothic" pitchFamily="34" charset="0"/>
                <a:ea typeface="Yu Gothic" pitchFamily="34" charset="-122"/>
                <a:cs typeface="Yu Gothic" pitchFamily="34" charset="-120"/>
              </a:rPr>
              <a:t>摩擦がシミュレーターの 2〜3 倍あり、小さな修正の動きが出にくい</a:t>
            </a:r>
            <a:endParaRPr lang="en-US" sz="1600" dirty="0"/>
          </a:p>
        </p:txBody>
      </p:sp>
      <p:sp>
        <p:nvSpPr>
          <p:cNvPr id="21" name="Text 19"/>
          <p:cNvSpPr txBox="1"/>
          <p:nvPr/>
        </p:nvSpPr>
        <p:spPr>
          <a:xfrm>
            <a:off x="10287000" y="4819650"/>
            <a:ext cx="1047750" cy="304800"/>
          </a:xfrm>
          <a:prstGeom prst="rect">
            <a:avLst/>
          </a:prstGeom>
          <a:solidFill>
            <a:srgbClr val="5E6A73"/>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実測済み</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今後の課題</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08</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857250" y="1466850"/>
            <a:ext cx="457200" cy="457200"/>
          </a:xfrm>
          <a:prstGeom prst="ellipse">
            <a:avLst/>
          </a:prstGeom>
          <a:solidFill>
            <a:srgbClr val="E8783F"/>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1</a:t>
            </a:r>
            <a:endParaRPr lang="en-US" sz="1800" dirty="0"/>
          </a:p>
        </p:txBody>
      </p:sp>
      <p:sp>
        <p:nvSpPr>
          <p:cNvPr id="7" name="Shape 5"/>
          <p:cNvSpPr/>
          <p:nvPr/>
        </p:nvSpPr>
        <p:spPr>
          <a:xfrm>
            <a:off x="1524000" y="1295400"/>
            <a:ext cx="10039350" cy="819150"/>
          </a:xfrm>
          <a:prstGeom prst="rect">
            <a:avLst/>
          </a:prstGeom>
          <a:solidFill>
            <a:srgbClr val="FFFFFF"/>
          </a:solidFill>
          <a:ln w="19050">
            <a:solidFill>
              <a:srgbClr val="E8783F"/>
            </a:solidFill>
            <a:prstDash val="solid"/>
          </a:ln>
        </p:spPr>
      </p:sp>
      <p:sp>
        <p:nvSpPr>
          <p:cNvPr id="8" name="Text 6"/>
          <p:cNvSpPr txBox="1"/>
          <p:nvPr/>
        </p:nvSpPr>
        <p:spPr>
          <a:xfrm>
            <a:off x="1752600" y="1295400"/>
            <a:ext cx="4953000" cy="819150"/>
          </a:xfrm>
          <a:prstGeom prst="rect">
            <a:avLst/>
          </a:prstGeom>
          <a:noFill/>
          <a:ln/>
        </p:spPr>
        <p:txBody>
          <a:bodyPr wrap="square" lIns="0" tIns="0" rIns="0" bIns="0" rtlCol="0" anchor="ctr"/>
          <a:lstStyle/>
          <a:p>
            <a:pPr algn="l" indent="0" marL="0">
              <a:buNone/>
            </a:pPr>
            <a:r>
              <a:rPr lang="en-US" sz="1900" b="1" dirty="0">
                <a:solidFill>
                  <a:srgbClr val="102B46"/>
                </a:solidFill>
                <a:latin typeface="Yu Gothic" pitchFamily="34" charset="0"/>
                <a:ea typeface="Yu Gothic" pitchFamily="34" charset="-122"/>
                <a:cs typeface="Yu Gothic" pitchFamily="34" charset="-120"/>
              </a:rPr>
              <a:t>止まって立った状態から始める練習を追加</a:t>
            </a:r>
            <a:endParaRPr lang="en-US" sz="1900" dirty="0"/>
          </a:p>
        </p:txBody>
      </p:sp>
      <p:sp>
        <p:nvSpPr>
          <p:cNvPr id="9" name="Text 7"/>
          <p:cNvSpPr txBox="1"/>
          <p:nvPr/>
        </p:nvSpPr>
        <p:spPr>
          <a:xfrm>
            <a:off x="6858000" y="1295400"/>
            <a:ext cx="4476750" cy="81915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考察 1 への対策。実機と同じ始まり方を学習に入れる</a:t>
            </a:r>
            <a:endParaRPr lang="en-US" sz="1500" dirty="0"/>
          </a:p>
        </p:txBody>
      </p:sp>
      <p:sp>
        <p:nvSpPr>
          <p:cNvPr id="10" name="Shape 8"/>
          <p:cNvSpPr/>
          <p:nvPr/>
        </p:nvSpPr>
        <p:spPr>
          <a:xfrm>
            <a:off x="1085850" y="1962150"/>
            <a:ext cx="95" cy="457200"/>
          </a:xfrm>
          <a:prstGeom prst="line">
            <a:avLst/>
          </a:prstGeom>
          <a:noFill/>
          <a:ln w="25400">
            <a:solidFill>
              <a:srgbClr val="B7C7D1"/>
            </a:solidFill>
            <a:prstDash val="solid"/>
          </a:ln>
        </p:spPr>
      </p:sp>
      <p:sp>
        <p:nvSpPr>
          <p:cNvPr id="11" name="Text 9"/>
          <p:cNvSpPr txBox="1"/>
          <p:nvPr/>
        </p:nvSpPr>
        <p:spPr>
          <a:xfrm>
            <a:off x="857250" y="2457450"/>
            <a:ext cx="457200" cy="457200"/>
          </a:xfrm>
          <a:prstGeom prst="ellipse">
            <a:avLst/>
          </a:prstGeom>
          <a:solidFill>
            <a:srgbClr val="E8783F"/>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2</a:t>
            </a:r>
            <a:endParaRPr lang="en-US" sz="1800" dirty="0"/>
          </a:p>
        </p:txBody>
      </p:sp>
      <p:sp>
        <p:nvSpPr>
          <p:cNvPr id="12" name="Shape 10"/>
          <p:cNvSpPr/>
          <p:nvPr/>
        </p:nvSpPr>
        <p:spPr>
          <a:xfrm>
            <a:off x="1524000" y="2286000"/>
            <a:ext cx="10039350" cy="819150"/>
          </a:xfrm>
          <a:prstGeom prst="rect">
            <a:avLst/>
          </a:prstGeom>
          <a:solidFill>
            <a:srgbClr val="FFFFFF"/>
          </a:solidFill>
          <a:ln w="19050">
            <a:solidFill>
              <a:srgbClr val="E8783F"/>
            </a:solidFill>
            <a:prstDash val="solid"/>
          </a:ln>
        </p:spPr>
      </p:sp>
      <p:sp>
        <p:nvSpPr>
          <p:cNvPr id="13" name="Text 11"/>
          <p:cNvSpPr txBox="1"/>
          <p:nvPr/>
        </p:nvSpPr>
        <p:spPr>
          <a:xfrm>
            <a:off x="1752600" y="2286000"/>
            <a:ext cx="4953000" cy="819150"/>
          </a:xfrm>
          <a:prstGeom prst="rect">
            <a:avLst/>
          </a:prstGeom>
          <a:noFill/>
          <a:ln/>
        </p:spPr>
        <p:txBody>
          <a:bodyPr wrap="square" lIns="0" tIns="0" rIns="0" bIns="0" rtlCol="0" anchor="ctr"/>
          <a:lstStyle/>
          <a:p>
            <a:pPr algn="l" indent="0" marL="0">
              <a:buNone/>
            </a:pPr>
            <a:r>
              <a:rPr lang="en-US" sz="1900" b="1" dirty="0">
                <a:solidFill>
                  <a:srgbClr val="102B46"/>
                </a:solidFill>
                <a:latin typeface="Yu Gothic" pitchFamily="34" charset="0"/>
                <a:ea typeface="Yu Gothic" pitchFamily="34" charset="-122"/>
                <a:cs typeface="Yu Gothic" pitchFamily="34" charset="-120"/>
              </a:rPr>
              <a:t>摩擦を実機並みにばらつかせて学習し直す</a:t>
            </a:r>
            <a:endParaRPr lang="en-US" sz="1900" dirty="0"/>
          </a:p>
        </p:txBody>
      </p:sp>
      <p:sp>
        <p:nvSpPr>
          <p:cNvPr id="14" name="Text 12"/>
          <p:cNvSpPr txBox="1"/>
          <p:nvPr/>
        </p:nvSpPr>
        <p:spPr>
          <a:xfrm>
            <a:off x="6858000" y="2286000"/>
            <a:ext cx="4476750" cy="81915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考察 3 への対策。学習を進めている</a:t>
            </a:r>
            <a:endParaRPr lang="en-US" sz="1500" dirty="0"/>
          </a:p>
        </p:txBody>
      </p:sp>
      <p:sp>
        <p:nvSpPr>
          <p:cNvPr id="15" name="Shape 13"/>
          <p:cNvSpPr/>
          <p:nvPr/>
        </p:nvSpPr>
        <p:spPr>
          <a:xfrm>
            <a:off x="1085850" y="2952750"/>
            <a:ext cx="95" cy="457200"/>
          </a:xfrm>
          <a:prstGeom prst="line">
            <a:avLst/>
          </a:prstGeom>
          <a:noFill/>
          <a:ln w="25400">
            <a:solidFill>
              <a:srgbClr val="B7C7D1"/>
            </a:solidFill>
            <a:prstDash val="solid"/>
          </a:ln>
        </p:spPr>
      </p:sp>
      <p:sp>
        <p:nvSpPr>
          <p:cNvPr id="16" name="Text 14"/>
          <p:cNvSpPr txBox="1"/>
          <p:nvPr/>
        </p:nvSpPr>
        <p:spPr>
          <a:xfrm>
            <a:off x="857250" y="3448050"/>
            <a:ext cx="457200" cy="457200"/>
          </a:xfrm>
          <a:prstGeom prst="ellipse">
            <a:avLst/>
          </a:prstGeom>
          <a:solidFill>
            <a:srgbClr val="1C5A85"/>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3</a:t>
            </a:r>
            <a:endParaRPr lang="en-US" sz="1800" dirty="0"/>
          </a:p>
        </p:txBody>
      </p:sp>
      <p:sp>
        <p:nvSpPr>
          <p:cNvPr id="17" name="Shape 15"/>
          <p:cNvSpPr/>
          <p:nvPr/>
        </p:nvSpPr>
        <p:spPr>
          <a:xfrm>
            <a:off x="1524000" y="3276600"/>
            <a:ext cx="10039350" cy="819150"/>
          </a:xfrm>
          <a:prstGeom prst="rect">
            <a:avLst/>
          </a:prstGeom>
          <a:solidFill>
            <a:srgbClr val="FFFFFF"/>
          </a:solidFill>
          <a:ln w="19050">
            <a:solidFill>
              <a:srgbClr val="1C5A85"/>
            </a:solidFill>
            <a:prstDash val="solid"/>
          </a:ln>
        </p:spPr>
      </p:sp>
      <p:sp>
        <p:nvSpPr>
          <p:cNvPr id="18" name="Text 16"/>
          <p:cNvSpPr txBox="1"/>
          <p:nvPr/>
        </p:nvSpPr>
        <p:spPr>
          <a:xfrm>
            <a:off x="1752600" y="3276600"/>
            <a:ext cx="4953000" cy="819150"/>
          </a:xfrm>
          <a:prstGeom prst="rect">
            <a:avLst/>
          </a:prstGeom>
          <a:noFill/>
          <a:ln/>
        </p:spPr>
        <p:txBody>
          <a:bodyPr wrap="square" lIns="0" tIns="0" rIns="0" bIns="0" rtlCol="0" anchor="ctr"/>
          <a:lstStyle/>
          <a:p>
            <a:pPr algn="l" indent="0" marL="0">
              <a:buNone/>
            </a:pPr>
            <a:r>
              <a:rPr lang="en-US" sz="1900" b="1" dirty="0">
                <a:solidFill>
                  <a:srgbClr val="102B46"/>
                </a:solidFill>
                <a:latin typeface="Yu Gothic" pitchFamily="34" charset="0"/>
                <a:ea typeface="Yu Gothic" pitchFamily="34" charset="-122"/>
                <a:cs typeface="Yu Gothic" pitchFamily="34" charset="-120"/>
              </a:rPr>
              <a:t>実機の重さと重心を測り、モデルを直す</a:t>
            </a:r>
            <a:endParaRPr lang="en-US" sz="1900" dirty="0"/>
          </a:p>
        </p:txBody>
      </p:sp>
      <p:sp>
        <p:nvSpPr>
          <p:cNvPr id="19" name="Text 17"/>
          <p:cNvSpPr txBox="1"/>
          <p:nvPr/>
        </p:nvSpPr>
        <p:spPr>
          <a:xfrm>
            <a:off x="6858000" y="3276600"/>
            <a:ext cx="4476750" cy="81915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考察 2 への対策</a:t>
            </a:r>
            <a:endParaRPr lang="en-US" sz="1500" dirty="0"/>
          </a:p>
        </p:txBody>
      </p:sp>
      <p:sp>
        <p:nvSpPr>
          <p:cNvPr id="20" name="Shape 18"/>
          <p:cNvSpPr/>
          <p:nvPr/>
        </p:nvSpPr>
        <p:spPr>
          <a:xfrm>
            <a:off x="1085850" y="3943350"/>
            <a:ext cx="95" cy="457200"/>
          </a:xfrm>
          <a:prstGeom prst="line">
            <a:avLst/>
          </a:prstGeom>
          <a:noFill/>
          <a:ln w="25400">
            <a:solidFill>
              <a:srgbClr val="B7C7D1"/>
            </a:solidFill>
            <a:prstDash val="solid"/>
          </a:ln>
        </p:spPr>
      </p:sp>
      <p:sp>
        <p:nvSpPr>
          <p:cNvPr id="21" name="Text 19"/>
          <p:cNvSpPr txBox="1"/>
          <p:nvPr/>
        </p:nvSpPr>
        <p:spPr>
          <a:xfrm>
            <a:off x="857250" y="4438650"/>
            <a:ext cx="457200" cy="457200"/>
          </a:xfrm>
          <a:prstGeom prst="ellipse">
            <a:avLst/>
          </a:prstGeom>
          <a:solidFill>
            <a:srgbClr val="1C5A85"/>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4</a:t>
            </a:r>
            <a:endParaRPr lang="en-US" sz="1800" dirty="0"/>
          </a:p>
        </p:txBody>
      </p:sp>
      <p:sp>
        <p:nvSpPr>
          <p:cNvPr id="22" name="Shape 20"/>
          <p:cNvSpPr/>
          <p:nvPr/>
        </p:nvSpPr>
        <p:spPr>
          <a:xfrm>
            <a:off x="1524000" y="4267200"/>
            <a:ext cx="10039350" cy="819150"/>
          </a:xfrm>
          <a:prstGeom prst="rect">
            <a:avLst/>
          </a:prstGeom>
          <a:solidFill>
            <a:srgbClr val="FFFFFF"/>
          </a:solidFill>
          <a:ln w="19050">
            <a:solidFill>
              <a:srgbClr val="1C5A85"/>
            </a:solidFill>
            <a:prstDash val="solid"/>
          </a:ln>
        </p:spPr>
      </p:sp>
      <p:sp>
        <p:nvSpPr>
          <p:cNvPr id="23" name="Text 21"/>
          <p:cNvSpPr txBox="1"/>
          <p:nvPr/>
        </p:nvSpPr>
        <p:spPr>
          <a:xfrm>
            <a:off x="1752600" y="4267200"/>
            <a:ext cx="4953000" cy="819150"/>
          </a:xfrm>
          <a:prstGeom prst="rect">
            <a:avLst/>
          </a:prstGeom>
          <a:noFill/>
          <a:ln/>
        </p:spPr>
        <p:txBody>
          <a:bodyPr wrap="square" lIns="0" tIns="0" rIns="0" bIns="0" rtlCol="0" anchor="ctr"/>
          <a:lstStyle/>
          <a:p>
            <a:pPr algn="l" indent="0" marL="0">
              <a:buNone/>
            </a:pPr>
            <a:r>
              <a:rPr lang="en-US" sz="1900" b="1" dirty="0">
                <a:solidFill>
                  <a:srgbClr val="102B46"/>
                </a:solidFill>
                <a:latin typeface="Yu Gothic" pitchFamily="34" charset="0"/>
                <a:ea typeface="Yu Gothic" pitchFamily="34" charset="-122"/>
                <a:cs typeface="Yu Gothic" pitchFamily="34" charset="-120"/>
              </a:rPr>
              <a:t>左脚の CAN 通信が途切れる原因を調べる</a:t>
            </a:r>
            <a:endParaRPr lang="en-US" sz="1900" dirty="0"/>
          </a:p>
        </p:txBody>
      </p:sp>
      <p:sp>
        <p:nvSpPr>
          <p:cNvPr id="24" name="Text 22"/>
          <p:cNvSpPr txBox="1"/>
          <p:nvPr/>
        </p:nvSpPr>
        <p:spPr>
          <a:xfrm>
            <a:off x="6858000" y="4267200"/>
            <a:ext cx="4476750" cy="81915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床の試験中に 2 回、左脚の 5 台と通信が切れた</a:t>
            </a:r>
            <a:endParaRPr lang="en-US" sz="1500" dirty="0"/>
          </a:p>
        </p:txBody>
      </p:sp>
      <p:sp>
        <p:nvSpPr>
          <p:cNvPr id="25" name="Shape 23"/>
          <p:cNvSpPr/>
          <p:nvPr/>
        </p:nvSpPr>
        <p:spPr>
          <a:xfrm>
            <a:off x="1085850" y="4933950"/>
            <a:ext cx="95" cy="457200"/>
          </a:xfrm>
          <a:prstGeom prst="line">
            <a:avLst/>
          </a:prstGeom>
          <a:noFill/>
          <a:ln w="25400">
            <a:solidFill>
              <a:srgbClr val="B7C7D1"/>
            </a:solidFill>
            <a:prstDash val="solid"/>
          </a:ln>
        </p:spPr>
      </p:sp>
      <p:sp>
        <p:nvSpPr>
          <p:cNvPr id="26" name="Text 24"/>
          <p:cNvSpPr txBox="1"/>
          <p:nvPr/>
        </p:nvSpPr>
        <p:spPr>
          <a:xfrm>
            <a:off x="857250" y="5429250"/>
            <a:ext cx="457200" cy="457200"/>
          </a:xfrm>
          <a:prstGeom prst="ellipse">
            <a:avLst/>
          </a:prstGeom>
          <a:solidFill>
            <a:srgbClr val="102B46"/>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5</a:t>
            </a:r>
            <a:endParaRPr lang="en-US" sz="1800" dirty="0"/>
          </a:p>
        </p:txBody>
      </p:sp>
      <p:sp>
        <p:nvSpPr>
          <p:cNvPr id="27" name="Shape 25"/>
          <p:cNvSpPr/>
          <p:nvPr/>
        </p:nvSpPr>
        <p:spPr>
          <a:xfrm>
            <a:off x="1524000" y="5257800"/>
            <a:ext cx="10039350" cy="819150"/>
          </a:xfrm>
          <a:prstGeom prst="rect">
            <a:avLst/>
          </a:prstGeom>
          <a:solidFill>
            <a:srgbClr val="F3EEE6"/>
          </a:solidFill>
          <a:ln w="19050">
            <a:solidFill>
              <a:srgbClr val="102B46"/>
            </a:solidFill>
            <a:prstDash val="solid"/>
          </a:ln>
        </p:spPr>
      </p:sp>
      <p:sp>
        <p:nvSpPr>
          <p:cNvPr id="28" name="Text 26"/>
          <p:cNvSpPr txBox="1"/>
          <p:nvPr/>
        </p:nvSpPr>
        <p:spPr>
          <a:xfrm>
            <a:off x="1752600" y="5257800"/>
            <a:ext cx="4953000" cy="819150"/>
          </a:xfrm>
          <a:prstGeom prst="rect">
            <a:avLst/>
          </a:prstGeom>
          <a:noFill/>
          <a:ln/>
        </p:spPr>
        <p:txBody>
          <a:bodyPr wrap="square" lIns="0" tIns="0" rIns="0" bIns="0" rtlCol="0" anchor="ctr"/>
          <a:lstStyle/>
          <a:p>
            <a:pPr algn="l" indent="0" marL="0">
              <a:buNone/>
            </a:pPr>
            <a:r>
              <a:rPr lang="en-US" sz="1900" b="1" dirty="0">
                <a:solidFill>
                  <a:srgbClr val="102B46"/>
                </a:solidFill>
                <a:latin typeface="Yu Gothic" pitchFamily="34" charset="0"/>
                <a:ea typeface="Yu Gothic" pitchFamily="34" charset="-122"/>
                <a:cs typeface="Yu Gothic" pitchFamily="34" charset="-120"/>
              </a:rPr>
              <a:t>床で歩く → プロコン操作 → 坂を登る</a:t>
            </a:r>
            <a:endParaRPr lang="en-US" sz="1900" dirty="0"/>
          </a:p>
        </p:txBody>
      </p:sp>
      <p:sp>
        <p:nvSpPr>
          <p:cNvPr id="29" name="Text 27"/>
          <p:cNvSpPr txBox="1"/>
          <p:nvPr/>
        </p:nvSpPr>
        <p:spPr>
          <a:xfrm>
            <a:off x="6858000" y="5257800"/>
            <a:ext cx="4476750" cy="81915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シミュレーションでできたことを実機で</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まとめ・今後の展望</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あと</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628650" y="1428750"/>
            <a:ext cx="10934700" cy="476250"/>
          </a:xfrm>
          <a:prstGeom prst="rect">
            <a:avLst/>
          </a:prstGeom>
          <a:noFill/>
          <a:ln/>
        </p:spPr>
        <p:txBody>
          <a:bodyPr wrap="square" lIns="0" tIns="0" rIns="0" bIns="0" rtlCol="0" anchor="ctr"/>
          <a:lstStyle/>
          <a:p>
            <a:pPr algn="l" indent="0" marL="0">
              <a:buNone/>
            </a:pPr>
            <a:r>
              <a:rPr lang="en-US" sz="2600" b="1" dirty="0">
                <a:solidFill>
                  <a:srgbClr val="102B46"/>
                </a:solidFill>
                <a:latin typeface="Yu Gothic" pitchFamily="34" charset="0"/>
                <a:ea typeface="Yu Gothic" pitchFamily="34" charset="-122"/>
                <a:cs typeface="Yu Gothic" pitchFamily="34" charset="-120"/>
              </a:rPr>
              <a:t>二足歩行ロボットの移動基盤を、3つの担当から形にした</a:t>
            </a:r>
            <a:endParaRPr lang="en-US" sz="2600" dirty="0"/>
          </a:p>
        </p:txBody>
      </p:sp>
      <p:sp>
        <p:nvSpPr>
          <p:cNvPr id="7" name="Text 5"/>
          <p:cNvSpPr txBox="1"/>
          <p:nvPr/>
        </p:nvSpPr>
        <p:spPr>
          <a:xfrm>
            <a:off x="1333500" y="2381250"/>
            <a:ext cx="1428750" cy="533400"/>
          </a:xfrm>
          <a:prstGeom prst="rect">
            <a:avLst/>
          </a:prstGeom>
          <a:solidFill>
            <a:srgbClr val="E8783F"/>
          </a:solidFill>
          <a:ln/>
        </p:spPr>
        <p:txBody>
          <a:bodyPr wrap="square" lIns="0" tIns="0" rIns="0" bIns="0" rtlCol="0" anchor="ctr"/>
          <a:lstStyle/>
          <a:p>
            <a:pPr algn="ctr" indent="0" marL="0">
              <a:buNone/>
            </a:pPr>
            <a:r>
              <a:rPr lang="en-US" sz="2200" b="1" dirty="0">
                <a:solidFill>
                  <a:srgbClr val="FFFFFF"/>
                </a:solidFill>
                <a:latin typeface="Yu Gothic" pitchFamily="34" charset="0"/>
                <a:ea typeface="Yu Gothic" pitchFamily="34" charset="-122"/>
                <a:cs typeface="Yu Gothic" pitchFamily="34" charset="-120"/>
              </a:rPr>
              <a:t>設計</a:t>
            </a:r>
            <a:endParaRPr lang="en-US" sz="2200" dirty="0"/>
          </a:p>
        </p:txBody>
      </p:sp>
      <p:sp>
        <p:nvSpPr>
          <p:cNvPr id="8" name="Text 6"/>
          <p:cNvSpPr txBox="1"/>
          <p:nvPr/>
        </p:nvSpPr>
        <p:spPr>
          <a:xfrm>
            <a:off x="3048000" y="2381250"/>
            <a:ext cx="8191500" cy="533400"/>
          </a:xfrm>
          <a:prstGeom prst="rect">
            <a:avLst/>
          </a:prstGeom>
          <a:noFill/>
          <a:ln/>
        </p:spPr>
        <p:txBody>
          <a:bodyPr wrap="square" lIns="0" tIns="0" rIns="0" bIns="0" rtlCol="0" anchor="ctr"/>
          <a:lstStyle/>
          <a:p>
            <a:pPr algn="l" indent="0" marL="0">
              <a:buNone/>
            </a:pPr>
            <a:r>
              <a:rPr lang="en-US" sz="1900" dirty="0">
                <a:solidFill>
                  <a:srgbClr val="17212B"/>
                </a:solidFill>
                <a:latin typeface="Yu Gothic" pitchFamily="34" charset="0"/>
                <a:ea typeface="Yu Gothic" pitchFamily="34" charset="-122"/>
                <a:cs typeface="Yu Gothic" pitchFamily="34" charset="-120"/>
              </a:rPr>
              <a:t>足裏の接地と重心配置を起点に脚構造を考えた</a:t>
            </a:r>
            <a:endParaRPr lang="en-US" sz="1900" dirty="0"/>
          </a:p>
        </p:txBody>
      </p:sp>
      <p:sp>
        <p:nvSpPr>
          <p:cNvPr id="9" name="Text 7"/>
          <p:cNvSpPr txBox="1"/>
          <p:nvPr/>
        </p:nvSpPr>
        <p:spPr>
          <a:xfrm>
            <a:off x="1333500" y="3333750"/>
            <a:ext cx="1428750" cy="533400"/>
          </a:xfrm>
          <a:prstGeom prst="rect">
            <a:avLst/>
          </a:prstGeom>
          <a:solidFill>
            <a:srgbClr val="1C5A85"/>
          </a:solidFill>
          <a:ln/>
        </p:spPr>
        <p:txBody>
          <a:bodyPr wrap="square" lIns="0" tIns="0" rIns="0" bIns="0" rtlCol="0" anchor="ctr"/>
          <a:lstStyle/>
          <a:p>
            <a:pPr algn="ctr" indent="0" marL="0">
              <a:buNone/>
            </a:pPr>
            <a:r>
              <a:rPr lang="en-US" sz="2200" b="1" dirty="0">
                <a:solidFill>
                  <a:srgbClr val="FFFFFF"/>
                </a:solidFill>
                <a:latin typeface="Yu Gothic" pitchFamily="34" charset="0"/>
                <a:ea typeface="Yu Gothic" pitchFamily="34" charset="-122"/>
                <a:cs typeface="Yu Gothic" pitchFamily="34" charset="-120"/>
              </a:rPr>
              <a:t>配線</a:t>
            </a:r>
            <a:endParaRPr lang="en-US" sz="2200" dirty="0"/>
          </a:p>
        </p:txBody>
      </p:sp>
      <p:sp>
        <p:nvSpPr>
          <p:cNvPr id="10" name="Text 8"/>
          <p:cNvSpPr txBox="1"/>
          <p:nvPr/>
        </p:nvSpPr>
        <p:spPr>
          <a:xfrm>
            <a:off x="3048000" y="3333750"/>
            <a:ext cx="8191500" cy="533400"/>
          </a:xfrm>
          <a:prstGeom prst="rect">
            <a:avLst/>
          </a:prstGeom>
          <a:noFill/>
          <a:ln/>
        </p:spPr>
        <p:txBody>
          <a:bodyPr wrap="square" lIns="0" tIns="0" rIns="0" bIns="0" rtlCol="0" anchor="ctr"/>
          <a:lstStyle/>
          <a:p>
            <a:pPr algn="l" indent="0" marL="0">
              <a:buNone/>
            </a:pPr>
            <a:r>
              <a:rPr lang="en-US" sz="1900" dirty="0">
                <a:solidFill>
                  <a:srgbClr val="17212B"/>
                </a:solidFill>
                <a:latin typeface="Yu Gothic" pitchFamily="34" charset="0"/>
                <a:ea typeface="Yu Gothic" pitchFamily="34" charset="-122"/>
                <a:cs typeface="Yu Gothic" pitchFamily="34" charset="-120"/>
              </a:rPr>
              <a:t>電源とCAN通信を分け、確認しやすい経路を整理した</a:t>
            </a:r>
            <a:endParaRPr lang="en-US" sz="1900" dirty="0"/>
          </a:p>
        </p:txBody>
      </p:sp>
      <p:sp>
        <p:nvSpPr>
          <p:cNvPr id="11" name="Text 9"/>
          <p:cNvSpPr txBox="1"/>
          <p:nvPr/>
        </p:nvSpPr>
        <p:spPr>
          <a:xfrm>
            <a:off x="1333500" y="4286250"/>
            <a:ext cx="1428750" cy="533400"/>
          </a:xfrm>
          <a:prstGeom prst="rect">
            <a:avLst/>
          </a:prstGeom>
          <a:solidFill>
            <a:srgbClr val="32A5B5"/>
          </a:solidFill>
          <a:ln/>
        </p:spPr>
        <p:txBody>
          <a:bodyPr wrap="square" lIns="0" tIns="0" rIns="0" bIns="0" rtlCol="0" anchor="ctr"/>
          <a:lstStyle/>
          <a:p>
            <a:pPr algn="ctr" indent="0" marL="0">
              <a:buNone/>
            </a:pPr>
            <a:r>
              <a:rPr lang="en-US" sz="2200" b="1" dirty="0">
                <a:solidFill>
                  <a:srgbClr val="FFFFFF"/>
                </a:solidFill>
                <a:latin typeface="Yu Gothic" pitchFamily="34" charset="0"/>
                <a:ea typeface="Yu Gothic" pitchFamily="34" charset="-122"/>
                <a:cs typeface="Yu Gothic" pitchFamily="34" charset="-120"/>
              </a:rPr>
              <a:t>制御</a:t>
            </a:r>
            <a:endParaRPr lang="en-US" sz="2200" dirty="0"/>
          </a:p>
        </p:txBody>
      </p:sp>
      <p:sp>
        <p:nvSpPr>
          <p:cNvPr id="12" name="Text 10"/>
          <p:cNvSpPr txBox="1"/>
          <p:nvPr/>
        </p:nvSpPr>
        <p:spPr>
          <a:xfrm>
            <a:off x="3048000" y="4286250"/>
            <a:ext cx="8191500" cy="533400"/>
          </a:xfrm>
          <a:prstGeom prst="rect">
            <a:avLst/>
          </a:prstGeom>
          <a:noFill/>
          <a:ln/>
        </p:spPr>
        <p:txBody>
          <a:bodyPr wrap="square" lIns="0" tIns="0" rIns="0" bIns="0" rtlCol="0" anchor="ctr"/>
          <a:lstStyle/>
          <a:p>
            <a:pPr algn="l" indent="0" marL="0">
              <a:buNone/>
            </a:pPr>
            <a:r>
              <a:rPr lang="en-US" sz="1900" dirty="0">
                <a:solidFill>
                  <a:srgbClr val="17212B"/>
                </a:solidFill>
                <a:latin typeface="Yu Gothic" pitchFamily="34" charset="0"/>
                <a:ea typeface="Yu Gothic" pitchFamily="34" charset="-122"/>
                <a:cs typeface="Yu Gothic" pitchFamily="34" charset="-120"/>
              </a:rPr>
              <a:t>強化学習でシミュレーション上は平地・坂・旋回ができる方策を作り、実機で制御ループを動かした</a:t>
            </a:r>
            <a:endParaRPr lang="en-US" sz="1900" dirty="0"/>
          </a:p>
        </p:txBody>
      </p:sp>
      <p:sp>
        <p:nvSpPr>
          <p:cNvPr id="13" name="Text 11"/>
          <p:cNvSpPr txBox="1"/>
          <p:nvPr/>
        </p:nvSpPr>
        <p:spPr>
          <a:xfrm>
            <a:off x="1047750" y="5619750"/>
            <a:ext cx="10096500" cy="476250"/>
          </a:xfrm>
          <a:prstGeom prst="rect">
            <a:avLst/>
          </a:prstGeom>
          <a:solidFill>
            <a:srgbClr val="F3EEE6"/>
          </a:solidFill>
          <a:ln/>
        </p:spPr>
        <p:txBody>
          <a:bodyPr wrap="square" lIns="0" tIns="0" rIns="0" bIns="0" rtlCol="0" anchor="ctr"/>
          <a:lstStyle/>
          <a:p>
            <a:pPr algn="ctr" indent="0" marL="0">
              <a:buNone/>
            </a:pPr>
            <a:r>
              <a:rPr lang="en-US" sz="1900" b="1" dirty="0">
                <a:solidFill>
                  <a:srgbClr val="102B46"/>
                </a:solidFill>
                <a:latin typeface="Yu Gothic" pitchFamily="34" charset="0"/>
                <a:ea typeface="Yu Gothic" pitchFamily="34" charset="-122"/>
                <a:cs typeface="Yu Gothic" pitchFamily="34" charset="-120"/>
              </a:rPr>
              <a:t>次の段階：実機で床の上を歩かせ、プロコンで操作し、坂へ広げる</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制御パート ver2</dc:title>
  <dc:subject>PptxGenJS Presentation</dc:subject>
  <dc:creator>PptxGenJS</dc:creator>
  <cp:lastModifiedBy>PptxGenJS</cp:lastModifiedBy>
  <cp:revision>1</cp:revision>
  <dcterms:created xsi:type="dcterms:W3CDTF">2026-09-24T07:43:51Z</dcterms:created>
  <dcterms:modified xsi:type="dcterms:W3CDTF">2026-09-24T07:43:51Z</dcterms:modified>
</cp:coreProperties>
</file>