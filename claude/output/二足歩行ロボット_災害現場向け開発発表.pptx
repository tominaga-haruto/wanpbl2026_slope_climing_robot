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637d50a0874101" /><Relationship Type="http://schemas.openxmlformats.org/officeDocument/2006/relationships/extended-properties" Target="/docProps/app.xml" Id="R39e20ce71a56462a" /><Relationship Type="http://schemas.openxmlformats.org/officeDocument/2006/relationships/officeDocument" Target="/ppt/presentation.xml" Id="R0ede52e4c89d49c3" /></Relationships>
</file>

<file path=ppt/presentation.xml><?xml version="1.0" encoding="utf-8"?>
<p:presentation xmlns:p="http://schemas.openxmlformats.org/presentationml/2006/main">
  <p:sldMasterIdLst>
    <p:sldMasterId xmlns:r="http://schemas.openxmlformats.org/officeDocument/2006/relationships" id="2147483648" r:id="Reb1dd8c9818a425a"/>
  </p:sldMasterIdLst>
  <p:notesMasterIdLst>
    <p:notesMasterId xmlns:r="http://schemas.openxmlformats.org/officeDocument/2006/relationships" r:id="R80d024f264eb457e"/>
  </p:notesMasterIdLst>
  <p:sldIdLst>
    <p:sldId xmlns:r="http://schemas.openxmlformats.org/officeDocument/2006/relationships" id="256" r:id="Reaa902314d5d4465"/>
    <p:sldId xmlns:r="http://schemas.openxmlformats.org/officeDocument/2006/relationships" id="257" r:id="R17791810ef554a57"/>
    <p:sldId xmlns:r="http://schemas.openxmlformats.org/officeDocument/2006/relationships" id="258" r:id="Rf7e018f9494a418c"/>
    <p:sldId xmlns:r="http://schemas.openxmlformats.org/officeDocument/2006/relationships" id="259" r:id="R553372376b5f412a"/>
    <p:sldId xmlns:r="http://schemas.openxmlformats.org/officeDocument/2006/relationships" id="260" r:id="Rbec473d710f843cc"/>
    <p:sldId xmlns:r="http://schemas.openxmlformats.org/officeDocument/2006/relationships" id="261" r:id="R446b9c89972c41ce"/>
    <p:sldId xmlns:r="http://schemas.openxmlformats.org/officeDocument/2006/relationships" id="262" r:id="R6530c669a0964a2e"/>
    <p:sldId xmlns:r="http://schemas.openxmlformats.org/officeDocument/2006/relationships" id="263" r:id="R5f1a781e3d2f49d0"/>
    <p:sldId xmlns:r="http://schemas.openxmlformats.org/officeDocument/2006/relationships" id="264" r:id="Rd6d7c2f670824564"/>
    <p:sldId xmlns:r="http://schemas.openxmlformats.org/officeDocument/2006/relationships" id="265" r:id="Rbb519333afa444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22708345354fb4" /><Relationship Type="http://schemas.openxmlformats.org/officeDocument/2006/relationships/slideMaster" Target="/ppt/slideMasters/slideMaster1.xml" Id="Reb1dd8c9818a425a" /><Relationship Type="http://schemas.openxmlformats.org/officeDocument/2006/relationships/notesMaster" Target="/ppt/notesMasters/notesMaster1.xml" Id="R80d024f264eb457e" /><Relationship Type="http://schemas.openxmlformats.org/officeDocument/2006/relationships/presProps" Target="/ppt/presProps.xml" Id="R00c6be40008a4f40" /><Relationship Type="http://schemas.openxmlformats.org/officeDocument/2006/relationships/tableStyles" Target="/ppt/tableStyles.xml" Id="R4ceaf5ab7f574a14" /><Relationship Type="http://schemas.openxmlformats.org/officeDocument/2006/relationships/slide" Target="/ppt/slides/slide1.xml" Id="Reaa902314d5d4465" /><Relationship Type="http://schemas.openxmlformats.org/officeDocument/2006/relationships/slide" Target="/ppt/slides/slide2.xml" Id="R17791810ef554a57" /><Relationship Type="http://schemas.openxmlformats.org/officeDocument/2006/relationships/slide" Target="/ppt/slides/slide3.xml" Id="Rf7e018f9494a418c" /><Relationship Type="http://schemas.openxmlformats.org/officeDocument/2006/relationships/slide" Target="/ppt/slides/slide4.xml" Id="R553372376b5f412a" /><Relationship Type="http://schemas.openxmlformats.org/officeDocument/2006/relationships/slide" Target="/ppt/slides/slide5.xml" Id="Rbec473d710f843cc" /><Relationship Type="http://schemas.openxmlformats.org/officeDocument/2006/relationships/slide" Target="/ppt/slides/slide6.xml" Id="R446b9c89972c41ce" /><Relationship Type="http://schemas.openxmlformats.org/officeDocument/2006/relationships/slide" Target="/ppt/slides/slide7.xml" Id="R6530c669a0964a2e" /><Relationship Type="http://schemas.openxmlformats.org/officeDocument/2006/relationships/slide" Target="/ppt/slides/slide8.xml" Id="R5f1a781e3d2f49d0" /><Relationship Type="http://schemas.openxmlformats.org/officeDocument/2006/relationships/slide" Target="/ppt/slides/slide9.xml" Id="Rd6d7c2f670824564" /><Relationship Type="http://schemas.openxmlformats.org/officeDocument/2006/relationships/slide" Target="/ppt/slides/slide10.xml" Id="Rbb519333afa444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f8fc26c05e4d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92c5b995a54796" /><Relationship Type="http://schemas.openxmlformats.org/officeDocument/2006/relationships/notesMaster" Target="/ppt/notesMasters/notesMaster1.xml" Id="R57fcc79148f64c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8f2af0e75c4050" /><Relationship Type="http://schemas.openxmlformats.org/officeDocument/2006/relationships/notesMaster" Target="/ppt/notesMasters/notesMaster1.xml" Id="R14c1dda77a0842b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6b444aeeb04e48" /><Relationship Type="http://schemas.openxmlformats.org/officeDocument/2006/relationships/notesMaster" Target="/ppt/notesMasters/notesMaster1.xml" Id="Raee1aea8783446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3d384b996749a3" /><Relationship Type="http://schemas.openxmlformats.org/officeDocument/2006/relationships/notesMaster" Target="/ppt/notesMasters/notesMaster1.xml" Id="Ref12bf58ae354a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d877dfe5f4494b" /><Relationship Type="http://schemas.openxmlformats.org/officeDocument/2006/relationships/notesMaster" Target="/ppt/notesMasters/notesMaster1.xml" Id="Rf62a679fb2344f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578cd1cb0e45d8" /><Relationship Type="http://schemas.openxmlformats.org/officeDocument/2006/relationships/notesMaster" Target="/ppt/notesMasters/notesMaster1.xml" Id="R2a47ee66f29445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a9d03b60f545a7" /><Relationship Type="http://schemas.openxmlformats.org/officeDocument/2006/relationships/notesMaster" Target="/ppt/notesMasters/notesMaster1.xml" Id="R43b45923155347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6bcbcbf9894950" /><Relationship Type="http://schemas.openxmlformats.org/officeDocument/2006/relationships/notesMaster" Target="/ppt/notesMasters/notesMaster1.xml" Id="Rcc29311a8a8f48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40cd2254be41c6" /><Relationship Type="http://schemas.openxmlformats.org/officeDocument/2006/relationships/notesMaster" Target="/ppt/notesMasters/notesMaster1.xml" Id="R9e26a658e4b74d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a8b503e32c4efd" /><Relationship Type="http://schemas.openxmlformats.org/officeDocument/2006/relationships/notesMaster" Target="/ppt/notesMasters/notesMaster1.xml" Id="R791cc7c9e89343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表紙画像は発表の構想を示す生成コンセプトCG。実機写真ではない。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災害現場の全てを解く研究ではなく、足場が不連続な環境で移動できる小型二足ロボットの基盤づくりを課題とした。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各担当は独立ではなく、設計した構造を配線で成立させ、その前提で制御を調整する。数値は設計目標として扱う。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提供PDFに記載の構成要素：Realsense T265、Jetson Orin Nano、AK80-9 V3.0、AK10-9 V3.0。接続構成は発表用の概念図。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設計の説明用概念図。関節自由度や寸法は実機図面に合わせて差し替え可能。現段階では平地の安定性を優先した設計判断を説明する。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提供PDFのUSB-CANとJetson、モータを元にした概念配線図。実機の電圧、配線色、終端抵抗の有無は安全確認済みの配線図に置き換える。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制御の概念フロー。実装では各関節の初期位置、符号、制限値を実機で確認してから段階的に動作確認する。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統合作業の説明。実機の駆動は、安全条件を満たした上で、1モータ、片脚、全身の順に進める方針を示す。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評価指標は発表用の計画。実測結果を得た後、指定時間や段差高さ、回数などの具体的な条件と結果に差し替える。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まとめ。PBLとして、構造・配線・制御を統合し、平地での基礎動作を確かめる段階までを明確にする。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adb02ac15b4a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425733b7aa4bce" /><Relationship Type="http://schemas.openxmlformats.org/officeDocument/2006/relationships/slideLayout" Target="/ppt/slideLayouts/slideLayout1.xml" Id="R6a45520b3d9348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45520b3d9348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179c59e1d946de" /><Relationship Type="http://schemas.openxmlformats.org/officeDocument/2006/relationships/image" Target="/ppt/media/image.png" Id="R8cb8bed93e514ace" /><Relationship Type="http://schemas.openxmlformats.org/officeDocument/2006/relationships/notesSlide" Target="/ppt/notesSlides/notesSlide1.xml" Id="R8cce03fb62424f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463712cf2446cc" /><Relationship Type="http://schemas.openxmlformats.org/officeDocument/2006/relationships/notesSlide" Target="/ppt/notesSlides/notesSlide2.xml" Id="Rb2d3aded1abc44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a1d15a0be44f03" /><Relationship Type="http://schemas.openxmlformats.org/officeDocument/2006/relationships/notesSlide" Target="/ppt/notesSlides/notesSlide3.xml" Id="R166c15707eac46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4057286aa949de" /><Relationship Type="http://schemas.openxmlformats.org/officeDocument/2006/relationships/notesSlide" Target="/ppt/notesSlides/notesSlide4.xml" Id="Ra1e48e264f1b4e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188b6342624110" /><Relationship Type="http://schemas.openxmlformats.org/officeDocument/2006/relationships/notesSlide" Target="/ppt/notesSlides/notesSlide5.xml" Id="Rc991242b576d48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41ee596c284eb6" /><Relationship Type="http://schemas.openxmlformats.org/officeDocument/2006/relationships/notesSlide" Target="/ppt/notesSlides/notesSlide6.xml" Id="Rccb7d6a238544b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eb0709c9024774" /><Relationship Type="http://schemas.openxmlformats.org/officeDocument/2006/relationships/notesSlide" Target="/ppt/notesSlides/notesSlide7.xml" Id="R5e84e40ce6e847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a0818368184159" /><Relationship Type="http://schemas.openxmlformats.org/officeDocument/2006/relationships/notesSlide" Target="/ppt/notesSlides/notesSlide8.xml" Id="R7b135ec4ed8742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1df8d495204d3b" /><Relationship Type="http://schemas.openxmlformats.org/officeDocument/2006/relationships/notesSlide" Target="/ppt/notesSlides/notesSlide9.xml" Id="R662b0c7da7d245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c63914d92f34d15" /><Relationship Type="http://schemas.openxmlformats.org/officeDocument/2006/relationships/notesSlide" Target="/ppt/notesSlides/notesSlide10.xml" Id="R78eb671925eb43e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cb8bed93e514ac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D08FA6-75BD-4317-BDED-AA077DB8928F}"/>
              </a:ext>
            </a:extLst>
          </p:cNvPr>
          <p:cNvSpPr>
            <a:spLocks xmlns:a="http://schemas.openxmlformats.org/drawingml/2006/main" noGrp="1"/>
          </p:cNvSpPr>
          <p:nvPr/>
        </p:nvSpPr>
        <p:spPr>
          <a:xfrm xmlns:a="http://schemas.openxmlformats.org/drawingml/2006/main">
            <a:off x="0" y="0"/>
            <a:ext cx="6667500" cy="6858000"/>
          </a:xfrm>
          <a:prstGeom xmlns:a="http://schemas.openxmlformats.org/drawingml/2006/main" prst="rect">
            <a:avLst/>
          </a:prstGeom>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76D7A9E4-9D73-4D16-A266-A1F6FEEBE9D9}"/>
              </a:ext>
            </a:extLst>
          </p:cNvPr>
          <p:cNvSpPr>
            <a:spLocks xmlns:a="http://schemas.openxmlformats.org/drawingml/2006/main" noGrp="1"/>
          </p:cNvSpPr>
          <p:nvPr/>
        </p:nvSpPr>
        <p:spPr>
          <a:xfrm xmlns:a="http://schemas.openxmlformats.org/drawingml/2006/main">
            <a:off x="723900" y="1571625"/>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375" b="1">
                <a:solidFill>
                  <a:srgbClr val="FFFFFF"/>
                </a:solidFill>
                <a:latin typeface="Yu Gothic"/>
                <a:ea typeface="Yu Gothic"/>
                <a:cs typeface="Yu Gothic"/>
              </a:defRPr>
            </a:pPr>
            <a:r>
              <a:rPr sz="3375" b="1">
                <a:solidFill>
                  <a:srgbClr val="FFFFFF"/>
                </a:solidFill>
                <a:latin typeface="Yu Gothic"/>
                <a:ea typeface="Yu Gothic"/>
                <a:cs typeface="Yu Gothic"/>
              </a:rPr>
              <a:t>災害現場で移動する</a:t>
            </a:r>
          </a:p>
          <a:p xmlns:a="http://schemas.openxmlformats.org/drawingml/2006/main">
            <a:pPr>
              <a:defRPr sz="3375" b="1">
                <a:solidFill>
                  <a:srgbClr val="FFFFFF"/>
                </a:solidFill>
                <a:latin typeface="Yu Gothic"/>
                <a:ea typeface="Yu Gothic"/>
                <a:cs typeface="Yu Gothic"/>
              </a:defRPr>
            </a:pPr>
            <a:r>
              <a:rPr sz="3375" b="1">
                <a:solidFill>
                  <a:srgbClr val="FFFFFF"/>
                </a:solidFill>
                <a:latin typeface="Yu Gothic"/>
                <a:ea typeface="Yu Gothic"/>
                <a:cs typeface="Yu Gothic"/>
              </a:rPr>
              <a:t>二足歩行ロボットの開発</a:t>
            </a:r>
          </a:p>
        </p:txBody>
      </p:sp>
      <p:sp>
        <p:nvSpPr>
          <p:cNvPr id="4" name="">
            <a:extLst xmlns:a="http://schemas.openxmlformats.org/drawingml/2006/main">
              <a:ext uri="{FF2B5EF4-FFF2-40B4-BE49-F238E27FC236}">
                <a16:creationId xmlns:a16="http://schemas.microsoft.com/office/drawing/2014/main" id="{07B1ACDD-A775-4B64-840C-6C5A24320218}"/>
              </a:ext>
            </a:extLst>
          </p:cNvPr>
          <p:cNvSpPr>
            <a:spLocks xmlns:a="http://schemas.openxmlformats.org/drawingml/2006/main" noGrp="1"/>
          </p:cNvSpPr>
          <p:nvPr/>
        </p:nvSpPr>
        <p:spPr>
          <a:xfrm xmlns:a="http://schemas.openxmlformats.org/drawingml/2006/main">
            <a:off x="762000" y="34766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D6E6EF"/>
                </a:solidFill>
                <a:latin typeface="Yu Gothic"/>
                <a:ea typeface="Yu Gothic"/>
                <a:cs typeface="Yu Gothic"/>
              </a:defRPr>
            </a:pPr>
            <a:r>
              <a:rPr sz="1500" b="0">
                <a:solidFill>
                  <a:srgbClr val="D6E6EF"/>
                </a:solidFill>
                <a:latin typeface="Yu Gothic"/>
                <a:ea typeface="Yu Gothic"/>
                <a:cs typeface="Yu Gothic"/>
              </a:rPr>
              <a:t>PBL発表  ｜  設計・配線・制御</a:t>
            </a:r>
          </a:p>
        </p:txBody>
      </p:sp>
      <p:sp>
        <p:nvSpPr>
          <p:cNvPr id="5" name="">
            <a:extLst xmlns:a="http://schemas.openxmlformats.org/drawingml/2006/main">
              <a:ext uri="{FF2B5EF4-FFF2-40B4-BE49-F238E27FC236}">
                <a16:creationId xmlns:a16="http://schemas.microsoft.com/office/drawing/2014/main" id="{F4BF12AD-4036-41EF-B9EF-999E429CA121}"/>
              </a:ext>
            </a:extLst>
          </p:cNvPr>
          <p:cNvSpPr>
            <a:spLocks xmlns:a="http://schemas.openxmlformats.org/drawingml/2006/main" noGrp="1"/>
          </p:cNvSpPr>
          <p:nvPr/>
        </p:nvSpPr>
        <p:spPr>
          <a:xfrm xmlns:a="http://schemas.openxmlformats.org/drawingml/2006/main">
            <a:off x="762000" y="4048125"/>
            <a:ext cx="2571750" cy="0"/>
          </a:xfrm>
          <a:prstGeom xmlns:a="http://schemas.openxmlformats.org/drawingml/2006/main" prst="line">
            <a:avLst/>
          </a:prstGeom>
          <a:noFill xmlns:a="http://schemas.openxmlformats.org/drawingml/2006/main"/>
          <a:ln xmlns:a="http://schemas.openxmlformats.org/drawingml/2006/main" w="47625">
            <a:solidFill>
              <a:srgbClr val="E8783F"/>
            </a:solidFill>
          </a:ln>
        </p:spPr>
      </p:sp>
      <p:sp>
        <p:nvSpPr>
          <p:cNvPr id="6" name="">
            <a:extLst xmlns:a="http://schemas.openxmlformats.org/drawingml/2006/main">
              <a:ext uri="{FF2B5EF4-FFF2-40B4-BE49-F238E27FC236}">
                <a16:creationId xmlns:a16="http://schemas.microsoft.com/office/drawing/2014/main" id="{2B0774F6-DAE1-4A10-B4F5-323BAFE7D180}"/>
              </a:ext>
            </a:extLst>
          </p:cNvPr>
          <p:cNvSpPr>
            <a:spLocks xmlns:a="http://schemas.openxmlformats.org/drawingml/2006/main" noGrp="1"/>
          </p:cNvSpPr>
          <p:nvPr/>
        </p:nvSpPr>
        <p:spPr>
          <a:xfrm xmlns:a="http://schemas.openxmlformats.org/drawingml/2006/main">
            <a:off x="762000" y="48387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0">
                <a:solidFill>
                  <a:srgbClr val="FFFFFF"/>
                </a:solidFill>
                <a:latin typeface="Yu Gothic"/>
                <a:ea typeface="Yu Gothic"/>
                <a:cs typeface="Yu Gothic"/>
              </a:defRPr>
            </a:pPr>
            <a:r>
              <a:rPr sz="1275" b="0">
                <a:solidFill>
                  <a:srgbClr val="FFFFFF"/>
                </a:solidFill>
                <a:latin typeface="Yu Gothic"/>
                <a:ea typeface="Yu Gothic"/>
                <a:cs typeface="Yu Gothic"/>
              </a:rPr>
              <a:t>チーム名・発表者：＿＿＿＿＿＿＿＿</a:t>
            </a:r>
          </a:p>
        </p:txBody>
      </p:sp>
      <p:sp>
        <p:nvSpPr>
          <p:cNvPr id="7" name="">
            <a:extLst xmlns:a="http://schemas.openxmlformats.org/drawingml/2006/main">
              <a:ext uri="{FF2B5EF4-FFF2-40B4-BE49-F238E27FC236}">
                <a16:creationId xmlns:a16="http://schemas.microsoft.com/office/drawing/2014/main" id="{40E31028-9629-414C-B472-8699CAF54294}"/>
              </a:ext>
            </a:extLst>
          </p:cNvPr>
          <p:cNvSpPr>
            <a:spLocks xmlns:a="http://schemas.openxmlformats.org/drawingml/2006/main" noGrp="1"/>
          </p:cNvSpPr>
          <p:nvPr/>
        </p:nvSpPr>
        <p:spPr>
          <a:xfrm xmlns:a="http://schemas.openxmlformats.org/drawingml/2006/main">
            <a:off x="762000" y="6191250"/>
            <a:ext cx="4286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D6E6EF"/>
                </a:solidFill>
                <a:latin typeface="Yu Gothic"/>
                <a:ea typeface="Yu Gothic"/>
                <a:cs typeface="Yu Gothic"/>
              </a:defRPr>
            </a:pPr>
            <a:r>
              <a:rPr sz="750" b="0">
                <a:solidFill>
                  <a:srgbClr val="D6E6EF"/>
                </a:solidFill>
                <a:latin typeface="Yu Gothic"/>
                <a:ea typeface="Yu Gothic"/>
                <a:cs typeface="Yu Gothic"/>
              </a:rPr>
              <a:t>※ 背景画像は構想を示すコンセプトCGです</a:t>
            </a:r>
          </a:p>
        </p:txBody>
      </p:sp>
    </p:spTree>
    <p:extLst>
      <p:ext uri="{BB962C8B-B14F-4D97-AF65-F5344CB8AC3E}">
        <p14:creationId xmlns:p14="http://schemas.microsoft.com/office/powerpoint/2010/main" val="20200872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4713D99-6ADE-4742-A378-C907C33431F0}"/>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背景と課題</a:t>
            </a:r>
          </a:p>
        </p:txBody>
      </p:sp>
      <p:sp>
        <p:nvSpPr>
          <p:cNvPr id="2" name="">
            <a:extLst xmlns:a="http://schemas.openxmlformats.org/drawingml/2006/main">
              <a:ext uri="{FF2B5EF4-FFF2-40B4-BE49-F238E27FC236}">
                <a16:creationId xmlns:a16="http://schemas.microsoft.com/office/drawing/2014/main" id="{4BA4574A-88C4-47B3-B0E9-7988939EFD07}"/>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02</a:t>
            </a:r>
          </a:p>
        </p:txBody>
      </p:sp>
      <p:sp>
        <p:nvSpPr>
          <p:cNvPr id="3" name="">
            <a:extLst xmlns:a="http://schemas.openxmlformats.org/drawingml/2006/main">
              <a:ext uri="{FF2B5EF4-FFF2-40B4-BE49-F238E27FC236}">
                <a16:creationId xmlns:a16="http://schemas.microsoft.com/office/drawing/2014/main" id="{5A4ECE82-88A1-4BCB-802D-24CC1040C5D6}"/>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F1313279-0A9E-4E07-ACCE-DB74F5F8E430}"/>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B37BC461-38D4-490E-AFE1-FF050C999585}"/>
              </a:ext>
            </a:extLst>
          </p:cNvPr>
          <p:cNvSpPr>
            <a:spLocks xmlns:a="http://schemas.openxmlformats.org/drawingml/2006/main" noGrp="1"/>
          </p:cNvSpPr>
          <p:nvPr/>
        </p:nvSpPr>
        <p:spPr>
          <a:xfrm xmlns:a="http://schemas.openxmlformats.org/drawingml/2006/main">
            <a:off x="685800" y="14287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02B46"/>
                </a:solidFill>
                <a:latin typeface="Yu Gothic"/>
                <a:ea typeface="Yu Gothic"/>
                <a:cs typeface="Yu Gothic"/>
              </a:defRPr>
            </a:pPr>
            <a:r>
              <a:rPr sz="2025" b="1">
                <a:solidFill>
                  <a:srgbClr val="102B46"/>
                </a:solidFill>
                <a:latin typeface="Yu Gothic"/>
                <a:ea typeface="Yu Gothic"/>
                <a:cs typeface="Yu Gothic"/>
              </a:rPr>
              <a:t>災害直後の建物内では、段差・がれき・狭い通路が人の移動を妨げる</a:t>
            </a:r>
          </a:p>
        </p:txBody>
      </p:sp>
      <p:sp>
        <p:nvSpPr>
          <p:cNvPr id="6" name="">
            <a:extLst xmlns:a="http://schemas.openxmlformats.org/drawingml/2006/main">
              <a:ext uri="{FF2B5EF4-FFF2-40B4-BE49-F238E27FC236}">
                <a16:creationId xmlns:a16="http://schemas.microsoft.com/office/drawing/2014/main" id="{1B725C0B-B241-418D-8CAD-870B7A9CDE5D}"/>
              </a:ext>
            </a:extLst>
          </p:cNvPr>
          <p:cNvSpPr>
            <a:spLocks xmlns:a="http://schemas.openxmlformats.org/drawingml/2006/main" noGrp="1"/>
          </p:cNvSpPr>
          <p:nvPr/>
        </p:nvSpPr>
        <p:spPr>
          <a:xfrm xmlns:a="http://schemas.openxmlformats.org/drawingml/2006/main">
            <a:off x="1066800" y="2524125"/>
            <a:ext cx="2667000" cy="2143125"/>
          </a:xfrm>
          <a:prstGeom xmlns:a="http://schemas.openxmlformats.org/drawingml/2006/main" prst="rect">
            <a:avLst/>
          </a:prstGeom>
          <a:solidFill xmlns:a="http://schemas.openxmlformats.org/drawingml/2006/main">
            <a:srgbClr val="F3EEE6"/>
          </a:solidFill>
          <a:ln xmlns:a="http://schemas.openxmlformats.org/drawingml/2006/main" w="11430">
            <a:solidFill>
              <a:srgbClr val="B7C7D1"/>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BB353362-C856-46CB-9E86-6A0A504112B7}"/>
              </a:ext>
            </a:extLst>
          </p:cNvPr>
          <p:cNvSpPr>
            <a:spLocks xmlns:a="http://schemas.openxmlformats.org/drawingml/2006/main" noGrp="1"/>
          </p:cNvSpPr>
          <p:nvPr/>
        </p:nvSpPr>
        <p:spPr>
          <a:xfrm xmlns:a="http://schemas.openxmlformats.org/drawingml/2006/main">
            <a:off x="1276350" y="2724150"/>
            <a:ext cx="438150" cy="43815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FFFFF"/>
                </a:solidFill>
                <a:latin typeface="Yu Gothic"/>
                <a:ea typeface="Yu Gothic"/>
                <a:cs typeface="Yu Gothic"/>
              </a:defRPr>
            </a:pPr>
            <a:r>
              <a:rPr sz="1950" b="1">
                <a:solidFill>
                  <a:srgbClr val="FFFFFF"/>
                </a:solidFill>
                <a:latin typeface="Yu Gothic"/>
                <a:ea typeface="Yu Gothic"/>
                <a:cs typeface="Yu Gothic"/>
              </a:rPr>
              <a:t>1</a:t>
            </a:r>
          </a:p>
        </p:txBody>
      </p:sp>
      <p:sp>
        <p:nvSpPr>
          <p:cNvPr id="8" name="">
            <a:extLst xmlns:a="http://schemas.openxmlformats.org/drawingml/2006/main">
              <a:ext uri="{FF2B5EF4-FFF2-40B4-BE49-F238E27FC236}">
                <a16:creationId xmlns:a16="http://schemas.microsoft.com/office/drawing/2014/main" id="{66CEE90B-CFFA-48AA-8248-4EBFB44B19B8}"/>
              </a:ext>
            </a:extLst>
          </p:cNvPr>
          <p:cNvSpPr>
            <a:spLocks xmlns:a="http://schemas.openxmlformats.org/drawingml/2006/main" noGrp="1"/>
          </p:cNvSpPr>
          <p:nvPr/>
        </p:nvSpPr>
        <p:spPr>
          <a:xfrm xmlns:a="http://schemas.openxmlformats.org/drawingml/2006/main">
            <a:off x="1276350" y="33718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833"/>
          </a:bodyPr>
          <a:lstStyle xmlns:a="http://schemas.openxmlformats.org/drawingml/2006/main"/>
          <a:p xmlns:a="http://schemas.openxmlformats.org/drawingml/2006/main">
            <a:pPr>
              <a:defRPr sz="1800" b="1">
                <a:solidFill>
                  <a:srgbClr val="102B46"/>
                </a:solidFill>
                <a:latin typeface="Yu Gothic"/>
                <a:ea typeface="Yu Gothic"/>
                <a:cs typeface="Yu Gothic"/>
              </a:defRPr>
            </a:pPr>
            <a:r>
              <a:rPr sz="1800" b="1">
                <a:solidFill>
                  <a:srgbClr val="102B46"/>
                </a:solidFill>
                <a:latin typeface="Yu Gothic"/>
                <a:ea typeface="Yu Gothic"/>
                <a:cs typeface="Yu Gothic"/>
              </a:rPr>
              <a:t>段差・がれき</a:t>
            </a:r>
          </a:p>
        </p:txBody>
      </p:sp>
      <p:sp>
        <p:nvSpPr>
          <p:cNvPr id="9" name="">
            <a:extLst xmlns:a="http://schemas.openxmlformats.org/drawingml/2006/main">
              <a:ext uri="{FF2B5EF4-FFF2-40B4-BE49-F238E27FC236}">
                <a16:creationId xmlns:a16="http://schemas.microsoft.com/office/drawing/2014/main" id="{779D967B-49B0-46E9-93E4-7A9CECCFEB30}"/>
              </a:ext>
            </a:extLst>
          </p:cNvPr>
          <p:cNvSpPr>
            <a:spLocks xmlns:a="http://schemas.openxmlformats.org/drawingml/2006/main" noGrp="1"/>
          </p:cNvSpPr>
          <p:nvPr/>
        </p:nvSpPr>
        <p:spPr>
          <a:xfrm xmlns:a="http://schemas.openxmlformats.org/drawingml/2006/main">
            <a:off x="1276350" y="3819525"/>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車輪型では越えにくい</a:t>
            </a:r>
          </a:p>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不連続な足場</a:t>
            </a:r>
          </a:p>
        </p:txBody>
      </p:sp>
      <p:sp>
        <p:nvSpPr>
          <p:cNvPr id="10" name="">
            <a:extLst xmlns:a="http://schemas.openxmlformats.org/drawingml/2006/main">
              <a:ext uri="{FF2B5EF4-FFF2-40B4-BE49-F238E27FC236}">
                <a16:creationId xmlns:a16="http://schemas.microsoft.com/office/drawing/2014/main" id="{36470137-5324-48FC-96DF-2187C9CD00D8}"/>
              </a:ext>
            </a:extLst>
          </p:cNvPr>
          <p:cNvSpPr>
            <a:spLocks xmlns:a="http://schemas.openxmlformats.org/drawingml/2006/main" noGrp="1"/>
          </p:cNvSpPr>
          <p:nvPr/>
        </p:nvSpPr>
        <p:spPr>
          <a:xfrm xmlns:a="http://schemas.openxmlformats.org/drawingml/2006/main">
            <a:off x="4476750" y="2524125"/>
            <a:ext cx="2667000" cy="2143125"/>
          </a:xfrm>
          <a:prstGeom xmlns:a="http://schemas.openxmlformats.org/drawingml/2006/main" prst="rect">
            <a:avLst/>
          </a:prstGeom>
          <a:solidFill xmlns:a="http://schemas.openxmlformats.org/drawingml/2006/main">
            <a:srgbClr val="F3EEE6"/>
          </a:solidFill>
          <a:ln xmlns:a="http://schemas.openxmlformats.org/drawingml/2006/main" w="11430">
            <a:solidFill>
              <a:srgbClr val="B7C7D1"/>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EB8F10D0-845D-4CDC-9934-CEE7DBC72094}"/>
              </a:ext>
            </a:extLst>
          </p:cNvPr>
          <p:cNvSpPr>
            <a:spLocks xmlns:a="http://schemas.openxmlformats.org/drawingml/2006/main" noGrp="1"/>
          </p:cNvSpPr>
          <p:nvPr/>
        </p:nvSpPr>
        <p:spPr>
          <a:xfrm xmlns:a="http://schemas.openxmlformats.org/drawingml/2006/main">
            <a:off x="4686300" y="2724150"/>
            <a:ext cx="438150" cy="438150"/>
          </a:xfrm>
          <a:prstGeom xmlns:a="http://schemas.openxmlformats.org/drawingml/2006/main" prst="rect">
            <a:avLst/>
          </a:prstGeom>
          <a:solidFill xmlns:a="http://schemas.openxmlformats.org/drawingml/2006/main">
            <a:srgbClr val="1C5A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FFFFF"/>
                </a:solidFill>
                <a:latin typeface="Yu Gothic"/>
                <a:ea typeface="Yu Gothic"/>
                <a:cs typeface="Yu Gothic"/>
              </a:defRPr>
            </a:pPr>
            <a:r>
              <a:rPr sz="1950" b="1">
                <a:solidFill>
                  <a:srgbClr val="FFFFFF"/>
                </a:solidFill>
                <a:latin typeface="Yu Gothic"/>
                <a:ea typeface="Yu Gothic"/>
                <a:cs typeface="Yu Gothic"/>
              </a:rPr>
              <a:t>2</a:t>
            </a:r>
          </a:p>
        </p:txBody>
      </p:sp>
      <p:sp>
        <p:nvSpPr>
          <p:cNvPr id="12" name="">
            <a:extLst xmlns:a="http://schemas.openxmlformats.org/drawingml/2006/main">
              <a:ext uri="{FF2B5EF4-FFF2-40B4-BE49-F238E27FC236}">
                <a16:creationId xmlns:a16="http://schemas.microsoft.com/office/drawing/2014/main" id="{65EBB002-2926-4EED-B6DF-1C39E2803D85}"/>
              </a:ext>
            </a:extLst>
          </p:cNvPr>
          <p:cNvSpPr>
            <a:spLocks xmlns:a="http://schemas.openxmlformats.org/drawingml/2006/main" noGrp="1"/>
          </p:cNvSpPr>
          <p:nvPr/>
        </p:nvSpPr>
        <p:spPr>
          <a:xfrm xmlns:a="http://schemas.openxmlformats.org/drawingml/2006/main">
            <a:off x="4686300" y="33718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833"/>
          </a:bodyPr>
          <a:lstStyle xmlns:a="http://schemas.openxmlformats.org/drawingml/2006/main"/>
          <a:p xmlns:a="http://schemas.openxmlformats.org/drawingml/2006/main">
            <a:pPr>
              <a:defRPr sz="1800" b="1">
                <a:solidFill>
                  <a:srgbClr val="102B46"/>
                </a:solidFill>
                <a:latin typeface="Yu Gothic"/>
                <a:ea typeface="Yu Gothic"/>
                <a:cs typeface="Yu Gothic"/>
              </a:defRPr>
            </a:pPr>
            <a:r>
              <a:rPr sz="1800" b="1">
                <a:solidFill>
                  <a:srgbClr val="102B46"/>
                </a:solidFill>
                <a:latin typeface="Yu Gothic"/>
                <a:ea typeface="Yu Gothic"/>
                <a:cs typeface="Yu Gothic"/>
              </a:rPr>
              <a:t>狭い通路</a:t>
            </a:r>
          </a:p>
        </p:txBody>
      </p:sp>
      <p:sp>
        <p:nvSpPr>
          <p:cNvPr id="13" name="">
            <a:extLst xmlns:a="http://schemas.openxmlformats.org/drawingml/2006/main">
              <a:ext uri="{FF2B5EF4-FFF2-40B4-BE49-F238E27FC236}">
                <a16:creationId xmlns:a16="http://schemas.microsoft.com/office/drawing/2014/main" id="{3A040FD6-E430-41F4-8E71-4A43E77B8E71}"/>
              </a:ext>
            </a:extLst>
          </p:cNvPr>
          <p:cNvSpPr>
            <a:spLocks xmlns:a="http://schemas.openxmlformats.org/drawingml/2006/main" noGrp="1"/>
          </p:cNvSpPr>
          <p:nvPr/>
        </p:nvSpPr>
        <p:spPr>
          <a:xfrm xmlns:a="http://schemas.openxmlformats.org/drawingml/2006/main">
            <a:off x="4686300" y="3819525"/>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人が入りにくい</a:t>
            </a:r>
          </a:p>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倒壊リスクのある空間</a:t>
            </a:r>
          </a:p>
        </p:txBody>
      </p:sp>
      <p:sp>
        <p:nvSpPr>
          <p:cNvPr id="14" name="">
            <a:extLst xmlns:a="http://schemas.openxmlformats.org/drawingml/2006/main">
              <a:ext uri="{FF2B5EF4-FFF2-40B4-BE49-F238E27FC236}">
                <a16:creationId xmlns:a16="http://schemas.microsoft.com/office/drawing/2014/main" id="{47A51E0A-3FAD-48D3-A662-F7DA798BB6EC}"/>
              </a:ext>
            </a:extLst>
          </p:cNvPr>
          <p:cNvSpPr>
            <a:spLocks xmlns:a="http://schemas.openxmlformats.org/drawingml/2006/main" noGrp="1"/>
          </p:cNvSpPr>
          <p:nvPr/>
        </p:nvSpPr>
        <p:spPr>
          <a:xfrm xmlns:a="http://schemas.openxmlformats.org/drawingml/2006/main">
            <a:off x="7886700" y="2524125"/>
            <a:ext cx="2667000" cy="2143125"/>
          </a:xfrm>
          <a:prstGeom xmlns:a="http://schemas.openxmlformats.org/drawingml/2006/main" prst="rect">
            <a:avLst/>
          </a:prstGeom>
          <a:solidFill xmlns:a="http://schemas.openxmlformats.org/drawingml/2006/main">
            <a:srgbClr val="F3EEE6"/>
          </a:solidFill>
          <a:ln xmlns:a="http://schemas.openxmlformats.org/drawingml/2006/main" w="11430">
            <a:solidFill>
              <a:srgbClr val="B7C7D1"/>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436C3A1D-C4FE-41B6-8A76-7EC6B2B9C6BD}"/>
              </a:ext>
            </a:extLst>
          </p:cNvPr>
          <p:cNvSpPr>
            <a:spLocks xmlns:a="http://schemas.openxmlformats.org/drawingml/2006/main" noGrp="1"/>
          </p:cNvSpPr>
          <p:nvPr/>
        </p:nvSpPr>
        <p:spPr>
          <a:xfrm xmlns:a="http://schemas.openxmlformats.org/drawingml/2006/main">
            <a:off x="8096250" y="2724150"/>
            <a:ext cx="438150" cy="438150"/>
          </a:xfrm>
          <a:prstGeom xmlns:a="http://schemas.openxmlformats.org/drawingml/2006/main" prst="rect">
            <a:avLst/>
          </a:prstGeom>
          <a:solidFill xmlns:a="http://schemas.openxmlformats.org/drawingml/2006/main">
            <a:srgbClr val="32A5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FFFFF"/>
                </a:solidFill>
                <a:latin typeface="Yu Gothic"/>
                <a:ea typeface="Yu Gothic"/>
                <a:cs typeface="Yu Gothic"/>
              </a:defRPr>
            </a:pPr>
            <a:r>
              <a:rPr sz="1950" b="1">
                <a:solidFill>
                  <a:srgbClr val="FFFFFF"/>
                </a:solidFill>
                <a:latin typeface="Yu Gothic"/>
                <a:ea typeface="Yu Gothic"/>
                <a:cs typeface="Yu Gothic"/>
              </a:rPr>
              <a:t>3</a:t>
            </a:r>
          </a:p>
        </p:txBody>
      </p:sp>
      <p:sp>
        <p:nvSpPr>
          <p:cNvPr id="16" name="">
            <a:extLst xmlns:a="http://schemas.openxmlformats.org/drawingml/2006/main">
              <a:ext uri="{FF2B5EF4-FFF2-40B4-BE49-F238E27FC236}">
                <a16:creationId xmlns:a16="http://schemas.microsoft.com/office/drawing/2014/main" id="{A3BB2743-BDE9-4E19-8AE2-3CCC0FB9CD4F}"/>
              </a:ext>
            </a:extLst>
          </p:cNvPr>
          <p:cNvSpPr>
            <a:spLocks xmlns:a="http://schemas.openxmlformats.org/drawingml/2006/main" noGrp="1"/>
          </p:cNvSpPr>
          <p:nvPr/>
        </p:nvSpPr>
        <p:spPr>
          <a:xfrm xmlns:a="http://schemas.openxmlformats.org/drawingml/2006/main">
            <a:off x="8096250" y="33718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833"/>
          </a:bodyPr>
          <a:lstStyle xmlns:a="http://schemas.openxmlformats.org/drawingml/2006/main"/>
          <a:p xmlns:a="http://schemas.openxmlformats.org/drawingml/2006/main">
            <a:pPr>
              <a:defRPr sz="1800" b="1">
                <a:solidFill>
                  <a:srgbClr val="102B46"/>
                </a:solidFill>
                <a:latin typeface="Yu Gothic"/>
                <a:ea typeface="Yu Gothic"/>
                <a:cs typeface="Yu Gothic"/>
              </a:defRPr>
            </a:pPr>
            <a:r>
              <a:rPr sz="1800" b="1">
                <a:solidFill>
                  <a:srgbClr val="102B46"/>
                </a:solidFill>
                <a:latin typeface="Yu Gothic"/>
                <a:ea typeface="Yu Gothic"/>
                <a:cs typeface="Yu Gothic"/>
              </a:rPr>
              <a:t>遠隔での確認</a:t>
            </a:r>
          </a:p>
        </p:txBody>
      </p:sp>
      <p:sp>
        <p:nvSpPr>
          <p:cNvPr id="17" name="">
            <a:extLst xmlns:a="http://schemas.openxmlformats.org/drawingml/2006/main">
              <a:ext uri="{FF2B5EF4-FFF2-40B4-BE49-F238E27FC236}">
                <a16:creationId xmlns:a16="http://schemas.microsoft.com/office/drawing/2014/main" id="{2F111818-1472-4453-8C8E-621C8F4BADC8}"/>
              </a:ext>
            </a:extLst>
          </p:cNvPr>
          <p:cNvSpPr>
            <a:spLocks xmlns:a="http://schemas.openxmlformats.org/drawingml/2006/main" noGrp="1"/>
          </p:cNvSpPr>
          <p:nvPr/>
        </p:nvSpPr>
        <p:spPr>
          <a:xfrm xmlns:a="http://schemas.openxmlformats.org/drawingml/2006/main">
            <a:off x="8096250" y="3819525"/>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現場の状況を把握し</a:t>
            </a:r>
          </a:p>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救助判断を支援する必要</a:t>
            </a:r>
          </a:p>
        </p:txBody>
      </p:sp>
      <p:sp>
        <p:nvSpPr>
          <p:cNvPr id="18" name="">
            <a:extLst xmlns:a="http://schemas.openxmlformats.org/drawingml/2006/main">
              <a:ext uri="{FF2B5EF4-FFF2-40B4-BE49-F238E27FC236}">
                <a16:creationId xmlns:a16="http://schemas.microsoft.com/office/drawing/2014/main" id="{9D149264-47F8-48A8-AC69-73C1D03AE805}"/>
              </a:ext>
            </a:extLst>
          </p:cNvPr>
          <p:cNvSpPr>
            <a:spLocks xmlns:a="http://schemas.openxmlformats.org/drawingml/2006/main" noGrp="1"/>
          </p:cNvSpPr>
          <p:nvPr/>
        </p:nvSpPr>
        <p:spPr>
          <a:xfrm xmlns:a="http://schemas.openxmlformats.org/drawingml/2006/main">
            <a:off x="1066800" y="5286375"/>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02B46"/>
                </a:solidFill>
                <a:latin typeface="Yu Gothic"/>
                <a:ea typeface="Yu Gothic"/>
                <a:cs typeface="Yu Gothic"/>
              </a:defRPr>
            </a:pPr>
            <a:r>
              <a:rPr sz="1650" b="1">
                <a:solidFill>
                  <a:srgbClr val="102B46"/>
                </a:solidFill>
                <a:latin typeface="Yu Gothic"/>
                <a:ea typeface="Yu Gothic"/>
                <a:cs typeface="Yu Gothic"/>
              </a:rPr>
              <a:t>本PBLでは、平地と小さな段差を想定した移動基盤の実装を目標とする</a:t>
            </a:r>
          </a:p>
        </p:txBody>
      </p:sp>
    </p:spTree>
    <p:extLst>
      <p:ext uri="{BB962C8B-B14F-4D97-AF65-F5344CB8AC3E}">
        <p14:creationId xmlns:p14="http://schemas.microsoft.com/office/powerpoint/2010/main" val="18036368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08F8EE1-6C9F-46A1-A516-679A2D850512}"/>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開発目標と担当分担</a:t>
            </a:r>
          </a:p>
        </p:txBody>
      </p:sp>
      <p:sp>
        <p:nvSpPr>
          <p:cNvPr id="2" name="">
            <a:extLst xmlns:a="http://schemas.openxmlformats.org/drawingml/2006/main">
              <a:ext uri="{FF2B5EF4-FFF2-40B4-BE49-F238E27FC236}">
                <a16:creationId xmlns:a16="http://schemas.microsoft.com/office/drawing/2014/main" id="{FC5C5B9D-55EF-4EE2-913F-BEFAB5F51733}"/>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03</a:t>
            </a:r>
          </a:p>
        </p:txBody>
      </p:sp>
      <p:sp>
        <p:nvSpPr>
          <p:cNvPr id="3" name="">
            <a:extLst xmlns:a="http://schemas.openxmlformats.org/drawingml/2006/main">
              <a:ext uri="{FF2B5EF4-FFF2-40B4-BE49-F238E27FC236}">
                <a16:creationId xmlns:a16="http://schemas.microsoft.com/office/drawing/2014/main" id="{46ADE1CA-53C0-47DA-9086-30F416ED7D66}"/>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13C6769C-3B49-4742-85E7-A33E4F25FDBF}"/>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D95BDC52-68A8-49A8-B697-6E9B69EFA4E9}"/>
              </a:ext>
            </a:extLst>
          </p:cNvPr>
          <p:cNvSpPr>
            <a:spLocks xmlns:a="http://schemas.openxmlformats.org/drawingml/2006/main" noGrp="1"/>
          </p:cNvSpPr>
          <p:nvPr/>
        </p:nvSpPr>
        <p:spPr>
          <a:xfrm xmlns:a="http://schemas.openxmlformats.org/drawingml/2006/main">
            <a:off x="704850" y="14097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102B46"/>
                </a:solidFill>
                <a:latin typeface="Yu Gothic"/>
                <a:ea typeface="Yu Gothic"/>
                <a:cs typeface="Yu Gothic"/>
              </a:defRPr>
            </a:pPr>
            <a:r>
              <a:rPr sz="2025" b="1">
                <a:solidFill>
                  <a:srgbClr val="102B46"/>
                </a:solidFill>
                <a:latin typeface="Yu Gothic"/>
                <a:ea typeface="Yu Gothic"/>
                <a:cs typeface="Yu Gothic"/>
              </a:rPr>
              <a:t>開発の焦点：まず「安全に立つ・一歩踏み出す」ことを確認する</a:t>
            </a:r>
          </a:p>
        </p:txBody>
      </p:sp>
      <p:sp>
        <p:nvSpPr>
          <p:cNvPr id="6" name="">
            <a:extLst xmlns:a="http://schemas.openxmlformats.org/drawingml/2006/main">
              <a:ext uri="{FF2B5EF4-FFF2-40B4-BE49-F238E27FC236}">
                <a16:creationId xmlns:a16="http://schemas.microsoft.com/office/drawing/2014/main" id="{8D555FF8-D047-4462-83C6-2131FC3926B1}"/>
              </a:ext>
            </a:extLst>
          </p:cNvPr>
          <p:cNvSpPr>
            <a:spLocks xmlns:a="http://schemas.openxmlformats.org/drawingml/2006/main" noGrp="1"/>
          </p:cNvSpPr>
          <p:nvPr/>
        </p:nvSpPr>
        <p:spPr>
          <a:xfrm xmlns:a="http://schemas.openxmlformats.org/drawingml/2006/main">
            <a:off x="876300" y="2524125"/>
            <a:ext cx="3048000" cy="2286000"/>
          </a:xfrm>
          <a:prstGeom xmlns:a="http://schemas.openxmlformats.org/drawingml/2006/main" prst="rect">
            <a:avLst/>
          </a:prstGeom>
          <a:solidFill xmlns:a="http://schemas.openxmlformats.org/drawingml/2006/main">
            <a:srgbClr val="F3EEE6"/>
          </a:solidFill>
          <a:ln xmlns:a="http://schemas.openxmlformats.org/drawingml/2006/main" w="11430">
            <a:solidFill>
              <a:srgbClr val="B7C7D1"/>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AEC1DB3B-DAD1-41BB-BD54-9869293C65E3}"/>
              </a:ext>
            </a:extLst>
          </p:cNvPr>
          <p:cNvSpPr>
            <a:spLocks xmlns:a="http://schemas.openxmlformats.org/drawingml/2006/main" noGrp="1"/>
          </p:cNvSpPr>
          <p:nvPr/>
        </p:nvSpPr>
        <p:spPr>
          <a:xfrm xmlns:a="http://schemas.openxmlformats.org/drawingml/2006/main">
            <a:off x="1123950" y="28098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defRPr sz="2100" b="1">
                <a:solidFill>
                  <a:srgbClr val="E8783F"/>
                </a:solidFill>
                <a:latin typeface="Yu Gothic"/>
                <a:ea typeface="Yu Gothic"/>
                <a:cs typeface="Yu Gothic"/>
              </a:defRPr>
            </a:pPr>
            <a:r>
              <a:rPr sz="2100" b="1">
                <a:solidFill>
                  <a:srgbClr val="E8783F"/>
                </a:solidFill>
                <a:latin typeface="Yu Gothic"/>
                <a:ea typeface="Yu Gothic"/>
                <a:cs typeface="Yu Gothic"/>
              </a:rPr>
              <a:t>設計</a:t>
            </a:r>
          </a:p>
        </p:txBody>
      </p:sp>
      <p:sp>
        <p:nvSpPr>
          <p:cNvPr id="8" name="">
            <a:extLst xmlns:a="http://schemas.openxmlformats.org/drawingml/2006/main">
              <a:ext uri="{FF2B5EF4-FFF2-40B4-BE49-F238E27FC236}">
                <a16:creationId xmlns:a16="http://schemas.microsoft.com/office/drawing/2014/main" id="{4784AEF0-7A76-4C2C-A7CD-E23C253CA2D2}"/>
              </a:ext>
            </a:extLst>
          </p:cNvPr>
          <p:cNvSpPr>
            <a:spLocks xmlns:a="http://schemas.openxmlformats.org/drawingml/2006/main" noGrp="1"/>
          </p:cNvSpPr>
          <p:nvPr/>
        </p:nvSpPr>
        <p:spPr>
          <a:xfrm xmlns:a="http://schemas.openxmlformats.org/drawingml/2006/main">
            <a:off x="1123950" y="3333750"/>
            <a:ext cx="2476500" cy="0"/>
          </a:xfrm>
          <a:prstGeom xmlns:a="http://schemas.openxmlformats.org/drawingml/2006/main" prst="line">
            <a:avLst/>
          </a:prstGeom>
          <a:noFill xmlns:a="http://schemas.openxmlformats.org/drawingml/2006/main"/>
          <a:ln xmlns:a="http://schemas.openxmlformats.org/drawingml/2006/main" w="28575">
            <a:solidFill>
              <a:srgbClr val="E8783F"/>
            </a:solidFill>
          </a:ln>
        </p:spPr>
      </p:sp>
      <p:sp>
        <p:nvSpPr>
          <p:cNvPr id="9" name="">
            <a:extLst xmlns:a="http://schemas.openxmlformats.org/drawingml/2006/main">
              <a:ext uri="{FF2B5EF4-FFF2-40B4-BE49-F238E27FC236}">
                <a16:creationId xmlns:a16="http://schemas.microsoft.com/office/drawing/2014/main" id="{C5AB6377-402D-4FA4-9680-ED0C051877ED}"/>
              </a:ext>
            </a:extLst>
          </p:cNvPr>
          <p:cNvSpPr>
            <a:spLocks xmlns:a="http://schemas.openxmlformats.org/drawingml/2006/main" noGrp="1"/>
          </p:cNvSpPr>
          <p:nvPr/>
        </p:nvSpPr>
        <p:spPr>
          <a:xfrm xmlns:a="http://schemas.openxmlformats.org/drawingml/2006/main">
            <a:off x="1123950" y="3619500"/>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脚長・関節配置・重心位置を決め、部品を組み立てる</a:t>
            </a:r>
          </a:p>
        </p:txBody>
      </p:sp>
      <p:sp>
        <p:nvSpPr>
          <p:cNvPr id="10" name="">
            <a:extLst xmlns:a="http://schemas.openxmlformats.org/drawingml/2006/main">
              <a:ext uri="{FF2B5EF4-FFF2-40B4-BE49-F238E27FC236}">
                <a16:creationId xmlns:a16="http://schemas.microsoft.com/office/drawing/2014/main" id="{B921B681-4BA8-4674-9937-A9B4A042BF95}"/>
              </a:ext>
            </a:extLst>
          </p:cNvPr>
          <p:cNvSpPr>
            <a:spLocks xmlns:a="http://schemas.openxmlformats.org/drawingml/2006/main" noGrp="1"/>
          </p:cNvSpPr>
          <p:nvPr/>
        </p:nvSpPr>
        <p:spPr>
          <a:xfrm xmlns:a="http://schemas.openxmlformats.org/drawingml/2006/main">
            <a:off x="4400550" y="2524125"/>
            <a:ext cx="3048000" cy="2286000"/>
          </a:xfrm>
          <a:prstGeom xmlns:a="http://schemas.openxmlformats.org/drawingml/2006/main" prst="rect">
            <a:avLst/>
          </a:prstGeom>
          <a:solidFill xmlns:a="http://schemas.openxmlformats.org/drawingml/2006/main">
            <a:srgbClr val="E8F1F5"/>
          </a:solidFill>
          <a:ln xmlns:a="http://schemas.openxmlformats.org/drawingml/2006/main" w="11430">
            <a:solidFill>
              <a:srgbClr val="B7C7D1"/>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26A624F8-2743-46F7-82A9-06EEC121D136}"/>
              </a:ext>
            </a:extLst>
          </p:cNvPr>
          <p:cNvSpPr>
            <a:spLocks xmlns:a="http://schemas.openxmlformats.org/drawingml/2006/main" noGrp="1"/>
          </p:cNvSpPr>
          <p:nvPr/>
        </p:nvSpPr>
        <p:spPr>
          <a:xfrm xmlns:a="http://schemas.openxmlformats.org/drawingml/2006/main">
            <a:off x="4648200" y="28098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defRPr sz="2100" b="1">
                <a:solidFill>
                  <a:srgbClr val="1C5A85"/>
                </a:solidFill>
                <a:latin typeface="Yu Gothic"/>
                <a:ea typeface="Yu Gothic"/>
                <a:cs typeface="Yu Gothic"/>
              </a:defRPr>
            </a:pPr>
            <a:r>
              <a:rPr sz="2100" b="1">
                <a:solidFill>
                  <a:srgbClr val="1C5A85"/>
                </a:solidFill>
                <a:latin typeface="Yu Gothic"/>
                <a:ea typeface="Yu Gothic"/>
                <a:cs typeface="Yu Gothic"/>
              </a:rPr>
              <a:t>配線</a:t>
            </a:r>
          </a:p>
        </p:txBody>
      </p:sp>
      <p:sp>
        <p:nvSpPr>
          <p:cNvPr id="12" name="">
            <a:extLst xmlns:a="http://schemas.openxmlformats.org/drawingml/2006/main">
              <a:ext uri="{FF2B5EF4-FFF2-40B4-BE49-F238E27FC236}">
                <a16:creationId xmlns:a16="http://schemas.microsoft.com/office/drawing/2014/main" id="{9DF17003-1A9E-4BC3-8182-1EC6BE343C0C}"/>
              </a:ext>
            </a:extLst>
          </p:cNvPr>
          <p:cNvSpPr>
            <a:spLocks xmlns:a="http://schemas.openxmlformats.org/drawingml/2006/main" noGrp="1"/>
          </p:cNvSpPr>
          <p:nvPr/>
        </p:nvSpPr>
        <p:spPr>
          <a:xfrm xmlns:a="http://schemas.openxmlformats.org/drawingml/2006/main">
            <a:off x="4648200" y="3333750"/>
            <a:ext cx="2476500"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13" name="">
            <a:extLst xmlns:a="http://schemas.openxmlformats.org/drawingml/2006/main">
              <a:ext uri="{FF2B5EF4-FFF2-40B4-BE49-F238E27FC236}">
                <a16:creationId xmlns:a16="http://schemas.microsoft.com/office/drawing/2014/main" id="{26FB6634-954A-42F8-8377-155283885465}"/>
              </a:ext>
            </a:extLst>
          </p:cNvPr>
          <p:cNvSpPr>
            <a:spLocks xmlns:a="http://schemas.openxmlformats.org/drawingml/2006/main" noGrp="1"/>
          </p:cNvSpPr>
          <p:nvPr/>
        </p:nvSpPr>
        <p:spPr>
          <a:xfrm xmlns:a="http://schemas.openxmlformats.org/drawingml/2006/main">
            <a:off x="4648200" y="3619500"/>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電源とCAN通信を整理し、保守しやすい配線にする</a:t>
            </a:r>
          </a:p>
        </p:txBody>
      </p:sp>
      <p:sp>
        <p:nvSpPr>
          <p:cNvPr id="14" name="">
            <a:extLst xmlns:a="http://schemas.openxmlformats.org/drawingml/2006/main">
              <a:ext uri="{FF2B5EF4-FFF2-40B4-BE49-F238E27FC236}">
                <a16:creationId xmlns:a16="http://schemas.microsoft.com/office/drawing/2014/main" id="{AB33212F-15A4-4C14-825F-28EB2DBC8F20}"/>
              </a:ext>
            </a:extLst>
          </p:cNvPr>
          <p:cNvSpPr>
            <a:spLocks xmlns:a="http://schemas.openxmlformats.org/drawingml/2006/main" noGrp="1"/>
          </p:cNvSpPr>
          <p:nvPr/>
        </p:nvSpPr>
        <p:spPr>
          <a:xfrm xmlns:a="http://schemas.openxmlformats.org/drawingml/2006/main">
            <a:off x="7924800" y="2524125"/>
            <a:ext cx="3048000" cy="2286000"/>
          </a:xfrm>
          <a:prstGeom xmlns:a="http://schemas.openxmlformats.org/drawingml/2006/main" prst="rect">
            <a:avLst/>
          </a:prstGeom>
          <a:solidFill xmlns:a="http://schemas.openxmlformats.org/drawingml/2006/main">
            <a:srgbClr val="F3EEE6"/>
          </a:solidFill>
          <a:ln xmlns:a="http://schemas.openxmlformats.org/drawingml/2006/main" w="11430">
            <a:solidFill>
              <a:srgbClr val="B7C7D1"/>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21461494-BC11-4FD7-9964-74403497B95B}"/>
              </a:ext>
            </a:extLst>
          </p:cNvPr>
          <p:cNvSpPr>
            <a:spLocks xmlns:a="http://schemas.openxmlformats.org/drawingml/2006/main" noGrp="1"/>
          </p:cNvSpPr>
          <p:nvPr/>
        </p:nvSpPr>
        <p:spPr>
          <a:xfrm xmlns:a="http://schemas.openxmlformats.org/drawingml/2006/main">
            <a:off x="8172450" y="28098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524"/>
          </a:bodyPr>
          <a:lstStyle xmlns:a="http://schemas.openxmlformats.org/drawingml/2006/main"/>
          <a:p xmlns:a="http://schemas.openxmlformats.org/drawingml/2006/main">
            <a:pPr>
              <a:defRPr sz="2100" b="1">
                <a:solidFill>
                  <a:srgbClr val="32A5B5"/>
                </a:solidFill>
                <a:latin typeface="Yu Gothic"/>
                <a:ea typeface="Yu Gothic"/>
                <a:cs typeface="Yu Gothic"/>
              </a:defRPr>
            </a:pPr>
            <a:r>
              <a:rPr sz="2100" b="1">
                <a:solidFill>
                  <a:srgbClr val="32A5B5"/>
                </a:solidFill>
                <a:latin typeface="Yu Gothic"/>
                <a:ea typeface="Yu Gothic"/>
                <a:cs typeface="Yu Gothic"/>
              </a:rPr>
              <a:t>制御</a:t>
            </a:r>
          </a:p>
        </p:txBody>
      </p:sp>
      <p:sp>
        <p:nvSpPr>
          <p:cNvPr id="16" name="">
            <a:extLst xmlns:a="http://schemas.openxmlformats.org/drawingml/2006/main">
              <a:ext uri="{FF2B5EF4-FFF2-40B4-BE49-F238E27FC236}">
                <a16:creationId xmlns:a16="http://schemas.microsoft.com/office/drawing/2014/main" id="{759763CD-33CA-4767-9060-CF40EDC131CF}"/>
              </a:ext>
            </a:extLst>
          </p:cNvPr>
          <p:cNvSpPr>
            <a:spLocks xmlns:a="http://schemas.openxmlformats.org/drawingml/2006/main" noGrp="1"/>
          </p:cNvSpPr>
          <p:nvPr/>
        </p:nvSpPr>
        <p:spPr>
          <a:xfrm xmlns:a="http://schemas.openxmlformats.org/drawingml/2006/main">
            <a:off x="8172450" y="3333750"/>
            <a:ext cx="2476500" cy="0"/>
          </a:xfrm>
          <a:prstGeom xmlns:a="http://schemas.openxmlformats.org/drawingml/2006/main" prst="line">
            <a:avLst/>
          </a:prstGeom>
          <a:noFill xmlns:a="http://schemas.openxmlformats.org/drawingml/2006/main"/>
          <a:ln xmlns:a="http://schemas.openxmlformats.org/drawingml/2006/main" w="28575">
            <a:solidFill>
              <a:srgbClr val="32A5B5"/>
            </a:solidFill>
          </a:ln>
        </p:spPr>
      </p:sp>
      <p:sp>
        <p:nvSpPr>
          <p:cNvPr id="17" name="">
            <a:extLst xmlns:a="http://schemas.openxmlformats.org/drawingml/2006/main">
              <a:ext uri="{FF2B5EF4-FFF2-40B4-BE49-F238E27FC236}">
                <a16:creationId xmlns:a16="http://schemas.microsoft.com/office/drawing/2014/main" id="{3D489303-12EC-41C0-AF02-3A00FDDCF5D1}"/>
              </a:ext>
            </a:extLst>
          </p:cNvPr>
          <p:cNvSpPr>
            <a:spLocks xmlns:a="http://schemas.openxmlformats.org/drawingml/2006/main" noGrp="1"/>
          </p:cNvSpPr>
          <p:nvPr/>
        </p:nvSpPr>
        <p:spPr>
          <a:xfrm xmlns:a="http://schemas.openxmlformats.org/drawingml/2006/main">
            <a:off x="8172450" y="3619500"/>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姿勢推定と歩行パターンを用いて、立位と歩行を制御する</a:t>
            </a:r>
          </a:p>
        </p:txBody>
      </p:sp>
      <p:sp>
        <p:nvSpPr>
          <p:cNvPr id="18" name="">
            <a:extLst xmlns:a="http://schemas.openxmlformats.org/drawingml/2006/main">
              <a:ext uri="{FF2B5EF4-FFF2-40B4-BE49-F238E27FC236}">
                <a16:creationId xmlns:a16="http://schemas.microsoft.com/office/drawing/2014/main" id="{87BCB67F-38EB-4386-8739-1FC19A168354}"/>
              </a:ext>
            </a:extLst>
          </p:cNvPr>
          <p:cNvSpPr>
            <a:spLocks xmlns:a="http://schemas.openxmlformats.org/drawingml/2006/main" noGrp="1"/>
          </p:cNvSpPr>
          <p:nvPr/>
        </p:nvSpPr>
        <p:spPr>
          <a:xfrm xmlns:a="http://schemas.openxmlformats.org/drawingml/2006/main">
            <a:off x="876300" y="52863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defRPr sz="1200" b="1">
                <a:solidFill>
                  <a:srgbClr val="5E6A73"/>
                </a:solidFill>
                <a:latin typeface="Yu Gothic"/>
                <a:ea typeface="Yu Gothic"/>
                <a:cs typeface="Yu Gothic"/>
              </a:defRPr>
            </a:pPr>
            <a:r>
              <a:rPr sz="1200" b="1">
                <a:solidFill>
                  <a:srgbClr val="5E6A73"/>
                </a:solidFill>
                <a:latin typeface="Yu Gothic"/>
                <a:ea typeface="Yu Gothic"/>
                <a:cs typeface="Yu Gothic"/>
              </a:rPr>
              <a:t>想定する検証順序</a:t>
            </a:r>
          </a:p>
        </p:txBody>
      </p:sp>
      <p:sp>
        <p:nvSpPr>
          <p:cNvPr id="19" name="">
            <a:extLst xmlns:a="http://schemas.openxmlformats.org/drawingml/2006/main">
              <a:ext uri="{FF2B5EF4-FFF2-40B4-BE49-F238E27FC236}">
                <a16:creationId xmlns:a16="http://schemas.microsoft.com/office/drawing/2014/main" id="{ADB061BB-C6E2-48DE-A589-CE0B811B4FCF}"/>
              </a:ext>
            </a:extLst>
          </p:cNvPr>
          <p:cNvSpPr>
            <a:spLocks xmlns:a="http://schemas.openxmlformats.org/drawingml/2006/main" noGrp="1"/>
          </p:cNvSpPr>
          <p:nvPr/>
        </p:nvSpPr>
        <p:spPr>
          <a:xfrm xmlns:a="http://schemas.openxmlformats.org/drawingml/2006/main">
            <a:off x="2705100" y="5162550"/>
            <a:ext cx="1714500" cy="457200"/>
          </a:xfrm>
          <a:prstGeom xmlns:a="http://schemas.openxmlformats.org/drawingml/2006/main" prst="rect">
            <a:avLst/>
          </a:prstGeom>
          <a:solidFill xmlns:a="http://schemas.openxmlformats.org/drawingml/2006/main">
            <a:srgbClr val="E8F1F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02B46"/>
                </a:solidFill>
                <a:latin typeface="Yu Gothic"/>
                <a:ea typeface="Yu Gothic"/>
                <a:cs typeface="Yu Gothic"/>
              </a:defRPr>
            </a:pPr>
            <a:r>
              <a:rPr sz="1275" b="0">
                <a:solidFill>
                  <a:srgbClr val="102B46"/>
                </a:solidFill>
                <a:latin typeface="Yu Gothic"/>
                <a:ea typeface="Yu Gothic"/>
                <a:cs typeface="Yu Gothic"/>
              </a:rPr>
              <a:t>片脚の関節確認</a:t>
            </a:r>
          </a:p>
        </p:txBody>
      </p:sp>
      <p:sp>
        <p:nvSpPr>
          <p:cNvPr id="20" name="">
            <a:extLst xmlns:a="http://schemas.openxmlformats.org/drawingml/2006/main">
              <a:ext uri="{FF2B5EF4-FFF2-40B4-BE49-F238E27FC236}">
                <a16:creationId xmlns:a16="http://schemas.microsoft.com/office/drawing/2014/main" id="{5A351DBD-4F33-492F-874E-590B70A56631}"/>
              </a:ext>
            </a:extLst>
          </p:cNvPr>
          <p:cNvSpPr>
            <a:spLocks xmlns:a="http://schemas.openxmlformats.org/drawingml/2006/main" noGrp="1"/>
          </p:cNvSpPr>
          <p:nvPr/>
        </p:nvSpPr>
        <p:spPr>
          <a:xfrm xmlns:a="http://schemas.openxmlformats.org/drawingml/2006/main">
            <a:off x="4419600" y="5391150"/>
            <a:ext cx="361950"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21" name="">
            <a:extLst xmlns:a="http://schemas.openxmlformats.org/drawingml/2006/main">
              <a:ext uri="{FF2B5EF4-FFF2-40B4-BE49-F238E27FC236}">
                <a16:creationId xmlns:a16="http://schemas.microsoft.com/office/drawing/2014/main" id="{B5F4A44C-8A50-4029-B831-0644C832B81D}"/>
              </a:ext>
            </a:extLst>
          </p:cNvPr>
          <p:cNvSpPr>
            <a:spLocks xmlns:a="http://schemas.openxmlformats.org/drawingml/2006/main" noGrp="1"/>
          </p:cNvSpPr>
          <p:nvPr/>
        </p:nvSpPr>
        <p:spPr>
          <a:xfrm xmlns:a="http://schemas.openxmlformats.org/drawingml/2006/main">
            <a:off x="4676775" y="5276850"/>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22" name="">
            <a:extLst xmlns:a="http://schemas.openxmlformats.org/drawingml/2006/main">
              <a:ext uri="{FF2B5EF4-FFF2-40B4-BE49-F238E27FC236}">
                <a16:creationId xmlns:a16="http://schemas.microsoft.com/office/drawing/2014/main" id="{8F48AD7F-7CD9-4141-B843-788FB1144E1E}"/>
              </a:ext>
            </a:extLst>
          </p:cNvPr>
          <p:cNvSpPr>
            <a:spLocks xmlns:a="http://schemas.openxmlformats.org/drawingml/2006/main" noGrp="1"/>
          </p:cNvSpPr>
          <p:nvPr/>
        </p:nvSpPr>
        <p:spPr>
          <a:xfrm xmlns:a="http://schemas.openxmlformats.org/drawingml/2006/main">
            <a:off x="4933950" y="5162550"/>
            <a:ext cx="1714500" cy="457200"/>
          </a:xfrm>
          <a:prstGeom xmlns:a="http://schemas.openxmlformats.org/drawingml/2006/main" prst="rect">
            <a:avLst/>
          </a:prstGeom>
          <a:solidFill xmlns:a="http://schemas.openxmlformats.org/drawingml/2006/main">
            <a:srgbClr val="E8F1F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02B46"/>
                </a:solidFill>
                <a:latin typeface="Yu Gothic"/>
                <a:ea typeface="Yu Gothic"/>
                <a:cs typeface="Yu Gothic"/>
              </a:defRPr>
            </a:pPr>
            <a:r>
              <a:rPr sz="1275" b="0">
                <a:solidFill>
                  <a:srgbClr val="102B46"/>
                </a:solidFill>
                <a:latin typeface="Yu Gothic"/>
                <a:ea typeface="Yu Gothic"/>
                <a:cs typeface="Yu Gothic"/>
              </a:rPr>
              <a:t>両脚で立位</a:t>
            </a:r>
          </a:p>
        </p:txBody>
      </p:sp>
      <p:sp>
        <p:nvSpPr>
          <p:cNvPr id="23" name="">
            <a:extLst xmlns:a="http://schemas.openxmlformats.org/drawingml/2006/main">
              <a:ext uri="{FF2B5EF4-FFF2-40B4-BE49-F238E27FC236}">
                <a16:creationId xmlns:a16="http://schemas.microsoft.com/office/drawing/2014/main" id="{612B5A9F-FCB2-40AE-B7C5-B1DB68244C66}"/>
              </a:ext>
            </a:extLst>
          </p:cNvPr>
          <p:cNvSpPr>
            <a:spLocks xmlns:a="http://schemas.openxmlformats.org/drawingml/2006/main" noGrp="1"/>
          </p:cNvSpPr>
          <p:nvPr/>
        </p:nvSpPr>
        <p:spPr>
          <a:xfrm xmlns:a="http://schemas.openxmlformats.org/drawingml/2006/main">
            <a:off x="6648450" y="5391150"/>
            <a:ext cx="361950"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24" name="">
            <a:extLst xmlns:a="http://schemas.openxmlformats.org/drawingml/2006/main">
              <a:ext uri="{FF2B5EF4-FFF2-40B4-BE49-F238E27FC236}">
                <a16:creationId xmlns:a16="http://schemas.microsoft.com/office/drawing/2014/main" id="{D8BC3869-4482-4377-B7B3-7A10E7705BC1}"/>
              </a:ext>
            </a:extLst>
          </p:cNvPr>
          <p:cNvSpPr>
            <a:spLocks xmlns:a="http://schemas.openxmlformats.org/drawingml/2006/main" noGrp="1"/>
          </p:cNvSpPr>
          <p:nvPr/>
        </p:nvSpPr>
        <p:spPr>
          <a:xfrm xmlns:a="http://schemas.openxmlformats.org/drawingml/2006/main">
            <a:off x="6905625" y="5276850"/>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3D5FB06A-2E4A-43AC-A119-478BBFAC0A5F}"/>
              </a:ext>
            </a:extLst>
          </p:cNvPr>
          <p:cNvSpPr>
            <a:spLocks xmlns:a="http://schemas.openxmlformats.org/drawingml/2006/main" noGrp="1"/>
          </p:cNvSpPr>
          <p:nvPr/>
        </p:nvSpPr>
        <p:spPr>
          <a:xfrm xmlns:a="http://schemas.openxmlformats.org/drawingml/2006/main">
            <a:off x="7162800" y="5162550"/>
            <a:ext cx="1714500" cy="457200"/>
          </a:xfrm>
          <a:prstGeom xmlns:a="http://schemas.openxmlformats.org/drawingml/2006/main" prst="rect">
            <a:avLst/>
          </a:prstGeom>
          <a:solidFill xmlns:a="http://schemas.openxmlformats.org/drawingml/2006/main">
            <a:srgbClr val="E8F1F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02B46"/>
                </a:solidFill>
                <a:latin typeface="Yu Gothic"/>
                <a:ea typeface="Yu Gothic"/>
                <a:cs typeface="Yu Gothic"/>
              </a:defRPr>
            </a:pPr>
            <a:r>
              <a:rPr sz="1275" b="0">
                <a:solidFill>
                  <a:srgbClr val="102B46"/>
                </a:solidFill>
                <a:latin typeface="Yu Gothic"/>
                <a:ea typeface="Yu Gothic"/>
                <a:cs typeface="Yu Gothic"/>
              </a:rPr>
              <a:t>平地で一歩</a:t>
            </a:r>
          </a:p>
        </p:txBody>
      </p:sp>
    </p:spTree>
    <p:extLst>
      <p:ext uri="{BB962C8B-B14F-4D97-AF65-F5344CB8AC3E}">
        <p14:creationId xmlns:p14="http://schemas.microsoft.com/office/powerpoint/2010/main" val="16566686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FDFCCF4-958A-46F7-AA66-B4940FFEE1FC}"/>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ロボット全体の構成</a:t>
            </a:r>
          </a:p>
        </p:txBody>
      </p:sp>
      <p:sp>
        <p:nvSpPr>
          <p:cNvPr id="2" name="">
            <a:extLst xmlns:a="http://schemas.openxmlformats.org/drawingml/2006/main">
              <a:ext uri="{FF2B5EF4-FFF2-40B4-BE49-F238E27FC236}">
                <a16:creationId xmlns:a16="http://schemas.microsoft.com/office/drawing/2014/main" id="{04B906B6-98E9-41E0-92F2-C81F4D643201}"/>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04</a:t>
            </a:r>
          </a:p>
        </p:txBody>
      </p:sp>
      <p:sp>
        <p:nvSpPr>
          <p:cNvPr id="3" name="">
            <a:extLst xmlns:a="http://schemas.openxmlformats.org/drawingml/2006/main">
              <a:ext uri="{FF2B5EF4-FFF2-40B4-BE49-F238E27FC236}">
                <a16:creationId xmlns:a16="http://schemas.microsoft.com/office/drawing/2014/main" id="{9224AD14-5B77-4AD4-9807-A4D3504ED497}"/>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B5B3EF9B-2ED7-43C6-9E43-917033B61408}"/>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3F5171ED-C626-499D-A238-0DC2A9DAE080}"/>
              </a:ext>
            </a:extLst>
          </p:cNvPr>
          <p:cNvSpPr>
            <a:spLocks xmlns:a="http://schemas.openxmlformats.org/drawingml/2006/main" noGrp="1"/>
          </p:cNvSpPr>
          <p:nvPr/>
        </p:nvSpPr>
        <p:spPr>
          <a:xfrm xmlns:a="http://schemas.openxmlformats.org/drawingml/2006/main">
            <a:off x="876300" y="2590800"/>
            <a:ext cx="1952625" cy="1428750"/>
          </a:xfrm>
          <a:prstGeom xmlns:a="http://schemas.openxmlformats.org/drawingml/2006/main" prst="rect">
            <a:avLst/>
          </a:prstGeom>
          <a:solidFill xmlns:a="http://schemas.openxmlformats.org/drawingml/2006/main">
            <a:srgbClr val="F3EEE6"/>
          </a:solidFill>
          <a:ln xmlns:a="http://schemas.openxmlformats.org/drawingml/2006/main" w="19050">
            <a:solidFill>
              <a:srgbClr val="32A5B5"/>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7650CD82-EC63-4F56-B440-0A70645E2FFE}"/>
              </a:ext>
            </a:extLst>
          </p:cNvPr>
          <p:cNvSpPr>
            <a:spLocks xmlns:a="http://schemas.openxmlformats.org/drawingml/2006/main" noGrp="1"/>
          </p:cNvSpPr>
          <p:nvPr/>
        </p:nvSpPr>
        <p:spPr>
          <a:xfrm xmlns:a="http://schemas.openxmlformats.org/drawingml/2006/main">
            <a:off x="1047750" y="2819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32A5B5"/>
                </a:solidFill>
                <a:latin typeface="Yu Gothic"/>
                <a:ea typeface="Yu Gothic"/>
                <a:cs typeface="Yu Gothic"/>
              </a:defRPr>
            </a:pPr>
            <a:r>
              <a:rPr sz="1425" b="1">
                <a:solidFill>
                  <a:srgbClr val="32A5B5"/>
                </a:solidFill>
                <a:latin typeface="Yu Gothic"/>
                <a:ea typeface="Yu Gothic"/>
                <a:cs typeface="Yu Gothic"/>
              </a:rPr>
              <a:t>視覚・姿勢</a:t>
            </a:r>
          </a:p>
        </p:txBody>
      </p:sp>
      <p:sp>
        <p:nvSpPr>
          <p:cNvPr id="7" name="">
            <a:extLst xmlns:a="http://schemas.openxmlformats.org/drawingml/2006/main">
              <a:ext uri="{FF2B5EF4-FFF2-40B4-BE49-F238E27FC236}">
                <a16:creationId xmlns:a16="http://schemas.microsoft.com/office/drawing/2014/main" id="{E8775E80-85F5-4FFE-8827-8BF2DD4D4FD7}"/>
              </a:ext>
            </a:extLst>
          </p:cNvPr>
          <p:cNvSpPr>
            <a:spLocks xmlns:a="http://schemas.openxmlformats.org/drawingml/2006/main" noGrp="1"/>
          </p:cNvSpPr>
          <p:nvPr/>
        </p:nvSpPr>
        <p:spPr>
          <a:xfrm xmlns:a="http://schemas.openxmlformats.org/drawingml/2006/main">
            <a:off x="1009650" y="3238500"/>
            <a:ext cx="1685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T265</a:t>
            </a:r>
          </a:p>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移動量・姿勢推定</a:t>
            </a:r>
          </a:p>
        </p:txBody>
      </p:sp>
      <p:sp>
        <p:nvSpPr>
          <p:cNvPr id="8" name="">
            <a:extLst xmlns:a="http://schemas.openxmlformats.org/drawingml/2006/main">
              <a:ext uri="{FF2B5EF4-FFF2-40B4-BE49-F238E27FC236}">
                <a16:creationId xmlns:a16="http://schemas.microsoft.com/office/drawing/2014/main" id="{77C871CE-077D-46FA-80CC-485DB459D479}"/>
              </a:ext>
            </a:extLst>
          </p:cNvPr>
          <p:cNvSpPr>
            <a:spLocks xmlns:a="http://schemas.openxmlformats.org/drawingml/2006/main" noGrp="1"/>
          </p:cNvSpPr>
          <p:nvPr/>
        </p:nvSpPr>
        <p:spPr>
          <a:xfrm xmlns:a="http://schemas.openxmlformats.org/drawingml/2006/main">
            <a:off x="2847975" y="3305175"/>
            <a:ext cx="962025"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9" name="">
            <a:extLst xmlns:a="http://schemas.openxmlformats.org/drawingml/2006/main">
              <a:ext uri="{FF2B5EF4-FFF2-40B4-BE49-F238E27FC236}">
                <a16:creationId xmlns:a16="http://schemas.microsoft.com/office/drawing/2014/main" id="{C65F8AC4-660B-490D-B842-193A9FDF5ADA}"/>
              </a:ext>
            </a:extLst>
          </p:cNvPr>
          <p:cNvSpPr>
            <a:spLocks xmlns:a="http://schemas.openxmlformats.org/drawingml/2006/main" noGrp="1"/>
          </p:cNvSpPr>
          <p:nvPr/>
        </p:nvSpPr>
        <p:spPr>
          <a:xfrm xmlns:a="http://schemas.openxmlformats.org/drawingml/2006/main">
            <a:off x="3705225" y="31908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A8102429-43A5-461B-B611-0DCE7AFF74D1}"/>
              </a:ext>
            </a:extLst>
          </p:cNvPr>
          <p:cNvSpPr>
            <a:spLocks xmlns:a="http://schemas.openxmlformats.org/drawingml/2006/main" noGrp="1"/>
          </p:cNvSpPr>
          <p:nvPr/>
        </p:nvSpPr>
        <p:spPr>
          <a:xfrm xmlns:a="http://schemas.openxmlformats.org/drawingml/2006/main">
            <a:off x="3924300" y="2590800"/>
            <a:ext cx="1952625" cy="1428750"/>
          </a:xfrm>
          <a:prstGeom xmlns:a="http://schemas.openxmlformats.org/drawingml/2006/main" prst="rect">
            <a:avLst/>
          </a:prstGeom>
          <a:solidFill xmlns:a="http://schemas.openxmlformats.org/drawingml/2006/main">
            <a:srgbClr val="F3EEE6"/>
          </a:solidFill>
          <a:ln xmlns:a="http://schemas.openxmlformats.org/drawingml/2006/main" w="19050">
            <a:solidFill>
              <a:srgbClr val="1C5A85"/>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6327559-A3AB-4E06-A9B9-D434A39B7EC7}"/>
              </a:ext>
            </a:extLst>
          </p:cNvPr>
          <p:cNvSpPr>
            <a:spLocks xmlns:a="http://schemas.openxmlformats.org/drawingml/2006/main" noGrp="1"/>
          </p:cNvSpPr>
          <p:nvPr/>
        </p:nvSpPr>
        <p:spPr>
          <a:xfrm xmlns:a="http://schemas.openxmlformats.org/drawingml/2006/main">
            <a:off x="4095750" y="2819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C5A85"/>
                </a:solidFill>
                <a:latin typeface="Yu Gothic"/>
                <a:ea typeface="Yu Gothic"/>
                <a:cs typeface="Yu Gothic"/>
              </a:defRPr>
            </a:pPr>
            <a:r>
              <a:rPr sz="1425" b="1">
                <a:solidFill>
                  <a:srgbClr val="1C5A85"/>
                </a:solidFill>
                <a:latin typeface="Yu Gothic"/>
                <a:ea typeface="Yu Gothic"/>
                <a:cs typeface="Yu Gothic"/>
              </a:rPr>
              <a:t>計算機</a:t>
            </a:r>
          </a:p>
        </p:txBody>
      </p:sp>
      <p:sp>
        <p:nvSpPr>
          <p:cNvPr id="12" name="">
            <a:extLst xmlns:a="http://schemas.openxmlformats.org/drawingml/2006/main">
              <a:ext uri="{FF2B5EF4-FFF2-40B4-BE49-F238E27FC236}">
                <a16:creationId xmlns:a16="http://schemas.microsoft.com/office/drawing/2014/main" id="{4C0213B2-2D70-4782-8A00-6EC0FF92359D}"/>
              </a:ext>
            </a:extLst>
          </p:cNvPr>
          <p:cNvSpPr>
            <a:spLocks xmlns:a="http://schemas.openxmlformats.org/drawingml/2006/main" noGrp="1"/>
          </p:cNvSpPr>
          <p:nvPr/>
        </p:nvSpPr>
        <p:spPr>
          <a:xfrm xmlns:a="http://schemas.openxmlformats.org/drawingml/2006/main">
            <a:off x="4057650" y="3238500"/>
            <a:ext cx="1685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Jetson Orin Nano</a:t>
            </a:r>
          </a:p>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制御計算</a:t>
            </a:r>
          </a:p>
        </p:txBody>
      </p:sp>
      <p:sp>
        <p:nvSpPr>
          <p:cNvPr id="13" name="">
            <a:extLst xmlns:a="http://schemas.openxmlformats.org/drawingml/2006/main">
              <a:ext uri="{FF2B5EF4-FFF2-40B4-BE49-F238E27FC236}">
                <a16:creationId xmlns:a16="http://schemas.microsoft.com/office/drawing/2014/main" id="{BFB76C37-8B8E-429E-A6EA-74ACAC725AB6}"/>
              </a:ext>
            </a:extLst>
          </p:cNvPr>
          <p:cNvSpPr>
            <a:spLocks xmlns:a="http://schemas.openxmlformats.org/drawingml/2006/main" noGrp="1"/>
          </p:cNvSpPr>
          <p:nvPr/>
        </p:nvSpPr>
        <p:spPr>
          <a:xfrm xmlns:a="http://schemas.openxmlformats.org/drawingml/2006/main">
            <a:off x="5895975" y="3305175"/>
            <a:ext cx="962025"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14" name="">
            <a:extLst xmlns:a="http://schemas.openxmlformats.org/drawingml/2006/main">
              <a:ext uri="{FF2B5EF4-FFF2-40B4-BE49-F238E27FC236}">
                <a16:creationId xmlns:a16="http://schemas.microsoft.com/office/drawing/2014/main" id="{50B39BC7-F55D-4C8D-8C14-E3199945E7A0}"/>
              </a:ext>
            </a:extLst>
          </p:cNvPr>
          <p:cNvSpPr>
            <a:spLocks xmlns:a="http://schemas.openxmlformats.org/drawingml/2006/main" noGrp="1"/>
          </p:cNvSpPr>
          <p:nvPr/>
        </p:nvSpPr>
        <p:spPr>
          <a:xfrm xmlns:a="http://schemas.openxmlformats.org/drawingml/2006/main">
            <a:off x="6753225" y="31908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7963816E-1A3A-4E4B-94CE-0DDD23ACDB81}"/>
              </a:ext>
            </a:extLst>
          </p:cNvPr>
          <p:cNvSpPr>
            <a:spLocks xmlns:a="http://schemas.openxmlformats.org/drawingml/2006/main" noGrp="1"/>
          </p:cNvSpPr>
          <p:nvPr/>
        </p:nvSpPr>
        <p:spPr>
          <a:xfrm xmlns:a="http://schemas.openxmlformats.org/drawingml/2006/main">
            <a:off x="6972300" y="2590800"/>
            <a:ext cx="1952625" cy="1428750"/>
          </a:xfrm>
          <a:prstGeom xmlns:a="http://schemas.openxmlformats.org/drawingml/2006/main" prst="rect">
            <a:avLst/>
          </a:prstGeom>
          <a:solidFill xmlns:a="http://schemas.openxmlformats.org/drawingml/2006/main">
            <a:srgbClr val="F3EEE6"/>
          </a:solidFill>
          <a:ln xmlns:a="http://schemas.openxmlformats.org/drawingml/2006/main" w="19050">
            <a:solidFill>
              <a:srgbClr val="E8783F"/>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6" name="">
            <a:extLst xmlns:a="http://schemas.openxmlformats.org/drawingml/2006/main">
              <a:ext uri="{FF2B5EF4-FFF2-40B4-BE49-F238E27FC236}">
                <a16:creationId xmlns:a16="http://schemas.microsoft.com/office/drawing/2014/main" id="{898FE609-C8E7-4F8A-97F5-2992D2B0F6D8}"/>
              </a:ext>
            </a:extLst>
          </p:cNvPr>
          <p:cNvSpPr>
            <a:spLocks xmlns:a="http://schemas.openxmlformats.org/drawingml/2006/main" noGrp="1"/>
          </p:cNvSpPr>
          <p:nvPr/>
        </p:nvSpPr>
        <p:spPr>
          <a:xfrm xmlns:a="http://schemas.openxmlformats.org/drawingml/2006/main">
            <a:off x="7143750" y="2819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E8783F"/>
                </a:solidFill>
                <a:latin typeface="Yu Gothic"/>
                <a:ea typeface="Yu Gothic"/>
                <a:cs typeface="Yu Gothic"/>
              </a:defRPr>
            </a:pPr>
            <a:r>
              <a:rPr sz="1425" b="1">
                <a:solidFill>
                  <a:srgbClr val="E8783F"/>
                </a:solidFill>
                <a:latin typeface="Yu Gothic"/>
                <a:ea typeface="Yu Gothic"/>
                <a:cs typeface="Yu Gothic"/>
              </a:rPr>
              <a:t>通信</a:t>
            </a:r>
          </a:p>
        </p:txBody>
      </p:sp>
      <p:sp>
        <p:nvSpPr>
          <p:cNvPr id="17" name="">
            <a:extLst xmlns:a="http://schemas.openxmlformats.org/drawingml/2006/main">
              <a:ext uri="{FF2B5EF4-FFF2-40B4-BE49-F238E27FC236}">
                <a16:creationId xmlns:a16="http://schemas.microsoft.com/office/drawing/2014/main" id="{71105557-4593-45BE-BE3C-655CCFF171BE}"/>
              </a:ext>
            </a:extLst>
          </p:cNvPr>
          <p:cNvSpPr>
            <a:spLocks xmlns:a="http://schemas.openxmlformats.org/drawingml/2006/main" noGrp="1"/>
          </p:cNvSpPr>
          <p:nvPr/>
        </p:nvSpPr>
        <p:spPr>
          <a:xfrm xmlns:a="http://schemas.openxmlformats.org/drawingml/2006/main">
            <a:off x="7105650" y="3238500"/>
            <a:ext cx="1685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USB-CAN</a:t>
            </a:r>
          </a:p>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CANバス</a:t>
            </a:r>
          </a:p>
        </p:txBody>
      </p:sp>
      <p:sp>
        <p:nvSpPr>
          <p:cNvPr id="18" name="">
            <a:extLst xmlns:a="http://schemas.openxmlformats.org/drawingml/2006/main">
              <a:ext uri="{FF2B5EF4-FFF2-40B4-BE49-F238E27FC236}">
                <a16:creationId xmlns:a16="http://schemas.microsoft.com/office/drawing/2014/main" id="{D6B65967-8E8A-411B-9077-DE399324FF1C}"/>
              </a:ext>
            </a:extLst>
          </p:cNvPr>
          <p:cNvSpPr>
            <a:spLocks xmlns:a="http://schemas.openxmlformats.org/drawingml/2006/main" noGrp="1"/>
          </p:cNvSpPr>
          <p:nvPr/>
        </p:nvSpPr>
        <p:spPr>
          <a:xfrm xmlns:a="http://schemas.openxmlformats.org/drawingml/2006/main">
            <a:off x="8943975" y="3305175"/>
            <a:ext cx="581025"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19" name="">
            <a:extLst xmlns:a="http://schemas.openxmlformats.org/drawingml/2006/main">
              <a:ext uri="{FF2B5EF4-FFF2-40B4-BE49-F238E27FC236}">
                <a16:creationId xmlns:a16="http://schemas.microsoft.com/office/drawing/2014/main" id="{3AF550D0-2D89-4BC5-9A6D-9C8CE8E927E9}"/>
              </a:ext>
            </a:extLst>
          </p:cNvPr>
          <p:cNvSpPr>
            <a:spLocks xmlns:a="http://schemas.openxmlformats.org/drawingml/2006/main" noGrp="1"/>
          </p:cNvSpPr>
          <p:nvPr/>
        </p:nvSpPr>
        <p:spPr>
          <a:xfrm xmlns:a="http://schemas.openxmlformats.org/drawingml/2006/main">
            <a:off x="9420225" y="31908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20" name="">
            <a:extLst xmlns:a="http://schemas.openxmlformats.org/drawingml/2006/main">
              <a:ext uri="{FF2B5EF4-FFF2-40B4-BE49-F238E27FC236}">
                <a16:creationId xmlns:a16="http://schemas.microsoft.com/office/drawing/2014/main" id="{60E90C94-C8A1-4810-8A61-A32BDD6088EB}"/>
              </a:ext>
            </a:extLst>
          </p:cNvPr>
          <p:cNvSpPr>
            <a:spLocks xmlns:a="http://schemas.openxmlformats.org/drawingml/2006/main" noGrp="1"/>
          </p:cNvSpPr>
          <p:nvPr/>
        </p:nvSpPr>
        <p:spPr>
          <a:xfrm xmlns:a="http://schemas.openxmlformats.org/drawingml/2006/main">
            <a:off x="9639300" y="2590800"/>
            <a:ext cx="1952625" cy="1428750"/>
          </a:xfrm>
          <a:prstGeom xmlns:a="http://schemas.openxmlformats.org/drawingml/2006/main" prst="rect">
            <a:avLst/>
          </a:prstGeom>
          <a:solidFill xmlns:a="http://schemas.openxmlformats.org/drawingml/2006/main">
            <a:srgbClr val="F3EEE6"/>
          </a:solidFill>
          <a:ln xmlns:a="http://schemas.openxmlformats.org/drawingml/2006/main" w="19050">
            <a:solidFill>
              <a:srgbClr val="102B46"/>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21" name="">
            <a:extLst xmlns:a="http://schemas.openxmlformats.org/drawingml/2006/main">
              <a:ext uri="{FF2B5EF4-FFF2-40B4-BE49-F238E27FC236}">
                <a16:creationId xmlns:a16="http://schemas.microsoft.com/office/drawing/2014/main" id="{EF03CF2E-6633-457B-A277-C63C6ABB2963}"/>
              </a:ext>
            </a:extLst>
          </p:cNvPr>
          <p:cNvSpPr>
            <a:spLocks xmlns:a="http://schemas.openxmlformats.org/drawingml/2006/main" noGrp="1"/>
          </p:cNvSpPr>
          <p:nvPr/>
        </p:nvSpPr>
        <p:spPr>
          <a:xfrm xmlns:a="http://schemas.openxmlformats.org/drawingml/2006/main">
            <a:off x="9810750" y="2819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102B46"/>
                </a:solidFill>
                <a:latin typeface="Yu Gothic"/>
                <a:ea typeface="Yu Gothic"/>
                <a:cs typeface="Yu Gothic"/>
              </a:defRPr>
            </a:pPr>
            <a:r>
              <a:rPr sz="1425" b="1">
                <a:solidFill>
                  <a:srgbClr val="102B46"/>
                </a:solidFill>
                <a:latin typeface="Yu Gothic"/>
                <a:ea typeface="Yu Gothic"/>
                <a:cs typeface="Yu Gothic"/>
              </a:rPr>
              <a:t>駆動</a:t>
            </a:r>
          </a:p>
        </p:txBody>
      </p:sp>
      <p:sp>
        <p:nvSpPr>
          <p:cNvPr id="22" name="">
            <a:extLst xmlns:a="http://schemas.openxmlformats.org/drawingml/2006/main">
              <a:ext uri="{FF2B5EF4-FFF2-40B4-BE49-F238E27FC236}">
                <a16:creationId xmlns:a16="http://schemas.microsoft.com/office/drawing/2014/main" id="{FA401B71-B8B0-4A5D-A656-B54ECCD15959}"/>
              </a:ext>
            </a:extLst>
          </p:cNvPr>
          <p:cNvSpPr>
            <a:spLocks xmlns:a="http://schemas.openxmlformats.org/drawingml/2006/main" noGrp="1"/>
          </p:cNvSpPr>
          <p:nvPr/>
        </p:nvSpPr>
        <p:spPr>
          <a:xfrm xmlns:a="http://schemas.openxmlformats.org/drawingml/2006/main">
            <a:off x="9772650" y="3238500"/>
            <a:ext cx="1685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AK80-9 / AK10-9</a:t>
            </a:r>
          </a:p>
          <a:p xmlns:a="http://schemas.openxmlformats.org/drawingml/2006/main">
            <a:pPr>
              <a:defRPr sz="1200" b="0">
                <a:solidFill>
                  <a:srgbClr val="17212B"/>
                </a:solidFill>
                <a:latin typeface="Yu Gothic"/>
                <a:ea typeface="Yu Gothic"/>
                <a:cs typeface="Yu Gothic"/>
              </a:defRPr>
            </a:pPr>
            <a:r>
              <a:rPr sz="1200" b="0">
                <a:solidFill>
                  <a:srgbClr val="17212B"/>
                </a:solidFill>
                <a:latin typeface="Yu Gothic"/>
                <a:ea typeface="Yu Gothic"/>
                <a:cs typeface="Yu Gothic"/>
              </a:rPr>
              <a:t>関節モータ</a:t>
            </a:r>
          </a:p>
        </p:txBody>
      </p:sp>
      <p:sp>
        <p:nvSpPr>
          <p:cNvPr id="23" name="">
            <a:extLst xmlns:a="http://schemas.openxmlformats.org/drawingml/2006/main">
              <a:ext uri="{FF2B5EF4-FFF2-40B4-BE49-F238E27FC236}">
                <a16:creationId xmlns:a16="http://schemas.microsoft.com/office/drawing/2014/main" id="{FB6E6F28-1A10-4E1C-AE60-C5E171512CDE}"/>
              </a:ext>
            </a:extLst>
          </p:cNvPr>
          <p:cNvSpPr>
            <a:spLocks xmlns:a="http://schemas.openxmlformats.org/drawingml/2006/main" noGrp="1"/>
          </p:cNvSpPr>
          <p:nvPr/>
        </p:nvSpPr>
        <p:spPr>
          <a:xfrm xmlns:a="http://schemas.openxmlformats.org/drawingml/2006/main">
            <a:off x="2724150" y="4838700"/>
            <a:ext cx="1714500" cy="5143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電源系</a:t>
            </a:r>
          </a:p>
        </p:txBody>
      </p:sp>
      <p:sp>
        <p:nvSpPr>
          <p:cNvPr id="24" name="">
            <a:extLst xmlns:a="http://schemas.openxmlformats.org/drawingml/2006/main">
              <a:ext uri="{FF2B5EF4-FFF2-40B4-BE49-F238E27FC236}">
                <a16:creationId xmlns:a16="http://schemas.microsoft.com/office/drawing/2014/main" id="{0AFCDB29-B493-4FF7-8475-19FC63A0DF0E}"/>
              </a:ext>
            </a:extLst>
          </p:cNvPr>
          <p:cNvSpPr>
            <a:spLocks xmlns:a="http://schemas.openxmlformats.org/drawingml/2006/main" noGrp="1"/>
          </p:cNvSpPr>
          <p:nvPr/>
        </p:nvSpPr>
        <p:spPr>
          <a:xfrm xmlns:a="http://schemas.openxmlformats.org/drawingml/2006/main">
            <a:off x="4438650" y="5095875"/>
            <a:ext cx="933450" cy="0"/>
          </a:xfrm>
          <a:prstGeom xmlns:a="http://schemas.openxmlformats.org/drawingml/2006/main" prst="line">
            <a:avLst/>
          </a:prstGeom>
          <a:noFill xmlns:a="http://schemas.openxmlformats.org/drawingml/2006/main"/>
          <a:ln xmlns:a="http://schemas.openxmlformats.org/drawingml/2006/main" w="28575">
            <a:solidFill>
              <a:srgbClr val="E8783F"/>
            </a:solidFill>
          </a:ln>
        </p:spPr>
      </p:sp>
      <p:sp>
        <p:nvSpPr>
          <p:cNvPr id="25" name="">
            <a:extLst xmlns:a="http://schemas.openxmlformats.org/drawingml/2006/main">
              <a:ext uri="{FF2B5EF4-FFF2-40B4-BE49-F238E27FC236}">
                <a16:creationId xmlns:a16="http://schemas.microsoft.com/office/drawing/2014/main" id="{69127130-081F-48B9-9B0E-60C2BFF7CB88}"/>
              </a:ext>
            </a:extLst>
          </p:cNvPr>
          <p:cNvSpPr>
            <a:spLocks xmlns:a="http://schemas.openxmlformats.org/drawingml/2006/main" noGrp="1"/>
          </p:cNvSpPr>
          <p:nvPr/>
        </p:nvSpPr>
        <p:spPr>
          <a:xfrm xmlns:a="http://schemas.openxmlformats.org/drawingml/2006/main">
            <a:off x="5267325" y="49815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E8783F"/>
                </a:solidFill>
                <a:latin typeface="Yu Gothic"/>
                <a:ea typeface="Yu Gothic"/>
                <a:cs typeface="Yu Gothic"/>
              </a:defRPr>
            </a:pPr>
            <a:r>
              <a:rPr sz="1200" b="0">
                <a:solidFill>
                  <a:srgbClr val="E8783F"/>
                </a:solidFill>
                <a:latin typeface="Yu Gothic"/>
                <a:ea typeface="Yu Gothic"/>
                <a:cs typeface="Yu Gothic"/>
              </a:rPr>
              <a:t>▶</a:t>
            </a:r>
          </a:p>
        </p:txBody>
      </p:sp>
      <p:sp>
        <p:nvSpPr>
          <p:cNvPr id="26" name="">
            <a:extLst xmlns:a="http://schemas.openxmlformats.org/drawingml/2006/main">
              <a:ext uri="{FF2B5EF4-FFF2-40B4-BE49-F238E27FC236}">
                <a16:creationId xmlns:a16="http://schemas.microsoft.com/office/drawing/2014/main" id="{F56C39F1-5C88-458A-8DC7-563F86F41C4A}"/>
              </a:ext>
            </a:extLst>
          </p:cNvPr>
          <p:cNvSpPr>
            <a:spLocks xmlns:a="http://schemas.openxmlformats.org/drawingml/2006/main" noGrp="1"/>
          </p:cNvSpPr>
          <p:nvPr/>
        </p:nvSpPr>
        <p:spPr>
          <a:xfrm xmlns:a="http://schemas.openxmlformats.org/drawingml/2006/main">
            <a:off x="5505450" y="4838700"/>
            <a:ext cx="1714500" cy="5143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電源分配</a:t>
            </a:r>
          </a:p>
        </p:txBody>
      </p:sp>
      <p:sp>
        <p:nvSpPr>
          <p:cNvPr id="27" name="">
            <a:extLst xmlns:a="http://schemas.openxmlformats.org/drawingml/2006/main">
              <a:ext uri="{FF2B5EF4-FFF2-40B4-BE49-F238E27FC236}">
                <a16:creationId xmlns:a16="http://schemas.microsoft.com/office/drawing/2014/main" id="{14AC302E-6253-43F2-B6AD-FADF7D378C8A}"/>
              </a:ext>
            </a:extLst>
          </p:cNvPr>
          <p:cNvSpPr>
            <a:spLocks xmlns:a="http://schemas.openxmlformats.org/drawingml/2006/main" noGrp="1"/>
          </p:cNvSpPr>
          <p:nvPr/>
        </p:nvSpPr>
        <p:spPr>
          <a:xfrm xmlns:a="http://schemas.openxmlformats.org/drawingml/2006/main">
            <a:off x="7219950" y="5095875"/>
            <a:ext cx="933450" cy="0"/>
          </a:xfrm>
          <a:prstGeom xmlns:a="http://schemas.openxmlformats.org/drawingml/2006/main" prst="line">
            <a:avLst/>
          </a:prstGeom>
          <a:noFill xmlns:a="http://schemas.openxmlformats.org/drawingml/2006/main"/>
          <a:ln xmlns:a="http://schemas.openxmlformats.org/drawingml/2006/main" w="28575">
            <a:solidFill>
              <a:srgbClr val="E8783F"/>
            </a:solidFill>
          </a:ln>
        </p:spPr>
      </p:sp>
      <p:sp>
        <p:nvSpPr>
          <p:cNvPr id="28" name="">
            <a:extLst xmlns:a="http://schemas.openxmlformats.org/drawingml/2006/main">
              <a:ext uri="{FF2B5EF4-FFF2-40B4-BE49-F238E27FC236}">
                <a16:creationId xmlns:a16="http://schemas.microsoft.com/office/drawing/2014/main" id="{701EFA83-8C07-419F-8851-033FAFEC7B15}"/>
              </a:ext>
            </a:extLst>
          </p:cNvPr>
          <p:cNvSpPr>
            <a:spLocks xmlns:a="http://schemas.openxmlformats.org/drawingml/2006/main" noGrp="1"/>
          </p:cNvSpPr>
          <p:nvPr/>
        </p:nvSpPr>
        <p:spPr>
          <a:xfrm xmlns:a="http://schemas.openxmlformats.org/drawingml/2006/main">
            <a:off x="8048625" y="49815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E8783F"/>
                </a:solidFill>
                <a:latin typeface="Yu Gothic"/>
                <a:ea typeface="Yu Gothic"/>
                <a:cs typeface="Yu Gothic"/>
              </a:defRPr>
            </a:pPr>
            <a:r>
              <a:rPr sz="1200" b="0">
                <a:solidFill>
                  <a:srgbClr val="E8783F"/>
                </a:solidFill>
                <a:latin typeface="Yu Gothic"/>
                <a:ea typeface="Yu Gothic"/>
                <a:cs typeface="Yu Gothic"/>
              </a:rPr>
              <a:t>▶</a:t>
            </a:r>
          </a:p>
        </p:txBody>
      </p:sp>
      <p:sp>
        <p:nvSpPr>
          <p:cNvPr id="29" name="">
            <a:extLst xmlns:a="http://schemas.openxmlformats.org/drawingml/2006/main">
              <a:ext uri="{FF2B5EF4-FFF2-40B4-BE49-F238E27FC236}">
                <a16:creationId xmlns:a16="http://schemas.microsoft.com/office/drawing/2014/main" id="{912ED8E4-BBC0-4F86-B7CC-4237B0B38BDB}"/>
              </a:ext>
            </a:extLst>
          </p:cNvPr>
          <p:cNvSpPr>
            <a:spLocks xmlns:a="http://schemas.openxmlformats.org/drawingml/2006/main" noGrp="1"/>
          </p:cNvSpPr>
          <p:nvPr/>
        </p:nvSpPr>
        <p:spPr>
          <a:xfrm xmlns:a="http://schemas.openxmlformats.org/drawingml/2006/main">
            <a:off x="8286750" y="4838700"/>
            <a:ext cx="1714500" cy="5143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各モータ</a:t>
            </a:r>
          </a:p>
        </p:txBody>
      </p:sp>
      <p:sp>
        <p:nvSpPr>
          <p:cNvPr id="30" name="">
            <a:extLst xmlns:a="http://schemas.openxmlformats.org/drawingml/2006/main">
              <a:ext uri="{FF2B5EF4-FFF2-40B4-BE49-F238E27FC236}">
                <a16:creationId xmlns:a16="http://schemas.microsoft.com/office/drawing/2014/main" id="{8E288077-C0EC-4E90-9135-847054B019F3}"/>
              </a:ext>
            </a:extLst>
          </p:cNvPr>
          <p:cNvSpPr>
            <a:spLocks xmlns:a="http://schemas.openxmlformats.org/drawingml/2006/main" noGrp="1"/>
          </p:cNvSpPr>
          <p:nvPr/>
        </p:nvSpPr>
        <p:spPr>
          <a:xfrm xmlns:a="http://schemas.openxmlformats.org/drawingml/2006/main">
            <a:off x="1866900" y="59055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0">
                <a:solidFill>
                  <a:srgbClr val="102B46"/>
                </a:solidFill>
                <a:latin typeface="Yu Gothic"/>
                <a:ea typeface="Yu Gothic"/>
                <a:cs typeface="Yu Gothic"/>
              </a:defRPr>
            </a:pPr>
            <a:r>
              <a:rPr sz="1500" b="0">
                <a:solidFill>
                  <a:srgbClr val="102B46"/>
                </a:solidFill>
                <a:latin typeface="Yu Gothic"/>
                <a:ea typeface="Yu Gothic"/>
                <a:cs typeface="Yu Gothic"/>
              </a:rPr>
              <a:t>センサ値を計算機で処理し、CANを介して各関節へ指令する</a:t>
            </a:r>
          </a:p>
        </p:txBody>
      </p:sp>
    </p:spTree>
    <p:extLst>
      <p:ext uri="{BB962C8B-B14F-4D97-AF65-F5344CB8AC3E}">
        <p14:creationId xmlns:p14="http://schemas.microsoft.com/office/powerpoint/2010/main" val="11099383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33F43786-4FFB-402C-AF63-9C31B12F37A3}"/>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設計パート：脚構造と重心</a:t>
            </a:r>
          </a:p>
        </p:txBody>
      </p:sp>
      <p:sp>
        <p:nvSpPr>
          <p:cNvPr id="2" name="">
            <a:extLst xmlns:a="http://schemas.openxmlformats.org/drawingml/2006/main">
              <a:ext uri="{FF2B5EF4-FFF2-40B4-BE49-F238E27FC236}">
                <a16:creationId xmlns:a16="http://schemas.microsoft.com/office/drawing/2014/main" id="{513F9C94-DC60-48F8-AE4C-DE3DFF46C85F}"/>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05</a:t>
            </a:r>
          </a:p>
        </p:txBody>
      </p:sp>
      <p:sp>
        <p:nvSpPr>
          <p:cNvPr id="3" name="">
            <a:extLst xmlns:a="http://schemas.openxmlformats.org/drawingml/2006/main">
              <a:ext uri="{FF2B5EF4-FFF2-40B4-BE49-F238E27FC236}">
                <a16:creationId xmlns:a16="http://schemas.microsoft.com/office/drawing/2014/main" id="{7706A88A-B4E2-4A9D-8820-653283649553}"/>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05032D1D-1EA5-4FF9-B7B6-126BBEBC90A3}"/>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42A67726-4962-45E5-AFA1-32919AC742CC}"/>
              </a:ext>
            </a:extLst>
          </p:cNvPr>
          <p:cNvSpPr>
            <a:spLocks xmlns:a="http://schemas.openxmlformats.org/drawingml/2006/main" noGrp="1"/>
          </p:cNvSpPr>
          <p:nvPr/>
        </p:nvSpPr>
        <p:spPr>
          <a:xfrm xmlns:a="http://schemas.openxmlformats.org/drawingml/2006/main">
            <a:off x="704850" y="14097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02B46"/>
                </a:solidFill>
                <a:latin typeface="Yu Gothic"/>
                <a:ea typeface="Yu Gothic"/>
                <a:cs typeface="Yu Gothic"/>
              </a:defRPr>
            </a:pPr>
            <a:r>
              <a:rPr sz="1950" b="1">
                <a:solidFill>
                  <a:srgbClr val="102B46"/>
                </a:solidFill>
                <a:latin typeface="Yu Gothic"/>
                <a:ea typeface="Yu Gothic"/>
                <a:cs typeface="Yu Gothic"/>
              </a:rPr>
              <a:t>脚部では、足裏の接地と胴体の重心位置を先に決めた</a:t>
            </a:r>
          </a:p>
        </p:txBody>
      </p:sp>
      <p:sp>
        <p:nvSpPr>
          <p:cNvPr id="6" name="">
            <a:extLst xmlns:a="http://schemas.openxmlformats.org/drawingml/2006/main">
              <a:ext uri="{FF2B5EF4-FFF2-40B4-BE49-F238E27FC236}">
                <a16:creationId xmlns:a16="http://schemas.microsoft.com/office/drawing/2014/main" id="{F920F5F7-E9C0-4766-828C-9117F309CD72}"/>
              </a:ext>
            </a:extLst>
          </p:cNvPr>
          <p:cNvSpPr>
            <a:spLocks xmlns:a="http://schemas.openxmlformats.org/drawingml/2006/main" noGrp="1"/>
          </p:cNvSpPr>
          <p:nvPr/>
        </p:nvSpPr>
        <p:spPr>
          <a:xfrm xmlns:a="http://schemas.openxmlformats.org/drawingml/2006/main">
            <a:off x="1428750" y="2667000"/>
            <a:ext cx="1809750" cy="1000125"/>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Yu Gothic"/>
                <a:ea typeface="Yu Gothic"/>
                <a:cs typeface="Yu Gothic"/>
              </a:defRPr>
            </a:pPr>
            <a:r>
              <a:rPr sz="1575" b="1">
                <a:solidFill>
                  <a:srgbClr val="FFFFFF"/>
                </a:solidFill>
                <a:latin typeface="Yu Gothic"/>
                <a:ea typeface="Yu Gothic"/>
                <a:cs typeface="Yu Gothic"/>
              </a:rPr>
              <a:t>胴体</a:t>
            </a:r>
          </a:p>
          <a:p xmlns:a="http://schemas.openxmlformats.org/drawingml/2006/main">
            <a:pPr>
              <a:defRPr sz="1575" b="1">
                <a:solidFill>
                  <a:srgbClr val="FFFFFF"/>
                </a:solidFill>
                <a:latin typeface="Yu Gothic"/>
                <a:ea typeface="Yu Gothic"/>
                <a:cs typeface="Yu Gothic"/>
              </a:defRPr>
            </a:pPr>
            <a:r>
              <a:rPr sz="1575" b="1">
                <a:solidFill>
                  <a:srgbClr val="FFFFFF"/>
                </a:solidFill>
                <a:latin typeface="Yu Gothic"/>
                <a:ea typeface="Yu Gothic"/>
                <a:cs typeface="Yu Gothic"/>
              </a:rPr>
              <a:t>計算機・電源</a:t>
            </a:r>
          </a:p>
        </p:txBody>
      </p:sp>
      <p:sp>
        <p:nvSpPr>
          <p:cNvPr id="7" name="">
            <a:extLst xmlns:a="http://schemas.openxmlformats.org/drawingml/2006/main">
              <a:ext uri="{FF2B5EF4-FFF2-40B4-BE49-F238E27FC236}">
                <a16:creationId xmlns:a16="http://schemas.microsoft.com/office/drawing/2014/main" id="{A8D98688-0BC0-4987-B097-F1D736B71779}"/>
              </a:ext>
            </a:extLst>
          </p:cNvPr>
          <p:cNvSpPr>
            <a:spLocks xmlns:a="http://schemas.openxmlformats.org/drawingml/2006/main" noGrp="1"/>
          </p:cNvSpPr>
          <p:nvPr/>
        </p:nvSpPr>
        <p:spPr>
          <a:xfrm xmlns:a="http://schemas.openxmlformats.org/drawingml/2006/main">
            <a:off x="1952625" y="4000500"/>
            <a:ext cx="809625" cy="36195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FFFFFF"/>
                </a:solidFill>
                <a:latin typeface="Yu Gothic"/>
                <a:ea typeface="Yu Gothic"/>
                <a:cs typeface="Yu Gothic"/>
              </a:defRPr>
            </a:pPr>
            <a:r>
              <a:rPr sz="1200" b="1">
                <a:solidFill>
                  <a:srgbClr val="FFFFFF"/>
                </a:solidFill>
                <a:latin typeface="Yu Gothic"/>
                <a:ea typeface="Yu Gothic"/>
                <a:cs typeface="Yu Gothic"/>
              </a:rPr>
              <a:t>股関節</a:t>
            </a:r>
          </a:p>
        </p:txBody>
      </p:sp>
      <p:sp>
        <p:nvSpPr>
          <p:cNvPr id="8" name="">
            <a:extLst xmlns:a="http://schemas.openxmlformats.org/drawingml/2006/main">
              <a:ext uri="{FF2B5EF4-FFF2-40B4-BE49-F238E27FC236}">
                <a16:creationId xmlns:a16="http://schemas.microsoft.com/office/drawing/2014/main" id="{4760C17B-05E5-454E-BCFE-566894FD0EB4}"/>
              </a:ext>
            </a:extLst>
          </p:cNvPr>
          <p:cNvSpPr>
            <a:spLocks xmlns:a="http://schemas.openxmlformats.org/drawingml/2006/main" noGrp="1"/>
          </p:cNvSpPr>
          <p:nvPr/>
        </p:nvSpPr>
        <p:spPr>
          <a:xfrm xmlns:a="http://schemas.openxmlformats.org/drawingml/2006/main">
            <a:off x="2095500" y="4362450"/>
            <a:ext cx="266700" cy="685800"/>
          </a:xfrm>
          <a:prstGeom xmlns:a="http://schemas.openxmlformats.org/drawingml/2006/main" prst="line">
            <a:avLst/>
          </a:prstGeom>
          <a:noFill xmlns:a="http://schemas.openxmlformats.org/drawingml/2006/main"/>
          <a:ln xmlns:a="http://schemas.openxmlformats.org/drawingml/2006/main" w="114300">
            <a:solidFill>
              <a:srgbClr val="102B46"/>
            </a:solidFill>
          </a:ln>
        </p:spPr>
      </p:sp>
      <p:sp>
        <p:nvSpPr>
          <p:cNvPr id="9" name="">
            <a:extLst xmlns:a="http://schemas.openxmlformats.org/drawingml/2006/main">
              <a:ext uri="{FF2B5EF4-FFF2-40B4-BE49-F238E27FC236}">
                <a16:creationId xmlns:a16="http://schemas.microsoft.com/office/drawing/2014/main" id="{2BC019AB-1AAF-42FD-BEAE-FFFA3F0A1DCC}"/>
              </a:ext>
            </a:extLst>
          </p:cNvPr>
          <p:cNvSpPr>
            <a:spLocks xmlns:a="http://schemas.openxmlformats.org/drawingml/2006/main" noGrp="1"/>
          </p:cNvSpPr>
          <p:nvPr/>
        </p:nvSpPr>
        <p:spPr>
          <a:xfrm xmlns:a="http://schemas.openxmlformats.org/drawingml/2006/main">
            <a:off x="2362200" y="4362450"/>
            <a:ext cx="361950" cy="685800"/>
          </a:xfrm>
          <a:prstGeom xmlns:a="http://schemas.openxmlformats.org/drawingml/2006/main" prst="line">
            <a:avLst/>
          </a:prstGeom>
          <a:noFill xmlns:a="http://schemas.openxmlformats.org/drawingml/2006/main"/>
          <a:ln xmlns:a="http://schemas.openxmlformats.org/drawingml/2006/main" w="114300">
            <a:solidFill>
              <a:srgbClr val="102B46"/>
            </a:solidFill>
          </a:ln>
        </p:spPr>
      </p:sp>
      <p:sp>
        <p:nvSpPr>
          <p:cNvPr id="10" name="">
            <a:extLst xmlns:a="http://schemas.openxmlformats.org/drawingml/2006/main">
              <a:ext uri="{FF2B5EF4-FFF2-40B4-BE49-F238E27FC236}">
                <a16:creationId xmlns:a16="http://schemas.microsoft.com/office/drawing/2014/main" id="{D9783099-C99A-4A37-B053-10FB2C2AD90B}"/>
              </a:ext>
            </a:extLst>
          </p:cNvPr>
          <p:cNvSpPr>
            <a:spLocks xmlns:a="http://schemas.openxmlformats.org/drawingml/2006/main" noGrp="1"/>
          </p:cNvSpPr>
          <p:nvPr/>
        </p:nvSpPr>
        <p:spPr>
          <a:xfrm xmlns:a="http://schemas.openxmlformats.org/drawingml/2006/main">
            <a:off x="1743075" y="5010150"/>
            <a:ext cx="523875" cy="32385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Yu Gothic"/>
                <a:ea typeface="Yu Gothic"/>
                <a:cs typeface="Yu Gothic"/>
              </a:defRPr>
            </a:pPr>
            <a:r>
              <a:rPr sz="1050" b="1">
                <a:solidFill>
                  <a:srgbClr val="FFFFFF"/>
                </a:solidFill>
                <a:latin typeface="Yu Gothic"/>
                <a:ea typeface="Yu Gothic"/>
                <a:cs typeface="Yu Gothic"/>
              </a:rPr>
              <a:t>膝</a:t>
            </a:r>
          </a:p>
        </p:txBody>
      </p:sp>
      <p:sp>
        <p:nvSpPr>
          <p:cNvPr id="11" name="">
            <a:extLst xmlns:a="http://schemas.openxmlformats.org/drawingml/2006/main">
              <a:ext uri="{FF2B5EF4-FFF2-40B4-BE49-F238E27FC236}">
                <a16:creationId xmlns:a16="http://schemas.microsoft.com/office/drawing/2014/main" id="{4081FB60-887A-4C07-AAD7-39DFFC0FE404}"/>
              </a:ext>
            </a:extLst>
          </p:cNvPr>
          <p:cNvSpPr>
            <a:spLocks xmlns:a="http://schemas.openxmlformats.org/drawingml/2006/main" noGrp="1"/>
          </p:cNvSpPr>
          <p:nvPr/>
        </p:nvSpPr>
        <p:spPr>
          <a:xfrm xmlns:a="http://schemas.openxmlformats.org/drawingml/2006/main">
            <a:off x="2571750" y="5010150"/>
            <a:ext cx="523875" cy="32385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FFFFFF"/>
                </a:solidFill>
                <a:latin typeface="Yu Gothic"/>
                <a:ea typeface="Yu Gothic"/>
                <a:cs typeface="Yu Gothic"/>
              </a:defRPr>
            </a:pPr>
            <a:r>
              <a:rPr sz="1050" b="1">
                <a:solidFill>
                  <a:srgbClr val="FFFFFF"/>
                </a:solidFill>
                <a:latin typeface="Yu Gothic"/>
                <a:ea typeface="Yu Gothic"/>
                <a:cs typeface="Yu Gothic"/>
              </a:rPr>
              <a:t>膝</a:t>
            </a:r>
          </a:p>
        </p:txBody>
      </p:sp>
      <p:sp>
        <p:nvSpPr>
          <p:cNvPr id="12" name="">
            <a:extLst xmlns:a="http://schemas.openxmlformats.org/drawingml/2006/main">
              <a:ext uri="{FF2B5EF4-FFF2-40B4-BE49-F238E27FC236}">
                <a16:creationId xmlns:a16="http://schemas.microsoft.com/office/drawing/2014/main" id="{D4D41163-B91F-4B4F-96E7-3E92CEF947AE}"/>
              </a:ext>
            </a:extLst>
          </p:cNvPr>
          <p:cNvSpPr>
            <a:spLocks xmlns:a="http://schemas.openxmlformats.org/drawingml/2006/main" noGrp="1"/>
          </p:cNvSpPr>
          <p:nvPr/>
        </p:nvSpPr>
        <p:spPr>
          <a:xfrm xmlns:a="http://schemas.openxmlformats.org/drawingml/2006/main">
            <a:off x="1857375" y="5334000"/>
            <a:ext cx="142875" cy="571500"/>
          </a:xfrm>
          <a:prstGeom xmlns:a="http://schemas.openxmlformats.org/drawingml/2006/main" prst="line">
            <a:avLst/>
          </a:prstGeom>
          <a:noFill xmlns:a="http://schemas.openxmlformats.org/drawingml/2006/main"/>
          <a:ln xmlns:a="http://schemas.openxmlformats.org/drawingml/2006/main" w="114300">
            <a:solidFill>
              <a:srgbClr val="102B46"/>
            </a:solidFill>
          </a:ln>
        </p:spPr>
      </p:sp>
      <p:sp>
        <p:nvSpPr>
          <p:cNvPr id="13" name="">
            <a:extLst xmlns:a="http://schemas.openxmlformats.org/drawingml/2006/main">
              <a:ext uri="{FF2B5EF4-FFF2-40B4-BE49-F238E27FC236}">
                <a16:creationId xmlns:a16="http://schemas.microsoft.com/office/drawing/2014/main" id="{1FADD88A-DF23-45E7-B30A-E8045AA3BAF5}"/>
              </a:ext>
            </a:extLst>
          </p:cNvPr>
          <p:cNvSpPr>
            <a:spLocks xmlns:a="http://schemas.openxmlformats.org/drawingml/2006/main" noGrp="1"/>
          </p:cNvSpPr>
          <p:nvPr/>
        </p:nvSpPr>
        <p:spPr>
          <a:xfrm xmlns:a="http://schemas.openxmlformats.org/drawingml/2006/main">
            <a:off x="2838450" y="5334000"/>
            <a:ext cx="161925" cy="571500"/>
          </a:xfrm>
          <a:prstGeom xmlns:a="http://schemas.openxmlformats.org/drawingml/2006/main" prst="line">
            <a:avLst/>
          </a:prstGeom>
          <a:noFill xmlns:a="http://schemas.openxmlformats.org/drawingml/2006/main"/>
          <a:ln xmlns:a="http://schemas.openxmlformats.org/drawingml/2006/main" w="114300">
            <a:solidFill>
              <a:srgbClr val="102B46"/>
            </a:solidFill>
          </a:ln>
        </p:spPr>
      </p:sp>
      <p:sp>
        <p:nvSpPr>
          <p:cNvPr id="14" name="">
            <a:extLst xmlns:a="http://schemas.openxmlformats.org/drawingml/2006/main">
              <a:ext uri="{FF2B5EF4-FFF2-40B4-BE49-F238E27FC236}">
                <a16:creationId xmlns:a16="http://schemas.microsoft.com/office/drawing/2014/main" id="{E917B154-99D9-43F3-B3C6-3F8CC11C4A72}"/>
              </a:ext>
            </a:extLst>
          </p:cNvPr>
          <p:cNvSpPr>
            <a:spLocks xmlns:a="http://schemas.openxmlformats.org/drawingml/2006/main" noGrp="1"/>
          </p:cNvSpPr>
          <p:nvPr/>
        </p:nvSpPr>
        <p:spPr>
          <a:xfrm xmlns:a="http://schemas.openxmlformats.org/drawingml/2006/main">
            <a:off x="1428750" y="5905500"/>
            <a:ext cx="857250" cy="209550"/>
          </a:xfrm>
          <a:prstGeom xmlns:a="http://schemas.openxmlformats.org/drawingml/2006/main" prst="rect">
            <a:avLst/>
          </a:prstGeom>
          <a:solidFill xmlns:a="http://schemas.openxmlformats.org/drawingml/2006/main">
            <a:srgbClr val="F3EEE6"/>
          </a:solidFill>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defRPr sz="1050" b="1">
                <a:solidFill>
                  <a:srgbClr val="102B46"/>
                </a:solidFill>
                <a:latin typeface="Yu Gothic"/>
                <a:ea typeface="Yu Gothic"/>
                <a:cs typeface="Yu Gothic"/>
              </a:defRPr>
            </a:pPr>
            <a:r>
              <a:rPr sz="1050" b="1">
                <a:solidFill>
                  <a:srgbClr val="102B46"/>
                </a:solidFill>
                <a:latin typeface="Yu Gothic"/>
                <a:ea typeface="Yu Gothic"/>
                <a:cs typeface="Yu Gothic"/>
              </a:rPr>
              <a:t>足裏</a:t>
            </a:r>
          </a:p>
        </p:txBody>
      </p:sp>
      <p:sp>
        <p:nvSpPr>
          <p:cNvPr id="15" name="">
            <a:extLst xmlns:a="http://schemas.openxmlformats.org/drawingml/2006/main">
              <a:ext uri="{FF2B5EF4-FFF2-40B4-BE49-F238E27FC236}">
                <a16:creationId xmlns:a16="http://schemas.microsoft.com/office/drawing/2014/main" id="{4BCE9485-FE89-4997-A4BD-1394AAF23C32}"/>
              </a:ext>
            </a:extLst>
          </p:cNvPr>
          <p:cNvSpPr>
            <a:spLocks xmlns:a="http://schemas.openxmlformats.org/drawingml/2006/main" noGrp="1"/>
          </p:cNvSpPr>
          <p:nvPr/>
        </p:nvSpPr>
        <p:spPr>
          <a:xfrm xmlns:a="http://schemas.openxmlformats.org/drawingml/2006/main">
            <a:off x="2628900" y="5905500"/>
            <a:ext cx="857250" cy="209550"/>
          </a:xfrm>
          <a:prstGeom xmlns:a="http://schemas.openxmlformats.org/drawingml/2006/main" prst="rect">
            <a:avLst/>
          </a:prstGeom>
          <a:solidFill xmlns:a="http://schemas.openxmlformats.org/drawingml/2006/main">
            <a:srgbClr val="F3EEE6"/>
          </a:solidFill>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defRPr sz="1050" b="1">
                <a:solidFill>
                  <a:srgbClr val="102B46"/>
                </a:solidFill>
                <a:latin typeface="Yu Gothic"/>
                <a:ea typeface="Yu Gothic"/>
                <a:cs typeface="Yu Gothic"/>
              </a:defRPr>
            </a:pPr>
            <a:r>
              <a:rPr sz="1050" b="1">
                <a:solidFill>
                  <a:srgbClr val="102B46"/>
                </a:solidFill>
                <a:latin typeface="Yu Gothic"/>
                <a:ea typeface="Yu Gothic"/>
                <a:cs typeface="Yu Gothic"/>
              </a:rPr>
              <a:t>足裏</a:t>
            </a:r>
          </a:p>
        </p:txBody>
      </p:sp>
      <p:sp>
        <p:nvSpPr>
          <p:cNvPr id="16" name="">
            <a:extLst xmlns:a="http://schemas.openxmlformats.org/drawingml/2006/main">
              <a:ext uri="{FF2B5EF4-FFF2-40B4-BE49-F238E27FC236}">
                <a16:creationId xmlns:a16="http://schemas.microsoft.com/office/drawing/2014/main" id="{1E403C10-8AD4-4A03-8521-B9618A2DDE9F}"/>
              </a:ext>
            </a:extLst>
          </p:cNvPr>
          <p:cNvSpPr>
            <a:spLocks xmlns:a="http://schemas.openxmlformats.org/drawingml/2006/main" noGrp="1"/>
          </p:cNvSpPr>
          <p:nvPr/>
        </p:nvSpPr>
        <p:spPr>
          <a:xfrm xmlns:a="http://schemas.openxmlformats.org/drawingml/2006/main">
            <a:off x="1123950" y="6191250"/>
            <a:ext cx="2705100" cy="0"/>
          </a:xfrm>
          <a:prstGeom xmlns:a="http://schemas.openxmlformats.org/drawingml/2006/main" prst="line">
            <a:avLst/>
          </a:prstGeom>
          <a:noFill xmlns:a="http://schemas.openxmlformats.org/drawingml/2006/main"/>
          <a:ln xmlns:a="http://schemas.openxmlformats.org/drawingml/2006/main" w="19050">
            <a:solidFill>
              <a:srgbClr val="5E6A73"/>
            </a:solidFill>
          </a:ln>
        </p:spPr>
      </p:sp>
      <p:sp>
        <p:nvSpPr>
          <p:cNvPr id="17" name="">
            <a:extLst xmlns:a="http://schemas.openxmlformats.org/drawingml/2006/main">
              <a:ext uri="{FF2B5EF4-FFF2-40B4-BE49-F238E27FC236}">
                <a16:creationId xmlns:a16="http://schemas.microsoft.com/office/drawing/2014/main" id="{5BBB8091-8C52-4BF4-B04C-A3BC3A4FE936}"/>
              </a:ext>
            </a:extLst>
          </p:cNvPr>
          <p:cNvSpPr>
            <a:spLocks xmlns:a="http://schemas.openxmlformats.org/drawingml/2006/main" noGrp="1"/>
          </p:cNvSpPr>
          <p:nvPr/>
        </p:nvSpPr>
        <p:spPr>
          <a:xfrm xmlns:a="http://schemas.openxmlformats.org/drawingml/2006/main">
            <a:off x="1104900" y="6219825"/>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defRPr sz="900" b="0">
                <a:solidFill>
                  <a:srgbClr val="5E6A73"/>
                </a:solidFill>
                <a:latin typeface="Yu Gothic"/>
                <a:ea typeface="Yu Gothic"/>
                <a:cs typeface="Yu Gothic"/>
              </a:defRPr>
            </a:pPr>
            <a:r>
              <a:rPr sz="900" b="0">
                <a:solidFill>
                  <a:srgbClr val="5E6A73"/>
                </a:solidFill>
                <a:latin typeface="Yu Gothic"/>
                <a:ea typeface="Yu Gothic"/>
                <a:cs typeface="Yu Gothic"/>
              </a:rPr>
              <a:t>接地面</a:t>
            </a:r>
          </a:p>
        </p:txBody>
      </p:sp>
      <p:sp>
        <p:nvSpPr>
          <p:cNvPr id="18" name="">
            <a:extLst xmlns:a="http://schemas.openxmlformats.org/drawingml/2006/main">
              <a:ext uri="{FF2B5EF4-FFF2-40B4-BE49-F238E27FC236}">
                <a16:creationId xmlns:a16="http://schemas.microsoft.com/office/drawing/2014/main" id="{C4864C08-6582-49CA-BBDB-656D8F60AA99}"/>
              </a:ext>
            </a:extLst>
          </p:cNvPr>
          <p:cNvSpPr>
            <a:spLocks xmlns:a="http://schemas.openxmlformats.org/drawingml/2006/main" noGrp="1"/>
          </p:cNvSpPr>
          <p:nvPr/>
        </p:nvSpPr>
        <p:spPr>
          <a:xfrm xmlns:a="http://schemas.openxmlformats.org/drawingml/2006/main">
            <a:off x="5143500" y="24765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1C5A85"/>
                </a:solidFill>
                <a:latin typeface="Yu Gothic"/>
                <a:ea typeface="Yu Gothic"/>
                <a:cs typeface="Yu Gothic"/>
              </a:defRPr>
            </a:pPr>
            <a:r>
              <a:rPr sz="1050" b="1">
                <a:solidFill>
                  <a:srgbClr val="1C5A85"/>
                </a:solidFill>
                <a:latin typeface="Yu Gothic"/>
                <a:ea typeface="Yu Gothic"/>
                <a:cs typeface="Yu Gothic"/>
              </a:rPr>
              <a:t>関節数の考え方</a:t>
            </a:r>
          </a:p>
        </p:txBody>
      </p:sp>
      <p:sp>
        <p:nvSpPr>
          <p:cNvPr id="19" name="">
            <a:extLst xmlns:a="http://schemas.openxmlformats.org/drawingml/2006/main">
              <a:ext uri="{FF2B5EF4-FFF2-40B4-BE49-F238E27FC236}">
                <a16:creationId xmlns:a16="http://schemas.microsoft.com/office/drawing/2014/main" id="{E8D40187-0925-48ED-8AB6-7BE5904BB139}"/>
              </a:ext>
            </a:extLst>
          </p:cNvPr>
          <p:cNvSpPr>
            <a:spLocks xmlns:a="http://schemas.openxmlformats.org/drawingml/2006/main" noGrp="1"/>
          </p:cNvSpPr>
          <p:nvPr/>
        </p:nvSpPr>
        <p:spPr>
          <a:xfrm xmlns:a="http://schemas.openxmlformats.org/drawingml/2006/main">
            <a:off x="5143500" y="28194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歩行の基礎動作に必要な股・膝・足首の自由度を優先</a:t>
            </a:r>
          </a:p>
        </p:txBody>
      </p:sp>
      <p:sp>
        <p:nvSpPr>
          <p:cNvPr id="20" name="">
            <a:extLst xmlns:a="http://schemas.openxmlformats.org/drawingml/2006/main">
              <a:ext uri="{FF2B5EF4-FFF2-40B4-BE49-F238E27FC236}">
                <a16:creationId xmlns:a16="http://schemas.microsoft.com/office/drawing/2014/main" id="{1CC00F2B-240A-45C5-8A22-4C97A1B11623}"/>
              </a:ext>
            </a:extLst>
          </p:cNvPr>
          <p:cNvSpPr>
            <a:spLocks xmlns:a="http://schemas.openxmlformats.org/drawingml/2006/main" noGrp="1"/>
          </p:cNvSpPr>
          <p:nvPr/>
        </p:nvSpPr>
        <p:spPr>
          <a:xfrm xmlns:a="http://schemas.openxmlformats.org/drawingml/2006/main">
            <a:off x="5143500" y="3390900"/>
            <a:ext cx="5429250" cy="0"/>
          </a:xfrm>
          <a:prstGeom xmlns:a="http://schemas.openxmlformats.org/drawingml/2006/main" prst="line">
            <a:avLst/>
          </a:prstGeom>
          <a:noFill xmlns:a="http://schemas.openxmlformats.org/drawingml/2006/main"/>
          <a:ln xmlns:a="http://schemas.openxmlformats.org/drawingml/2006/main" w="9525">
            <a:solidFill>
              <a:srgbClr val="B7C7D1"/>
            </a:solidFill>
          </a:ln>
        </p:spPr>
      </p:sp>
      <p:sp>
        <p:nvSpPr>
          <p:cNvPr id="21" name="">
            <a:extLst xmlns:a="http://schemas.openxmlformats.org/drawingml/2006/main">
              <a:ext uri="{FF2B5EF4-FFF2-40B4-BE49-F238E27FC236}">
                <a16:creationId xmlns:a16="http://schemas.microsoft.com/office/drawing/2014/main" id="{332F2AAB-ABCD-4B19-AAA7-5B52E6E37BBB}"/>
              </a:ext>
            </a:extLst>
          </p:cNvPr>
          <p:cNvSpPr>
            <a:spLocks xmlns:a="http://schemas.openxmlformats.org/drawingml/2006/main" noGrp="1"/>
          </p:cNvSpPr>
          <p:nvPr/>
        </p:nvSpPr>
        <p:spPr>
          <a:xfrm xmlns:a="http://schemas.openxmlformats.org/drawingml/2006/main">
            <a:off x="5143500" y="36195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部品配置</a:t>
            </a:r>
          </a:p>
        </p:txBody>
      </p:sp>
      <p:sp>
        <p:nvSpPr>
          <p:cNvPr id="22" name="">
            <a:extLst xmlns:a="http://schemas.openxmlformats.org/drawingml/2006/main">
              <a:ext uri="{FF2B5EF4-FFF2-40B4-BE49-F238E27FC236}">
                <a16:creationId xmlns:a16="http://schemas.microsoft.com/office/drawing/2014/main" id="{454BA105-4FF2-4825-9DAE-8BECDE081C60}"/>
              </a:ext>
            </a:extLst>
          </p:cNvPr>
          <p:cNvSpPr>
            <a:spLocks xmlns:a="http://schemas.openxmlformats.org/drawingml/2006/main" noGrp="1"/>
          </p:cNvSpPr>
          <p:nvPr/>
        </p:nvSpPr>
        <p:spPr>
          <a:xfrm xmlns:a="http://schemas.openxmlformats.org/drawingml/2006/main">
            <a:off x="5143500" y="39624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重い計算機と電源を胴体中央に集め、脚の慣性を抑える</a:t>
            </a:r>
          </a:p>
        </p:txBody>
      </p:sp>
      <p:sp>
        <p:nvSpPr>
          <p:cNvPr id="23" name="">
            <a:extLst xmlns:a="http://schemas.openxmlformats.org/drawingml/2006/main">
              <a:ext uri="{FF2B5EF4-FFF2-40B4-BE49-F238E27FC236}">
                <a16:creationId xmlns:a16="http://schemas.microsoft.com/office/drawing/2014/main" id="{A10515AE-C817-4DF5-B831-19F0204FAFF2}"/>
              </a:ext>
            </a:extLst>
          </p:cNvPr>
          <p:cNvSpPr>
            <a:spLocks xmlns:a="http://schemas.openxmlformats.org/drawingml/2006/main" noGrp="1"/>
          </p:cNvSpPr>
          <p:nvPr/>
        </p:nvSpPr>
        <p:spPr>
          <a:xfrm xmlns:a="http://schemas.openxmlformats.org/drawingml/2006/main">
            <a:off x="5143500" y="4533900"/>
            <a:ext cx="5429250" cy="0"/>
          </a:xfrm>
          <a:prstGeom xmlns:a="http://schemas.openxmlformats.org/drawingml/2006/main" prst="line">
            <a:avLst/>
          </a:prstGeom>
          <a:noFill xmlns:a="http://schemas.openxmlformats.org/drawingml/2006/main"/>
          <a:ln xmlns:a="http://schemas.openxmlformats.org/drawingml/2006/main" w="9525">
            <a:solidFill>
              <a:srgbClr val="B7C7D1"/>
            </a:solidFill>
          </a:ln>
        </p:spPr>
      </p:sp>
      <p:sp>
        <p:nvSpPr>
          <p:cNvPr id="24" name="">
            <a:extLst xmlns:a="http://schemas.openxmlformats.org/drawingml/2006/main">
              <a:ext uri="{FF2B5EF4-FFF2-40B4-BE49-F238E27FC236}">
                <a16:creationId xmlns:a16="http://schemas.microsoft.com/office/drawing/2014/main" id="{9800A596-210F-450C-9550-928EB0ADC33C}"/>
              </a:ext>
            </a:extLst>
          </p:cNvPr>
          <p:cNvSpPr>
            <a:spLocks xmlns:a="http://schemas.openxmlformats.org/drawingml/2006/main" noGrp="1"/>
          </p:cNvSpPr>
          <p:nvPr/>
        </p:nvSpPr>
        <p:spPr>
          <a:xfrm xmlns:a="http://schemas.openxmlformats.org/drawingml/2006/main">
            <a:off x="5143500" y="47625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defRPr sz="1050" b="1">
                <a:solidFill>
                  <a:srgbClr val="1C5A85"/>
                </a:solidFill>
                <a:latin typeface="Yu Gothic"/>
                <a:ea typeface="Yu Gothic"/>
                <a:cs typeface="Yu Gothic"/>
              </a:defRPr>
            </a:pPr>
            <a:r>
              <a:rPr sz="1050" b="1">
                <a:solidFill>
                  <a:srgbClr val="1C5A85"/>
                </a:solidFill>
                <a:latin typeface="Yu Gothic"/>
                <a:ea typeface="Yu Gothic"/>
                <a:cs typeface="Yu Gothic"/>
              </a:rPr>
              <a:t>足裏</a:t>
            </a:r>
          </a:p>
        </p:txBody>
      </p:sp>
      <p:sp>
        <p:nvSpPr>
          <p:cNvPr id="25" name="">
            <a:extLst xmlns:a="http://schemas.openxmlformats.org/drawingml/2006/main">
              <a:ext uri="{FF2B5EF4-FFF2-40B4-BE49-F238E27FC236}">
                <a16:creationId xmlns:a16="http://schemas.microsoft.com/office/drawing/2014/main" id="{484705EF-6F4E-46F9-8683-FCB3180F9547}"/>
              </a:ext>
            </a:extLst>
          </p:cNvPr>
          <p:cNvSpPr>
            <a:spLocks xmlns:a="http://schemas.openxmlformats.org/drawingml/2006/main" noGrp="1"/>
          </p:cNvSpPr>
          <p:nvPr/>
        </p:nvSpPr>
        <p:spPr>
          <a:xfrm xmlns:a="http://schemas.openxmlformats.org/drawingml/2006/main">
            <a:off x="5143500" y="51054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平地での安定を優先し、十分な接地面積を確保する</a:t>
            </a:r>
          </a:p>
        </p:txBody>
      </p:sp>
      <p:sp>
        <p:nvSpPr>
          <p:cNvPr id="26" name="">
            <a:extLst xmlns:a="http://schemas.openxmlformats.org/drawingml/2006/main">
              <a:ext uri="{FF2B5EF4-FFF2-40B4-BE49-F238E27FC236}">
                <a16:creationId xmlns:a16="http://schemas.microsoft.com/office/drawing/2014/main" id="{1362887B-337F-403B-8AD2-FE9220067963}"/>
              </a:ext>
            </a:extLst>
          </p:cNvPr>
          <p:cNvSpPr>
            <a:spLocks xmlns:a="http://schemas.openxmlformats.org/drawingml/2006/main" noGrp="1"/>
          </p:cNvSpPr>
          <p:nvPr/>
        </p:nvSpPr>
        <p:spPr>
          <a:xfrm xmlns:a="http://schemas.openxmlformats.org/drawingml/2006/main">
            <a:off x="5143500" y="5676900"/>
            <a:ext cx="5429250" cy="0"/>
          </a:xfrm>
          <a:prstGeom xmlns:a="http://schemas.openxmlformats.org/drawingml/2006/main" prst="line">
            <a:avLst/>
          </a:prstGeom>
          <a:noFill xmlns:a="http://schemas.openxmlformats.org/drawingml/2006/main"/>
          <a:ln xmlns:a="http://schemas.openxmlformats.org/drawingml/2006/main" w="9525">
            <a:solidFill>
              <a:srgbClr val="B7C7D1"/>
            </a:solidFill>
          </a:ln>
        </p:spPr>
      </p:sp>
    </p:spTree>
    <p:extLst>
      <p:ext uri="{BB962C8B-B14F-4D97-AF65-F5344CB8AC3E}">
        <p14:creationId xmlns:p14="http://schemas.microsoft.com/office/powerpoint/2010/main" val="12345694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CBBA36F-7DC8-4FA1-BD3D-43A3214210D9}"/>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配線パート：電源とCAN通信</a:t>
            </a:r>
          </a:p>
        </p:txBody>
      </p:sp>
      <p:sp>
        <p:nvSpPr>
          <p:cNvPr id="2" name="">
            <a:extLst xmlns:a="http://schemas.openxmlformats.org/drawingml/2006/main">
              <a:ext uri="{FF2B5EF4-FFF2-40B4-BE49-F238E27FC236}">
                <a16:creationId xmlns:a16="http://schemas.microsoft.com/office/drawing/2014/main" id="{8DC7CD82-5A76-4AF2-B2DC-A6279626DE07}"/>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06</a:t>
            </a:r>
          </a:p>
        </p:txBody>
      </p:sp>
      <p:sp>
        <p:nvSpPr>
          <p:cNvPr id="3" name="">
            <a:extLst xmlns:a="http://schemas.openxmlformats.org/drawingml/2006/main">
              <a:ext uri="{FF2B5EF4-FFF2-40B4-BE49-F238E27FC236}">
                <a16:creationId xmlns:a16="http://schemas.microsoft.com/office/drawing/2014/main" id="{650CF5AC-AF82-4042-B8F0-0443DEB2BCB7}"/>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28B97B87-31D9-4B68-A863-CAE411D0F445}"/>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E4705314-A955-437D-8307-CDFC4DCD6CD0}"/>
              </a:ext>
            </a:extLst>
          </p:cNvPr>
          <p:cNvSpPr>
            <a:spLocks xmlns:a="http://schemas.openxmlformats.org/drawingml/2006/main" noGrp="1"/>
          </p:cNvSpPr>
          <p:nvPr/>
        </p:nvSpPr>
        <p:spPr>
          <a:xfrm xmlns:a="http://schemas.openxmlformats.org/drawingml/2006/main">
            <a:off x="704850" y="140970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02B46"/>
                </a:solidFill>
                <a:latin typeface="Yu Gothic"/>
                <a:ea typeface="Yu Gothic"/>
                <a:cs typeface="Yu Gothic"/>
              </a:defRPr>
            </a:pPr>
            <a:r>
              <a:rPr sz="1950" b="1">
                <a:solidFill>
                  <a:srgbClr val="102B46"/>
                </a:solidFill>
                <a:latin typeface="Yu Gothic"/>
                <a:ea typeface="Yu Gothic"/>
                <a:cs typeface="Yu Gothic"/>
              </a:rPr>
              <a:t>配線では、電力の経路と通信の経路を分けて考える</a:t>
            </a:r>
          </a:p>
        </p:txBody>
      </p:sp>
      <p:sp>
        <p:nvSpPr>
          <p:cNvPr id="6" name="">
            <a:extLst xmlns:a="http://schemas.openxmlformats.org/drawingml/2006/main">
              <a:ext uri="{FF2B5EF4-FFF2-40B4-BE49-F238E27FC236}">
                <a16:creationId xmlns:a16="http://schemas.microsoft.com/office/drawing/2014/main" id="{70FA60D9-B274-4E89-AECA-B97660283C16}"/>
              </a:ext>
            </a:extLst>
          </p:cNvPr>
          <p:cNvSpPr>
            <a:spLocks xmlns:a="http://schemas.openxmlformats.org/drawingml/2006/main" noGrp="1"/>
          </p:cNvSpPr>
          <p:nvPr/>
        </p:nvSpPr>
        <p:spPr>
          <a:xfrm xmlns:a="http://schemas.openxmlformats.org/drawingml/2006/main">
            <a:off x="1066800" y="2857500"/>
            <a:ext cx="1524000" cy="5905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バッテリー</a:t>
            </a:r>
          </a:p>
        </p:txBody>
      </p:sp>
      <p:sp>
        <p:nvSpPr>
          <p:cNvPr id="7" name="">
            <a:extLst xmlns:a="http://schemas.openxmlformats.org/drawingml/2006/main">
              <a:ext uri="{FF2B5EF4-FFF2-40B4-BE49-F238E27FC236}">
                <a16:creationId xmlns:a16="http://schemas.microsoft.com/office/drawing/2014/main" id="{9DEC8D28-D15C-4718-87CE-401567CE8B7B}"/>
              </a:ext>
            </a:extLst>
          </p:cNvPr>
          <p:cNvSpPr>
            <a:spLocks xmlns:a="http://schemas.openxmlformats.org/drawingml/2006/main" noGrp="1"/>
          </p:cNvSpPr>
          <p:nvPr/>
        </p:nvSpPr>
        <p:spPr>
          <a:xfrm xmlns:a="http://schemas.openxmlformats.org/drawingml/2006/main">
            <a:off x="2590800" y="3152775"/>
            <a:ext cx="838200" cy="0"/>
          </a:xfrm>
          <a:prstGeom xmlns:a="http://schemas.openxmlformats.org/drawingml/2006/main" prst="line">
            <a:avLst/>
          </a:prstGeom>
          <a:noFill xmlns:a="http://schemas.openxmlformats.org/drawingml/2006/main"/>
          <a:ln xmlns:a="http://schemas.openxmlformats.org/drawingml/2006/main" w="28575">
            <a:solidFill>
              <a:srgbClr val="E8783F"/>
            </a:solidFill>
          </a:ln>
        </p:spPr>
      </p:sp>
      <p:sp>
        <p:nvSpPr>
          <p:cNvPr id="8" name="">
            <a:extLst xmlns:a="http://schemas.openxmlformats.org/drawingml/2006/main">
              <a:ext uri="{FF2B5EF4-FFF2-40B4-BE49-F238E27FC236}">
                <a16:creationId xmlns:a16="http://schemas.microsoft.com/office/drawing/2014/main" id="{66185F43-FBAF-4D3A-A35B-493D74458770}"/>
              </a:ext>
            </a:extLst>
          </p:cNvPr>
          <p:cNvSpPr>
            <a:spLocks xmlns:a="http://schemas.openxmlformats.org/drawingml/2006/main" noGrp="1"/>
          </p:cNvSpPr>
          <p:nvPr/>
        </p:nvSpPr>
        <p:spPr>
          <a:xfrm xmlns:a="http://schemas.openxmlformats.org/drawingml/2006/main">
            <a:off x="3324225" y="30384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E8783F"/>
                </a:solidFill>
                <a:latin typeface="Yu Gothic"/>
                <a:ea typeface="Yu Gothic"/>
                <a:cs typeface="Yu Gothic"/>
              </a:defRPr>
            </a:pPr>
            <a:r>
              <a:rPr sz="1200" b="0">
                <a:solidFill>
                  <a:srgbClr val="E8783F"/>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5BDAB615-FFAE-4D5E-8BD9-E8E8822EE0FB}"/>
              </a:ext>
            </a:extLst>
          </p:cNvPr>
          <p:cNvSpPr>
            <a:spLocks xmlns:a="http://schemas.openxmlformats.org/drawingml/2006/main" noGrp="1"/>
          </p:cNvSpPr>
          <p:nvPr/>
        </p:nvSpPr>
        <p:spPr>
          <a:xfrm xmlns:a="http://schemas.openxmlformats.org/drawingml/2006/main">
            <a:off x="3581400" y="2724150"/>
            <a:ext cx="1619250" cy="87630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FFFFFF"/>
                </a:solidFill>
                <a:latin typeface="Yu Gothic"/>
                <a:ea typeface="Yu Gothic"/>
                <a:cs typeface="Yu Gothic"/>
              </a:defRPr>
            </a:pPr>
            <a:r>
              <a:rPr sz="1425" b="1">
                <a:solidFill>
                  <a:srgbClr val="FFFFFF"/>
                </a:solidFill>
                <a:latin typeface="Yu Gothic"/>
                <a:ea typeface="Yu Gothic"/>
                <a:cs typeface="Yu Gothic"/>
              </a:rPr>
              <a:t>電源分配</a:t>
            </a:r>
          </a:p>
          <a:p xmlns:a="http://schemas.openxmlformats.org/drawingml/2006/main">
            <a:pPr>
              <a:defRPr sz="1425" b="1">
                <a:solidFill>
                  <a:srgbClr val="FFFFFF"/>
                </a:solidFill>
                <a:latin typeface="Yu Gothic"/>
                <a:ea typeface="Yu Gothic"/>
                <a:cs typeface="Yu Gothic"/>
              </a:defRPr>
            </a:pPr>
            <a:r>
              <a:rPr sz="1425" b="1">
                <a:solidFill>
                  <a:srgbClr val="FFFFFF"/>
                </a:solidFill>
                <a:latin typeface="Yu Gothic"/>
                <a:ea typeface="Yu Gothic"/>
                <a:cs typeface="Yu Gothic"/>
              </a:rPr>
              <a:t>ヒューズ</a:t>
            </a:r>
          </a:p>
        </p:txBody>
      </p:sp>
      <p:sp>
        <p:nvSpPr>
          <p:cNvPr id="10" name="">
            <a:extLst xmlns:a="http://schemas.openxmlformats.org/drawingml/2006/main">
              <a:ext uri="{FF2B5EF4-FFF2-40B4-BE49-F238E27FC236}">
                <a16:creationId xmlns:a16="http://schemas.microsoft.com/office/drawing/2014/main" id="{FEDA9F60-0606-4848-977B-3A6597B47D2A}"/>
              </a:ext>
            </a:extLst>
          </p:cNvPr>
          <p:cNvSpPr>
            <a:spLocks xmlns:a="http://schemas.openxmlformats.org/drawingml/2006/main" noGrp="1"/>
          </p:cNvSpPr>
          <p:nvPr/>
        </p:nvSpPr>
        <p:spPr>
          <a:xfrm xmlns:a="http://schemas.openxmlformats.org/drawingml/2006/main">
            <a:off x="5200650" y="3152775"/>
            <a:ext cx="800100" cy="0"/>
          </a:xfrm>
          <a:prstGeom xmlns:a="http://schemas.openxmlformats.org/drawingml/2006/main" prst="line">
            <a:avLst/>
          </a:prstGeom>
          <a:noFill xmlns:a="http://schemas.openxmlformats.org/drawingml/2006/main"/>
          <a:ln xmlns:a="http://schemas.openxmlformats.org/drawingml/2006/main" w="28575">
            <a:solidFill>
              <a:srgbClr val="E8783F"/>
            </a:solidFill>
          </a:ln>
        </p:spPr>
      </p:sp>
      <p:sp>
        <p:nvSpPr>
          <p:cNvPr id="11" name="">
            <a:extLst xmlns:a="http://schemas.openxmlformats.org/drawingml/2006/main">
              <a:ext uri="{FF2B5EF4-FFF2-40B4-BE49-F238E27FC236}">
                <a16:creationId xmlns:a16="http://schemas.microsoft.com/office/drawing/2014/main" id="{EF7D0BF3-A5AF-48A7-8F5A-32013A61AE4A}"/>
              </a:ext>
            </a:extLst>
          </p:cNvPr>
          <p:cNvSpPr>
            <a:spLocks xmlns:a="http://schemas.openxmlformats.org/drawingml/2006/main" noGrp="1"/>
          </p:cNvSpPr>
          <p:nvPr/>
        </p:nvSpPr>
        <p:spPr>
          <a:xfrm xmlns:a="http://schemas.openxmlformats.org/drawingml/2006/main">
            <a:off x="5895975" y="30384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E8783F"/>
                </a:solidFill>
                <a:latin typeface="Yu Gothic"/>
                <a:ea typeface="Yu Gothic"/>
                <a:cs typeface="Yu Gothic"/>
              </a:defRPr>
            </a:pPr>
            <a:r>
              <a:rPr sz="1200" b="0">
                <a:solidFill>
                  <a:srgbClr val="E8783F"/>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C5EECF09-3240-4CC6-8D92-5B855F230244}"/>
              </a:ext>
            </a:extLst>
          </p:cNvPr>
          <p:cNvSpPr>
            <a:spLocks xmlns:a="http://schemas.openxmlformats.org/drawingml/2006/main" noGrp="1"/>
          </p:cNvSpPr>
          <p:nvPr/>
        </p:nvSpPr>
        <p:spPr>
          <a:xfrm xmlns:a="http://schemas.openxmlformats.org/drawingml/2006/main">
            <a:off x="6172200" y="2857500"/>
            <a:ext cx="1714500" cy="5905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関節モータ</a:t>
            </a:r>
          </a:p>
        </p:txBody>
      </p:sp>
      <p:sp>
        <p:nvSpPr>
          <p:cNvPr id="13" name="">
            <a:extLst xmlns:a="http://schemas.openxmlformats.org/drawingml/2006/main">
              <a:ext uri="{FF2B5EF4-FFF2-40B4-BE49-F238E27FC236}">
                <a16:creationId xmlns:a16="http://schemas.microsoft.com/office/drawing/2014/main" id="{666D6471-B6F1-436C-AFF7-4A50173C8931}"/>
              </a:ext>
            </a:extLst>
          </p:cNvPr>
          <p:cNvSpPr>
            <a:spLocks xmlns:a="http://schemas.openxmlformats.org/drawingml/2006/main" noGrp="1"/>
          </p:cNvSpPr>
          <p:nvPr/>
        </p:nvSpPr>
        <p:spPr>
          <a:xfrm xmlns:a="http://schemas.openxmlformats.org/drawingml/2006/main">
            <a:off x="7886700" y="3152775"/>
            <a:ext cx="781050" cy="0"/>
          </a:xfrm>
          <a:prstGeom xmlns:a="http://schemas.openxmlformats.org/drawingml/2006/main" prst="line">
            <a:avLst/>
          </a:prstGeom>
          <a:noFill xmlns:a="http://schemas.openxmlformats.org/drawingml/2006/main"/>
          <a:ln xmlns:a="http://schemas.openxmlformats.org/drawingml/2006/main" w="28575">
            <a:solidFill>
              <a:srgbClr val="E8783F"/>
            </a:solidFill>
          </a:ln>
        </p:spPr>
      </p:sp>
      <p:sp>
        <p:nvSpPr>
          <p:cNvPr id="14" name="">
            <a:extLst xmlns:a="http://schemas.openxmlformats.org/drawingml/2006/main">
              <a:ext uri="{FF2B5EF4-FFF2-40B4-BE49-F238E27FC236}">
                <a16:creationId xmlns:a16="http://schemas.microsoft.com/office/drawing/2014/main" id="{898C799B-5279-4F5A-B3D4-62F01D1B354E}"/>
              </a:ext>
            </a:extLst>
          </p:cNvPr>
          <p:cNvSpPr>
            <a:spLocks xmlns:a="http://schemas.openxmlformats.org/drawingml/2006/main" noGrp="1"/>
          </p:cNvSpPr>
          <p:nvPr/>
        </p:nvSpPr>
        <p:spPr>
          <a:xfrm xmlns:a="http://schemas.openxmlformats.org/drawingml/2006/main">
            <a:off x="8562975" y="30384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E8783F"/>
                </a:solidFill>
                <a:latin typeface="Yu Gothic"/>
                <a:ea typeface="Yu Gothic"/>
                <a:cs typeface="Yu Gothic"/>
              </a:defRPr>
            </a:pPr>
            <a:r>
              <a:rPr sz="1200" b="0">
                <a:solidFill>
                  <a:srgbClr val="E8783F"/>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8DCEB5A7-9F0C-4EC3-A472-3BD4756F6A88}"/>
              </a:ext>
            </a:extLst>
          </p:cNvPr>
          <p:cNvSpPr>
            <a:spLocks xmlns:a="http://schemas.openxmlformats.org/drawingml/2006/main" noGrp="1"/>
          </p:cNvSpPr>
          <p:nvPr/>
        </p:nvSpPr>
        <p:spPr>
          <a:xfrm xmlns:a="http://schemas.openxmlformats.org/drawingml/2006/main">
            <a:off x="8839200" y="2857500"/>
            <a:ext cx="1524000" cy="5905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左右の脚</a:t>
            </a:r>
          </a:p>
        </p:txBody>
      </p:sp>
      <p:sp>
        <p:nvSpPr>
          <p:cNvPr id="16" name="">
            <a:extLst xmlns:a="http://schemas.openxmlformats.org/drawingml/2006/main">
              <a:ext uri="{FF2B5EF4-FFF2-40B4-BE49-F238E27FC236}">
                <a16:creationId xmlns:a16="http://schemas.microsoft.com/office/drawing/2014/main" id="{06ED2AFF-67FA-4833-9A64-DE6E7D3550EA}"/>
              </a:ext>
            </a:extLst>
          </p:cNvPr>
          <p:cNvSpPr>
            <a:spLocks xmlns:a="http://schemas.openxmlformats.org/drawingml/2006/main" noGrp="1"/>
          </p:cNvSpPr>
          <p:nvPr/>
        </p:nvSpPr>
        <p:spPr>
          <a:xfrm xmlns:a="http://schemas.openxmlformats.org/drawingml/2006/main">
            <a:off x="1676400" y="4762500"/>
            <a:ext cx="1428750" cy="590550"/>
          </a:xfrm>
          <a:prstGeom xmlns:a="http://schemas.openxmlformats.org/drawingml/2006/main" prst="rect">
            <a:avLst/>
          </a:prstGeom>
          <a:solidFill xmlns:a="http://schemas.openxmlformats.org/drawingml/2006/main">
            <a:srgbClr val="1C5A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Jetson</a:t>
            </a:r>
          </a:p>
        </p:txBody>
      </p:sp>
      <p:sp>
        <p:nvSpPr>
          <p:cNvPr id="17" name="">
            <a:extLst xmlns:a="http://schemas.openxmlformats.org/drawingml/2006/main">
              <a:ext uri="{FF2B5EF4-FFF2-40B4-BE49-F238E27FC236}">
                <a16:creationId xmlns:a16="http://schemas.microsoft.com/office/drawing/2014/main" id="{70515F00-587B-49F9-93B7-A5550802D2FB}"/>
              </a:ext>
            </a:extLst>
          </p:cNvPr>
          <p:cNvSpPr>
            <a:spLocks xmlns:a="http://schemas.openxmlformats.org/drawingml/2006/main" noGrp="1"/>
          </p:cNvSpPr>
          <p:nvPr/>
        </p:nvSpPr>
        <p:spPr>
          <a:xfrm xmlns:a="http://schemas.openxmlformats.org/drawingml/2006/main">
            <a:off x="3105150" y="5057775"/>
            <a:ext cx="857250" cy="0"/>
          </a:xfrm>
          <a:prstGeom xmlns:a="http://schemas.openxmlformats.org/drawingml/2006/main" prst="line">
            <a:avLst/>
          </a:prstGeom>
          <a:noFill xmlns:a="http://schemas.openxmlformats.org/drawingml/2006/main"/>
          <a:ln xmlns:a="http://schemas.openxmlformats.org/drawingml/2006/main" w="28575">
            <a:solidFill>
              <a:srgbClr val="32A5B5"/>
            </a:solidFill>
          </a:ln>
        </p:spPr>
      </p:sp>
      <p:sp>
        <p:nvSpPr>
          <p:cNvPr id="18" name="">
            <a:extLst xmlns:a="http://schemas.openxmlformats.org/drawingml/2006/main">
              <a:ext uri="{FF2B5EF4-FFF2-40B4-BE49-F238E27FC236}">
                <a16:creationId xmlns:a16="http://schemas.microsoft.com/office/drawing/2014/main" id="{E70FC483-B0EC-47A3-82A1-219F3810ADE7}"/>
              </a:ext>
            </a:extLst>
          </p:cNvPr>
          <p:cNvSpPr>
            <a:spLocks xmlns:a="http://schemas.openxmlformats.org/drawingml/2006/main" noGrp="1"/>
          </p:cNvSpPr>
          <p:nvPr/>
        </p:nvSpPr>
        <p:spPr>
          <a:xfrm xmlns:a="http://schemas.openxmlformats.org/drawingml/2006/main">
            <a:off x="3857625" y="49434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32A5B5"/>
                </a:solidFill>
                <a:latin typeface="Yu Gothic"/>
                <a:ea typeface="Yu Gothic"/>
                <a:cs typeface="Yu Gothic"/>
              </a:defRPr>
            </a:pPr>
            <a:r>
              <a:rPr sz="1200" b="0">
                <a:solidFill>
                  <a:srgbClr val="32A5B5"/>
                </a:solidFill>
                <a:latin typeface="Yu Gothic"/>
                <a:ea typeface="Yu Gothic"/>
                <a:cs typeface="Yu Gothic"/>
              </a:rPr>
              <a:t>▶</a:t>
            </a:r>
          </a:p>
        </p:txBody>
      </p:sp>
      <p:sp>
        <p:nvSpPr>
          <p:cNvPr id="19" name="">
            <a:extLst xmlns:a="http://schemas.openxmlformats.org/drawingml/2006/main">
              <a:ext uri="{FF2B5EF4-FFF2-40B4-BE49-F238E27FC236}">
                <a16:creationId xmlns:a16="http://schemas.microsoft.com/office/drawing/2014/main" id="{00309A2B-5F43-4328-ADF6-4A12090797D8}"/>
              </a:ext>
            </a:extLst>
          </p:cNvPr>
          <p:cNvSpPr>
            <a:spLocks xmlns:a="http://schemas.openxmlformats.org/drawingml/2006/main" noGrp="1"/>
          </p:cNvSpPr>
          <p:nvPr/>
        </p:nvSpPr>
        <p:spPr>
          <a:xfrm xmlns:a="http://schemas.openxmlformats.org/drawingml/2006/main">
            <a:off x="4114800" y="4762500"/>
            <a:ext cx="1524000" cy="590550"/>
          </a:xfrm>
          <a:prstGeom xmlns:a="http://schemas.openxmlformats.org/drawingml/2006/main" prst="rect">
            <a:avLst/>
          </a:prstGeom>
          <a:solidFill xmlns:a="http://schemas.openxmlformats.org/drawingml/2006/main">
            <a:srgbClr val="32A5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USB-CAN</a:t>
            </a:r>
          </a:p>
        </p:txBody>
      </p:sp>
      <p:sp>
        <p:nvSpPr>
          <p:cNvPr id="20" name="">
            <a:extLst xmlns:a="http://schemas.openxmlformats.org/drawingml/2006/main">
              <a:ext uri="{FF2B5EF4-FFF2-40B4-BE49-F238E27FC236}">
                <a16:creationId xmlns:a16="http://schemas.microsoft.com/office/drawing/2014/main" id="{53B5F3B7-FB96-4EC2-B1F3-F0555A14ABEA}"/>
              </a:ext>
            </a:extLst>
          </p:cNvPr>
          <p:cNvSpPr>
            <a:spLocks xmlns:a="http://schemas.openxmlformats.org/drawingml/2006/main" noGrp="1"/>
          </p:cNvSpPr>
          <p:nvPr/>
        </p:nvSpPr>
        <p:spPr>
          <a:xfrm xmlns:a="http://schemas.openxmlformats.org/drawingml/2006/main">
            <a:off x="5638800" y="5057775"/>
            <a:ext cx="857250" cy="0"/>
          </a:xfrm>
          <a:prstGeom xmlns:a="http://schemas.openxmlformats.org/drawingml/2006/main" prst="line">
            <a:avLst/>
          </a:prstGeom>
          <a:noFill xmlns:a="http://schemas.openxmlformats.org/drawingml/2006/main"/>
          <a:ln xmlns:a="http://schemas.openxmlformats.org/drawingml/2006/main" w="28575">
            <a:solidFill>
              <a:srgbClr val="32A5B5"/>
            </a:solidFill>
          </a:ln>
        </p:spPr>
      </p:sp>
      <p:sp>
        <p:nvSpPr>
          <p:cNvPr id="21" name="">
            <a:extLst xmlns:a="http://schemas.openxmlformats.org/drawingml/2006/main">
              <a:ext uri="{FF2B5EF4-FFF2-40B4-BE49-F238E27FC236}">
                <a16:creationId xmlns:a16="http://schemas.microsoft.com/office/drawing/2014/main" id="{8DEB666D-D35A-40B3-9A25-45F7A087AFD0}"/>
              </a:ext>
            </a:extLst>
          </p:cNvPr>
          <p:cNvSpPr>
            <a:spLocks xmlns:a="http://schemas.openxmlformats.org/drawingml/2006/main" noGrp="1"/>
          </p:cNvSpPr>
          <p:nvPr/>
        </p:nvSpPr>
        <p:spPr>
          <a:xfrm xmlns:a="http://schemas.openxmlformats.org/drawingml/2006/main">
            <a:off x="6391275" y="49434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32A5B5"/>
                </a:solidFill>
                <a:latin typeface="Yu Gothic"/>
                <a:ea typeface="Yu Gothic"/>
                <a:cs typeface="Yu Gothic"/>
              </a:defRPr>
            </a:pPr>
            <a:r>
              <a:rPr sz="1200" b="0">
                <a:solidFill>
                  <a:srgbClr val="32A5B5"/>
                </a:solidFill>
                <a:latin typeface="Yu Gothic"/>
                <a:ea typeface="Yu Gothic"/>
                <a:cs typeface="Yu Gothic"/>
              </a:rPr>
              <a:t>▶</a:t>
            </a:r>
          </a:p>
        </p:txBody>
      </p:sp>
      <p:sp>
        <p:nvSpPr>
          <p:cNvPr id="22" name="">
            <a:extLst xmlns:a="http://schemas.openxmlformats.org/drawingml/2006/main">
              <a:ext uri="{FF2B5EF4-FFF2-40B4-BE49-F238E27FC236}">
                <a16:creationId xmlns:a16="http://schemas.microsoft.com/office/drawing/2014/main" id="{525F6096-B6E0-447A-85F2-72C97B445A45}"/>
              </a:ext>
            </a:extLst>
          </p:cNvPr>
          <p:cNvSpPr>
            <a:spLocks xmlns:a="http://schemas.openxmlformats.org/drawingml/2006/main" noGrp="1"/>
          </p:cNvSpPr>
          <p:nvPr/>
        </p:nvSpPr>
        <p:spPr>
          <a:xfrm xmlns:a="http://schemas.openxmlformats.org/drawingml/2006/main">
            <a:off x="6648450" y="4762500"/>
            <a:ext cx="1524000" cy="590550"/>
          </a:xfrm>
          <a:prstGeom xmlns:a="http://schemas.openxmlformats.org/drawingml/2006/main" prst="rect">
            <a:avLst/>
          </a:prstGeom>
          <a:solidFill xmlns:a="http://schemas.openxmlformats.org/drawingml/2006/main">
            <a:srgbClr val="1C5A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CANバス</a:t>
            </a:r>
          </a:p>
        </p:txBody>
      </p:sp>
      <p:sp>
        <p:nvSpPr>
          <p:cNvPr id="23" name="">
            <a:extLst xmlns:a="http://schemas.openxmlformats.org/drawingml/2006/main">
              <a:ext uri="{FF2B5EF4-FFF2-40B4-BE49-F238E27FC236}">
                <a16:creationId xmlns:a16="http://schemas.microsoft.com/office/drawing/2014/main" id="{00DF1580-78DC-4483-9868-1DA01789E7E8}"/>
              </a:ext>
            </a:extLst>
          </p:cNvPr>
          <p:cNvSpPr>
            <a:spLocks xmlns:a="http://schemas.openxmlformats.org/drawingml/2006/main" noGrp="1"/>
          </p:cNvSpPr>
          <p:nvPr/>
        </p:nvSpPr>
        <p:spPr>
          <a:xfrm xmlns:a="http://schemas.openxmlformats.org/drawingml/2006/main">
            <a:off x="8172450" y="5057775"/>
            <a:ext cx="857250" cy="0"/>
          </a:xfrm>
          <a:prstGeom xmlns:a="http://schemas.openxmlformats.org/drawingml/2006/main" prst="line">
            <a:avLst/>
          </a:prstGeom>
          <a:noFill xmlns:a="http://schemas.openxmlformats.org/drawingml/2006/main"/>
          <a:ln xmlns:a="http://schemas.openxmlformats.org/drawingml/2006/main" w="28575">
            <a:solidFill>
              <a:srgbClr val="32A5B5"/>
            </a:solidFill>
          </a:ln>
        </p:spPr>
      </p:sp>
      <p:sp>
        <p:nvSpPr>
          <p:cNvPr id="24" name="">
            <a:extLst xmlns:a="http://schemas.openxmlformats.org/drawingml/2006/main">
              <a:ext uri="{FF2B5EF4-FFF2-40B4-BE49-F238E27FC236}">
                <a16:creationId xmlns:a16="http://schemas.microsoft.com/office/drawing/2014/main" id="{E97F411F-40BC-41BA-9A65-F9C49F42497F}"/>
              </a:ext>
            </a:extLst>
          </p:cNvPr>
          <p:cNvSpPr>
            <a:spLocks xmlns:a="http://schemas.openxmlformats.org/drawingml/2006/main" noGrp="1"/>
          </p:cNvSpPr>
          <p:nvPr/>
        </p:nvSpPr>
        <p:spPr>
          <a:xfrm xmlns:a="http://schemas.openxmlformats.org/drawingml/2006/main">
            <a:off x="8924925" y="494347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32A5B5"/>
                </a:solidFill>
                <a:latin typeface="Yu Gothic"/>
                <a:ea typeface="Yu Gothic"/>
                <a:cs typeface="Yu Gothic"/>
              </a:defRPr>
            </a:pPr>
            <a:r>
              <a:rPr sz="1200" b="0">
                <a:solidFill>
                  <a:srgbClr val="32A5B5"/>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DBD76472-0B42-48BC-9F52-C60743DD7D84}"/>
              </a:ext>
            </a:extLst>
          </p:cNvPr>
          <p:cNvSpPr>
            <a:spLocks xmlns:a="http://schemas.openxmlformats.org/drawingml/2006/main" noGrp="1"/>
          </p:cNvSpPr>
          <p:nvPr/>
        </p:nvSpPr>
        <p:spPr>
          <a:xfrm xmlns:a="http://schemas.openxmlformats.org/drawingml/2006/main">
            <a:off x="9182100" y="4762500"/>
            <a:ext cx="1524000" cy="590550"/>
          </a:xfrm>
          <a:prstGeom xmlns:a="http://schemas.openxmlformats.org/drawingml/2006/main" prst="rect">
            <a:avLst/>
          </a:prstGeom>
          <a:solidFill xmlns:a="http://schemas.openxmlformats.org/drawingml/2006/main">
            <a:srgbClr val="1C5A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FFFFF"/>
                </a:solidFill>
                <a:latin typeface="Yu Gothic"/>
                <a:ea typeface="Yu Gothic"/>
                <a:cs typeface="Yu Gothic"/>
              </a:defRPr>
            </a:pPr>
            <a:r>
              <a:rPr sz="1500" b="1">
                <a:solidFill>
                  <a:srgbClr val="FFFFFF"/>
                </a:solidFill>
                <a:latin typeface="Yu Gothic"/>
                <a:ea typeface="Yu Gothic"/>
                <a:cs typeface="Yu Gothic"/>
              </a:rPr>
              <a:t>各モータ</a:t>
            </a:r>
          </a:p>
        </p:txBody>
      </p:sp>
      <p:sp>
        <p:nvSpPr>
          <p:cNvPr id="26" name="">
            <a:extLst xmlns:a="http://schemas.openxmlformats.org/drawingml/2006/main">
              <a:ext uri="{FF2B5EF4-FFF2-40B4-BE49-F238E27FC236}">
                <a16:creationId xmlns:a16="http://schemas.microsoft.com/office/drawing/2014/main" id="{E339B5FA-0EE6-46F1-BD34-A52B85E5FDB4}"/>
              </a:ext>
            </a:extLst>
          </p:cNvPr>
          <p:cNvSpPr>
            <a:spLocks xmlns:a="http://schemas.openxmlformats.org/drawingml/2006/main" noGrp="1"/>
          </p:cNvSpPr>
          <p:nvPr/>
        </p:nvSpPr>
        <p:spPr>
          <a:xfrm xmlns:a="http://schemas.openxmlformats.org/drawingml/2006/main">
            <a:off x="1047750" y="58102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E8783F"/>
                </a:solidFill>
                <a:latin typeface="Yu Gothic"/>
                <a:ea typeface="Yu Gothic"/>
                <a:cs typeface="Yu Gothic"/>
              </a:defRPr>
            </a:pPr>
            <a:r>
              <a:rPr sz="1125" b="1">
                <a:solidFill>
                  <a:srgbClr val="E8783F"/>
                </a:solidFill>
                <a:latin typeface="Yu Gothic"/>
                <a:ea typeface="Yu Gothic"/>
                <a:cs typeface="Yu Gothic"/>
              </a:rPr>
              <a:t>橙：電力の流れ</a:t>
            </a:r>
          </a:p>
        </p:txBody>
      </p:sp>
      <p:sp>
        <p:nvSpPr>
          <p:cNvPr id="27" name="">
            <a:extLst xmlns:a="http://schemas.openxmlformats.org/drawingml/2006/main">
              <a:ext uri="{FF2B5EF4-FFF2-40B4-BE49-F238E27FC236}">
                <a16:creationId xmlns:a16="http://schemas.microsoft.com/office/drawing/2014/main" id="{1B69EDFE-77E8-4590-9B0B-3285C4E5F238}"/>
              </a:ext>
            </a:extLst>
          </p:cNvPr>
          <p:cNvSpPr>
            <a:spLocks xmlns:a="http://schemas.openxmlformats.org/drawingml/2006/main" noGrp="1"/>
          </p:cNvSpPr>
          <p:nvPr/>
        </p:nvSpPr>
        <p:spPr>
          <a:xfrm xmlns:a="http://schemas.openxmlformats.org/drawingml/2006/main">
            <a:off x="3143250" y="581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defRPr sz="1125" b="1">
                <a:solidFill>
                  <a:srgbClr val="32A5B5"/>
                </a:solidFill>
                <a:latin typeface="Yu Gothic"/>
                <a:ea typeface="Yu Gothic"/>
                <a:cs typeface="Yu Gothic"/>
              </a:defRPr>
            </a:pPr>
            <a:r>
              <a:rPr sz="1125" b="1">
                <a:solidFill>
                  <a:srgbClr val="32A5B5"/>
                </a:solidFill>
                <a:latin typeface="Yu Gothic"/>
                <a:ea typeface="Yu Gothic"/>
                <a:cs typeface="Yu Gothic"/>
              </a:rPr>
              <a:t>青緑：通信の流れ</a:t>
            </a:r>
          </a:p>
        </p:txBody>
      </p:sp>
      <p:sp>
        <p:nvSpPr>
          <p:cNvPr id="28" name="">
            <a:extLst xmlns:a="http://schemas.openxmlformats.org/drawingml/2006/main">
              <a:ext uri="{FF2B5EF4-FFF2-40B4-BE49-F238E27FC236}">
                <a16:creationId xmlns:a16="http://schemas.microsoft.com/office/drawing/2014/main" id="{609EBC66-3DF0-483C-A02A-053A4364DA1E}"/>
              </a:ext>
            </a:extLst>
          </p:cNvPr>
          <p:cNvSpPr>
            <a:spLocks xmlns:a="http://schemas.openxmlformats.org/drawingml/2006/main" noGrp="1"/>
          </p:cNvSpPr>
          <p:nvPr/>
        </p:nvSpPr>
        <p:spPr>
          <a:xfrm xmlns:a="http://schemas.openxmlformats.org/drawingml/2006/main">
            <a:off x="6191250" y="581025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defRPr sz="1275" b="1">
                <a:solidFill>
                  <a:srgbClr val="102B46"/>
                </a:solidFill>
                <a:latin typeface="Yu Gothic"/>
                <a:ea typeface="Yu Gothic"/>
                <a:cs typeface="Yu Gothic"/>
              </a:defRPr>
            </a:pPr>
            <a:r>
              <a:rPr sz="1275" b="1">
                <a:solidFill>
                  <a:srgbClr val="102B46"/>
                </a:solidFill>
                <a:latin typeface="Yu Gothic"/>
                <a:ea typeface="Yu Gothic"/>
                <a:cs typeface="Yu Gothic"/>
              </a:rPr>
              <a:t>確認項目：極性、CAN ID、終端、非常停止</a:t>
            </a:r>
          </a:p>
        </p:txBody>
      </p:sp>
    </p:spTree>
    <p:extLst>
      <p:ext uri="{BB962C8B-B14F-4D97-AF65-F5344CB8AC3E}">
        <p14:creationId xmlns:p14="http://schemas.microsoft.com/office/powerpoint/2010/main" val="11199576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595098C-0D74-423B-91C0-47303768CBE9}"/>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制御パート：立位から一歩まで</a:t>
            </a:r>
          </a:p>
        </p:txBody>
      </p:sp>
      <p:sp>
        <p:nvSpPr>
          <p:cNvPr id="2" name="">
            <a:extLst xmlns:a="http://schemas.openxmlformats.org/drawingml/2006/main">
              <a:ext uri="{FF2B5EF4-FFF2-40B4-BE49-F238E27FC236}">
                <a16:creationId xmlns:a16="http://schemas.microsoft.com/office/drawing/2014/main" id="{1CDAC83F-3C80-426F-9001-BFCD35B9D58F}"/>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07</a:t>
            </a:r>
          </a:p>
        </p:txBody>
      </p:sp>
      <p:sp>
        <p:nvSpPr>
          <p:cNvPr id="3" name="">
            <a:extLst xmlns:a="http://schemas.openxmlformats.org/drawingml/2006/main">
              <a:ext uri="{FF2B5EF4-FFF2-40B4-BE49-F238E27FC236}">
                <a16:creationId xmlns:a16="http://schemas.microsoft.com/office/drawing/2014/main" id="{D4C22548-18F2-4E3C-AA21-F2604EF803B0}"/>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89017E94-C861-45D9-A128-BC87EB28B46B}"/>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C2C95A5D-48DD-4906-AFDA-842BDF7D0E7E}"/>
              </a:ext>
            </a:extLst>
          </p:cNvPr>
          <p:cNvSpPr>
            <a:spLocks xmlns:a="http://schemas.openxmlformats.org/drawingml/2006/main" noGrp="1"/>
          </p:cNvSpPr>
          <p:nvPr/>
        </p:nvSpPr>
        <p:spPr>
          <a:xfrm xmlns:a="http://schemas.openxmlformats.org/drawingml/2006/main">
            <a:off x="704850" y="14097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02B46"/>
                </a:solidFill>
                <a:latin typeface="Yu Gothic"/>
                <a:ea typeface="Yu Gothic"/>
                <a:cs typeface="Yu Gothic"/>
              </a:defRPr>
            </a:pPr>
            <a:r>
              <a:rPr sz="1950" b="1">
                <a:solidFill>
                  <a:srgbClr val="102B46"/>
                </a:solidFill>
                <a:latin typeface="Yu Gothic"/>
                <a:ea typeface="Yu Gothic"/>
                <a:cs typeface="Yu Gothic"/>
              </a:rPr>
              <a:t>制御は、姿勢を保ちながら片脚を振り出す順番で実装する</a:t>
            </a:r>
          </a:p>
        </p:txBody>
      </p:sp>
      <p:sp>
        <p:nvSpPr>
          <p:cNvPr id="6" name="">
            <a:extLst xmlns:a="http://schemas.openxmlformats.org/drawingml/2006/main">
              <a:ext uri="{FF2B5EF4-FFF2-40B4-BE49-F238E27FC236}">
                <a16:creationId xmlns:a16="http://schemas.microsoft.com/office/drawing/2014/main" id="{A0F56F9C-BECA-4909-AB48-541D5A0CCE5A}"/>
              </a:ext>
            </a:extLst>
          </p:cNvPr>
          <p:cNvSpPr>
            <a:spLocks xmlns:a="http://schemas.openxmlformats.org/drawingml/2006/main" noGrp="1"/>
          </p:cNvSpPr>
          <p:nvPr/>
        </p:nvSpPr>
        <p:spPr>
          <a:xfrm xmlns:a="http://schemas.openxmlformats.org/drawingml/2006/main">
            <a:off x="742950" y="2714625"/>
            <a:ext cx="2286000" cy="2286000"/>
          </a:xfrm>
          <a:prstGeom xmlns:a="http://schemas.openxmlformats.org/drawingml/2006/main" prst="rect">
            <a:avLst/>
          </a:prstGeom>
          <a:solidFill xmlns:a="http://schemas.openxmlformats.org/drawingml/2006/main">
            <a:srgbClr val="E8F1F5"/>
          </a:solidFill>
          <a:ln xmlns:a="http://schemas.openxmlformats.org/drawingml/2006/main" w="19050">
            <a:solidFill>
              <a:srgbClr val="32A5B5"/>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90E35331-5E89-4613-AC0A-AF2DACB7CE6F}"/>
              </a:ext>
            </a:extLst>
          </p:cNvPr>
          <p:cNvSpPr>
            <a:spLocks xmlns:a="http://schemas.openxmlformats.org/drawingml/2006/main" noGrp="1"/>
          </p:cNvSpPr>
          <p:nvPr/>
        </p:nvSpPr>
        <p:spPr>
          <a:xfrm xmlns:a="http://schemas.openxmlformats.org/drawingml/2006/main">
            <a:off x="933450" y="2914650"/>
            <a:ext cx="400050" cy="400050"/>
          </a:xfrm>
          <a:prstGeom xmlns:a="http://schemas.openxmlformats.org/drawingml/2006/main" prst="rect">
            <a:avLst/>
          </a:prstGeom>
          <a:solidFill xmlns:a="http://schemas.openxmlformats.org/drawingml/2006/main">
            <a:srgbClr val="32A5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FFFFFF"/>
                </a:solidFill>
                <a:latin typeface="Yu Gothic"/>
                <a:ea typeface="Yu Gothic"/>
                <a:cs typeface="Yu Gothic"/>
              </a:defRPr>
            </a:pPr>
            <a:r>
              <a:rPr sz="1725" b="1">
                <a:solidFill>
                  <a:srgbClr val="FFFFFF"/>
                </a:solidFill>
                <a:latin typeface="Yu Gothic"/>
                <a:ea typeface="Yu Gothic"/>
                <a:cs typeface="Yu Gothic"/>
              </a:rPr>
              <a:t>1</a:t>
            </a:r>
          </a:p>
        </p:txBody>
      </p:sp>
      <p:sp>
        <p:nvSpPr>
          <p:cNvPr id="8" name="">
            <a:extLst xmlns:a="http://schemas.openxmlformats.org/drawingml/2006/main">
              <a:ext uri="{FF2B5EF4-FFF2-40B4-BE49-F238E27FC236}">
                <a16:creationId xmlns:a16="http://schemas.microsoft.com/office/drawing/2014/main" id="{EE3A7576-A417-4B31-916B-E85B7052255E}"/>
              </a:ext>
            </a:extLst>
          </p:cNvPr>
          <p:cNvSpPr>
            <a:spLocks xmlns:a="http://schemas.openxmlformats.org/drawingml/2006/main" noGrp="1"/>
          </p:cNvSpPr>
          <p:nvPr/>
        </p:nvSpPr>
        <p:spPr>
          <a:xfrm xmlns:a="http://schemas.openxmlformats.org/drawingml/2006/main">
            <a:off x="93345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913"/>
          </a:bodyPr>
          <a:lstStyle xmlns:a="http://schemas.openxmlformats.org/drawingml/2006/main"/>
          <a:p xmlns:a="http://schemas.openxmlformats.org/drawingml/2006/main">
            <a:pPr>
              <a:defRPr sz="1725" b="1">
                <a:solidFill>
                  <a:srgbClr val="102B46"/>
                </a:solidFill>
                <a:latin typeface="Yu Gothic"/>
                <a:ea typeface="Yu Gothic"/>
                <a:cs typeface="Yu Gothic"/>
              </a:defRPr>
            </a:pPr>
            <a:r>
              <a:rPr sz="1725" b="1">
                <a:solidFill>
                  <a:srgbClr val="102B46"/>
                </a:solidFill>
                <a:latin typeface="Yu Gothic"/>
                <a:ea typeface="Yu Gothic"/>
                <a:cs typeface="Yu Gothic"/>
              </a:rPr>
              <a:t>姿勢推定</a:t>
            </a:r>
          </a:p>
        </p:txBody>
      </p:sp>
      <p:sp>
        <p:nvSpPr>
          <p:cNvPr id="9" name="">
            <a:extLst xmlns:a="http://schemas.openxmlformats.org/drawingml/2006/main">
              <a:ext uri="{FF2B5EF4-FFF2-40B4-BE49-F238E27FC236}">
                <a16:creationId xmlns:a16="http://schemas.microsoft.com/office/drawing/2014/main" id="{0E054453-AAAD-4FDC-9152-14C82DB84BE2}"/>
              </a:ext>
            </a:extLst>
          </p:cNvPr>
          <p:cNvSpPr>
            <a:spLocks xmlns:a="http://schemas.openxmlformats.org/drawingml/2006/main" noGrp="1"/>
          </p:cNvSpPr>
          <p:nvPr/>
        </p:nvSpPr>
        <p:spPr>
          <a:xfrm xmlns:a="http://schemas.openxmlformats.org/drawingml/2006/main">
            <a:off x="933450" y="4010025"/>
            <a:ext cx="180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T265と関節角度から</a:t>
            </a:r>
          </a:p>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胴体の傾きを得る</a:t>
            </a:r>
          </a:p>
        </p:txBody>
      </p:sp>
      <p:sp>
        <p:nvSpPr>
          <p:cNvPr id="10" name="">
            <a:extLst xmlns:a="http://schemas.openxmlformats.org/drawingml/2006/main">
              <a:ext uri="{FF2B5EF4-FFF2-40B4-BE49-F238E27FC236}">
                <a16:creationId xmlns:a16="http://schemas.microsoft.com/office/drawing/2014/main" id="{7A709F9A-5A28-46D0-8DD9-D0B26667B338}"/>
              </a:ext>
            </a:extLst>
          </p:cNvPr>
          <p:cNvSpPr>
            <a:spLocks xmlns:a="http://schemas.openxmlformats.org/drawingml/2006/main" noGrp="1"/>
          </p:cNvSpPr>
          <p:nvPr/>
        </p:nvSpPr>
        <p:spPr>
          <a:xfrm xmlns:a="http://schemas.openxmlformats.org/drawingml/2006/main">
            <a:off x="3048000" y="3857625"/>
            <a:ext cx="361950"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11" name="">
            <a:extLst xmlns:a="http://schemas.openxmlformats.org/drawingml/2006/main">
              <a:ext uri="{FF2B5EF4-FFF2-40B4-BE49-F238E27FC236}">
                <a16:creationId xmlns:a16="http://schemas.microsoft.com/office/drawing/2014/main" id="{476196DD-1077-4246-B169-9E38D44B57AC}"/>
              </a:ext>
            </a:extLst>
          </p:cNvPr>
          <p:cNvSpPr>
            <a:spLocks xmlns:a="http://schemas.openxmlformats.org/drawingml/2006/main" noGrp="1"/>
          </p:cNvSpPr>
          <p:nvPr/>
        </p:nvSpPr>
        <p:spPr>
          <a:xfrm xmlns:a="http://schemas.openxmlformats.org/drawingml/2006/main">
            <a:off x="3305175" y="374332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93D26FC7-8061-4751-A43B-A585C7901A85}"/>
              </a:ext>
            </a:extLst>
          </p:cNvPr>
          <p:cNvSpPr>
            <a:spLocks xmlns:a="http://schemas.openxmlformats.org/drawingml/2006/main" noGrp="1"/>
          </p:cNvSpPr>
          <p:nvPr/>
        </p:nvSpPr>
        <p:spPr>
          <a:xfrm xmlns:a="http://schemas.openxmlformats.org/drawingml/2006/main">
            <a:off x="3505200" y="2714625"/>
            <a:ext cx="2286000" cy="2286000"/>
          </a:xfrm>
          <a:prstGeom xmlns:a="http://schemas.openxmlformats.org/drawingml/2006/main" prst="rect">
            <a:avLst/>
          </a:prstGeom>
          <a:solidFill xmlns:a="http://schemas.openxmlformats.org/drawingml/2006/main">
            <a:srgbClr val="F3EEE6"/>
          </a:solidFill>
          <a:ln xmlns:a="http://schemas.openxmlformats.org/drawingml/2006/main" w="19050">
            <a:solidFill>
              <a:srgbClr val="E8783F"/>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D1E38FBC-816C-4BB3-A6EF-ECD3ED1AA66F}"/>
              </a:ext>
            </a:extLst>
          </p:cNvPr>
          <p:cNvSpPr>
            <a:spLocks xmlns:a="http://schemas.openxmlformats.org/drawingml/2006/main" noGrp="1"/>
          </p:cNvSpPr>
          <p:nvPr/>
        </p:nvSpPr>
        <p:spPr>
          <a:xfrm xmlns:a="http://schemas.openxmlformats.org/drawingml/2006/main">
            <a:off x="3695700" y="2914650"/>
            <a:ext cx="400050" cy="40005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FFFFFF"/>
                </a:solidFill>
                <a:latin typeface="Yu Gothic"/>
                <a:ea typeface="Yu Gothic"/>
                <a:cs typeface="Yu Gothic"/>
              </a:defRPr>
            </a:pPr>
            <a:r>
              <a:rPr sz="1725" b="1">
                <a:solidFill>
                  <a:srgbClr val="FFFFFF"/>
                </a:solidFill>
                <a:latin typeface="Yu Gothic"/>
                <a:ea typeface="Yu Gothic"/>
                <a:cs typeface="Yu Gothic"/>
              </a:rPr>
              <a:t>2</a:t>
            </a:r>
          </a:p>
        </p:txBody>
      </p:sp>
      <p:sp>
        <p:nvSpPr>
          <p:cNvPr id="14" name="">
            <a:extLst xmlns:a="http://schemas.openxmlformats.org/drawingml/2006/main">
              <a:ext uri="{FF2B5EF4-FFF2-40B4-BE49-F238E27FC236}">
                <a16:creationId xmlns:a16="http://schemas.microsoft.com/office/drawing/2014/main" id="{6465BF21-93E9-4B89-B6F8-761C041AE9A9}"/>
              </a:ext>
            </a:extLst>
          </p:cNvPr>
          <p:cNvSpPr>
            <a:spLocks xmlns:a="http://schemas.openxmlformats.org/drawingml/2006/main" noGrp="1"/>
          </p:cNvSpPr>
          <p:nvPr/>
        </p:nvSpPr>
        <p:spPr>
          <a:xfrm xmlns:a="http://schemas.openxmlformats.org/drawingml/2006/main">
            <a:off x="369570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913"/>
          </a:bodyPr>
          <a:lstStyle xmlns:a="http://schemas.openxmlformats.org/drawingml/2006/main"/>
          <a:p xmlns:a="http://schemas.openxmlformats.org/drawingml/2006/main">
            <a:pPr>
              <a:defRPr sz="1725" b="1">
                <a:solidFill>
                  <a:srgbClr val="102B46"/>
                </a:solidFill>
                <a:latin typeface="Yu Gothic"/>
                <a:ea typeface="Yu Gothic"/>
                <a:cs typeface="Yu Gothic"/>
              </a:defRPr>
            </a:pPr>
            <a:r>
              <a:rPr sz="1725" b="1">
                <a:solidFill>
                  <a:srgbClr val="102B46"/>
                </a:solidFill>
                <a:latin typeface="Yu Gothic"/>
                <a:ea typeface="Yu Gothic"/>
                <a:cs typeface="Yu Gothic"/>
              </a:rPr>
              <a:t>目標生成</a:t>
            </a:r>
          </a:p>
        </p:txBody>
      </p:sp>
      <p:sp>
        <p:nvSpPr>
          <p:cNvPr id="15" name="">
            <a:extLst xmlns:a="http://schemas.openxmlformats.org/drawingml/2006/main">
              <a:ext uri="{FF2B5EF4-FFF2-40B4-BE49-F238E27FC236}">
                <a16:creationId xmlns:a16="http://schemas.microsoft.com/office/drawing/2014/main" id="{0FF2FE17-78AC-4C92-9A39-3FCFAA256188}"/>
              </a:ext>
            </a:extLst>
          </p:cNvPr>
          <p:cNvSpPr>
            <a:spLocks xmlns:a="http://schemas.openxmlformats.org/drawingml/2006/main" noGrp="1"/>
          </p:cNvSpPr>
          <p:nvPr/>
        </p:nvSpPr>
        <p:spPr>
          <a:xfrm xmlns:a="http://schemas.openxmlformats.org/drawingml/2006/main">
            <a:off x="3695700" y="4010025"/>
            <a:ext cx="180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重心を支持脚に移し</a:t>
            </a:r>
          </a:p>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遊脚の軌道を作る</a:t>
            </a:r>
          </a:p>
        </p:txBody>
      </p:sp>
      <p:sp>
        <p:nvSpPr>
          <p:cNvPr id="16" name="">
            <a:extLst xmlns:a="http://schemas.openxmlformats.org/drawingml/2006/main">
              <a:ext uri="{FF2B5EF4-FFF2-40B4-BE49-F238E27FC236}">
                <a16:creationId xmlns:a16="http://schemas.microsoft.com/office/drawing/2014/main" id="{110908EA-5748-4549-92E1-427BE950F5F2}"/>
              </a:ext>
            </a:extLst>
          </p:cNvPr>
          <p:cNvSpPr>
            <a:spLocks xmlns:a="http://schemas.openxmlformats.org/drawingml/2006/main" noGrp="1"/>
          </p:cNvSpPr>
          <p:nvPr/>
        </p:nvSpPr>
        <p:spPr>
          <a:xfrm xmlns:a="http://schemas.openxmlformats.org/drawingml/2006/main">
            <a:off x="5810250" y="3857625"/>
            <a:ext cx="361950"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17" name="">
            <a:extLst xmlns:a="http://schemas.openxmlformats.org/drawingml/2006/main">
              <a:ext uri="{FF2B5EF4-FFF2-40B4-BE49-F238E27FC236}">
                <a16:creationId xmlns:a16="http://schemas.microsoft.com/office/drawing/2014/main" id="{DCFC50E0-E33B-4FA8-A1D4-9AC1C403261F}"/>
              </a:ext>
            </a:extLst>
          </p:cNvPr>
          <p:cNvSpPr>
            <a:spLocks xmlns:a="http://schemas.openxmlformats.org/drawingml/2006/main" noGrp="1"/>
          </p:cNvSpPr>
          <p:nvPr/>
        </p:nvSpPr>
        <p:spPr>
          <a:xfrm xmlns:a="http://schemas.openxmlformats.org/drawingml/2006/main">
            <a:off x="6067425" y="374332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18" name="">
            <a:extLst xmlns:a="http://schemas.openxmlformats.org/drawingml/2006/main">
              <a:ext uri="{FF2B5EF4-FFF2-40B4-BE49-F238E27FC236}">
                <a16:creationId xmlns:a16="http://schemas.microsoft.com/office/drawing/2014/main" id="{C35D8EBA-66CD-4C6D-AF7D-E437C8622EBA}"/>
              </a:ext>
            </a:extLst>
          </p:cNvPr>
          <p:cNvSpPr>
            <a:spLocks xmlns:a="http://schemas.openxmlformats.org/drawingml/2006/main" noGrp="1"/>
          </p:cNvSpPr>
          <p:nvPr/>
        </p:nvSpPr>
        <p:spPr>
          <a:xfrm xmlns:a="http://schemas.openxmlformats.org/drawingml/2006/main">
            <a:off x="6267450" y="2714625"/>
            <a:ext cx="2286000" cy="2286000"/>
          </a:xfrm>
          <a:prstGeom xmlns:a="http://schemas.openxmlformats.org/drawingml/2006/main" prst="rect">
            <a:avLst/>
          </a:prstGeom>
          <a:solidFill xmlns:a="http://schemas.openxmlformats.org/drawingml/2006/main">
            <a:srgbClr val="E8F1F5"/>
          </a:solidFill>
          <a:ln xmlns:a="http://schemas.openxmlformats.org/drawingml/2006/main" w="19050">
            <a:solidFill>
              <a:srgbClr val="1C5A85"/>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F45E4138-2407-4ABF-9E40-99F17D9C748A}"/>
              </a:ext>
            </a:extLst>
          </p:cNvPr>
          <p:cNvSpPr>
            <a:spLocks xmlns:a="http://schemas.openxmlformats.org/drawingml/2006/main" noGrp="1"/>
          </p:cNvSpPr>
          <p:nvPr/>
        </p:nvSpPr>
        <p:spPr>
          <a:xfrm xmlns:a="http://schemas.openxmlformats.org/drawingml/2006/main">
            <a:off x="6457950" y="2914650"/>
            <a:ext cx="400050" cy="400050"/>
          </a:xfrm>
          <a:prstGeom xmlns:a="http://schemas.openxmlformats.org/drawingml/2006/main" prst="rect">
            <a:avLst/>
          </a:prstGeom>
          <a:solidFill xmlns:a="http://schemas.openxmlformats.org/drawingml/2006/main">
            <a:srgbClr val="1C5A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FFFFFF"/>
                </a:solidFill>
                <a:latin typeface="Yu Gothic"/>
                <a:ea typeface="Yu Gothic"/>
                <a:cs typeface="Yu Gothic"/>
              </a:defRPr>
            </a:pPr>
            <a:r>
              <a:rPr sz="1725" b="1">
                <a:solidFill>
                  <a:srgbClr val="FFFFFF"/>
                </a:solidFill>
                <a:latin typeface="Yu Gothic"/>
                <a:ea typeface="Yu Gothic"/>
                <a:cs typeface="Yu Gothic"/>
              </a:rPr>
              <a:t>3</a:t>
            </a:r>
          </a:p>
        </p:txBody>
      </p:sp>
      <p:sp>
        <p:nvSpPr>
          <p:cNvPr id="20" name="">
            <a:extLst xmlns:a="http://schemas.openxmlformats.org/drawingml/2006/main">
              <a:ext uri="{FF2B5EF4-FFF2-40B4-BE49-F238E27FC236}">
                <a16:creationId xmlns:a16="http://schemas.microsoft.com/office/drawing/2014/main" id="{A9710D16-77EE-47BF-B98A-7C8BBA30582A}"/>
              </a:ext>
            </a:extLst>
          </p:cNvPr>
          <p:cNvSpPr>
            <a:spLocks xmlns:a="http://schemas.openxmlformats.org/drawingml/2006/main" noGrp="1"/>
          </p:cNvSpPr>
          <p:nvPr/>
        </p:nvSpPr>
        <p:spPr>
          <a:xfrm xmlns:a="http://schemas.openxmlformats.org/drawingml/2006/main">
            <a:off x="645795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913"/>
          </a:bodyPr>
          <a:lstStyle xmlns:a="http://schemas.openxmlformats.org/drawingml/2006/main"/>
          <a:p xmlns:a="http://schemas.openxmlformats.org/drawingml/2006/main">
            <a:pPr>
              <a:defRPr sz="1725" b="1">
                <a:solidFill>
                  <a:srgbClr val="102B46"/>
                </a:solidFill>
                <a:latin typeface="Yu Gothic"/>
                <a:ea typeface="Yu Gothic"/>
                <a:cs typeface="Yu Gothic"/>
              </a:defRPr>
            </a:pPr>
            <a:r>
              <a:rPr sz="1725" b="1">
                <a:solidFill>
                  <a:srgbClr val="102B46"/>
                </a:solidFill>
                <a:latin typeface="Yu Gothic"/>
                <a:ea typeface="Yu Gothic"/>
                <a:cs typeface="Yu Gothic"/>
              </a:rPr>
              <a:t>関節制御</a:t>
            </a:r>
          </a:p>
        </p:txBody>
      </p:sp>
      <p:sp>
        <p:nvSpPr>
          <p:cNvPr id="21" name="">
            <a:extLst xmlns:a="http://schemas.openxmlformats.org/drawingml/2006/main">
              <a:ext uri="{FF2B5EF4-FFF2-40B4-BE49-F238E27FC236}">
                <a16:creationId xmlns:a16="http://schemas.microsoft.com/office/drawing/2014/main" id="{63198A69-9FD2-43AB-89EE-112D778136A6}"/>
              </a:ext>
            </a:extLst>
          </p:cNvPr>
          <p:cNvSpPr>
            <a:spLocks xmlns:a="http://schemas.openxmlformats.org/drawingml/2006/main" noGrp="1"/>
          </p:cNvSpPr>
          <p:nvPr/>
        </p:nvSpPr>
        <p:spPr>
          <a:xfrm xmlns:a="http://schemas.openxmlformats.org/drawingml/2006/main">
            <a:off x="6457950" y="4010025"/>
            <a:ext cx="180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各モータへ角度・</a:t>
            </a:r>
          </a:p>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トルク指令を送る</a:t>
            </a:r>
          </a:p>
        </p:txBody>
      </p:sp>
      <p:sp>
        <p:nvSpPr>
          <p:cNvPr id="22" name="">
            <a:extLst xmlns:a="http://schemas.openxmlformats.org/drawingml/2006/main">
              <a:ext uri="{FF2B5EF4-FFF2-40B4-BE49-F238E27FC236}">
                <a16:creationId xmlns:a16="http://schemas.microsoft.com/office/drawing/2014/main" id="{DF64CE91-18E6-4B50-98B4-970635013703}"/>
              </a:ext>
            </a:extLst>
          </p:cNvPr>
          <p:cNvSpPr>
            <a:spLocks xmlns:a="http://schemas.openxmlformats.org/drawingml/2006/main" noGrp="1"/>
          </p:cNvSpPr>
          <p:nvPr/>
        </p:nvSpPr>
        <p:spPr>
          <a:xfrm xmlns:a="http://schemas.openxmlformats.org/drawingml/2006/main">
            <a:off x="8572500" y="3857625"/>
            <a:ext cx="361950" cy="0"/>
          </a:xfrm>
          <a:prstGeom xmlns:a="http://schemas.openxmlformats.org/drawingml/2006/main" prst="line">
            <a:avLst/>
          </a:prstGeom>
          <a:noFill xmlns:a="http://schemas.openxmlformats.org/drawingml/2006/main"/>
          <a:ln xmlns:a="http://schemas.openxmlformats.org/drawingml/2006/main" w="28575">
            <a:solidFill>
              <a:srgbClr val="1C5A85"/>
            </a:solidFill>
          </a:ln>
        </p:spPr>
      </p:sp>
      <p:sp>
        <p:nvSpPr>
          <p:cNvPr id="23" name="">
            <a:extLst xmlns:a="http://schemas.openxmlformats.org/drawingml/2006/main">
              <a:ext uri="{FF2B5EF4-FFF2-40B4-BE49-F238E27FC236}">
                <a16:creationId xmlns:a16="http://schemas.microsoft.com/office/drawing/2014/main" id="{8A251A94-7AA8-4AEC-BDBB-36DA6222C5F8}"/>
              </a:ext>
            </a:extLst>
          </p:cNvPr>
          <p:cNvSpPr>
            <a:spLocks xmlns:a="http://schemas.openxmlformats.org/drawingml/2006/main" noGrp="1"/>
          </p:cNvSpPr>
          <p:nvPr/>
        </p:nvSpPr>
        <p:spPr>
          <a:xfrm xmlns:a="http://schemas.openxmlformats.org/drawingml/2006/main">
            <a:off x="8829675" y="3743325"/>
            <a:ext cx="171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
          </a:bodyPr>
          <a:lstStyle xmlns:a="http://schemas.openxmlformats.org/drawingml/2006/main"/>
          <a:p xmlns:a="http://schemas.openxmlformats.org/drawingml/2006/main">
            <a:pPr>
              <a:defRPr sz="1200" b="0">
                <a:solidFill>
                  <a:srgbClr val="1C5A85"/>
                </a:solidFill>
                <a:latin typeface="Yu Gothic"/>
                <a:ea typeface="Yu Gothic"/>
                <a:cs typeface="Yu Gothic"/>
              </a:defRPr>
            </a:pPr>
            <a:r>
              <a:rPr sz="1200" b="0">
                <a:solidFill>
                  <a:srgbClr val="1C5A85"/>
                </a:solidFill>
                <a:latin typeface="Yu Gothic"/>
                <a:ea typeface="Yu Gothic"/>
                <a:cs typeface="Yu Gothic"/>
              </a:rPr>
              <a:t>▶</a:t>
            </a:r>
          </a:p>
        </p:txBody>
      </p:sp>
      <p:sp>
        <p:nvSpPr>
          <p:cNvPr id="24" name="">
            <a:extLst xmlns:a="http://schemas.openxmlformats.org/drawingml/2006/main">
              <a:ext uri="{FF2B5EF4-FFF2-40B4-BE49-F238E27FC236}">
                <a16:creationId xmlns:a16="http://schemas.microsoft.com/office/drawing/2014/main" id="{D295ABDE-04D5-43F7-8FEB-9B7DA4B85E21}"/>
              </a:ext>
            </a:extLst>
          </p:cNvPr>
          <p:cNvSpPr>
            <a:spLocks xmlns:a="http://schemas.openxmlformats.org/drawingml/2006/main" noGrp="1"/>
          </p:cNvSpPr>
          <p:nvPr/>
        </p:nvSpPr>
        <p:spPr>
          <a:xfrm xmlns:a="http://schemas.openxmlformats.org/drawingml/2006/main">
            <a:off x="9029700" y="2714625"/>
            <a:ext cx="2286000" cy="2286000"/>
          </a:xfrm>
          <a:prstGeom xmlns:a="http://schemas.openxmlformats.org/drawingml/2006/main" prst="rect">
            <a:avLst/>
          </a:prstGeom>
          <a:solidFill xmlns:a="http://schemas.openxmlformats.org/drawingml/2006/main">
            <a:srgbClr val="F3EEE6"/>
          </a:solidFill>
          <a:ln xmlns:a="http://schemas.openxmlformats.org/drawingml/2006/main" w="19050">
            <a:solidFill>
              <a:srgbClr val="102B46"/>
            </a:solidFill>
          </a:ln>
        </p:spPr>
        <p:txBody>
          <a:bodyPr xmlns:a="http://schemas.openxmlformats.org/drawingml/2006/main" anchor="ctr">
            <a:normAutofit/>
          </a:bodyPr>
          <a:lstStyle xmlns:a="http://schemas.openxmlformats.org/drawingml/2006/main"/>
          <a:p xmlns:a="http://schemas.openxmlformats.org/drawingml/2006/main">
            <a:r>
              <a:t/>
            </a:r>
          </a:p>
        </p:txBody>
      </p:sp>
      <p:sp>
        <p:nvSpPr>
          <p:cNvPr id="25" name="">
            <a:extLst xmlns:a="http://schemas.openxmlformats.org/drawingml/2006/main">
              <a:ext uri="{FF2B5EF4-FFF2-40B4-BE49-F238E27FC236}">
                <a16:creationId xmlns:a16="http://schemas.microsoft.com/office/drawing/2014/main" id="{CF70A28F-D860-4F10-8A9C-D0393540F87D}"/>
              </a:ext>
            </a:extLst>
          </p:cNvPr>
          <p:cNvSpPr>
            <a:spLocks xmlns:a="http://schemas.openxmlformats.org/drawingml/2006/main" noGrp="1"/>
          </p:cNvSpPr>
          <p:nvPr/>
        </p:nvSpPr>
        <p:spPr>
          <a:xfrm xmlns:a="http://schemas.openxmlformats.org/drawingml/2006/main">
            <a:off x="9220200" y="2914650"/>
            <a:ext cx="400050" cy="4000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1">
                <a:solidFill>
                  <a:srgbClr val="FFFFFF"/>
                </a:solidFill>
                <a:latin typeface="Yu Gothic"/>
                <a:ea typeface="Yu Gothic"/>
                <a:cs typeface="Yu Gothic"/>
              </a:defRPr>
            </a:pPr>
            <a:r>
              <a:rPr sz="1725" b="1">
                <a:solidFill>
                  <a:srgbClr val="FFFFFF"/>
                </a:solidFill>
                <a:latin typeface="Yu Gothic"/>
                <a:ea typeface="Yu Gothic"/>
                <a:cs typeface="Yu Gothic"/>
              </a:rPr>
              <a:t>4</a:t>
            </a:r>
          </a:p>
        </p:txBody>
      </p:sp>
      <p:sp>
        <p:nvSpPr>
          <p:cNvPr id="26" name="">
            <a:extLst xmlns:a="http://schemas.openxmlformats.org/drawingml/2006/main">
              <a:ext uri="{FF2B5EF4-FFF2-40B4-BE49-F238E27FC236}">
                <a16:creationId xmlns:a16="http://schemas.microsoft.com/office/drawing/2014/main" id="{BFA232ED-2ACA-4F83-9925-13CF984FD67E}"/>
              </a:ext>
            </a:extLst>
          </p:cNvPr>
          <p:cNvSpPr>
            <a:spLocks xmlns:a="http://schemas.openxmlformats.org/drawingml/2006/main" noGrp="1"/>
          </p:cNvSpPr>
          <p:nvPr/>
        </p:nvSpPr>
        <p:spPr>
          <a:xfrm xmlns:a="http://schemas.openxmlformats.org/drawingml/2006/main">
            <a:off x="9220200" y="35242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913"/>
          </a:bodyPr>
          <a:lstStyle xmlns:a="http://schemas.openxmlformats.org/drawingml/2006/main"/>
          <a:p xmlns:a="http://schemas.openxmlformats.org/drawingml/2006/main">
            <a:pPr>
              <a:defRPr sz="1725" b="1">
                <a:solidFill>
                  <a:srgbClr val="102B46"/>
                </a:solidFill>
                <a:latin typeface="Yu Gothic"/>
                <a:ea typeface="Yu Gothic"/>
                <a:cs typeface="Yu Gothic"/>
              </a:defRPr>
            </a:pPr>
            <a:r>
              <a:rPr sz="1725" b="1">
                <a:solidFill>
                  <a:srgbClr val="102B46"/>
                </a:solidFill>
                <a:latin typeface="Yu Gothic"/>
                <a:ea typeface="Yu Gothic"/>
                <a:cs typeface="Yu Gothic"/>
              </a:rPr>
              <a:t>安全停止</a:t>
            </a:r>
          </a:p>
        </p:txBody>
      </p:sp>
      <p:sp>
        <p:nvSpPr>
          <p:cNvPr id="27" name="">
            <a:extLst xmlns:a="http://schemas.openxmlformats.org/drawingml/2006/main">
              <a:ext uri="{FF2B5EF4-FFF2-40B4-BE49-F238E27FC236}">
                <a16:creationId xmlns:a16="http://schemas.microsoft.com/office/drawing/2014/main" id="{FE67AD17-36D1-4139-95DE-CD77E1BA8561}"/>
              </a:ext>
            </a:extLst>
          </p:cNvPr>
          <p:cNvSpPr>
            <a:spLocks xmlns:a="http://schemas.openxmlformats.org/drawingml/2006/main" noGrp="1"/>
          </p:cNvSpPr>
          <p:nvPr/>
        </p:nvSpPr>
        <p:spPr>
          <a:xfrm xmlns:a="http://schemas.openxmlformats.org/drawingml/2006/main">
            <a:off x="9220200" y="4010025"/>
            <a:ext cx="180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2"/>
          </a:bodyPr>
          <a:lstStyle xmlns:a="http://schemas.openxmlformats.org/drawingml/2006/main"/>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傾き・通信異常を監視し</a:t>
            </a:r>
          </a:p>
          <a:p xmlns:a="http://schemas.openxmlformats.org/drawingml/2006/main">
            <a:pPr>
              <a:defRPr sz="1275" b="0">
                <a:solidFill>
                  <a:srgbClr val="17212B"/>
                </a:solidFill>
                <a:latin typeface="Yu Gothic"/>
                <a:ea typeface="Yu Gothic"/>
                <a:cs typeface="Yu Gothic"/>
              </a:defRPr>
            </a:pPr>
            <a:r>
              <a:rPr sz="1275" b="0">
                <a:solidFill>
                  <a:srgbClr val="17212B"/>
                </a:solidFill>
                <a:latin typeface="Yu Gothic"/>
                <a:ea typeface="Yu Gothic"/>
                <a:cs typeface="Yu Gothic"/>
              </a:rPr>
              <a:t>停止条件を判定する</a:t>
            </a:r>
          </a:p>
        </p:txBody>
      </p:sp>
      <p:sp>
        <p:nvSpPr>
          <p:cNvPr id="28" name="">
            <a:extLst xmlns:a="http://schemas.openxmlformats.org/drawingml/2006/main">
              <a:ext uri="{FF2B5EF4-FFF2-40B4-BE49-F238E27FC236}">
                <a16:creationId xmlns:a16="http://schemas.microsoft.com/office/drawing/2014/main" id="{921AC2D3-E2F1-49AF-A30A-E8C4A6387BC6}"/>
              </a:ext>
            </a:extLst>
          </p:cNvPr>
          <p:cNvSpPr>
            <a:spLocks xmlns:a="http://schemas.openxmlformats.org/drawingml/2006/main" noGrp="1"/>
          </p:cNvSpPr>
          <p:nvPr/>
        </p:nvSpPr>
        <p:spPr>
          <a:xfrm xmlns:a="http://schemas.openxmlformats.org/drawingml/2006/main">
            <a:off x="1619250" y="5572125"/>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02B46"/>
                </a:solidFill>
                <a:latin typeface="Yu Gothic"/>
                <a:ea typeface="Yu Gothic"/>
                <a:cs typeface="Yu Gothic"/>
              </a:defRPr>
            </a:pPr>
            <a:r>
              <a:rPr sz="1650" b="1">
                <a:solidFill>
                  <a:srgbClr val="102B46"/>
                </a:solidFill>
                <a:latin typeface="Yu Gothic"/>
                <a:ea typeface="Yu Gothic"/>
                <a:cs typeface="Yu Gothic"/>
              </a:rPr>
              <a:t>検証は「関節単体 → 片脚 → 両脚立位 → 一歩」の順に進める</a:t>
            </a:r>
          </a:p>
        </p:txBody>
      </p:sp>
    </p:spTree>
    <p:extLst>
      <p:ext uri="{BB962C8B-B14F-4D97-AF65-F5344CB8AC3E}">
        <p14:creationId xmlns:p14="http://schemas.microsoft.com/office/powerpoint/2010/main" val="14590529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1AA4D59-06F4-4D85-A8FA-D01BDC800742}"/>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統合とデバッグの進め方</a:t>
            </a:r>
          </a:p>
        </p:txBody>
      </p:sp>
      <p:sp>
        <p:nvSpPr>
          <p:cNvPr id="2" name="">
            <a:extLst xmlns:a="http://schemas.openxmlformats.org/drawingml/2006/main">
              <a:ext uri="{FF2B5EF4-FFF2-40B4-BE49-F238E27FC236}">
                <a16:creationId xmlns:a16="http://schemas.microsoft.com/office/drawing/2014/main" id="{5D1C1459-BF43-4FDE-88C0-BCF3A33E86C0}"/>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08</a:t>
            </a:r>
          </a:p>
        </p:txBody>
      </p:sp>
      <p:sp>
        <p:nvSpPr>
          <p:cNvPr id="3" name="">
            <a:extLst xmlns:a="http://schemas.openxmlformats.org/drawingml/2006/main">
              <a:ext uri="{FF2B5EF4-FFF2-40B4-BE49-F238E27FC236}">
                <a16:creationId xmlns:a16="http://schemas.microsoft.com/office/drawing/2014/main" id="{9895650B-1C3A-4C68-A420-756B20D59057}"/>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E546A823-EA1A-4581-8F45-AFC77541CC3B}"/>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BEB663CB-7F9B-4B06-85EA-B4D67C06E31F}"/>
              </a:ext>
            </a:extLst>
          </p:cNvPr>
          <p:cNvSpPr>
            <a:spLocks xmlns:a="http://schemas.openxmlformats.org/drawingml/2006/main" noGrp="1"/>
          </p:cNvSpPr>
          <p:nvPr/>
        </p:nvSpPr>
        <p:spPr>
          <a:xfrm xmlns:a="http://schemas.openxmlformats.org/drawingml/2006/main">
            <a:off x="704850" y="140970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02B46"/>
                </a:solidFill>
                <a:latin typeface="Yu Gothic"/>
                <a:ea typeface="Yu Gothic"/>
                <a:cs typeface="Yu Gothic"/>
              </a:defRPr>
            </a:pPr>
            <a:r>
              <a:rPr sz="1950" b="1">
                <a:solidFill>
                  <a:srgbClr val="102B46"/>
                </a:solidFill>
                <a:latin typeface="Yu Gothic"/>
                <a:ea typeface="Yu Gothic"/>
                <a:cs typeface="Yu Gothic"/>
              </a:rPr>
              <a:t>各パートを接続したときに初めて見える不具合を、切り分けて解決する</a:t>
            </a:r>
          </a:p>
        </p:txBody>
      </p:sp>
      <p:sp>
        <p:nvSpPr>
          <p:cNvPr id="6" name="">
            <a:extLst xmlns:a="http://schemas.openxmlformats.org/drawingml/2006/main">
              <a:ext uri="{FF2B5EF4-FFF2-40B4-BE49-F238E27FC236}">
                <a16:creationId xmlns:a16="http://schemas.microsoft.com/office/drawing/2014/main" id="{8F094708-1FAC-4158-84FF-2BC3E9A40B49}"/>
              </a:ext>
            </a:extLst>
          </p:cNvPr>
          <p:cNvSpPr>
            <a:spLocks xmlns:a="http://schemas.openxmlformats.org/drawingml/2006/main" noGrp="1"/>
          </p:cNvSpPr>
          <p:nvPr/>
        </p:nvSpPr>
        <p:spPr>
          <a:xfrm xmlns:a="http://schemas.openxmlformats.org/drawingml/2006/main">
            <a:off x="1028700" y="2476500"/>
            <a:ext cx="1428750" cy="3619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Yu Gothic"/>
                <a:ea typeface="Yu Gothic"/>
                <a:cs typeface="Yu Gothic"/>
              </a:defRPr>
            </a:pPr>
            <a:r>
              <a:rPr sz="1350" b="1">
                <a:solidFill>
                  <a:srgbClr val="FFFFFF"/>
                </a:solidFill>
                <a:latin typeface="Yu Gothic"/>
                <a:ea typeface="Yu Gothic"/>
                <a:cs typeface="Yu Gothic"/>
              </a:rPr>
              <a:t>担当</a:t>
            </a:r>
          </a:p>
        </p:txBody>
      </p:sp>
      <p:sp>
        <p:nvSpPr>
          <p:cNvPr id="7" name="">
            <a:extLst xmlns:a="http://schemas.openxmlformats.org/drawingml/2006/main">
              <a:ext uri="{FF2B5EF4-FFF2-40B4-BE49-F238E27FC236}">
                <a16:creationId xmlns:a16="http://schemas.microsoft.com/office/drawing/2014/main" id="{3FE73F0B-CBFD-490C-813A-5C2A27FE149B}"/>
              </a:ext>
            </a:extLst>
          </p:cNvPr>
          <p:cNvSpPr>
            <a:spLocks xmlns:a="http://schemas.openxmlformats.org/drawingml/2006/main" noGrp="1"/>
          </p:cNvSpPr>
          <p:nvPr/>
        </p:nvSpPr>
        <p:spPr>
          <a:xfrm xmlns:a="http://schemas.openxmlformats.org/drawingml/2006/main">
            <a:off x="2457450" y="2476500"/>
            <a:ext cx="3619500" cy="3619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Yu Gothic"/>
                <a:ea typeface="Yu Gothic"/>
                <a:cs typeface="Yu Gothic"/>
              </a:defRPr>
            </a:pPr>
            <a:r>
              <a:rPr sz="1350" b="1">
                <a:solidFill>
                  <a:srgbClr val="FFFFFF"/>
                </a:solidFill>
                <a:latin typeface="Yu Gothic"/>
                <a:ea typeface="Yu Gothic"/>
                <a:cs typeface="Yu Gothic"/>
              </a:rPr>
              <a:t>起きやすい問題</a:t>
            </a:r>
          </a:p>
        </p:txBody>
      </p:sp>
      <p:sp>
        <p:nvSpPr>
          <p:cNvPr id="8" name="">
            <a:extLst xmlns:a="http://schemas.openxmlformats.org/drawingml/2006/main">
              <a:ext uri="{FF2B5EF4-FFF2-40B4-BE49-F238E27FC236}">
                <a16:creationId xmlns:a16="http://schemas.microsoft.com/office/drawing/2014/main" id="{4E123335-AE6F-47DC-91D8-E89E02592163}"/>
              </a:ext>
            </a:extLst>
          </p:cNvPr>
          <p:cNvSpPr>
            <a:spLocks xmlns:a="http://schemas.openxmlformats.org/drawingml/2006/main" noGrp="1"/>
          </p:cNvSpPr>
          <p:nvPr/>
        </p:nvSpPr>
        <p:spPr>
          <a:xfrm xmlns:a="http://schemas.openxmlformats.org/drawingml/2006/main">
            <a:off x="6076950" y="2476500"/>
            <a:ext cx="4857750" cy="361950"/>
          </a:xfrm>
          <a:prstGeom xmlns:a="http://schemas.openxmlformats.org/drawingml/2006/main" prst="rect">
            <a:avLst/>
          </a:prstGeom>
          <a:solidFill xmlns:a="http://schemas.openxmlformats.org/drawingml/2006/main">
            <a:srgbClr val="102B4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Yu Gothic"/>
                <a:ea typeface="Yu Gothic"/>
                <a:cs typeface="Yu Gothic"/>
              </a:defRPr>
            </a:pPr>
            <a:r>
              <a:rPr sz="1350" b="1">
                <a:solidFill>
                  <a:srgbClr val="FFFFFF"/>
                </a:solidFill>
                <a:latin typeface="Yu Gothic"/>
                <a:ea typeface="Yu Gothic"/>
                <a:cs typeface="Yu Gothic"/>
              </a:rPr>
              <a:t>切り分け方法</a:t>
            </a:r>
          </a:p>
        </p:txBody>
      </p:sp>
      <p:sp>
        <p:nvSpPr>
          <p:cNvPr id="9" name="">
            <a:extLst xmlns:a="http://schemas.openxmlformats.org/drawingml/2006/main">
              <a:ext uri="{FF2B5EF4-FFF2-40B4-BE49-F238E27FC236}">
                <a16:creationId xmlns:a16="http://schemas.microsoft.com/office/drawing/2014/main" id="{34A1CFB5-59F8-419F-9CB1-0D97792C245D}"/>
              </a:ext>
            </a:extLst>
          </p:cNvPr>
          <p:cNvSpPr>
            <a:spLocks xmlns:a="http://schemas.openxmlformats.org/drawingml/2006/main" noGrp="1"/>
          </p:cNvSpPr>
          <p:nvPr/>
        </p:nvSpPr>
        <p:spPr>
          <a:xfrm xmlns:a="http://schemas.openxmlformats.org/drawingml/2006/main">
            <a:off x="1028700" y="2838450"/>
            <a:ext cx="1428750" cy="857250"/>
          </a:xfrm>
          <a:prstGeom xmlns:a="http://schemas.openxmlformats.org/drawingml/2006/main" prst="rect">
            <a:avLst/>
          </a:prstGeom>
          <a:solidFill xmlns:a="http://schemas.openxmlformats.org/drawingml/2006/main">
            <a:srgbClr val="F3EE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E8783F"/>
                </a:solidFill>
                <a:latin typeface="Yu Gothic"/>
                <a:ea typeface="Yu Gothic"/>
                <a:cs typeface="Yu Gothic"/>
              </a:defRPr>
            </a:pPr>
            <a:r>
              <a:rPr sz="1650" b="1">
                <a:solidFill>
                  <a:srgbClr val="E8783F"/>
                </a:solidFill>
                <a:latin typeface="Yu Gothic"/>
                <a:ea typeface="Yu Gothic"/>
                <a:cs typeface="Yu Gothic"/>
              </a:rPr>
              <a:t>設計</a:t>
            </a:r>
          </a:p>
        </p:txBody>
      </p:sp>
      <p:sp>
        <p:nvSpPr>
          <p:cNvPr id="10" name="">
            <a:extLst xmlns:a="http://schemas.openxmlformats.org/drawingml/2006/main">
              <a:ext uri="{FF2B5EF4-FFF2-40B4-BE49-F238E27FC236}">
                <a16:creationId xmlns:a16="http://schemas.microsoft.com/office/drawing/2014/main" id="{718E8A2E-8305-4794-9507-47D70765D11E}"/>
              </a:ext>
            </a:extLst>
          </p:cNvPr>
          <p:cNvSpPr>
            <a:spLocks xmlns:a="http://schemas.openxmlformats.org/drawingml/2006/main" noGrp="1"/>
          </p:cNvSpPr>
          <p:nvPr/>
        </p:nvSpPr>
        <p:spPr>
          <a:xfrm xmlns:a="http://schemas.openxmlformats.org/drawingml/2006/main">
            <a:off x="2457450" y="2838450"/>
            <a:ext cx="3619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7C7D1"/>
            </a:solid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干渉・ガタ・重心ずれ</a:t>
            </a:r>
          </a:p>
        </p:txBody>
      </p:sp>
      <p:sp>
        <p:nvSpPr>
          <p:cNvPr id="11" name="">
            <a:extLst xmlns:a="http://schemas.openxmlformats.org/drawingml/2006/main">
              <a:ext uri="{FF2B5EF4-FFF2-40B4-BE49-F238E27FC236}">
                <a16:creationId xmlns:a16="http://schemas.microsoft.com/office/drawing/2014/main" id="{67602118-1AC5-429E-AB10-AB97A54652F7}"/>
              </a:ext>
            </a:extLst>
          </p:cNvPr>
          <p:cNvSpPr>
            <a:spLocks xmlns:a="http://schemas.openxmlformats.org/drawingml/2006/main" noGrp="1"/>
          </p:cNvSpPr>
          <p:nvPr/>
        </p:nvSpPr>
        <p:spPr>
          <a:xfrm xmlns:a="http://schemas.openxmlformats.org/drawingml/2006/main">
            <a:off x="6076950" y="2838450"/>
            <a:ext cx="4857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7C7D1"/>
            </a:solid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組立状態で可動域と接地を確認</a:t>
            </a:r>
          </a:p>
        </p:txBody>
      </p:sp>
      <p:sp>
        <p:nvSpPr>
          <p:cNvPr id="12" name="">
            <a:extLst xmlns:a="http://schemas.openxmlformats.org/drawingml/2006/main">
              <a:ext uri="{FF2B5EF4-FFF2-40B4-BE49-F238E27FC236}">
                <a16:creationId xmlns:a16="http://schemas.microsoft.com/office/drawing/2014/main" id="{E6A4A010-8970-48DF-B194-225278B688F6}"/>
              </a:ext>
            </a:extLst>
          </p:cNvPr>
          <p:cNvSpPr>
            <a:spLocks xmlns:a="http://schemas.openxmlformats.org/drawingml/2006/main" noGrp="1"/>
          </p:cNvSpPr>
          <p:nvPr/>
        </p:nvSpPr>
        <p:spPr>
          <a:xfrm xmlns:a="http://schemas.openxmlformats.org/drawingml/2006/main">
            <a:off x="1028700" y="3695700"/>
            <a:ext cx="1428750" cy="857250"/>
          </a:xfrm>
          <a:prstGeom xmlns:a="http://schemas.openxmlformats.org/drawingml/2006/main" prst="rect">
            <a:avLst/>
          </a:prstGeom>
          <a:solidFill xmlns:a="http://schemas.openxmlformats.org/drawingml/2006/main">
            <a:srgbClr val="F3EE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1C5A85"/>
                </a:solidFill>
                <a:latin typeface="Yu Gothic"/>
                <a:ea typeface="Yu Gothic"/>
                <a:cs typeface="Yu Gothic"/>
              </a:defRPr>
            </a:pPr>
            <a:r>
              <a:rPr sz="1650" b="1">
                <a:solidFill>
                  <a:srgbClr val="1C5A85"/>
                </a:solidFill>
                <a:latin typeface="Yu Gothic"/>
                <a:ea typeface="Yu Gothic"/>
                <a:cs typeface="Yu Gothic"/>
              </a:rPr>
              <a:t>配線</a:t>
            </a:r>
          </a:p>
        </p:txBody>
      </p:sp>
      <p:sp>
        <p:nvSpPr>
          <p:cNvPr id="13" name="">
            <a:extLst xmlns:a="http://schemas.openxmlformats.org/drawingml/2006/main">
              <a:ext uri="{FF2B5EF4-FFF2-40B4-BE49-F238E27FC236}">
                <a16:creationId xmlns:a16="http://schemas.microsoft.com/office/drawing/2014/main" id="{1A1BBD34-A152-4E26-83E7-92C4D30DF35D}"/>
              </a:ext>
            </a:extLst>
          </p:cNvPr>
          <p:cNvSpPr>
            <a:spLocks xmlns:a="http://schemas.openxmlformats.org/drawingml/2006/main" noGrp="1"/>
          </p:cNvSpPr>
          <p:nvPr/>
        </p:nvSpPr>
        <p:spPr>
          <a:xfrm xmlns:a="http://schemas.openxmlformats.org/drawingml/2006/main">
            <a:off x="2457450" y="3695700"/>
            <a:ext cx="3619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7C7D1"/>
            </a:solid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通信断・ID重複・電圧低下</a:t>
            </a:r>
          </a:p>
        </p:txBody>
      </p:sp>
      <p:sp>
        <p:nvSpPr>
          <p:cNvPr id="14" name="">
            <a:extLst xmlns:a="http://schemas.openxmlformats.org/drawingml/2006/main">
              <a:ext uri="{FF2B5EF4-FFF2-40B4-BE49-F238E27FC236}">
                <a16:creationId xmlns:a16="http://schemas.microsoft.com/office/drawing/2014/main" id="{89ACAB4C-C47C-490E-A7AE-C6F039BE9621}"/>
              </a:ext>
            </a:extLst>
          </p:cNvPr>
          <p:cNvSpPr>
            <a:spLocks xmlns:a="http://schemas.openxmlformats.org/drawingml/2006/main" noGrp="1"/>
          </p:cNvSpPr>
          <p:nvPr/>
        </p:nvSpPr>
        <p:spPr>
          <a:xfrm xmlns:a="http://schemas.openxmlformats.org/drawingml/2006/main">
            <a:off x="6076950" y="3695700"/>
            <a:ext cx="4857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7C7D1"/>
            </a:solid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モータ1台ずつで送受信と電源を確認</a:t>
            </a:r>
          </a:p>
        </p:txBody>
      </p:sp>
      <p:sp>
        <p:nvSpPr>
          <p:cNvPr id="15" name="">
            <a:extLst xmlns:a="http://schemas.openxmlformats.org/drawingml/2006/main">
              <a:ext uri="{FF2B5EF4-FFF2-40B4-BE49-F238E27FC236}">
                <a16:creationId xmlns:a16="http://schemas.microsoft.com/office/drawing/2014/main" id="{35E5B4CC-4AF6-41D1-ACEC-AB76B54223CC}"/>
              </a:ext>
            </a:extLst>
          </p:cNvPr>
          <p:cNvSpPr>
            <a:spLocks xmlns:a="http://schemas.openxmlformats.org/drawingml/2006/main" noGrp="1"/>
          </p:cNvSpPr>
          <p:nvPr/>
        </p:nvSpPr>
        <p:spPr>
          <a:xfrm xmlns:a="http://schemas.openxmlformats.org/drawingml/2006/main">
            <a:off x="1028700" y="4552950"/>
            <a:ext cx="1428750" cy="857250"/>
          </a:xfrm>
          <a:prstGeom xmlns:a="http://schemas.openxmlformats.org/drawingml/2006/main" prst="rect">
            <a:avLst/>
          </a:prstGeom>
          <a:solidFill xmlns:a="http://schemas.openxmlformats.org/drawingml/2006/main">
            <a:srgbClr val="F3EE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32A5B5"/>
                </a:solidFill>
                <a:latin typeface="Yu Gothic"/>
                <a:ea typeface="Yu Gothic"/>
                <a:cs typeface="Yu Gothic"/>
              </a:defRPr>
            </a:pPr>
            <a:r>
              <a:rPr sz="1650" b="1">
                <a:solidFill>
                  <a:srgbClr val="32A5B5"/>
                </a:solidFill>
                <a:latin typeface="Yu Gothic"/>
                <a:ea typeface="Yu Gothic"/>
                <a:cs typeface="Yu Gothic"/>
              </a:rPr>
              <a:t>制御</a:t>
            </a:r>
          </a:p>
        </p:txBody>
      </p:sp>
      <p:sp>
        <p:nvSpPr>
          <p:cNvPr id="16" name="">
            <a:extLst xmlns:a="http://schemas.openxmlformats.org/drawingml/2006/main">
              <a:ext uri="{FF2B5EF4-FFF2-40B4-BE49-F238E27FC236}">
                <a16:creationId xmlns:a16="http://schemas.microsoft.com/office/drawing/2014/main" id="{C6594608-8D8F-4070-8A89-5FDEE6B518A0}"/>
              </a:ext>
            </a:extLst>
          </p:cNvPr>
          <p:cNvSpPr>
            <a:spLocks xmlns:a="http://schemas.openxmlformats.org/drawingml/2006/main" noGrp="1"/>
          </p:cNvSpPr>
          <p:nvPr/>
        </p:nvSpPr>
        <p:spPr>
          <a:xfrm xmlns:a="http://schemas.openxmlformats.org/drawingml/2006/main">
            <a:off x="2457450" y="4552950"/>
            <a:ext cx="36195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7C7D1"/>
            </a:solid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姿勢の発散・関節符号の逆転</a:t>
            </a:r>
          </a:p>
        </p:txBody>
      </p:sp>
      <p:sp>
        <p:nvSpPr>
          <p:cNvPr id="17" name="">
            <a:extLst xmlns:a="http://schemas.openxmlformats.org/drawingml/2006/main">
              <a:ext uri="{FF2B5EF4-FFF2-40B4-BE49-F238E27FC236}">
                <a16:creationId xmlns:a16="http://schemas.microsoft.com/office/drawing/2014/main" id="{9A1A2F42-78DC-4C53-AB92-2B73FDD9DFCF}"/>
              </a:ext>
            </a:extLst>
          </p:cNvPr>
          <p:cNvSpPr>
            <a:spLocks xmlns:a="http://schemas.openxmlformats.org/drawingml/2006/main" noGrp="1"/>
          </p:cNvSpPr>
          <p:nvPr/>
        </p:nvSpPr>
        <p:spPr>
          <a:xfrm xmlns:a="http://schemas.openxmlformats.org/drawingml/2006/main">
            <a:off x="6076950" y="4552950"/>
            <a:ext cx="4857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B7C7D1"/>
            </a:solid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17212B"/>
                </a:solidFill>
                <a:latin typeface="Yu Gothic"/>
                <a:ea typeface="Yu Gothic"/>
                <a:cs typeface="Yu Gothic"/>
              </a:defRPr>
            </a:pPr>
            <a:r>
              <a:rPr sz="1425" b="0">
                <a:solidFill>
                  <a:srgbClr val="17212B"/>
                </a:solidFill>
                <a:latin typeface="Yu Gothic"/>
                <a:ea typeface="Yu Gothic"/>
                <a:cs typeface="Yu Gothic"/>
              </a:rPr>
              <a:t>立位前に関節単体の低速動作を確認</a:t>
            </a:r>
          </a:p>
        </p:txBody>
      </p:sp>
      <p:sp>
        <p:nvSpPr>
          <p:cNvPr id="18" name="">
            <a:extLst xmlns:a="http://schemas.openxmlformats.org/drawingml/2006/main">
              <a:ext uri="{FF2B5EF4-FFF2-40B4-BE49-F238E27FC236}">
                <a16:creationId xmlns:a16="http://schemas.microsoft.com/office/drawing/2014/main" id="{EF60E26D-BF84-4520-BE34-54F0070A2099}"/>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1">
                <a:solidFill>
                  <a:srgbClr val="102B46"/>
                </a:solidFill>
                <a:latin typeface="Yu Gothic"/>
                <a:ea typeface="Yu Gothic"/>
                <a:cs typeface="Yu Gothic"/>
              </a:defRPr>
            </a:pPr>
            <a:r>
              <a:rPr sz="1575" b="1">
                <a:solidFill>
                  <a:srgbClr val="102B46"/>
                </a:solidFill>
                <a:latin typeface="Yu Gothic"/>
                <a:ea typeface="Yu Gothic"/>
                <a:cs typeface="Yu Gothic"/>
              </a:rPr>
              <a:t>安全を優先し、異常があれば全身動作に進まず、前段の確認へ戻る</a:t>
            </a:r>
          </a:p>
        </p:txBody>
      </p:sp>
    </p:spTree>
    <p:extLst>
      <p:ext uri="{BB962C8B-B14F-4D97-AF65-F5344CB8AC3E}">
        <p14:creationId xmlns:p14="http://schemas.microsoft.com/office/powerpoint/2010/main" val="14169573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DD8D2FB-D7CA-42D1-A324-5DCEF564BBEE}"/>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評価計画と到達目標</a:t>
            </a:r>
          </a:p>
        </p:txBody>
      </p:sp>
      <p:sp>
        <p:nvSpPr>
          <p:cNvPr id="2" name="">
            <a:extLst xmlns:a="http://schemas.openxmlformats.org/drawingml/2006/main">
              <a:ext uri="{FF2B5EF4-FFF2-40B4-BE49-F238E27FC236}">
                <a16:creationId xmlns:a16="http://schemas.microsoft.com/office/drawing/2014/main" id="{A82E8C35-E508-4011-BBA9-C1E0873F6666}"/>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09</a:t>
            </a:r>
          </a:p>
        </p:txBody>
      </p:sp>
      <p:sp>
        <p:nvSpPr>
          <p:cNvPr id="3" name="">
            <a:extLst xmlns:a="http://schemas.openxmlformats.org/drawingml/2006/main">
              <a:ext uri="{FF2B5EF4-FFF2-40B4-BE49-F238E27FC236}">
                <a16:creationId xmlns:a16="http://schemas.microsoft.com/office/drawing/2014/main" id="{2A1937CB-3781-4C15-A5F5-45B9E570E2ED}"/>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4A22F60E-E95F-4AEE-AE3C-A2696B7152B9}"/>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B8AA452A-2E3D-4572-84C1-2EF660172054}"/>
              </a:ext>
            </a:extLst>
          </p:cNvPr>
          <p:cNvSpPr>
            <a:spLocks xmlns:a="http://schemas.openxmlformats.org/drawingml/2006/main" noGrp="1"/>
          </p:cNvSpPr>
          <p:nvPr/>
        </p:nvSpPr>
        <p:spPr>
          <a:xfrm xmlns:a="http://schemas.openxmlformats.org/drawingml/2006/main">
            <a:off x="704850" y="14097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102B46"/>
                </a:solidFill>
                <a:latin typeface="Yu Gothic"/>
                <a:ea typeface="Yu Gothic"/>
                <a:cs typeface="Yu Gothic"/>
              </a:defRPr>
            </a:pPr>
            <a:r>
              <a:rPr sz="1950" b="1">
                <a:solidFill>
                  <a:srgbClr val="102B46"/>
                </a:solidFill>
                <a:latin typeface="Yu Gothic"/>
                <a:ea typeface="Yu Gothic"/>
                <a:cs typeface="Yu Gothic"/>
              </a:rPr>
              <a:t>研究成果ではなく、課題解決として動作の再現性を確かめる</a:t>
            </a:r>
          </a:p>
        </p:txBody>
      </p:sp>
      <p:sp>
        <p:nvSpPr>
          <p:cNvPr id="6" name="">
            <a:extLst xmlns:a="http://schemas.openxmlformats.org/drawingml/2006/main">
              <a:ext uri="{FF2B5EF4-FFF2-40B4-BE49-F238E27FC236}">
                <a16:creationId xmlns:a16="http://schemas.microsoft.com/office/drawing/2014/main" id="{F845DCF1-6E7A-4E7C-A501-86BF25A3042C}"/>
              </a:ext>
            </a:extLst>
          </p:cNvPr>
          <p:cNvSpPr>
            <a:spLocks xmlns:a="http://schemas.openxmlformats.org/drawingml/2006/main" noGrp="1"/>
          </p:cNvSpPr>
          <p:nvPr/>
        </p:nvSpPr>
        <p:spPr>
          <a:xfrm xmlns:a="http://schemas.openxmlformats.org/drawingml/2006/main">
            <a:off x="1000125" y="2476500"/>
            <a:ext cx="495300" cy="49530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Yu Gothic"/>
                <a:ea typeface="Yu Gothic"/>
                <a:cs typeface="Yu Gothic"/>
              </a:defRPr>
            </a:pPr>
            <a:r>
              <a:rPr sz="1875" b="1">
                <a:solidFill>
                  <a:srgbClr val="FFFFFF"/>
                </a:solidFill>
                <a:latin typeface="Yu Gothic"/>
                <a:ea typeface="Yu Gothic"/>
                <a:cs typeface="Yu Gothic"/>
              </a:rPr>
              <a:t>1</a:t>
            </a:r>
          </a:p>
        </p:txBody>
      </p:sp>
      <p:sp>
        <p:nvSpPr>
          <p:cNvPr id="7" name="">
            <a:extLst xmlns:a="http://schemas.openxmlformats.org/drawingml/2006/main">
              <a:ext uri="{FF2B5EF4-FFF2-40B4-BE49-F238E27FC236}">
                <a16:creationId xmlns:a16="http://schemas.microsoft.com/office/drawing/2014/main" id="{243223C3-B36A-4ADA-BE85-7507582B64DF}"/>
              </a:ext>
            </a:extLst>
          </p:cNvPr>
          <p:cNvSpPr>
            <a:spLocks xmlns:a="http://schemas.openxmlformats.org/drawingml/2006/main" noGrp="1"/>
          </p:cNvSpPr>
          <p:nvPr/>
        </p:nvSpPr>
        <p:spPr>
          <a:xfrm xmlns:a="http://schemas.openxmlformats.org/drawingml/2006/main">
            <a:off x="1762125" y="24574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913"/>
          </a:bodyPr>
          <a:lstStyle xmlns:a="http://schemas.openxmlformats.org/drawingml/2006/main"/>
          <a:p xmlns:a="http://schemas.openxmlformats.org/drawingml/2006/main">
            <a:pPr>
              <a:defRPr sz="1725" b="1">
                <a:solidFill>
                  <a:srgbClr val="102B46"/>
                </a:solidFill>
                <a:latin typeface="Yu Gothic"/>
                <a:ea typeface="Yu Gothic"/>
                <a:cs typeface="Yu Gothic"/>
              </a:defRPr>
            </a:pPr>
            <a:r>
              <a:rPr sz="1725" b="1">
                <a:solidFill>
                  <a:srgbClr val="102B46"/>
                </a:solidFill>
                <a:latin typeface="Yu Gothic"/>
                <a:ea typeface="Yu Gothic"/>
                <a:cs typeface="Yu Gothic"/>
              </a:rPr>
              <a:t>立位維持</a:t>
            </a:r>
          </a:p>
        </p:txBody>
      </p:sp>
      <p:sp>
        <p:nvSpPr>
          <p:cNvPr id="8" name="">
            <a:extLst xmlns:a="http://schemas.openxmlformats.org/drawingml/2006/main">
              <a:ext uri="{FF2B5EF4-FFF2-40B4-BE49-F238E27FC236}">
                <a16:creationId xmlns:a16="http://schemas.microsoft.com/office/drawing/2014/main" id="{ADA33F39-BB0A-483C-BE29-516F02304C16}"/>
              </a:ext>
            </a:extLst>
          </p:cNvPr>
          <p:cNvSpPr>
            <a:spLocks xmlns:a="http://schemas.openxmlformats.org/drawingml/2006/main" noGrp="1"/>
          </p:cNvSpPr>
          <p:nvPr/>
        </p:nvSpPr>
        <p:spPr>
          <a:xfrm xmlns:a="http://schemas.openxmlformats.org/drawingml/2006/main">
            <a:off x="1762125" y="281940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平地で指定時間、姿勢を保てるか</a:t>
            </a:r>
          </a:p>
        </p:txBody>
      </p:sp>
      <p:sp>
        <p:nvSpPr>
          <p:cNvPr id="9" name="">
            <a:extLst xmlns:a="http://schemas.openxmlformats.org/drawingml/2006/main">
              <a:ext uri="{FF2B5EF4-FFF2-40B4-BE49-F238E27FC236}">
                <a16:creationId xmlns:a16="http://schemas.microsoft.com/office/drawing/2014/main" id="{446644A2-9099-43A3-85C4-18C025943FD2}"/>
              </a:ext>
            </a:extLst>
          </p:cNvPr>
          <p:cNvSpPr>
            <a:spLocks xmlns:a="http://schemas.openxmlformats.org/drawingml/2006/main" noGrp="1"/>
          </p:cNvSpPr>
          <p:nvPr/>
        </p:nvSpPr>
        <p:spPr>
          <a:xfrm xmlns:a="http://schemas.openxmlformats.org/drawingml/2006/main">
            <a:off x="7334250" y="2571750"/>
            <a:ext cx="3143250" cy="381000"/>
          </a:xfrm>
          <a:prstGeom xmlns:a="http://schemas.openxmlformats.org/drawingml/2006/main" prst="rect">
            <a:avLst/>
          </a:prstGeom>
          <a:solidFill xmlns:a="http://schemas.openxmlformats.org/drawingml/2006/main">
            <a:srgbClr val="E8F1F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E6A73"/>
                </a:solidFill>
                <a:latin typeface="Yu Gothic"/>
                <a:ea typeface="Yu Gothic"/>
                <a:cs typeface="Yu Gothic"/>
              </a:defRPr>
            </a:pPr>
            <a:r>
              <a:rPr sz="1275" b="0">
                <a:solidFill>
                  <a:srgbClr val="5E6A73"/>
                </a:solidFill>
                <a:latin typeface="Yu Gothic"/>
                <a:ea typeface="Yu Gothic"/>
                <a:cs typeface="Yu Gothic"/>
              </a:rPr>
              <a:t>胴体角度・停止回数</a:t>
            </a:r>
          </a:p>
        </p:txBody>
      </p:sp>
      <p:sp>
        <p:nvSpPr>
          <p:cNvPr id="10" name="">
            <a:extLst xmlns:a="http://schemas.openxmlformats.org/drawingml/2006/main">
              <a:ext uri="{FF2B5EF4-FFF2-40B4-BE49-F238E27FC236}">
                <a16:creationId xmlns:a16="http://schemas.microsoft.com/office/drawing/2014/main" id="{563ED61E-6021-463C-8D6D-0012DE68BC8E}"/>
              </a:ext>
            </a:extLst>
          </p:cNvPr>
          <p:cNvSpPr>
            <a:spLocks xmlns:a="http://schemas.openxmlformats.org/drawingml/2006/main" noGrp="1"/>
          </p:cNvSpPr>
          <p:nvPr/>
        </p:nvSpPr>
        <p:spPr>
          <a:xfrm xmlns:a="http://schemas.openxmlformats.org/drawingml/2006/main">
            <a:off x="1000125" y="3524250"/>
            <a:ext cx="495300" cy="495300"/>
          </a:xfrm>
          <a:prstGeom xmlns:a="http://schemas.openxmlformats.org/drawingml/2006/main" prst="rect">
            <a:avLst/>
          </a:prstGeom>
          <a:solidFill xmlns:a="http://schemas.openxmlformats.org/drawingml/2006/main">
            <a:srgbClr val="1C5A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Yu Gothic"/>
                <a:ea typeface="Yu Gothic"/>
                <a:cs typeface="Yu Gothic"/>
              </a:defRPr>
            </a:pPr>
            <a:r>
              <a:rPr sz="1875" b="1">
                <a:solidFill>
                  <a:srgbClr val="FFFFFF"/>
                </a:solidFill>
                <a:latin typeface="Yu Gothic"/>
                <a:ea typeface="Yu Gothic"/>
                <a:cs typeface="Yu Gothic"/>
              </a:rPr>
              <a:t>2</a:t>
            </a:r>
          </a:p>
        </p:txBody>
      </p:sp>
      <p:sp>
        <p:nvSpPr>
          <p:cNvPr id="11" name="">
            <a:extLst xmlns:a="http://schemas.openxmlformats.org/drawingml/2006/main">
              <a:ext uri="{FF2B5EF4-FFF2-40B4-BE49-F238E27FC236}">
                <a16:creationId xmlns:a16="http://schemas.microsoft.com/office/drawing/2014/main" id="{1A450F0A-F23A-49E6-8E7B-E9B734044919}"/>
              </a:ext>
            </a:extLst>
          </p:cNvPr>
          <p:cNvSpPr>
            <a:spLocks xmlns:a="http://schemas.openxmlformats.org/drawingml/2006/main" noGrp="1"/>
          </p:cNvSpPr>
          <p:nvPr/>
        </p:nvSpPr>
        <p:spPr>
          <a:xfrm xmlns:a="http://schemas.openxmlformats.org/drawingml/2006/main">
            <a:off x="1762125" y="35052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913"/>
          </a:bodyPr>
          <a:lstStyle xmlns:a="http://schemas.openxmlformats.org/drawingml/2006/main"/>
          <a:p xmlns:a="http://schemas.openxmlformats.org/drawingml/2006/main">
            <a:pPr>
              <a:defRPr sz="1725" b="1">
                <a:solidFill>
                  <a:srgbClr val="102B46"/>
                </a:solidFill>
                <a:latin typeface="Yu Gothic"/>
                <a:ea typeface="Yu Gothic"/>
                <a:cs typeface="Yu Gothic"/>
              </a:defRPr>
            </a:pPr>
            <a:r>
              <a:rPr sz="1725" b="1">
                <a:solidFill>
                  <a:srgbClr val="102B46"/>
                </a:solidFill>
                <a:latin typeface="Yu Gothic"/>
                <a:ea typeface="Yu Gothic"/>
                <a:cs typeface="Yu Gothic"/>
              </a:rPr>
              <a:t>一歩動作</a:t>
            </a:r>
          </a:p>
        </p:txBody>
      </p:sp>
      <p:sp>
        <p:nvSpPr>
          <p:cNvPr id="12" name="">
            <a:extLst xmlns:a="http://schemas.openxmlformats.org/drawingml/2006/main">
              <a:ext uri="{FF2B5EF4-FFF2-40B4-BE49-F238E27FC236}">
                <a16:creationId xmlns:a16="http://schemas.microsoft.com/office/drawing/2014/main" id="{74D9AB4F-6E76-4467-993A-32FEF75FCCCB}"/>
              </a:ext>
            </a:extLst>
          </p:cNvPr>
          <p:cNvSpPr>
            <a:spLocks xmlns:a="http://schemas.openxmlformats.org/drawingml/2006/main" noGrp="1"/>
          </p:cNvSpPr>
          <p:nvPr/>
        </p:nvSpPr>
        <p:spPr>
          <a:xfrm xmlns:a="http://schemas.openxmlformats.org/drawingml/2006/main">
            <a:off x="1762125" y="386715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支持脚を保ちながら遊脚を前へ出せるか</a:t>
            </a:r>
          </a:p>
        </p:txBody>
      </p:sp>
      <p:sp>
        <p:nvSpPr>
          <p:cNvPr id="13" name="">
            <a:extLst xmlns:a="http://schemas.openxmlformats.org/drawingml/2006/main">
              <a:ext uri="{FF2B5EF4-FFF2-40B4-BE49-F238E27FC236}">
                <a16:creationId xmlns:a16="http://schemas.microsoft.com/office/drawing/2014/main" id="{4066F71E-73F3-4AB0-8D1C-78618194EED6}"/>
              </a:ext>
            </a:extLst>
          </p:cNvPr>
          <p:cNvSpPr>
            <a:spLocks xmlns:a="http://schemas.openxmlformats.org/drawingml/2006/main" noGrp="1"/>
          </p:cNvSpPr>
          <p:nvPr/>
        </p:nvSpPr>
        <p:spPr>
          <a:xfrm xmlns:a="http://schemas.openxmlformats.org/drawingml/2006/main">
            <a:off x="7334250" y="3619500"/>
            <a:ext cx="3143250" cy="381000"/>
          </a:xfrm>
          <a:prstGeom xmlns:a="http://schemas.openxmlformats.org/drawingml/2006/main" prst="rect">
            <a:avLst/>
          </a:prstGeom>
          <a:solidFill xmlns:a="http://schemas.openxmlformats.org/drawingml/2006/main">
            <a:srgbClr val="E8F1F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E6A73"/>
                </a:solidFill>
                <a:latin typeface="Yu Gothic"/>
                <a:ea typeface="Yu Gothic"/>
                <a:cs typeface="Yu Gothic"/>
              </a:defRPr>
            </a:pPr>
            <a:r>
              <a:rPr sz="1275" b="0">
                <a:solidFill>
                  <a:srgbClr val="5E6A73"/>
                </a:solidFill>
                <a:latin typeface="Yu Gothic"/>
                <a:ea typeface="Yu Gothic"/>
                <a:cs typeface="Yu Gothic"/>
              </a:rPr>
              <a:t>足先位置・姿勢変化</a:t>
            </a:r>
          </a:p>
        </p:txBody>
      </p:sp>
      <p:sp>
        <p:nvSpPr>
          <p:cNvPr id="14" name="">
            <a:extLst xmlns:a="http://schemas.openxmlformats.org/drawingml/2006/main">
              <a:ext uri="{FF2B5EF4-FFF2-40B4-BE49-F238E27FC236}">
                <a16:creationId xmlns:a16="http://schemas.microsoft.com/office/drawing/2014/main" id="{B01E06C3-E36F-444D-A3E9-2D3CE9607D83}"/>
              </a:ext>
            </a:extLst>
          </p:cNvPr>
          <p:cNvSpPr>
            <a:spLocks xmlns:a="http://schemas.openxmlformats.org/drawingml/2006/main" noGrp="1"/>
          </p:cNvSpPr>
          <p:nvPr/>
        </p:nvSpPr>
        <p:spPr>
          <a:xfrm xmlns:a="http://schemas.openxmlformats.org/drawingml/2006/main">
            <a:off x="1000125" y="4572000"/>
            <a:ext cx="495300" cy="495300"/>
          </a:xfrm>
          <a:prstGeom xmlns:a="http://schemas.openxmlformats.org/drawingml/2006/main" prst="rect">
            <a:avLst/>
          </a:prstGeom>
          <a:solidFill xmlns:a="http://schemas.openxmlformats.org/drawingml/2006/main">
            <a:srgbClr val="32A5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FFFFF"/>
                </a:solidFill>
                <a:latin typeface="Yu Gothic"/>
                <a:ea typeface="Yu Gothic"/>
                <a:cs typeface="Yu Gothic"/>
              </a:defRPr>
            </a:pPr>
            <a:r>
              <a:rPr sz="1875" b="1">
                <a:solidFill>
                  <a:srgbClr val="FFFFFF"/>
                </a:solidFill>
                <a:latin typeface="Yu Gothic"/>
                <a:ea typeface="Yu Gothic"/>
                <a:cs typeface="Yu Gothic"/>
              </a:rPr>
              <a:t>3</a:t>
            </a:r>
          </a:p>
        </p:txBody>
      </p:sp>
      <p:sp>
        <p:nvSpPr>
          <p:cNvPr id="15" name="">
            <a:extLst xmlns:a="http://schemas.openxmlformats.org/drawingml/2006/main">
              <a:ext uri="{FF2B5EF4-FFF2-40B4-BE49-F238E27FC236}">
                <a16:creationId xmlns:a16="http://schemas.microsoft.com/office/drawing/2014/main" id="{57C12127-A27C-44F5-96BD-D8FC990B8403}"/>
              </a:ext>
            </a:extLst>
          </p:cNvPr>
          <p:cNvSpPr>
            <a:spLocks xmlns:a="http://schemas.openxmlformats.org/drawingml/2006/main" noGrp="1"/>
          </p:cNvSpPr>
          <p:nvPr/>
        </p:nvSpPr>
        <p:spPr>
          <a:xfrm xmlns:a="http://schemas.openxmlformats.org/drawingml/2006/main">
            <a:off x="1762125" y="4552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913"/>
          </a:bodyPr>
          <a:lstStyle xmlns:a="http://schemas.openxmlformats.org/drawingml/2006/main"/>
          <a:p xmlns:a="http://schemas.openxmlformats.org/drawingml/2006/main">
            <a:pPr>
              <a:defRPr sz="1725" b="1">
                <a:solidFill>
                  <a:srgbClr val="102B46"/>
                </a:solidFill>
                <a:latin typeface="Yu Gothic"/>
                <a:ea typeface="Yu Gothic"/>
                <a:cs typeface="Yu Gothic"/>
              </a:defRPr>
            </a:pPr>
            <a:r>
              <a:rPr sz="1725" b="1">
                <a:solidFill>
                  <a:srgbClr val="102B46"/>
                </a:solidFill>
                <a:latin typeface="Yu Gothic"/>
                <a:ea typeface="Yu Gothic"/>
                <a:cs typeface="Yu Gothic"/>
              </a:rPr>
              <a:t>小段差</a:t>
            </a:r>
          </a:p>
        </p:txBody>
      </p:sp>
      <p:sp>
        <p:nvSpPr>
          <p:cNvPr id="16" name="">
            <a:extLst xmlns:a="http://schemas.openxmlformats.org/drawingml/2006/main">
              <a:ext uri="{FF2B5EF4-FFF2-40B4-BE49-F238E27FC236}">
                <a16:creationId xmlns:a16="http://schemas.microsoft.com/office/drawing/2014/main" id="{580674AF-C136-4871-9923-AEB50C5DE3E9}"/>
              </a:ext>
            </a:extLst>
          </p:cNvPr>
          <p:cNvSpPr>
            <a:spLocks xmlns:a="http://schemas.openxmlformats.org/drawingml/2006/main" noGrp="1"/>
          </p:cNvSpPr>
          <p:nvPr/>
        </p:nvSpPr>
        <p:spPr>
          <a:xfrm xmlns:a="http://schemas.openxmlformats.org/drawingml/2006/main">
            <a:off x="1762125" y="4914900"/>
            <a:ext cx="457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212B"/>
                </a:solidFill>
                <a:latin typeface="Yu Gothic"/>
                <a:ea typeface="Yu Gothic"/>
                <a:cs typeface="Yu Gothic"/>
              </a:defRPr>
            </a:pPr>
            <a:r>
              <a:rPr sz="1350" b="0">
                <a:solidFill>
                  <a:srgbClr val="17212B"/>
                </a:solidFill>
                <a:latin typeface="Yu Gothic"/>
                <a:ea typeface="Yu Gothic"/>
                <a:cs typeface="Yu Gothic"/>
              </a:rPr>
              <a:t>安全な低い段差に足を載せられるか</a:t>
            </a:r>
          </a:p>
        </p:txBody>
      </p:sp>
      <p:sp>
        <p:nvSpPr>
          <p:cNvPr id="17" name="">
            <a:extLst xmlns:a="http://schemas.openxmlformats.org/drawingml/2006/main">
              <a:ext uri="{FF2B5EF4-FFF2-40B4-BE49-F238E27FC236}">
                <a16:creationId xmlns:a16="http://schemas.microsoft.com/office/drawing/2014/main" id="{B5D4734E-0357-44D5-96B2-E3F9FA2FCE21}"/>
              </a:ext>
            </a:extLst>
          </p:cNvPr>
          <p:cNvSpPr>
            <a:spLocks xmlns:a="http://schemas.openxmlformats.org/drawingml/2006/main" noGrp="1"/>
          </p:cNvSpPr>
          <p:nvPr/>
        </p:nvSpPr>
        <p:spPr>
          <a:xfrm xmlns:a="http://schemas.openxmlformats.org/drawingml/2006/main">
            <a:off x="7334250" y="4667250"/>
            <a:ext cx="3143250" cy="381000"/>
          </a:xfrm>
          <a:prstGeom xmlns:a="http://schemas.openxmlformats.org/drawingml/2006/main" prst="rect">
            <a:avLst/>
          </a:prstGeom>
          <a:solidFill xmlns:a="http://schemas.openxmlformats.org/drawingml/2006/main">
            <a:srgbClr val="E8F1F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E6A73"/>
                </a:solidFill>
                <a:latin typeface="Yu Gothic"/>
                <a:ea typeface="Yu Gothic"/>
                <a:cs typeface="Yu Gothic"/>
              </a:defRPr>
            </a:pPr>
            <a:r>
              <a:rPr sz="1275" b="0">
                <a:solidFill>
                  <a:srgbClr val="5E6A73"/>
                </a:solidFill>
                <a:latin typeface="Yu Gothic"/>
                <a:ea typeface="Yu Gothic"/>
                <a:cs typeface="Yu Gothic"/>
              </a:rPr>
              <a:t>成功・中止の条件</a:t>
            </a:r>
          </a:p>
        </p:txBody>
      </p:sp>
      <p:sp>
        <p:nvSpPr>
          <p:cNvPr id="18" name="">
            <a:extLst xmlns:a="http://schemas.openxmlformats.org/drawingml/2006/main">
              <a:ext uri="{FF2B5EF4-FFF2-40B4-BE49-F238E27FC236}">
                <a16:creationId xmlns:a16="http://schemas.microsoft.com/office/drawing/2014/main" id="{BABADA7E-F38B-426D-8F8A-D1DB2F645CFB}"/>
              </a:ext>
            </a:extLst>
          </p:cNvPr>
          <p:cNvSpPr>
            <a:spLocks xmlns:a="http://schemas.openxmlformats.org/drawingml/2006/main" noGrp="1"/>
          </p:cNvSpPr>
          <p:nvPr/>
        </p:nvSpPr>
        <p:spPr>
          <a:xfrm xmlns:a="http://schemas.openxmlformats.org/drawingml/2006/main">
            <a:off x="1666875" y="5857875"/>
            <a:ext cx="866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1">
                <a:solidFill>
                  <a:srgbClr val="E8783F"/>
                </a:solidFill>
                <a:latin typeface="Yu Gothic"/>
                <a:ea typeface="Yu Gothic"/>
                <a:cs typeface="Yu Gothic"/>
              </a:defRPr>
            </a:pPr>
            <a:r>
              <a:rPr sz="1500" b="1">
                <a:solidFill>
                  <a:srgbClr val="E8783F"/>
                </a:solidFill>
                <a:latin typeface="Yu Gothic"/>
                <a:ea typeface="Yu Gothic"/>
                <a:cs typeface="Yu Gothic"/>
              </a:rPr>
              <a:t>中止条件の例：大きな姿勢崩れ、通信異常、電源系の異常</a:t>
            </a:r>
          </a:p>
        </p:txBody>
      </p:sp>
    </p:spTree>
    <p:extLst>
      <p:ext uri="{BB962C8B-B14F-4D97-AF65-F5344CB8AC3E}">
        <p14:creationId xmlns:p14="http://schemas.microsoft.com/office/powerpoint/2010/main" val="16670058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2B4D68-4DA4-424D-8ABF-5B144834D5F8}"/>
              </a:ext>
            </a:extLst>
          </p:cNvPr>
          <p:cNvSpPr>
            <a:spLocks xmlns:a="http://schemas.openxmlformats.org/drawingml/2006/main" noGrp="1"/>
          </p:cNvSpPr>
          <p:nvPr/>
        </p:nvSpPr>
        <p:spPr>
          <a:xfrm xmlns:a="http://schemas.openxmlformats.org/drawingml/2006/main">
            <a:off x="628650" y="4381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B46"/>
                </a:solidFill>
                <a:latin typeface="Yu Gothic"/>
                <a:ea typeface="Yu Gothic"/>
                <a:cs typeface="Yu Gothic"/>
              </a:defRPr>
            </a:pPr>
            <a:r>
              <a:rPr sz="2550" b="1">
                <a:solidFill>
                  <a:srgbClr val="102B46"/>
                </a:solidFill>
                <a:latin typeface="Yu Gothic"/>
                <a:ea typeface="Yu Gothic"/>
                <a:cs typeface="Yu Gothic"/>
              </a:rPr>
              <a:t>まとめ</a:t>
            </a:r>
          </a:p>
        </p:txBody>
      </p:sp>
      <p:sp>
        <p:nvSpPr>
          <p:cNvPr id="2" name="">
            <a:extLst xmlns:a="http://schemas.openxmlformats.org/drawingml/2006/main">
              <a:ext uri="{FF2B5EF4-FFF2-40B4-BE49-F238E27FC236}">
                <a16:creationId xmlns:a16="http://schemas.microsoft.com/office/drawing/2014/main" id="{B48DE896-14A0-4924-AAAB-FE41D2FA7954}"/>
              </a:ext>
            </a:extLst>
          </p:cNvPr>
          <p:cNvSpPr>
            <a:spLocks xmlns:a="http://schemas.openxmlformats.org/drawingml/2006/main" noGrp="1"/>
          </p:cNvSpPr>
          <p:nvPr/>
        </p:nvSpPr>
        <p:spPr>
          <a:xfrm xmlns:a="http://schemas.openxmlformats.org/drawingml/2006/main">
            <a:off x="11049000" y="5143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8783F"/>
                </a:solidFill>
                <a:latin typeface="Yu Gothic"/>
                <a:ea typeface="Yu Gothic"/>
                <a:cs typeface="Yu Gothic"/>
              </a:defRPr>
            </a:pPr>
            <a:r>
              <a:rPr sz="1050" b="1">
                <a:solidFill>
                  <a:srgbClr val="E8783F"/>
                </a:solidFill>
                <a:latin typeface="Yu Gothic"/>
                <a:ea typeface="Yu Gothic"/>
                <a:cs typeface="Yu Gothic"/>
              </a:rPr>
              <a:t>10</a:t>
            </a:r>
          </a:p>
        </p:txBody>
      </p:sp>
      <p:sp>
        <p:nvSpPr>
          <p:cNvPr id="3" name="">
            <a:extLst xmlns:a="http://schemas.openxmlformats.org/drawingml/2006/main">
              <a:ext uri="{FF2B5EF4-FFF2-40B4-BE49-F238E27FC236}">
                <a16:creationId xmlns:a16="http://schemas.microsoft.com/office/drawing/2014/main" id="{744C7382-07A8-4644-9F51-F64DAF17D938}"/>
              </a:ext>
            </a:extLst>
          </p:cNvPr>
          <p:cNvSpPr>
            <a:spLocks xmlns:a="http://schemas.openxmlformats.org/drawingml/2006/main" noGrp="1"/>
          </p:cNvSpPr>
          <p:nvPr/>
        </p:nvSpPr>
        <p:spPr>
          <a:xfrm xmlns:a="http://schemas.openxmlformats.org/drawingml/2006/main">
            <a:off x="628650" y="1104900"/>
            <a:ext cx="10934700" cy="0"/>
          </a:xfrm>
          <a:prstGeom xmlns:a="http://schemas.openxmlformats.org/drawingml/2006/main" prst="line">
            <a:avLst/>
          </a:prstGeom>
          <a:noFill xmlns:a="http://schemas.openxmlformats.org/drawingml/2006/main"/>
          <a:ln xmlns:a="http://schemas.openxmlformats.org/drawingml/2006/main" w="14288">
            <a:solidFill>
              <a:srgbClr val="B7C7D1"/>
            </a:solidFill>
          </a:ln>
        </p:spPr>
      </p:sp>
      <p:sp>
        <p:nvSpPr>
          <p:cNvPr id="4" name="">
            <a:extLst xmlns:a="http://schemas.openxmlformats.org/drawingml/2006/main">
              <a:ext uri="{FF2B5EF4-FFF2-40B4-BE49-F238E27FC236}">
                <a16:creationId xmlns:a16="http://schemas.microsoft.com/office/drawing/2014/main" id="{EF63CABC-7DA3-4A09-B34A-AF7BD99DEDFA}"/>
              </a:ext>
            </a:extLst>
          </p:cNvPr>
          <p:cNvSpPr>
            <a:spLocks xmlns:a="http://schemas.openxmlformats.org/drawingml/2006/main" noGrp="1"/>
          </p:cNvSpPr>
          <p:nvPr/>
        </p:nvSpPr>
        <p:spPr>
          <a:xfrm xmlns:a="http://schemas.openxmlformats.org/drawingml/2006/main">
            <a:off x="628650" y="6477000"/>
            <a:ext cx="333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defRPr sz="750" b="0">
                <a:solidFill>
                  <a:srgbClr val="5E6A73"/>
                </a:solidFill>
                <a:latin typeface="Yu Gothic"/>
                <a:ea typeface="Yu Gothic"/>
                <a:cs typeface="Yu Gothic"/>
              </a:defRPr>
            </a:pPr>
            <a:r>
              <a:rPr sz="750" b="0">
                <a:solidFill>
                  <a:srgbClr val="5E6A73"/>
                </a:solidFill>
                <a:latin typeface="Yu Gothic"/>
                <a:ea typeface="Yu Gothic"/>
                <a:cs typeface="Yu Gothic"/>
              </a:rPr>
              <a:t>PBL  二足歩行ロボットの開発</a:t>
            </a:r>
          </a:p>
        </p:txBody>
      </p:sp>
      <p:sp>
        <p:nvSpPr>
          <p:cNvPr id="5" name="">
            <a:extLst xmlns:a="http://schemas.openxmlformats.org/drawingml/2006/main">
              <a:ext uri="{FF2B5EF4-FFF2-40B4-BE49-F238E27FC236}">
                <a16:creationId xmlns:a16="http://schemas.microsoft.com/office/drawing/2014/main" id="{8EEF650A-F5D3-4C5F-864A-3817AB5B6080}"/>
              </a:ext>
            </a:extLst>
          </p:cNvPr>
          <p:cNvSpPr>
            <a:spLocks xmlns:a="http://schemas.openxmlformats.org/drawingml/2006/main" noGrp="1"/>
          </p:cNvSpPr>
          <p:nvPr/>
        </p:nvSpPr>
        <p:spPr>
          <a:xfrm xmlns:a="http://schemas.openxmlformats.org/drawingml/2006/main">
            <a:off x="704850" y="15049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75" b="1">
                <a:solidFill>
                  <a:srgbClr val="102B46"/>
                </a:solidFill>
                <a:latin typeface="Yu Gothic"/>
                <a:ea typeface="Yu Gothic"/>
                <a:cs typeface="Yu Gothic"/>
              </a:defRPr>
            </a:pPr>
            <a:r>
              <a:rPr sz="2175" b="1">
                <a:solidFill>
                  <a:srgbClr val="102B46"/>
                </a:solidFill>
                <a:latin typeface="Yu Gothic"/>
                <a:ea typeface="Yu Gothic"/>
                <a:cs typeface="Yu Gothic"/>
              </a:rPr>
              <a:t>二足歩行ロボットの移動基盤を、3つの担当から形にした</a:t>
            </a:r>
          </a:p>
        </p:txBody>
      </p:sp>
      <p:sp>
        <p:nvSpPr>
          <p:cNvPr id="6" name="">
            <a:extLst xmlns:a="http://schemas.openxmlformats.org/drawingml/2006/main">
              <a:ext uri="{FF2B5EF4-FFF2-40B4-BE49-F238E27FC236}">
                <a16:creationId xmlns:a16="http://schemas.microsoft.com/office/drawing/2014/main" id="{5E374821-9846-45F3-B22E-559E600EFDB3}"/>
              </a:ext>
            </a:extLst>
          </p:cNvPr>
          <p:cNvSpPr>
            <a:spLocks xmlns:a="http://schemas.openxmlformats.org/drawingml/2006/main" noGrp="1"/>
          </p:cNvSpPr>
          <p:nvPr/>
        </p:nvSpPr>
        <p:spPr>
          <a:xfrm xmlns:a="http://schemas.openxmlformats.org/drawingml/2006/main">
            <a:off x="1428750" y="2619375"/>
            <a:ext cx="1381125" cy="476250"/>
          </a:xfrm>
          <a:prstGeom xmlns:a="http://schemas.openxmlformats.org/drawingml/2006/main" prst="rect">
            <a:avLst/>
          </a:prstGeom>
          <a:solidFill xmlns:a="http://schemas.openxmlformats.org/drawingml/2006/main">
            <a:srgbClr val="E8783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FFFFF"/>
                </a:solidFill>
                <a:latin typeface="Yu Gothic"/>
                <a:ea typeface="Yu Gothic"/>
                <a:cs typeface="Yu Gothic"/>
              </a:defRPr>
            </a:pPr>
            <a:r>
              <a:rPr sz="1650" b="1">
                <a:solidFill>
                  <a:srgbClr val="FFFFFF"/>
                </a:solidFill>
                <a:latin typeface="Yu Gothic"/>
                <a:ea typeface="Yu Gothic"/>
                <a:cs typeface="Yu Gothic"/>
              </a:rPr>
              <a:t>設計</a:t>
            </a:r>
          </a:p>
        </p:txBody>
      </p:sp>
      <p:sp>
        <p:nvSpPr>
          <p:cNvPr id="7" name="">
            <a:extLst xmlns:a="http://schemas.openxmlformats.org/drawingml/2006/main">
              <a:ext uri="{FF2B5EF4-FFF2-40B4-BE49-F238E27FC236}">
                <a16:creationId xmlns:a16="http://schemas.microsoft.com/office/drawing/2014/main" id="{AA70E1CD-B1B7-43C1-B69F-D76667110BF6}"/>
              </a:ext>
            </a:extLst>
          </p:cNvPr>
          <p:cNvSpPr>
            <a:spLocks xmlns:a="http://schemas.openxmlformats.org/drawingml/2006/main" noGrp="1"/>
          </p:cNvSpPr>
          <p:nvPr/>
        </p:nvSpPr>
        <p:spPr>
          <a:xfrm xmlns:a="http://schemas.openxmlformats.org/drawingml/2006/main">
            <a:off x="3190875" y="261937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7212B"/>
                </a:solidFill>
                <a:latin typeface="Yu Gothic"/>
                <a:ea typeface="Yu Gothic"/>
                <a:cs typeface="Yu Gothic"/>
              </a:defRPr>
            </a:pPr>
            <a:r>
              <a:rPr sz="1575" b="0">
                <a:solidFill>
                  <a:srgbClr val="17212B"/>
                </a:solidFill>
                <a:latin typeface="Yu Gothic"/>
                <a:ea typeface="Yu Gothic"/>
                <a:cs typeface="Yu Gothic"/>
              </a:rPr>
              <a:t>足裏の接地と重心配置を起点に脚構造を考えた</a:t>
            </a:r>
          </a:p>
        </p:txBody>
      </p:sp>
      <p:sp>
        <p:nvSpPr>
          <p:cNvPr id="8" name="">
            <a:extLst xmlns:a="http://schemas.openxmlformats.org/drawingml/2006/main">
              <a:ext uri="{FF2B5EF4-FFF2-40B4-BE49-F238E27FC236}">
                <a16:creationId xmlns:a16="http://schemas.microsoft.com/office/drawing/2014/main" id="{F9D6C109-2DB9-448B-9364-EFD7641B2F59}"/>
              </a:ext>
            </a:extLst>
          </p:cNvPr>
          <p:cNvSpPr>
            <a:spLocks xmlns:a="http://schemas.openxmlformats.org/drawingml/2006/main" noGrp="1"/>
          </p:cNvSpPr>
          <p:nvPr/>
        </p:nvSpPr>
        <p:spPr>
          <a:xfrm xmlns:a="http://schemas.openxmlformats.org/drawingml/2006/main">
            <a:off x="1428750" y="3524250"/>
            <a:ext cx="1381125" cy="476250"/>
          </a:xfrm>
          <a:prstGeom xmlns:a="http://schemas.openxmlformats.org/drawingml/2006/main" prst="rect">
            <a:avLst/>
          </a:prstGeom>
          <a:solidFill xmlns:a="http://schemas.openxmlformats.org/drawingml/2006/main">
            <a:srgbClr val="1C5A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FFFFF"/>
                </a:solidFill>
                <a:latin typeface="Yu Gothic"/>
                <a:ea typeface="Yu Gothic"/>
                <a:cs typeface="Yu Gothic"/>
              </a:defRPr>
            </a:pPr>
            <a:r>
              <a:rPr sz="1650" b="1">
                <a:solidFill>
                  <a:srgbClr val="FFFFFF"/>
                </a:solidFill>
                <a:latin typeface="Yu Gothic"/>
                <a:ea typeface="Yu Gothic"/>
                <a:cs typeface="Yu Gothic"/>
              </a:rPr>
              <a:t>配線</a:t>
            </a:r>
          </a:p>
        </p:txBody>
      </p:sp>
      <p:sp>
        <p:nvSpPr>
          <p:cNvPr id="9" name="">
            <a:extLst xmlns:a="http://schemas.openxmlformats.org/drawingml/2006/main">
              <a:ext uri="{FF2B5EF4-FFF2-40B4-BE49-F238E27FC236}">
                <a16:creationId xmlns:a16="http://schemas.microsoft.com/office/drawing/2014/main" id="{228B930B-557B-40E7-8227-68FE43EF9693}"/>
              </a:ext>
            </a:extLst>
          </p:cNvPr>
          <p:cNvSpPr>
            <a:spLocks xmlns:a="http://schemas.openxmlformats.org/drawingml/2006/main" noGrp="1"/>
          </p:cNvSpPr>
          <p:nvPr/>
        </p:nvSpPr>
        <p:spPr>
          <a:xfrm xmlns:a="http://schemas.openxmlformats.org/drawingml/2006/main">
            <a:off x="3190875" y="35242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7212B"/>
                </a:solidFill>
                <a:latin typeface="Yu Gothic"/>
                <a:ea typeface="Yu Gothic"/>
                <a:cs typeface="Yu Gothic"/>
              </a:defRPr>
            </a:pPr>
            <a:r>
              <a:rPr sz="1575" b="0">
                <a:solidFill>
                  <a:srgbClr val="17212B"/>
                </a:solidFill>
                <a:latin typeface="Yu Gothic"/>
                <a:ea typeface="Yu Gothic"/>
                <a:cs typeface="Yu Gothic"/>
              </a:rPr>
              <a:t>電源とCAN通信を分け、確認しやすい経路を整理した</a:t>
            </a:r>
          </a:p>
        </p:txBody>
      </p:sp>
      <p:sp>
        <p:nvSpPr>
          <p:cNvPr id="10" name="">
            <a:extLst xmlns:a="http://schemas.openxmlformats.org/drawingml/2006/main">
              <a:ext uri="{FF2B5EF4-FFF2-40B4-BE49-F238E27FC236}">
                <a16:creationId xmlns:a16="http://schemas.microsoft.com/office/drawing/2014/main" id="{AB66819F-08C9-4E42-A53F-A43D35103F6C}"/>
              </a:ext>
            </a:extLst>
          </p:cNvPr>
          <p:cNvSpPr>
            <a:spLocks xmlns:a="http://schemas.openxmlformats.org/drawingml/2006/main" noGrp="1"/>
          </p:cNvSpPr>
          <p:nvPr/>
        </p:nvSpPr>
        <p:spPr>
          <a:xfrm xmlns:a="http://schemas.openxmlformats.org/drawingml/2006/main">
            <a:off x="1428750" y="4429125"/>
            <a:ext cx="1381125" cy="476250"/>
          </a:xfrm>
          <a:prstGeom xmlns:a="http://schemas.openxmlformats.org/drawingml/2006/main" prst="rect">
            <a:avLst/>
          </a:prstGeom>
          <a:solidFill xmlns:a="http://schemas.openxmlformats.org/drawingml/2006/main">
            <a:srgbClr val="32A5B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FFFFF"/>
                </a:solidFill>
                <a:latin typeface="Yu Gothic"/>
                <a:ea typeface="Yu Gothic"/>
                <a:cs typeface="Yu Gothic"/>
              </a:defRPr>
            </a:pPr>
            <a:r>
              <a:rPr sz="1650" b="1">
                <a:solidFill>
                  <a:srgbClr val="FFFFFF"/>
                </a:solidFill>
                <a:latin typeface="Yu Gothic"/>
                <a:ea typeface="Yu Gothic"/>
                <a:cs typeface="Yu Gothic"/>
              </a:rPr>
              <a:t>制御</a:t>
            </a:r>
          </a:p>
        </p:txBody>
      </p:sp>
      <p:sp>
        <p:nvSpPr>
          <p:cNvPr id="11" name="">
            <a:extLst xmlns:a="http://schemas.openxmlformats.org/drawingml/2006/main">
              <a:ext uri="{FF2B5EF4-FFF2-40B4-BE49-F238E27FC236}">
                <a16:creationId xmlns:a16="http://schemas.microsoft.com/office/drawing/2014/main" id="{46461366-2E60-43B3-927F-EFB4DDB83D4F}"/>
              </a:ext>
            </a:extLst>
          </p:cNvPr>
          <p:cNvSpPr>
            <a:spLocks xmlns:a="http://schemas.openxmlformats.org/drawingml/2006/main" noGrp="1"/>
          </p:cNvSpPr>
          <p:nvPr/>
        </p:nvSpPr>
        <p:spPr>
          <a:xfrm xmlns:a="http://schemas.openxmlformats.org/drawingml/2006/main">
            <a:off x="3190875" y="4429125"/>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17212B"/>
                </a:solidFill>
                <a:latin typeface="Yu Gothic"/>
                <a:ea typeface="Yu Gothic"/>
                <a:cs typeface="Yu Gothic"/>
              </a:defRPr>
            </a:pPr>
            <a:r>
              <a:rPr sz="1575" b="0">
                <a:solidFill>
                  <a:srgbClr val="17212B"/>
                </a:solidFill>
                <a:latin typeface="Yu Gothic"/>
                <a:ea typeface="Yu Gothic"/>
                <a:cs typeface="Yu Gothic"/>
              </a:rPr>
              <a:t>姿勢推定から関節指令までを段階的に実装する方針を立てた</a:t>
            </a:r>
          </a:p>
        </p:txBody>
      </p:sp>
      <p:sp>
        <p:nvSpPr>
          <p:cNvPr id="12" name="">
            <a:extLst xmlns:a="http://schemas.openxmlformats.org/drawingml/2006/main">
              <a:ext uri="{FF2B5EF4-FFF2-40B4-BE49-F238E27FC236}">
                <a16:creationId xmlns:a16="http://schemas.microsoft.com/office/drawing/2014/main" id="{D9D3BAB8-FEFC-4037-BB66-FC34F9936A2D}"/>
              </a:ext>
            </a:extLst>
          </p:cNvPr>
          <p:cNvSpPr>
            <a:spLocks xmlns:a="http://schemas.openxmlformats.org/drawingml/2006/main" noGrp="1"/>
          </p:cNvSpPr>
          <p:nvPr/>
        </p:nvSpPr>
        <p:spPr>
          <a:xfrm xmlns:a="http://schemas.openxmlformats.org/drawingml/2006/main">
            <a:off x="1238250" y="5667375"/>
            <a:ext cx="9715500" cy="400050"/>
          </a:xfrm>
          <a:prstGeom xmlns:a="http://schemas.openxmlformats.org/drawingml/2006/main" prst="rect">
            <a:avLst/>
          </a:prstGeom>
          <a:solidFill xmlns:a="http://schemas.openxmlformats.org/drawingml/2006/main">
            <a:srgbClr val="F3EEE6"/>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02B46"/>
                </a:solidFill>
                <a:latin typeface="Yu Gothic"/>
                <a:ea typeface="Yu Gothic"/>
                <a:cs typeface="Yu Gothic"/>
              </a:defRPr>
            </a:pPr>
            <a:r>
              <a:rPr sz="1800" b="1">
                <a:solidFill>
                  <a:srgbClr val="102B46"/>
                </a:solidFill>
                <a:latin typeface="Yu Gothic"/>
                <a:ea typeface="Yu Gothic"/>
                <a:cs typeface="Yu Gothic"/>
              </a:rPr>
              <a:t>次の段階：平地での立位と一歩を再現し、低い段差へ適用を広げる</a:t>
            </a:r>
          </a:p>
        </p:txBody>
      </p:sp>
      <p:sp>
        <p:nvSpPr>
          <p:cNvPr id="13" name="">
            <a:extLst xmlns:a="http://schemas.openxmlformats.org/drawingml/2006/main">
              <a:ext uri="{FF2B5EF4-FFF2-40B4-BE49-F238E27FC236}">
                <a16:creationId xmlns:a16="http://schemas.microsoft.com/office/drawing/2014/main" id="{22A4DF21-A747-432B-9E55-697567AE0E24}"/>
              </a:ext>
            </a:extLst>
          </p:cNvPr>
          <p:cNvSpPr>
            <a:spLocks xmlns:a="http://schemas.openxmlformats.org/drawingml/2006/main" noGrp="1"/>
          </p:cNvSpPr>
          <p:nvPr/>
        </p:nvSpPr>
        <p:spPr>
          <a:xfrm xmlns:a="http://schemas.openxmlformats.org/drawingml/2006/main">
            <a:off x="3381375" y="6238875"/>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016"/>
          </a:bodyPr>
          <a:lstStyle xmlns:a="http://schemas.openxmlformats.org/drawingml/2006/main"/>
          <a:p xmlns:a="http://schemas.openxmlformats.org/drawingml/2006/main">
            <a:pPr>
              <a:defRPr sz="1575" b="0">
                <a:solidFill>
                  <a:srgbClr val="5E6A73"/>
                </a:solidFill>
                <a:latin typeface="Yu Gothic"/>
                <a:ea typeface="Yu Gothic"/>
                <a:cs typeface="Yu Gothic"/>
              </a:defRPr>
            </a:pPr>
            <a:r>
              <a:rPr sz="1575" b="0">
                <a:solidFill>
                  <a:srgbClr val="5E6A73"/>
                </a:solidFill>
                <a:latin typeface="Yu Gothic"/>
                <a:ea typeface="Yu Gothic"/>
                <a:cs typeface="Yu Gothic"/>
              </a:rPr>
              <a:t>ご清聴ありがとうございました</a:t>
            </a:r>
          </a:p>
        </p:txBody>
      </p:sp>
    </p:spTree>
    <p:extLst>
      <p:ext uri="{BB962C8B-B14F-4D97-AF65-F5344CB8AC3E}">
        <p14:creationId xmlns:p14="http://schemas.microsoft.com/office/powerpoint/2010/main" val="1649193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2026-09-22T05:57:04.9610000Z</dcterms:created>
  <dcterms:modified xsi:type="dcterms:W3CDTF">2026-09-22T05:57:04.9610000Z</dcterms:modified>
</coreProperties>
</file>